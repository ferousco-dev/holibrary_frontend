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66e9b3ca4be4800" /><Relationship Type="http://schemas.openxmlformats.org/officeDocument/2006/relationships/extended-properties" Target="/docProps/app.xml" Id="Rf7c94fa14eda4e5f" /><Relationship Type="http://schemas.openxmlformats.org/officeDocument/2006/relationships/officeDocument" Target="/ppt/presentation.xml" Id="Ra79e485682054b43" /></Relationships>
</file>

<file path=ppt/presentation.xml><?xml version="1.0" encoding="utf-8"?>
<p:presentation xmlns:p="http://schemas.openxmlformats.org/presentationml/2006/main">
  <p:sldMasterIdLst>
    <p:sldMasterId xmlns:r="http://schemas.openxmlformats.org/officeDocument/2006/relationships" id="2147483648" r:id="R4f87897c9f454574"/>
  </p:sldMasterIdLst>
  <p:notesMasterIdLst>
    <p:notesMasterId xmlns:r="http://schemas.openxmlformats.org/officeDocument/2006/relationships" r:id="Rb8ab5dacba164481"/>
  </p:notesMasterIdLst>
  <p:sldIdLst>
    <p:sldId xmlns:r="http://schemas.openxmlformats.org/officeDocument/2006/relationships" id="256" r:id="Rca40abe4298a4f37"/>
    <p:sldId xmlns:r="http://schemas.openxmlformats.org/officeDocument/2006/relationships" id="257" r:id="Rfc6d5141fd4040db"/>
    <p:sldId xmlns:r="http://schemas.openxmlformats.org/officeDocument/2006/relationships" id="258" r:id="R6b508e34a6fb46e0"/>
    <p:sldId xmlns:r="http://schemas.openxmlformats.org/officeDocument/2006/relationships" id="259" r:id="R4178596c42f14c88"/>
    <p:sldId xmlns:r="http://schemas.openxmlformats.org/officeDocument/2006/relationships" id="260" r:id="R7b207b6eeb744ec8"/>
    <p:sldId xmlns:r="http://schemas.openxmlformats.org/officeDocument/2006/relationships" id="261" r:id="Ra6b0924f48ea4038"/>
    <p:sldId xmlns:r="http://schemas.openxmlformats.org/officeDocument/2006/relationships" id="262" r:id="R9d1d2eebc5f24e8d"/>
    <p:sldId xmlns:r="http://schemas.openxmlformats.org/officeDocument/2006/relationships" id="263" r:id="R8200a3205de64794"/>
    <p:sldId xmlns:r="http://schemas.openxmlformats.org/officeDocument/2006/relationships" id="264" r:id="R3212e14d03e44931"/>
    <p:sldId xmlns:r="http://schemas.openxmlformats.org/officeDocument/2006/relationships" id="265" r:id="Reea5d9c42a2c4d3a"/>
    <p:sldId xmlns:r="http://schemas.openxmlformats.org/officeDocument/2006/relationships" id="266" r:id="R20190f83cc1744ad"/>
    <p:sldId xmlns:r="http://schemas.openxmlformats.org/officeDocument/2006/relationships" id="267" r:id="Rb23402a40d6442d9"/>
    <p:sldId xmlns:r="http://schemas.openxmlformats.org/officeDocument/2006/relationships" id="268" r:id="R4e9f051bfd8a450e"/>
    <p:sldId xmlns:r="http://schemas.openxmlformats.org/officeDocument/2006/relationships" id="269" r:id="R3ade40504677466d"/>
    <p:sldId xmlns:r="http://schemas.openxmlformats.org/officeDocument/2006/relationships" id="270" r:id="R8d8f87467f6c45b0"/>
    <p:sldId xmlns:r="http://schemas.openxmlformats.org/officeDocument/2006/relationships" id="271" r:id="R6a0a3c9a506747f1"/>
    <p:sldId xmlns:r="http://schemas.openxmlformats.org/officeDocument/2006/relationships" id="272" r:id="R6ab8d8dd6bf24d35"/>
    <p:sldId xmlns:r="http://schemas.openxmlformats.org/officeDocument/2006/relationships" id="273" r:id="R45ab68134cae462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6508b990de154d0d" /><Relationship Type="http://schemas.openxmlformats.org/officeDocument/2006/relationships/slideMaster" Target="/ppt/slideMasters/slideMaster1.xml" Id="R4f87897c9f454574" /><Relationship Type="http://schemas.openxmlformats.org/officeDocument/2006/relationships/notesMaster" Target="/ppt/notesMasters/notesMaster1.xml" Id="Rb8ab5dacba164481" /><Relationship Type="http://schemas.openxmlformats.org/officeDocument/2006/relationships/presProps" Target="/ppt/presProps.xml" Id="R966a1910750b4d72" /><Relationship Type="http://schemas.openxmlformats.org/officeDocument/2006/relationships/viewProps" Target="/ppt/viewProps.xml" Id="Rd0f3f2605bd442ab" /><Relationship Type="http://schemas.openxmlformats.org/officeDocument/2006/relationships/tableStyles" Target="/ppt/tableStyles.xml" Id="Rea13175425eb4bf4" /><Relationship Type="http://schemas.openxmlformats.org/officeDocument/2006/relationships/slide" Target="/ppt/slides/slide1.xml" Id="Rca40abe4298a4f37" /><Relationship Type="http://schemas.openxmlformats.org/officeDocument/2006/relationships/slide" Target="/ppt/slides/slide2.xml" Id="Rfc6d5141fd4040db" /><Relationship Type="http://schemas.openxmlformats.org/officeDocument/2006/relationships/slide" Target="/ppt/slides/slide3.xml" Id="R6b508e34a6fb46e0" /><Relationship Type="http://schemas.openxmlformats.org/officeDocument/2006/relationships/slide" Target="/ppt/slides/slide4.xml" Id="R4178596c42f14c88" /><Relationship Type="http://schemas.openxmlformats.org/officeDocument/2006/relationships/slide" Target="/ppt/slides/slide5.xml" Id="R7b207b6eeb744ec8" /><Relationship Type="http://schemas.openxmlformats.org/officeDocument/2006/relationships/slide" Target="/ppt/slides/slide6.xml" Id="Ra6b0924f48ea4038" /><Relationship Type="http://schemas.openxmlformats.org/officeDocument/2006/relationships/slide" Target="/ppt/slides/slide7.xml" Id="R9d1d2eebc5f24e8d" /><Relationship Type="http://schemas.openxmlformats.org/officeDocument/2006/relationships/slide" Target="/ppt/slides/slide8.xml" Id="R8200a3205de64794" /><Relationship Type="http://schemas.openxmlformats.org/officeDocument/2006/relationships/slide" Target="/ppt/slides/slide9.xml" Id="R3212e14d03e44931" /><Relationship Type="http://schemas.openxmlformats.org/officeDocument/2006/relationships/slide" Target="/ppt/slides/slide10.xml" Id="Reea5d9c42a2c4d3a" /><Relationship Type="http://schemas.openxmlformats.org/officeDocument/2006/relationships/slide" Target="/ppt/slides/slide11.xml" Id="R20190f83cc1744ad" /><Relationship Type="http://schemas.openxmlformats.org/officeDocument/2006/relationships/slide" Target="/ppt/slides/slide12.xml" Id="Rb23402a40d6442d9" /><Relationship Type="http://schemas.openxmlformats.org/officeDocument/2006/relationships/slide" Target="/ppt/slides/slide13.xml" Id="R4e9f051bfd8a450e" /><Relationship Type="http://schemas.openxmlformats.org/officeDocument/2006/relationships/slide" Target="/ppt/slides/slide14.xml" Id="R3ade40504677466d" /><Relationship Type="http://schemas.openxmlformats.org/officeDocument/2006/relationships/slide" Target="/ppt/slides/slide15.xml" Id="R8d8f87467f6c45b0" /><Relationship Type="http://schemas.openxmlformats.org/officeDocument/2006/relationships/slide" Target="/ppt/slides/slide16.xml" Id="R6a0a3c9a506747f1" /><Relationship Type="http://schemas.openxmlformats.org/officeDocument/2006/relationships/slide" Target="/ppt/slides/slide17.xml" Id="R6ab8d8dd6bf24d35" /><Relationship Type="http://schemas.openxmlformats.org/officeDocument/2006/relationships/slide" Target="/ppt/slides/slide18.xml" Id="R45ab68134cae462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94aeaea88144f8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
          <a:effectLst>
            <a:outerShdw blurRad="152400" dist="60241" dir="4293903">
              <a:srgbClr val="170A3B">
                <a:alpha val="20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38725f2ce7741aa" /><Relationship Type="http://schemas.openxmlformats.org/officeDocument/2006/relationships/notesMaster" Target="/ppt/notesMasters/notesMaster1.xml" Id="Re2cbac6f739e4edd" /></Relationships>
</file>

<file path=ppt/notesSlides/_rels/notesSlide2.xml.rels>&#65279;<?xml version="1.0" encoding="utf-8"?><Relationships xmlns="http://schemas.openxmlformats.org/package/2006/relationships"><Relationship Type="http://schemas.openxmlformats.org/officeDocument/2006/relationships/slide" Target="/ppt/slides/slide2.xml" Id="Rfd9708b9fd19431f" /><Relationship Type="http://schemas.openxmlformats.org/officeDocument/2006/relationships/notesMaster" Target="/ppt/notesMasters/notesMaster1.xml" Id="Ra4aae907c07b4e9f" /></Relationships>
</file>

<file path=ppt/notesSlides/_rels/notesSlide3.xml.rels>&#65279;<?xml version="1.0" encoding="utf-8"?><Relationships xmlns="http://schemas.openxmlformats.org/package/2006/relationships"><Relationship Type="http://schemas.openxmlformats.org/officeDocument/2006/relationships/slide" Target="/ppt/slides/slide3.xml" Id="Rc075b75502cb4c93" /><Relationship Type="http://schemas.openxmlformats.org/officeDocument/2006/relationships/notesMaster" Target="/ppt/notesMasters/notesMaster1.xml" Id="Rff9cc8ece89c46e3" /></Relationships>
</file>

<file path=ppt/notesSlides/_rels/notesSlide4.xml.rels>&#65279;<?xml version="1.0" encoding="utf-8"?><Relationships xmlns="http://schemas.openxmlformats.org/package/2006/relationships"><Relationship Type="http://schemas.openxmlformats.org/officeDocument/2006/relationships/slide" Target="/ppt/slides/slide4.xml" Id="R498cedd623304c1c" /><Relationship Type="http://schemas.openxmlformats.org/officeDocument/2006/relationships/notesMaster" Target="/ppt/notesMasters/notesMaster1.xml" Id="Rb6ab81c063ed462a" /></Relationships>
</file>

<file path=ppt/notesSlides/_rels/notesSlide5.xml.rels>&#65279;<?xml version="1.0" encoding="utf-8"?><Relationships xmlns="http://schemas.openxmlformats.org/package/2006/relationships"><Relationship Type="http://schemas.openxmlformats.org/officeDocument/2006/relationships/slide" Target="/ppt/slides/slide5.xml" Id="R112e728fc00f43fa" /><Relationship Type="http://schemas.openxmlformats.org/officeDocument/2006/relationships/notesMaster" Target="/ppt/notesMasters/notesMaster1.xml" Id="R321e83a769b744f4" /></Relationships>
</file>

<file path=ppt/notesSlides/_rels/notesSlide6.xml.rels>&#65279;<?xml version="1.0" encoding="utf-8"?><Relationships xmlns="http://schemas.openxmlformats.org/package/2006/relationships"><Relationship Type="http://schemas.openxmlformats.org/officeDocument/2006/relationships/slide" Target="/ppt/slides/slide6.xml" Id="Rf6163352b17241ab" /><Relationship Type="http://schemas.openxmlformats.org/officeDocument/2006/relationships/notesMaster" Target="/ppt/notesMasters/notesMaster1.xml" Id="Ree75dcf8b95a4001" /></Relationships>
</file>

<file path=ppt/notesSlides/_rels/notesSlide7.xml.rels>&#65279;<?xml version="1.0" encoding="utf-8"?><Relationships xmlns="http://schemas.openxmlformats.org/package/2006/relationships"><Relationship Type="http://schemas.openxmlformats.org/officeDocument/2006/relationships/slide" Target="/ppt/slides/slide7.xml" Id="R4863c24b08c44007" /><Relationship Type="http://schemas.openxmlformats.org/officeDocument/2006/relationships/notesMaster" Target="/ppt/notesMasters/notesMaster1.xml" Id="R5e846239217e4c6b" /></Relationships>
</file>

<file path=ppt/notesSlides/_rels/notesSlide8.xml.rels>&#65279;<?xml version="1.0" encoding="utf-8"?><Relationships xmlns="http://schemas.openxmlformats.org/package/2006/relationships"><Relationship Type="http://schemas.openxmlformats.org/officeDocument/2006/relationships/slide" Target="/ppt/slides/slide8.xml" Id="Ra221e0a3d2724bed" /><Relationship Type="http://schemas.openxmlformats.org/officeDocument/2006/relationships/notesMaster" Target="/ppt/notesMasters/notesMaster1.xml" Id="R83e050e153fc48f6" /></Relationships>
</file>

<file path=ppt/notesSlides/_rels/notesSlide9.xml.rels>&#65279;<?xml version="1.0" encoding="utf-8"?><Relationships xmlns="http://schemas.openxmlformats.org/package/2006/relationships"><Relationship Type="http://schemas.openxmlformats.org/officeDocument/2006/relationships/slide" Target="/ppt/slides/slide9.xml" Id="R2b128d77b354440f" /><Relationship Type="http://schemas.openxmlformats.org/officeDocument/2006/relationships/notesMaster" Target="/ppt/notesMasters/notesMaster1.xml" Id="R7e36a6dc0e30462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e1fabfaa6f24fc1" /><Relationship Type="http://schemas.openxmlformats.org/officeDocument/2006/relationships/notesMaster" Target="/ppt/notesMasters/notesMaster1.xml" Id="R4c32778b87f44e3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251a8127dde45be" /><Relationship Type="http://schemas.openxmlformats.org/officeDocument/2006/relationships/notesMaster" Target="/ppt/notesMasters/notesMaster1.xml" Id="R250e052a405443c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4d7d1e004904841" /><Relationship Type="http://schemas.openxmlformats.org/officeDocument/2006/relationships/notesMaster" Target="/ppt/notesMasters/notesMaster1.xml" Id="R308b073dbe86484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36f6f7aa98e4d91" /><Relationship Type="http://schemas.openxmlformats.org/officeDocument/2006/relationships/notesMaster" Target="/ppt/notesMasters/notesMaster1.xml" Id="R7f13a57679b64eb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0ee1e01a3c2482c" /><Relationship Type="http://schemas.openxmlformats.org/officeDocument/2006/relationships/notesMaster" Target="/ppt/notesMasters/notesMaster1.xml" Id="R7de67f704c12405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52a3758d10f44c4" /><Relationship Type="http://schemas.openxmlformats.org/officeDocument/2006/relationships/notesMaster" Target="/ppt/notesMasters/notesMaster1.xml" Id="R595df8ca55d34d8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3b76fb8c973404e" /><Relationship Type="http://schemas.openxmlformats.org/officeDocument/2006/relationships/notesMaster" Target="/ppt/notesMasters/notesMaster1.xml" Id="R48b15f2d92334698"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2906e00c91044965" /><Relationship Type="http://schemas.openxmlformats.org/officeDocument/2006/relationships/notesMaster" Target="/ppt/notesMasters/notesMaster1.xml" Id="R4dbfe1b704e045f9"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a21632a4f534498c" /><Relationship Type="http://schemas.openxmlformats.org/officeDocument/2006/relationships/notesMaster" Target="/ppt/notesMasters/notesMaster1.xml" Id="R12feb065716644d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Good morning. We are Group 4. Our project is an online library management system for the Hezekiah Oluwasanmi Library. Both halves are live and we will show them running.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library is not short of books. It is short of answers about them.</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Scope discipline mattered. We were tempted to add PDFs. We did not: this is a system for a building full of physical books.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Every choice answers a requirement. Go for the concurrency, Postgres for the locks, Redis only as a counter we can afford to lose. Firebase is here for push and nothing else.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uses a live screenshot of the HOL catalogue page. The callouts connect the visible interface to the HTML, CSS, JavaScript and accessibility decisions described in the original client slide.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two halves are deliberately separate. A slow mail provider cannot delay a borrow, and a failed send cannot roll back a loan.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If asked why not microservices: borrowing is a single transaction across three tables. Splitting it trades a database guarantee for a distributed one.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comments in this file are the design record. Each field is here for a reason we can state.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stored overdue flag needs a job to keep it true. A derived one cannot be wrong.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Retention begins at two circulating copies. The middle case is the one examiners ask about: two copies with one free lends nothing, because that free one is the last. A single circulating copy is lent, because holding it back would put it beyond everybody.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point: we did not make everything idempotent. We asked the question per action, and borrowing answers it differently from the rest. Borrowing must happen at most once, so a repeat is refused; saving is safe to repeat, so a repeat is absorbed. Both were measured, not assumed.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Two independent adversarial audits were run against the codebase. Twelve of our twenty-seven defects came from them.</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If asked how we know an index helped: EXPLAIN ANALYZE before and after, on the real dataset.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catalogue holds real bibliographic data from Open Library, not invented titles.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Automatic deploys from the dashboard were turned off deliberately, so the only route to production is through the pipeline.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Have the Swagger page already open in a second tab before the defence begins.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on this: 105 planned test cases, 27 defects, all closed and recorded with the technique that found each one.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Leave this up for questions. Invite them to scan during the presentation rather than after it: a room of examiners searching the live catalogue is the strongest thing we can show.</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77d9f9d82f34b2a"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01ef2513f2247de" /><Relationship Type="http://schemas.openxmlformats.org/officeDocument/2006/relationships/slideLayout" Target="/ppt/slideLayouts/slideLayout1.xml" Id="Rdf70a59e3e454c1d"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f70a59e3e454c1d"/>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651ff11146448ac" /><Relationship Type="http://schemas.openxmlformats.org/officeDocument/2006/relationships/image" Target="/ppt/media/image.png" Id="R6116dfae77004ede" /><Relationship Type="http://schemas.openxmlformats.org/officeDocument/2006/relationships/notesSlide" Target="/ppt/notesSlides/notesSlide1.xml" Id="R4f5b0807484541c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8a0a7aeee58474a" /><Relationship Type="http://schemas.openxmlformats.org/officeDocument/2006/relationships/image" Target="/ppt/media/image2.png" Id="Rcd6c20f5a81b4261" /><Relationship Type="http://schemas.openxmlformats.org/officeDocument/2006/relationships/notesSlide" Target="/ppt/notesSlides/notesSlide2.xml" Id="R70f71859ded94ac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e69bbd4e04d4cf1" /><Relationship Type="http://schemas.openxmlformats.org/officeDocument/2006/relationships/image" Target="/ppt/media/image3.png" Id="Ra351cc90d441441a" /><Relationship Type="http://schemas.openxmlformats.org/officeDocument/2006/relationships/notesSlide" Target="/ppt/notesSlides/notesSlide3.xml" Id="Rc552bf4dcd5e4ae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6dd15b094424826" /><Relationship Type="http://schemas.openxmlformats.org/officeDocument/2006/relationships/image" Target="/ppt/media/image4.png" Id="R28af8d71c69b45f9" /><Relationship Type="http://schemas.openxmlformats.org/officeDocument/2006/relationships/notesSlide" Target="/ppt/notesSlides/notesSlide4.xml" Id="R9509464bea2445f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7ce485600104578" /><Relationship Type="http://schemas.openxmlformats.org/officeDocument/2006/relationships/image" Target="/ppt/media/image5.png" Id="R41b994fb3e1e434a" /><Relationship Type="http://schemas.openxmlformats.org/officeDocument/2006/relationships/image" Target="/ppt/media/image6.png" Id="R4b53e65cff704507" /><Relationship Type="http://schemas.openxmlformats.org/officeDocument/2006/relationships/image" Target="/ppt/media/image7.png" Id="Re9de061831ea4fed" /><Relationship Type="http://schemas.openxmlformats.org/officeDocument/2006/relationships/notesSlide" Target="/ppt/notesSlides/notesSlide5.xml" Id="Rb94d4bdb87b647b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587bd87c8594a1f" /><Relationship Type="http://schemas.openxmlformats.org/officeDocument/2006/relationships/image" Target="/ppt/media/image8.png" Id="R82991f3dfbb04a44" /><Relationship Type="http://schemas.openxmlformats.org/officeDocument/2006/relationships/notesSlide" Target="/ppt/notesSlides/notesSlide6.xml" Id="R85c883b6d00149e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afb3a3835db4ad7" /><Relationship Type="http://schemas.openxmlformats.org/officeDocument/2006/relationships/image" Target="/ppt/media/image9.png" Id="R4401d07157e048cb" /><Relationship Type="http://schemas.openxmlformats.org/officeDocument/2006/relationships/notesSlide" Target="/ppt/notesSlides/notesSlide7.xml" Id="R3d9b15f81270435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73cf6591ebc423d" /><Relationship Type="http://schemas.openxmlformats.org/officeDocument/2006/relationships/image" Target="/ppt/media/image10.png" Id="Rc69e8700d0834dfa" /><Relationship Type="http://schemas.openxmlformats.org/officeDocument/2006/relationships/notesSlide" Target="/ppt/notesSlides/notesSlide8.xml" Id="Rf686276ac261453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355657219f940ba" /><Relationship Type="http://schemas.openxmlformats.org/officeDocument/2006/relationships/image" Target="/ppt/media/image11.png" Id="Rffd5c95e35694460" /><Relationship Type="http://schemas.openxmlformats.org/officeDocument/2006/relationships/notesSlide" Target="/ppt/notesSlides/notesSlide9.xml" Id="R071a92e29da840a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93d7bf01e32482b" /><Relationship Type="http://schemas.openxmlformats.org/officeDocument/2006/relationships/image" Target="/ppt/media/image12.png" Id="R7728ccef3848468d" /><Relationship Type="http://schemas.openxmlformats.org/officeDocument/2006/relationships/notesSlide" Target="/ppt/notesSlides/notesSlide10.xml" Id="Rf4dea59f8141487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b9b6fcf2ae2d4c6c" /><Relationship Type="http://schemas.openxmlformats.org/officeDocument/2006/relationships/image" Target="/ppt/media/image13.png" Id="R2f7212a26b074992" /><Relationship Type="http://schemas.openxmlformats.org/officeDocument/2006/relationships/notesSlide" Target="/ppt/notesSlides/notesSlide11.xml" Id="R61305d467b694fb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513ba15bda024962" /><Relationship Type="http://schemas.openxmlformats.org/officeDocument/2006/relationships/image" Target="/ppt/media/image14.png" Id="R06ca665baaf54e42" /><Relationship Type="http://schemas.openxmlformats.org/officeDocument/2006/relationships/notesSlide" Target="/ppt/notesSlides/notesSlide12.xml" Id="Rcf8c0667ccac497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bce20d6aa93549e8" /><Relationship Type="http://schemas.openxmlformats.org/officeDocument/2006/relationships/image" Target="/ppt/media/image15.png" Id="Rafe0c187309b43fa" /><Relationship Type="http://schemas.openxmlformats.org/officeDocument/2006/relationships/notesSlide" Target="/ppt/notesSlides/notesSlide13.xml" Id="R1d681c235797456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b2c6c74d9b174794" /><Relationship Type="http://schemas.openxmlformats.org/officeDocument/2006/relationships/image" Target="/ppt/media/image16.png" Id="R4471d1a1dc54419b" /><Relationship Type="http://schemas.openxmlformats.org/officeDocument/2006/relationships/notesSlide" Target="/ppt/notesSlides/notesSlide14.xml" Id="R1530b5479c374b7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849a68ee20a24f33" /><Relationship Type="http://schemas.openxmlformats.org/officeDocument/2006/relationships/image" Target="/ppt/media/image17.png" Id="Recc8fd92397b4b82" /><Relationship Type="http://schemas.openxmlformats.org/officeDocument/2006/relationships/notesSlide" Target="/ppt/notesSlides/notesSlide15.xml" Id="Ree927a4d8964480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aed506f75267419f" /><Relationship Type="http://schemas.openxmlformats.org/officeDocument/2006/relationships/image" Target="/ppt/media/image18.png" Id="R2625ae9c08884ddc" /><Relationship Type="http://schemas.openxmlformats.org/officeDocument/2006/relationships/notesSlide" Target="/ppt/notesSlides/notesSlide16.xml" Id="R90341aa13a2049d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236637c03a4e4235" /><Relationship Type="http://schemas.openxmlformats.org/officeDocument/2006/relationships/image" Target="/ppt/media/image19.png" Id="R8c0da7a710a14f80" /><Relationship Type="http://schemas.openxmlformats.org/officeDocument/2006/relationships/notesSlide" Target="/ppt/notesSlides/notesSlide17.xml" Id="Raf9ac819443c49c8"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a68a6a6478e64e4c" /><Relationship Type="http://schemas.openxmlformats.org/officeDocument/2006/relationships/image" Target="/ppt/media/image20.png" Id="R5e97cebcf2ab4fce" /><Relationship Type="http://schemas.openxmlformats.org/officeDocument/2006/relationships/image" Target="/ppt/media/image21.png" Id="Rf7a9c2a0a5a946f6" /><Relationship Type="http://schemas.openxmlformats.org/officeDocument/2006/relationships/notesSlide" Target="/ppt/notesSlides/notesSlide18.xml" Id="R4eab93f53b494b48" /></Relationships>
</file>

<file path=ppt/slides/slide1.xml><?xml version="1.0" encoding="utf-8"?>
<p:sld xmlns:p="http://schemas.openxmlformats.org/presentationml/2006/main">
  <p:cSld>
    <p:bg>
      <p:bgPr>
        <a:solidFill xmlns:a="http://schemas.openxmlformats.org/drawingml/2006/main">
          <a:srgbClr val="240C54"/>
        </a:solidFill>
      </p:bgPr>
    </p:bg>
    <p:spTree>
      <p:nvGrpSpPr>
        <p:cNvPr id="1" name=""/>
        <p:cNvGrpSpPr/>
        <p:nvPr/>
      </p:nvGrpSpPr>
      <p:grpSpPr>
        <a:xfrm xmlns:a="http://schemas.openxmlformats.org/drawingml/2006/main"/>
      </p:grpSpPr>
      <p:pic>
        <p:nvPicPr>
          <p:cNvPr id="14" name="Image 0"/>
          <p:cNvPicPr>
            <a:picLocks xmlns:a="http://schemas.openxmlformats.org/drawingml/2006/main" noChangeAspect="1"/>
          </p:cNvPicPr>
          <p:nvPr/>
        </p:nvPicPr>
        <p:blipFill>
          <a:blip xmlns:r="http://schemas.openxmlformats.org/officeDocument/2006/relationships" xmlns:a="http://schemas.openxmlformats.org/drawingml/2006/main" r:embed="R6116dfae77004ede"/>
          <a:stretch xmlns:a="http://schemas.openxmlformats.org/drawingml/2006/main">
            <a:fillRect l="0" t="0" r="0" b="0"/>
          </a:stretch>
        </p:blipFill>
        <p:spPr>
          <a:xfrm xmlns:a="http://schemas.openxmlformats.org/drawingml/2006/main">
            <a:off x="960120" y="1572768"/>
            <a:ext cx="1481328" cy="1444752"/>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6C31509A-07B0-4275-8D48-A8DC12FB4887}"/>
              </a:ext>
            </a:extLst>
          </p:cNvPr>
          <p:cNvSpPr>
            <a:spLocks xmlns:a="http://schemas.openxmlformats.org/drawingml/2006/main" noGrp="1"/>
          </p:cNvSpPr>
          <p:nvPr/>
        </p:nvSpPr>
        <p:spPr>
          <a:xfrm xmlns:a="http://schemas.openxmlformats.org/drawingml/2006/main">
            <a:off x="2834640" y="1682496"/>
            <a:ext cx="82296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spc="240">
                <a:solidFill>
                  <a:srgbClr val="E4B454"/>
                </a:solidFill>
                <a:latin typeface="Calibri"/>
                <a:ea typeface="Calibri"/>
                <a:cs typeface="Calibri"/>
              </a:rPr>
              <a:t>OBAFEMI AWOLOWO UNIVERSITY, ILE-IFE</a:t>
            </a:r>
            <a:endParaRPr sz="1200"/>
          </a:p>
        </p:txBody>
      </p:sp>
      <p:sp>
        <p:nvSpPr>
          <p:cNvPr id="4" name="Text 1">
            <a:extLst xmlns:a="http://schemas.openxmlformats.org/drawingml/2006/main">
              <a:ext uri="{FF2B5EF4-FFF2-40B4-BE49-F238E27FC236}">
                <a16:creationId xmlns:a16="http://schemas.microsoft.com/office/drawing/2014/main" id="{5960D4E0-D035-472F-94F4-A1E6BF6B9E46}"/>
              </a:ext>
            </a:extLst>
          </p:cNvPr>
          <p:cNvSpPr>
            <a:spLocks xmlns:a="http://schemas.openxmlformats.org/drawingml/2006/main" noGrp="1"/>
          </p:cNvSpPr>
          <p:nvPr/>
        </p:nvSpPr>
        <p:spPr>
          <a:xfrm xmlns:a="http://schemas.openxmlformats.org/drawingml/2006/main">
            <a:off x="2834640" y="2011680"/>
            <a:ext cx="8412480"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4600"/>
              </a:lnSpc>
              <a:buNone/>
            </a:pPr>
            <a:r>
              <a:rPr sz="4200" b="1">
                <a:solidFill>
                  <a:srgbClr val="FFFFFF"/>
                </a:solidFill>
                <a:latin typeface="Cambria"/>
                <a:ea typeface="Cambria"/>
                <a:cs typeface="Cambria"/>
              </a:rPr>
              <a:t>Online Library</a:t>
            </a:r>
            <a:endParaRPr sz="4200"/>
          </a:p>
          <a:p xmlns:a="http://schemas.openxmlformats.org/drawingml/2006/main">
            <a:pPr marL="0" indent="0">
              <a:lnSpc>
                <a:spcPts val="4600"/>
              </a:lnSpc>
              <a:buNone/>
            </a:pPr>
            <a:r>
              <a:rPr sz="4200" b="1">
                <a:solidFill>
                  <a:srgbClr val="FFFFFF"/>
                </a:solidFill>
                <a:latin typeface="Cambria"/>
                <a:ea typeface="Cambria"/>
                <a:cs typeface="Cambria"/>
              </a:rPr>
              <a:t>Management System</a:t>
            </a:r>
            <a:endParaRPr sz="4200"/>
          </a:p>
        </p:txBody>
      </p:sp>
      <p:sp>
        <p:nvSpPr>
          <p:cNvPr id="5" name="Text 2">
            <a:extLst xmlns:a="http://schemas.openxmlformats.org/drawingml/2006/main">
              <a:ext uri="{FF2B5EF4-FFF2-40B4-BE49-F238E27FC236}">
                <a16:creationId xmlns:a16="http://schemas.microsoft.com/office/drawing/2014/main" id="{4DADF70E-6306-4D91-B71F-68D3698AFA7D}"/>
              </a:ext>
            </a:extLst>
          </p:cNvPr>
          <p:cNvSpPr>
            <a:spLocks xmlns:a="http://schemas.openxmlformats.org/drawingml/2006/main" noGrp="1"/>
          </p:cNvSpPr>
          <p:nvPr/>
        </p:nvSpPr>
        <p:spPr>
          <a:xfrm xmlns:a="http://schemas.openxmlformats.org/drawingml/2006/main">
            <a:off x="2862072" y="3438144"/>
            <a:ext cx="7863840"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2100"/>
              </a:lnSpc>
              <a:buNone/>
            </a:pPr>
            <a:r>
              <a:rPr sz="1500">
                <a:solidFill>
                  <a:srgbClr val="C9C2E4"/>
                </a:solidFill>
                <a:latin typeface="Calibri"/>
                <a:ea typeface="Calibri"/>
                <a:cs typeface="Calibri"/>
              </a:rPr>
              <a:t>A web-based catalogue and circulation system for the</a:t>
            </a:r>
            <a:endParaRPr sz="1500"/>
          </a:p>
          <a:p xmlns:a="http://schemas.openxmlformats.org/drawingml/2006/main">
            <a:pPr marL="0" indent="0">
              <a:lnSpc>
                <a:spcPts val="2100"/>
              </a:lnSpc>
              <a:buNone/>
            </a:pPr>
            <a:r>
              <a:rPr sz="1500">
                <a:solidFill>
                  <a:srgbClr val="C9C2E4"/>
                </a:solidFill>
                <a:latin typeface="Calibri"/>
                <a:ea typeface="Calibri"/>
                <a:cs typeface="Calibri"/>
              </a:rPr>
              <a:t>Hezekiah Oluwasanmi Library</a:t>
            </a:r>
            <a:endParaRPr sz="1500"/>
          </a:p>
        </p:txBody>
      </p:sp>
      <p:sp>
        <p:nvSpPr>
          <p:cNvPr id="6" name="Shape 3">
            <a:extLst xmlns:a="http://schemas.openxmlformats.org/drawingml/2006/main">
              <a:ext uri="{FF2B5EF4-FFF2-40B4-BE49-F238E27FC236}">
                <a16:creationId xmlns:a16="http://schemas.microsoft.com/office/drawing/2014/main" id="{547C557D-21C3-4ED5-8277-1D860A8FC20B}"/>
              </a:ext>
            </a:extLst>
          </p:cNvPr>
          <p:cNvSpPr>
            <a:spLocks xmlns:a="http://schemas.openxmlformats.org/drawingml/2006/main" noGrp="1"/>
          </p:cNvSpPr>
          <p:nvPr/>
        </p:nvSpPr>
        <p:spPr>
          <a:xfrm xmlns:a="http://schemas.openxmlformats.org/drawingml/2006/main">
            <a:off x="2862072" y="4224528"/>
            <a:ext cx="6766560" cy="0"/>
          </a:xfrm>
          <a:prstGeom xmlns:a="http://schemas.openxmlformats.org/drawingml/2006/main" prst="line">
            <a:avLst/>
          </a:prstGeom>
          <a:noFill xmlns:a="http://schemas.openxmlformats.org/drawingml/2006/main"/>
          <a:ln xmlns:a="http://schemas.openxmlformats.org/drawingml/2006/main" w="12700">
            <a:solidFill>
              <a:srgbClr val="4A3A7A"/>
            </a:solidFill>
            <a:prstDash val="solid"/>
          </a:ln>
        </p:spPr>
      </p:sp>
      <p:sp>
        <p:nvSpPr>
          <p:cNvPr id="7" name="Text 4">
            <a:extLst xmlns:a="http://schemas.openxmlformats.org/drawingml/2006/main">
              <a:ext uri="{FF2B5EF4-FFF2-40B4-BE49-F238E27FC236}">
                <a16:creationId xmlns:a16="http://schemas.microsoft.com/office/drawing/2014/main" id="{EEC83CB1-1207-4848-9EE0-7D273AC1376A}"/>
              </a:ext>
            </a:extLst>
          </p:cNvPr>
          <p:cNvSpPr>
            <a:spLocks xmlns:a="http://schemas.openxmlformats.org/drawingml/2006/main" noGrp="1"/>
          </p:cNvSpPr>
          <p:nvPr/>
        </p:nvSpPr>
        <p:spPr>
          <a:xfrm xmlns:a="http://schemas.openxmlformats.org/drawingml/2006/main">
            <a:off x="2862072" y="4443984"/>
            <a:ext cx="1234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spc="140">
                <a:solidFill>
                  <a:srgbClr val="E4B454"/>
                </a:solidFill>
                <a:latin typeface="Calibri"/>
                <a:ea typeface="Calibri"/>
                <a:cs typeface="Calibri"/>
              </a:rPr>
              <a:t>GROUP</a:t>
            </a:r>
            <a:endParaRPr sz="1050"/>
          </a:p>
        </p:txBody>
      </p:sp>
      <p:sp>
        <p:nvSpPr>
          <p:cNvPr id="8" name="Text 5">
            <a:extLst xmlns:a="http://schemas.openxmlformats.org/drawingml/2006/main">
              <a:ext uri="{FF2B5EF4-FFF2-40B4-BE49-F238E27FC236}">
                <a16:creationId xmlns:a16="http://schemas.microsoft.com/office/drawing/2014/main" id="{63810FA5-DB12-4697-A356-04D12BACD53E}"/>
              </a:ext>
            </a:extLst>
          </p:cNvPr>
          <p:cNvSpPr>
            <a:spLocks xmlns:a="http://schemas.openxmlformats.org/drawingml/2006/main" noGrp="1"/>
          </p:cNvSpPr>
          <p:nvPr/>
        </p:nvSpPr>
        <p:spPr>
          <a:xfrm xmlns:a="http://schemas.openxmlformats.org/drawingml/2006/main">
            <a:off x="4160520" y="4443984"/>
            <a:ext cx="74066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FFFFFF"/>
                </a:solidFill>
                <a:latin typeface="Calibri"/>
                <a:ea typeface="Calibri"/>
                <a:cs typeface="Calibri"/>
              </a:rPr>
              <a:t>Group 4, Part 1, 22 members</a:t>
            </a:r>
            <a:endParaRPr sz="1300"/>
          </a:p>
        </p:txBody>
      </p:sp>
      <p:sp>
        <p:nvSpPr>
          <p:cNvPr id="9" name="Text 6">
            <a:extLst xmlns:a="http://schemas.openxmlformats.org/drawingml/2006/main">
              <a:ext uri="{FF2B5EF4-FFF2-40B4-BE49-F238E27FC236}">
                <a16:creationId xmlns:a16="http://schemas.microsoft.com/office/drawing/2014/main" id="{877115C4-25DE-4BD6-B140-A086DD8719E4}"/>
              </a:ext>
            </a:extLst>
          </p:cNvPr>
          <p:cNvSpPr>
            <a:spLocks xmlns:a="http://schemas.openxmlformats.org/drawingml/2006/main" noGrp="1"/>
          </p:cNvSpPr>
          <p:nvPr/>
        </p:nvSpPr>
        <p:spPr>
          <a:xfrm xmlns:a="http://schemas.openxmlformats.org/drawingml/2006/main">
            <a:off x="2862072" y="4809744"/>
            <a:ext cx="1234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spc="140">
                <a:solidFill>
                  <a:srgbClr val="E4B454"/>
                </a:solidFill>
                <a:latin typeface="Calibri"/>
                <a:ea typeface="Calibri"/>
                <a:cs typeface="Calibri"/>
              </a:rPr>
              <a:t>COURSE</a:t>
            </a:r>
            <a:endParaRPr sz="1050"/>
          </a:p>
        </p:txBody>
      </p:sp>
      <p:sp>
        <p:nvSpPr>
          <p:cNvPr id="10" name="Text 7">
            <a:extLst xmlns:a="http://schemas.openxmlformats.org/drawingml/2006/main">
              <a:ext uri="{FF2B5EF4-FFF2-40B4-BE49-F238E27FC236}">
                <a16:creationId xmlns:a16="http://schemas.microsoft.com/office/drawing/2014/main" id="{465721B5-8EF2-46A1-8ADF-4848B4B532DE}"/>
              </a:ext>
            </a:extLst>
          </p:cNvPr>
          <p:cNvSpPr>
            <a:spLocks xmlns:a="http://schemas.openxmlformats.org/drawingml/2006/main" noGrp="1"/>
          </p:cNvSpPr>
          <p:nvPr/>
        </p:nvSpPr>
        <p:spPr>
          <a:xfrm xmlns:a="http://schemas.openxmlformats.org/drawingml/2006/main">
            <a:off x="4160520" y="4809744"/>
            <a:ext cx="74066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FFFFFF"/>
                </a:solidFill>
                <a:latin typeface="Calibri"/>
                <a:ea typeface="Calibri"/>
                <a:cs typeface="Calibri"/>
              </a:rPr>
              <a:t>SEN 106 / SEN 216, Introduction to Web Technologies</a:t>
            </a:r>
            <a:endParaRPr sz="1300"/>
          </a:p>
        </p:txBody>
      </p:sp>
      <p:sp>
        <p:nvSpPr>
          <p:cNvPr id="11" name="Text 8">
            <a:extLst xmlns:a="http://schemas.openxmlformats.org/drawingml/2006/main">
              <a:ext uri="{FF2B5EF4-FFF2-40B4-BE49-F238E27FC236}">
                <a16:creationId xmlns:a16="http://schemas.microsoft.com/office/drawing/2014/main" id="{C58D098E-22D1-48F6-AEE7-CBEA4046CE17}"/>
              </a:ext>
            </a:extLst>
          </p:cNvPr>
          <p:cNvSpPr>
            <a:spLocks xmlns:a="http://schemas.openxmlformats.org/drawingml/2006/main" noGrp="1"/>
          </p:cNvSpPr>
          <p:nvPr/>
        </p:nvSpPr>
        <p:spPr>
          <a:xfrm xmlns:a="http://schemas.openxmlformats.org/drawingml/2006/main">
            <a:off x="2862072" y="5175504"/>
            <a:ext cx="1234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spc="140">
                <a:solidFill>
                  <a:srgbClr val="E4B454"/>
                </a:solidFill>
                <a:latin typeface="Calibri"/>
                <a:ea typeface="Calibri"/>
                <a:cs typeface="Calibri"/>
              </a:rPr>
              <a:t>LIVE</a:t>
            </a:r>
            <a:endParaRPr sz="1050"/>
          </a:p>
        </p:txBody>
      </p:sp>
      <p:sp>
        <p:nvSpPr>
          <p:cNvPr id="12" name="Text 9">
            <a:extLst xmlns:a="http://schemas.openxmlformats.org/drawingml/2006/main">
              <a:ext uri="{FF2B5EF4-FFF2-40B4-BE49-F238E27FC236}">
                <a16:creationId xmlns:a16="http://schemas.microsoft.com/office/drawing/2014/main" id="{5E49A706-B552-4F55-8EC0-DDAA168B0171}"/>
              </a:ext>
            </a:extLst>
          </p:cNvPr>
          <p:cNvSpPr>
            <a:spLocks xmlns:a="http://schemas.openxmlformats.org/drawingml/2006/main" noGrp="1"/>
          </p:cNvSpPr>
          <p:nvPr/>
        </p:nvSpPr>
        <p:spPr>
          <a:xfrm xmlns:a="http://schemas.openxmlformats.org/drawingml/2006/main">
            <a:off x="4160520" y="5175504"/>
            <a:ext cx="74066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FFFFFF"/>
                </a:solidFill>
                <a:latin typeface="Calibri"/>
                <a:ea typeface="Calibri"/>
                <a:cs typeface="Calibri"/>
              </a:rPr>
              <a:t>library.appmd.dev  ·  api.library.appmd.dev</a:t>
            </a:r>
            <a:endParaRPr sz="1300"/>
          </a:p>
        </p:txBody>
      </p:sp>
    </p:spTree>
    <p:extLst>
      <p:ext uri="{BB962C8B-B14F-4D97-AF65-F5344CB8AC3E}">
        <p14:creationId xmlns:p14="http://schemas.microsoft.com/office/powerpoint/2010/main" val="58649225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285A2F3E-DBC1-43E6-B0C3-27EFA5548172}"/>
              </a:ext>
            </a:extLst>
          </p:cNvPr>
          <p:cNvSpPr>
            <a:spLocks xmlns:a="http://schemas.openxmlformats.org/drawingml/2006/main" noGrp="1"/>
          </p:cNvSpPr>
          <p:nvPr/>
        </p:nvSpPr>
        <p:spPr>
          <a:xfrm xmlns:a="http://schemas.openxmlformats.org/drawingml/2006/main">
            <a:off x="566928" y="384048"/>
            <a:ext cx="82296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20">
                <a:solidFill>
                  <a:srgbClr val="E4B454"/>
                </a:solidFill>
                <a:latin typeface="Calibri"/>
                <a:ea typeface="Calibri"/>
                <a:cs typeface="Calibri"/>
              </a:rPr>
              <a:t>THE PROBLEM</a:t>
            </a:r>
            <a:endParaRPr sz="1100"/>
          </a:p>
        </p:txBody>
      </p:sp>
      <p:sp>
        <p:nvSpPr>
          <p:cNvPr id="3" name="Text 1">
            <a:extLst xmlns:a="http://schemas.openxmlformats.org/drawingml/2006/main">
              <a:ext uri="{FF2B5EF4-FFF2-40B4-BE49-F238E27FC236}">
                <a16:creationId xmlns:a16="http://schemas.microsoft.com/office/drawing/2014/main" id="{76C5E058-84DD-4809-9C05-92DEABFC3D2A}"/>
              </a:ext>
            </a:extLst>
          </p:cNvPr>
          <p:cNvSpPr>
            <a:spLocks xmlns:a="http://schemas.openxmlformats.org/drawingml/2006/main" noGrp="1"/>
          </p:cNvSpPr>
          <p:nvPr/>
        </p:nvSpPr>
        <p:spPr>
          <a:xfrm xmlns:a="http://schemas.openxmlformats.org/drawingml/2006/main">
            <a:off x="566928" y="640080"/>
            <a:ext cx="96926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40C54"/>
                </a:solidFill>
                <a:latin typeface="Cambria"/>
                <a:ea typeface="Cambria"/>
                <a:cs typeface="Cambria"/>
              </a:rPr>
              <a:t>Everything is on paper, and nothing is searchable</a:t>
            </a:r>
            <a:endParaRPr sz="3000"/>
          </a:p>
        </p:txBody>
      </p:sp>
      <p:pic>
        <p:nvPicPr>
          <p:cNvPr id="37" name="Image 0"/>
          <p:cNvPicPr>
            <a:picLocks xmlns:a="http://schemas.openxmlformats.org/drawingml/2006/main" noChangeAspect="1"/>
          </p:cNvPicPr>
          <p:nvPr/>
        </p:nvPicPr>
        <p:blipFill>
          <a:blip xmlns:r="http://schemas.openxmlformats.org/officeDocument/2006/relationships" xmlns:a="http://schemas.openxmlformats.org/drawingml/2006/main" r:embed="Rcd6c20f5a81b4261"/>
          <a:stretch xmlns:a="http://schemas.openxmlformats.org/drawingml/2006/main">
            <a:fillRect l="0" t="0" r="0" b="0"/>
          </a:stretch>
        </p:blipFill>
        <p:spPr>
          <a:xfrm xmlns:a="http://schemas.openxmlformats.org/drawingml/2006/main">
            <a:off x="11149279" y="365760"/>
            <a:ext cx="475488" cy="466344"/>
          </a:xfrm>
          <a:prstGeom xmlns:a="http://schemas.openxmlformats.org/drawingml/2006/main" prst="rect">
            <a:avLst/>
          </a:prstGeom>
        </p:spPr>
      </p:pic>
      <p:sp>
        <p:nvSpPr>
          <p:cNvPr id="5" name="Text 2">
            <a:extLst xmlns:a="http://schemas.openxmlformats.org/drawingml/2006/main">
              <a:ext uri="{FF2B5EF4-FFF2-40B4-BE49-F238E27FC236}">
                <a16:creationId xmlns:a16="http://schemas.microsoft.com/office/drawing/2014/main" id="{8C705C47-805F-4291-9AC4-E343B489DBEF}"/>
              </a:ext>
            </a:extLst>
          </p:cNvPr>
          <p:cNvSpPr>
            <a:spLocks xmlns:a="http://schemas.openxmlformats.org/drawingml/2006/main" noGrp="1"/>
          </p:cNvSpPr>
          <p:nvPr/>
        </p:nvSpPr>
        <p:spPr>
          <a:xfrm xmlns:a="http://schemas.openxmlformats.org/drawingml/2006/main">
            <a:off x="11149279" y="6382512"/>
            <a:ext cx="475488"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000">
                <a:solidFill>
                  <a:srgbClr val="5B5B6B"/>
                </a:solidFill>
                <a:latin typeface="Calibri"/>
                <a:ea typeface="Calibri"/>
                <a:cs typeface="Calibri"/>
              </a:rPr>
              <a:t>2</a:t>
            </a:r>
            <a:endParaRPr sz="1000"/>
          </a:p>
        </p:txBody>
      </p:sp>
      <p:sp>
        <p:nvSpPr>
          <p:cNvPr id="6" name="Text 3">
            <a:extLst xmlns:a="http://schemas.openxmlformats.org/drawingml/2006/main">
              <a:ext uri="{FF2B5EF4-FFF2-40B4-BE49-F238E27FC236}">
                <a16:creationId xmlns:a16="http://schemas.microsoft.com/office/drawing/2014/main" id="{A0FE5A6C-99FA-43F8-8BC6-3805A5D914DE}"/>
              </a:ext>
            </a:extLst>
          </p:cNvPr>
          <p:cNvSpPr>
            <a:spLocks xmlns:a="http://schemas.openxmlformats.org/drawingml/2006/main" noGrp="1"/>
          </p:cNvSpPr>
          <p:nvPr/>
        </p:nvSpPr>
        <p:spPr>
          <a:xfrm xmlns:a="http://schemas.openxmlformats.org/drawingml/2006/main">
            <a:off x="566928" y="1389888"/>
            <a:ext cx="580644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2100"/>
              </a:lnSpc>
              <a:buNone/>
            </a:pPr>
            <a:r>
              <a:rPr sz="1400">
                <a:solidFill>
                  <a:srgbClr val="1A1A2E"/>
                </a:solidFill>
                <a:latin typeface="Calibri"/>
                <a:ea typeface="Calibri"/>
                <a:cs typeface="Calibri"/>
              </a:rPr>
              <a:t>The Hezekiah Oluwasanmi Library holds one of the largest collections in West Africa. Finding a book still means walking to the shelf. Borrowing is recorded in a ledger, so no one can answer a simple question without opening a book of records.</a:t>
            </a:r>
            <a:endParaRPr sz="1400"/>
          </a:p>
        </p:txBody>
      </p:sp>
      <p:sp>
        <p:nvSpPr>
          <p:cNvPr id="7" name="Shape 4">
            <a:extLst xmlns:a="http://schemas.openxmlformats.org/drawingml/2006/main">
              <a:ext uri="{FF2B5EF4-FFF2-40B4-BE49-F238E27FC236}">
                <a16:creationId xmlns:a16="http://schemas.microsoft.com/office/drawing/2014/main" id="{ED1D6FD2-3F04-421B-845F-89571A5F41A9}"/>
              </a:ext>
            </a:extLst>
          </p:cNvPr>
          <p:cNvSpPr>
            <a:spLocks xmlns:a="http://schemas.openxmlformats.org/drawingml/2006/main" noGrp="1"/>
          </p:cNvSpPr>
          <p:nvPr/>
        </p:nvSpPr>
        <p:spPr>
          <a:xfrm xmlns:a="http://schemas.openxmlformats.org/drawingml/2006/main">
            <a:off x="566928" y="2670048"/>
            <a:ext cx="5806440" cy="932688"/>
          </a:xfrm>
          <a:prstGeom xmlns:a="http://schemas.openxmlformats.org/drawingml/2006/main" prst="roundRect">
            <a:avLst>
              <a:gd name="adj" fmla="val 6863"/>
            </a:avLst>
          </a:prstGeom>
          <a:solidFill xmlns:a="http://schemas.openxmlformats.org/drawingml/2006/main">
            <a:srgbClr val="F4F5F9"/>
          </a:solidFill>
          <a:ln xmlns:a="http://schemas.openxmlformats.org/drawingml/2006/main" w="9525">
            <a:solidFill>
              <a:srgbClr val="D8DAE5"/>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8" name="Shape 5">
            <a:extLst xmlns:a="http://schemas.openxmlformats.org/drawingml/2006/main">
              <a:ext uri="{FF2B5EF4-FFF2-40B4-BE49-F238E27FC236}">
                <a16:creationId xmlns:a16="http://schemas.microsoft.com/office/drawing/2014/main" id="{28B63092-C48E-4595-8041-42202FC38411}"/>
              </a:ext>
            </a:extLst>
          </p:cNvPr>
          <p:cNvSpPr>
            <a:spLocks xmlns:a="http://schemas.openxmlformats.org/drawingml/2006/main" noGrp="1"/>
          </p:cNvSpPr>
          <p:nvPr/>
        </p:nvSpPr>
        <p:spPr>
          <a:xfrm xmlns:a="http://schemas.openxmlformats.org/drawingml/2006/main">
            <a:off x="768096" y="2852928"/>
            <a:ext cx="310896" cy="310896"/>
          </a:xfrm>
          <a:prstGeom xmlns:a="http://schemas.openxmlformats.org/drawingml/2006/main" prst="ellipse">
            <a:avLst/>
          </a:prstGeom>
          <a:solidFill xmlns:a="http://schemas.openxmlformats.org/drawingml/2006/main">
            <a:srgbClr val="240C54"/>
          </a:solidFill>
          <a:ln xmlns:a="http://schemas.openxmlformats.org/drawingml/2006/main" w="12700">
            <a:solidFill>
              <a:srgbClr val="240C54"/>
            </a:solidFill>
            <a:prstDash val="solid"/>
          </a:ln>
        </p:spPr>
      </p:sp>
      <p:sp>
        <p:nvSpPr>
          <p:cNvPr id="9" name="Text 6">
            <a:extLst xmlns:a="http://schemas.openxmlformats.org/drawingml/2006/main">
              <a:ext uri="{FF2B5EF4-FFF2-40B4-BE49-F238E27FC236}">
                <a16:creationId xmlns:a16="http://schemas.microsoft.com/office/drawing/2014/main" id="{528B0B71-FF89-4102-9DAB-5A8F14C7E59F}"/>
              </a:ext>
            </a:extLst>
          </p:cNvPr>
          <p:cNvSpPr>
            <a:spLocks xmlns:a="http://schemas.openxmlformats.org/drawingml/2006/main" noGrp="1"/>
          </p:cNvSpPr>
          <p:nvPr/>
        </p:nvSpPr>
        <p:spPr>
          <a:xfrm xmlns:a="http://schemas.openxmlformats.org/drawingml/2006/main">
            <a:off x="768096" y="2852928"/>
            <a:ext cx="310896"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E4B454"/>
                </a:solidFill>
                <a:latin typeface="Calibri"/>
                <a:ea typeface="Calibri"/>
                <a:cs typeface="Calibri"/>
              </a:rPr>
              <a:t>1</a:t>
            </a:r>
            <a:endParaRPr sz="1300"/>
          </a:p>
        </p:txBody>
      </p:sp>
      <p:sp>
        <p:nvSpPr>
          <p:cNvPr id="10" name="Text 7">
            <a:extLst xmlns:a="http://schemas.openxmlformats.org/drawingml/2006/main">
              <a:ext uri="{FF2B5EF4-FFF2-40B4-BE49-F238E27FC236}">
                <a16:creationId xmlns:a16="http://schemas.microsoft.com/office/drawing/2014/main" id="{0BE1288D-B9C2-4E03-99CB-8C6BB8CFCA68}"/>
              </a:ext>
            </a:extLst>
          </p:cNvPr>
          <p:cNvSpPr>
            <a:spLocks xmlns:a="http://schemas.openxmlformats.org/drawingml/2006/main" noGrp="1"/>
          </p:cNvSpPr>
          <p:nvPr/>
        </p:nvSpPr>
        <p:spPr>
          <a:xfrm xmlns:a="http://schemas.openxmlformats.org/drawingml/2006/main">
            <a:off x="1170432" y="2843784"/>
            <a:ext cx="498348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240C54"/>
                </a:solidFill>
                <a:latin typeface="Calibri"/>
                <a:ea typeface="Calibri"/>
                <a:cs typeface="Calibri"/>
              </a:rPr>
              <a:t>Is it available?</a:t>
            </a:r>
            <a:endParaRPr sz="1500"/>
          </a:p>
        </p:txBody>
      </p:sp>
      <p:sp>
        <p:nvSpPr>
          <p:cNvPr id="11" name="Text 8">
            <a:extLst xmlns:a="http://schemas.openxmlformats.org/drawingml/2006/main">
              <a:ext uri="{FF2B5EF4-FFF2-40B4-BE49-F238E27FC236}">
                <a16:creationId xmlns:a16="http://schemas.microsoft.com/office/drawing/2014/main" id="{D08502B9-D8AB-478A-B8D7-C069E9A78EF9}"/>
              </a:ext>
            </a:extLst>
          </p:cNvPr>
          <p:cNvSpPr>
            <a:spLocks xmlns:a="http://schemas.openxmlformats.org/drawingml/2006/main" noGrp="1"/>
          </p:cNvSpPr>
          <p:nvPr/>
        </p:nvSpPr>
        <p:spPr>
          <a:xfrm xmlns:a="http://schemas.openxmlformats.org/drawingml/2006/main">
            <a:off x="786384" y="3236976"/>
            <a:ext cx="5367528"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00">
                <a:solidFill>
                  <a:srgbClr val="1A1A2E"/>
                </a:solidFill>
                <a:latin typeface="Calibri"/>
                <a:ea typeface="Calibri"/>
                <a:cs typeface="Calibri"/>
              </a:rPr>
              <a:t>The catalogue cannot say. A student walks to the shelf to find out.</a:t>
            </a:r>
            <a:endParaRPr sz="1200"/>
          </a:p>
        </p:txBody>
      </p:sp>
      <p:sp>
        <p:nvSpPr>
          <p:cNvPr id="12" name="Shape 9">
            <a:extLst xmlns:a="http://schemas.openxmlformats.org/drawingml/2006/main">
              <a:ext uri="{FF2B5EF4-FFF2-40B4-BE49-F238E27FC236}">
                <a16:creationId xmlns:a16="http://schemas.microsoft.com/office/drawing/2014/main" id="{24E04062-E1D3-463D-8C99-A3CD6ECE07C9}"/>
              </a:ext>
            </a:extLst>
          </p:cNvPr>
          <p:cNvSpPr>
            <a:spLocks xmlns:a="http://schemas.openxmlformats.org/drawingml/2006/main" noGrp="1"/>
          </p:cNvSpPr>
          <p:nvPr/>
        </p:nvSpPr>
        <p:spPr>
          <a:xfrm xmlns:a="http://schemas.openxmlformats.org/drawingml/2006/main">
            <a:off x="566928" y="3730752"/>
            <a:ext cx="5806440" cy="932688"/>
          </a:xfrm>
          <a:prstGeom xmlns:a="http://schemas.openxmlformats.org/drawingml/2006/main" prst="roundRect">
            <a:avLst>
              <a:gd name="adj" fmla="val 6863"/>
            </a:avLst>
          </a:prstGeom>
          <a:solidFill xmlns:a="http://schemas.openxmlformats.org/drawingml/2006/main">
            <a:srgbClr val="F4F5F9"/>
          </a:solidFill>
          <a:ln xmlns:a="http://schemas.openxmlformats.org/drawingml/2006/main" w="9525">
            <a:solidFill>
              <a:srgbClr val="D8DAE5"/>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13" name="Shape 10">
            <a:extLst xmlns:a="http://schemas.openxmlformats.org/drawingml/2006/main">
              <a:ext uri="{FF2B5EF4-FFF2-40B4-BE49-F238E27FC236}">
                <a16:creationId xmlns:a16="http://schemas.microsoft.com/office/drawing/2014/main" id="{D8B3EA8B-884D-4351-BAF5-E9EF728AD831}"/>
              </a:ext>
            </a:extLst>
          </p:cNvPr>
          <p:cNvSpPr>
            <a:spLocks xmlns:a="http://schemas.openxmlformats.org/drawingml/2006/main" noGrp="1"/>
          </p:cNvSpPr>
          <p:nvPr/>
        </p:nvSpPr>
        <p:spPr>
          <a:xfrm xmlns:a="http://schemas.openxmlformats.org/drawingml/2006/main">
            <a:off x="768096" y="3913632"/>
            <a:ext cx="310896" cy="310896"/>
          </a:xfrm>
          <a:prstGeom xmlns:a="http://schemas.openxmlformats.org/drawingml/2006/main" prst="ellipse">
            <a:avLst/>
          </a:prstGeom>
          <a:solidFill xmlns:a="http://schemas.openxmlformats.org/drawingml/2006/main">
            <a:srgbClr val="240C54"/>
          </a:solidFill>
          <a:ln xmlns:a="http://schemas.openxmlformats.org/drawingml/2006/main" w="12700">
            <a:solidFill>
              <a:srgbClr val="240C54"/>
            </a:solidFill>
            <a:prstDash val="solid"/>
          </a:ln>
        </p:spPr>
      </p:sp>
      <p:sp>
        <p:nvSpPr>
          <p:cNvPr id="14" name="Text 11">
            <a:extLst xmlns:a="http://schemas.openxmlformats.org/drawingml/2006/main">
              <a:ext uri="{FF2B5EF4-FFF2-40B4-BE49-F238E27FC236}">
                <a16:creationId xmlns:a16="http://schemas.microsoft.com/office/drawing/2014/main" id="{44331BF0-F2B4-47B6-8FDE-303FB78134CE}"/>
              </a:ext>
            </a:extLst>
          </p:cNvPr>
          <p:cNvSpPr>
            <a:spLocks xmlns:a="http://schemas.openxmlformats.org/drawingml/2006/main" noGrp="1"/>
          </p:cNvSpPr>
          <p:nvPr/>
        </p:nvSpPr>
        <p:spPr>
          <a:xfrm xmlns:a="http://schemas.openxmlformats.org/drawingml/2006/main">
            <a:off x="768096" y="3913632"/>
            <a:ext cx="310896"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E4B454"/>
                </a:solidFill>
                <a:latin typeface="Calibri"/>
                <a:ea typeface="Calibri"/>
                <a:cs typeface="Calibri"/>
              </a:rPr>
              <a:t>2</a:t>
            </a:r>
            <a:endParaRPr sz="1300"/>
          </a:p>
        </p:txBody>
      </p:sp>
      <p:sp>
        <p:nvSpPr>
          <p:cNvPr id="15" name="Text 12">
            <a:extLst xmlns:a="http://schemas.openxmlformats.org/drawingml/2006/main">
              <a:ext uri="{FF2B5EF4-FFF2-40B4-BE49-F238E27FC236}">
                <a16:creationId xmlns:a16="http://schemas.microsoft.com/office/drawing/2014/main" id="{CCC9DD33-DEC0-42D9-ABCE-85A0B2370660}"/>
              </a:ext>
            </a:extLst>
          </p:cNvPr>
          <p:cNvSpPr>
            <a:spLocks xmlns:a="http://schemas.openxmlformats.org/drawingml/2006/main" noGrp="1"/>
          </p:cNvSpPr>
          <p:nvPr/>
        </p:nvSpPr>
        <p:spPr>
          <a:xfrm xmlns:a="http://schemas.openxmlformats.org/drawingml/2006/main">
            <a:off x="1170432" y="3904488"/>
            <a:ext cx="498348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240C54"/>
                </a:solidFill>
                <a:latin typeface="Calibri"/>
                <a:ea typeface="Calibri"/>
                <a:cs typeface="Calibri"/>
              </a:rPr>
              <a:t>Who has it?</a:t>
            </a:r>
            <a:endParaRPr sz="1500"/>
          </a:p>
        </p:txBody>
      </p:sp>
      <p:sp>
        <p:nvSpPr>
          <p:cNvPr id="16" name="Text 13">
            <a:extLst xmlns:a="http://schemas.openxmlformats.org/drawingml/2006/main">
              <a:ext uri="{FF2B5EF4-FFF2-40B4-BE49-F238E27FC236}">
                <a16:creationId xmlns:a16="http://schemas.microsoft.com/office/drawing/2014/main" id="{D4B94674-1AA9-4BFD-B298-A86D5680154E}"/>
              </a:ext>
            </a:extLst>
          </p:cNvPr>
          <p:cNvSpPr>
            <a:spLocks xmlns:a="http://schemas.openxmlformats.org/drawingml/2006/main" noGrp="1"/>
          </p:cNvSpPr>
          <p:nvPr/>
        </p:nvSpPr>
        <p:spPr>
          <a:xfrm xmlns:a="http://schemas.openxmlformats.org/drawingml/2006/main">
            <a:off x="786384" y="4297680"/>
            <a:ext cx="5367528"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00">
                <a:solidFill>
                  <a:srgbClr val="1A1A2E"/>
                </a:solidFill>
                <a:latin typeface="Calibri"/>
                <a:ea typeface="Calibri"/>
                <a:cs typeface="Calibri"/>
              </a:rPr>
              <a:t>Loans live in a ledger. Tracing one book means reading pages by hand.</a:t>
            </a:r>
            <a:endParaRPr sz="1200"/>
          </a:p>
        </p:txBody>
      </p:sp>
      <p:sp>
        <p:nvSpPr>
          <p:cNvPr id="17" name="Shape 14">
            <a:extLst xmlns:a="http://schemas.openxmlformats.org/drawingml/2006/main">
              <a:ext uri="{FF2B5EF4-FFF2-40B4-BE49-F238E27FC236}">
                <a16:creationId xmlns:a16="http://schemas.microsoft.com/office/drawing/2014/main" id="{7DBC95A1-7C87-4E57-998F-A3C6E98250F0}"/>
              </a:ext>
            </a:extLst>
          </p:cNvPr>
          <p:cNvSpPr>
            <a:spLocks xmlns:a="http://schemas.openxmlformats.org/drawingml/2006/main" noGrp="1"/>
          </p:cNvSpPr>
          <p:nvPr/>
        </p:nvSpPr>
        <p:spPr>
          <a:xfrm xmlns:a="http://schemas.openxmlformats.org/drawingml/2006/main">
            <a:off x="566928" y="4791456"/>
            <a:ext cx="5806440" cy="932688"/>
          </a:xfrm>
          <a:prstGeom xmlns:a="http://schemas.openxmlformats.org/drawingml/2006/main" prst="roundRect">
            <a:avLst>
              <a:gd name="adj" fmla="val 6863"/>
            </a:avLst>
          </a:prstGeom>
          <a:solidFill xmlns:a="http://schemas.openxmlformats.org/drawingml/2006/main">
            <a:srgbClr val="F4F5F9"/>
          </a:solidFill>
          <a:ln xmlns:a="http://schemas.openxmlformats.org/drawingml/2006/main" w="9525">
            <a:solidFill>
              <a:srgbClr val="D8DAE5"/>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18" name="Shape 15">
            <a:extLst xmlns:a="http://schemas.openxmlformats.org/drawingml/2006/main">
              <a:ext uri="{FF2B5EF4-FFF2-40B4-BE49-F238E27FC236}">
                <a16:creationId xmlns:a16="http://schemas.microsoft.com/office/drawing/2014/main" id="{2D5AC527-7625-42B6-811F-6F364C9D6C47}"/>
              </a:ext>
            </a:extLst>
          </p:cNvPr>
          <p:cNvSpPr>
            <a:spLocks xmlns:a="http://schemas.openxmlformats.org/drawingml/2006/main" noGrp="1"/>
          </p:cNvSpPr>
          <p:nvPr/>
        </p:nvSpPr>
        <p:spPr>
          <a:xfrm xmlns:a="http://schemas.openxmlformats.org/drawingml/2006/main">
            <a:off x="768096" y="4974336"/>
            <a:ext cx="310896" cy="310896"/>
          </a:xfrm>
          <a:prstGeom xmlns:a="http://schemas.openxmlformats.org/drawingml/2006/main" prst="ellipse">
            <a:avLst/>
          </a:prstGeom>
          <a:solidFill xmlns:a="http://schemas.openxmlformats.org/drawingml/2006/main">
            <a:srgbClr val="240C54"/>
          </a:solidFill>
          <a:ln xmlns:a="http://schemas.openxmlformats.org/drawingml/2006/main" w="12700">
            <a:solidFill>
              <a:srgbClr val="240C54"/>
            </a:solidFill>
            <a:prstDash val="solid"/>
          </a:ln>
        </p:spPr>
      </p:sp>
      <p:sp>
        <p:nvSpPr>
          <p:cNvPr id="19" name="Text 16">
            <a:extLst xmlns:a="http://schemas.openxmlformats.org/drawingml/2006/main">
              <a:ext uri="{FF2B5EF4-FFF2-40B4-BE49-F238E27FC236}">
                <a16:creationId xmlns:a16="http://schemas.microsoft.com/office/drawing/2014/main" id="{F045002E-2934-4E48-90FC-426AC4B1A907}"/>
              </a:ext>
            </a:extLst>
          </p:cNvPr>
          <p:cNvSpPr>
            <a:spLocks xmlns:a="http://schemas.openxmlformats.org/drawingml/2006/main" noGrp="1"/>
          </p:cNvSpPr>
          <p:nvPr/>
        </p:nvSpPr>
        <p:spPr>
          <a:xfrm xmlns:a="http://schemas.openxmlformats.org/drawingml/2006/main">
            <a:off x="768096" y="4974336"/>
            <a:ext cx="310896"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E4B454"/>
                </a:solidFill>
                <a:latin typeface="Calibri"/>
                <a:ea typeface="Calibri"/>
                <a:cs typeface="Calibri"/>
              </a:rPr>
              <a:t>3</a:t>
            </a:r>
            <a:endParaRPr sz="1300"/>
          </a:p>
        </p:txBody>
      </p:sp>
      <p:sp>
        <p:nvSpPr>
          <p:cNvPr id="20" name="Text 17">
            <a:extLst xmlns:a="http://schemas.openxmlformats.org/drawingml/2006/main">
              <a:ext uri="{FF2B5EF4-FFF2-40B4-BE49-F238E27FC236}">
                <a16:creationId xmlns:a16="http://schemas.microsoft.com/office/drawing/2014/main" id="{E515D31E-C928-402B-B790-6104197E5F1D}"/>
              </a:ext>
            </a:extLst>
          </p:cNvPr>
          <p:cNvSpPr>
            <a:spLocks xmlns:a="http://schemas.openxmlformats.org/drawingml/2006/main" noGrp="1"/>
          </p:cNvSpPr>
          <p:nvPr/>
        </p:nvSpPr>
        <p:spPr>
          <a:xfrm xmlns:a="http://schemas.openxmlformats.org/drawingml/2006/main">
            <a:off x="1170432" y="4965192"/>
            <a:ext cx="498348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240C54"/>
                </a:solidFill>
                <a:latin typeface="Calibri"/>
                <a:ea typeface="Calibri"/>
                <a:cs typeface="Calibri"/>
              </a:rPr>
              <a:t>What is overdue?</a:t>
            </a:r>
            <a:endParaRPr sz="1500"/>
          </a:p>
        </p:txBody>
      </p:sp>
      <p:sp>
        <p:nvSpPr>
          <p:cNvPr id="21" name="Text 18">
            <a:extLst xmlns:a="http://schemas.openxmlformats.org/drawingml/2006/main">
              <a:ext uri="{FF2B5EF4-FFF2-40B4-BE49-F238E27FC236}">
                <a16:creationId xmlns:a16="http://schemas.microsoft.com/office/drawing/2014/main" id="{D46F2598-B462-443B-A7FA-F6A67BBFC723}"/>
              </a:ext>
            </a:extLst>
          </p:cNvPr>
          <p:cNvSpPr>
            <a:spLocks xmlns:a="http://schemas.openxmlformats.org/drawingml/2006/main" noGrp="1"/>
          </p:cNvSpPr>
          <p:nvPr/>
        </p:nvSpPr>
        <p:spPr>
          <a:xfrm xmlns:a="http://schemas.openxmlformats.org/drawingml/2006/main">
            <a:off x="786384" y="5358384"/>
            <a:ext cx="5367528"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00">
                <a:solidFill>
                  <a:srgbClr val="1A1A2E"/>
                </a:solidFill>
                <a:latin typeface="Calibri"/>
                <a:ea typeface="Calibri"/>
                <a:cs typeface="Calibri"/>
              </a:rPr>
              <a:t>Nobody knows until a ledger is audited, so fines go uncollected.</a:t>
            </a:r>
            <a:endParaRPr sz="1200"/>
          </a:p>
        </p:txBody>
      </p:sp>
      <p:sp>
        <p:nvSpPr>
          <p:cNvPr id="22" name="Shape 19">
            <a:extLst xmlns:a="http://schemas.openxmlformats.org/drawingml/2006/main">
              <a:ext uri="{FF2B5EF4-FFF2-40B4-BE49-F238E27FC236}">
                <a16:creationId xmlns:a16="http://schemas.microsoft.com/office/drawing/2014/main" id="{55027FF8-794B-454C-8149-C1E3BA41F585}"/>
              </a:ext>
            </a:extLst>
          </p:cNvPr>
          <p:cNvSpPr>
            <a:spLocks xmlns:a="http://schemas.openxmlformats.org/drawingml/2006/main" noGrp="1"/>
          </p:cNvSpPr>
          <p:nvPr/>
        </p:nvSpPr>
        <p:spPr>
          <a:xfrm xmlns:a="http://schemas.openxmlformats.org/drawingml/2006/main">
            <a:off x="6729984" y="1389888"/>
            <a:ext cx="4894783" cy="4206240"/>
          </a:xfrm>
          <a:prstGeom xmlns:a="http://schemas.openxmlformats.org/drawingml/2006/main" prst="roundRect">
            <a:avLst>
              <a:gd name="adj" fmla="val 1522"/>
            </a:avLst>
          </a:prstGeom>
          <a:solidFill xmlns:a="http://schemas.openxmlformats.org/drawingml/2006/main">
            <a:srgbClr val="240C54"/>
          </a:solidFill>
          <a:ln xmlns:a="http://schemas.openxmlformats.org/drawingml/2006/main" w="9525">
            <a:solidFill>
              <a:srgbClr val="240C54"/>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23" name="Text 20">
            <a:extLst xmlns:a="http://schemas.openxmlformats.org/drawingml/2006/main">
              <a:ext uri="{FF2B5EF4-FFF2-40B4-BE49-F238E27FC236}">
                <a16:creationId xmlns:a16="http://schemas.microsoft.com/office/drawing/2014/main" id="{29912881-CD5D-43FD-B666-EFF96FC4EA7A}"/>
              </a:ext>
            </a:extLst>
          </p:cNvPr>
          <p:cNvSpPr>
            <a:spLocks xmlns:a="http://schemas.openxmlformats.org/drawingml/2006/main" noGrp="1"/>
          </p:cNvSpPr>
          <p:nvPr/>
        </p:nvSpPr>
        <p:spPr>
          <a:xfrm xmlns:a="http://schemas.openxmlformats.org/drawingml/2006/main">
            <a:off x="6949440" y="1563624"/>
            <a:ext cx="4455871"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E4B454"/>
                </a:solidFill>
                <a:latin typeface="Calibri"/>
                <a:ea typeface="Calibri"/>
                <a:cs typeface="Calibri"/>
              </a:rPr>
              <a:t>What the system replaces</a:t>
            </a:r>
            <a:endParaRPr sz="1500"/>
          </a:p>
        </p:txBody>
      </p:sp>
      <p:sp>
        <p:nvSpPr>
          <p:cNvPr id="24" name="Text 21">
            <a:extLst xmlns:a="http://schemas.openxmlformats.org/drawingml/2006/main">
              <a:ext uri="{FF2B5EF4-FFF2-40B4-BE49-F238E27FC236}">
                <a16:creationId xmlns:a16="http://schemas.microsoft.com/office/drawing/2014/main" id="{F1E4127D-2D0E-4427-BB36-338CEBF19CC8}"/>
              </a:ext>
            </a:extLst>
          </p:cNvPr>
          <p:cNvSpPr>
            <a:spLocks xmlns:a="http://schemas.openxmlformats.org/drawingml/2006/main" noGrp="1"/>
          </p:cNvSpPr>
          <p:nvPr/>
        </p:nvSpPr>
        <p:spPr>
          <a:xfrm xmlns:a="http://schemas.openxmlformats.org/drawingml/2006/main">
            <a:off x="6949440" y="1938528"/>
            <a:ext cx="448056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9A8ECB"/>
                </a:solidFill>
                <a:latin typeface="Calibri"/>
                <a:ea typeface="Calibri"/>
                <a:cs typeface="Calibri"/>
              </a:rPr>
              <a:t>Card catalogue</a:t>
            </a:r>
            <a:endParaRPr sz="1200"/>
          </a:p>
        </p:txBody>
      </p:sp>
      <p:sp>
        <p:nvSpPr>
          <p:cNvPr id="25" name="Text 22">
            <a:extLst xmlns:a="http://schemas.openxmlformats.org/drawingml/2006/main">
              <a:ext uri="{FF2B5EF4-FFF2-40B4-BE49-F238E27FC236}">
                <a16:creationId xmlns:a16="http://schemas.microsoft.com/office/drawing/2014/main" id="{2560E367-E925-4DC3-8B98-D661A78A6ACC}"/>
              </a:ext>
            </a:extLst>
          </p:cNvPr>
          <p:cNvSpPr>
            <a:spLocks xmlns:a="http://schemas.openxmlformats.org/drawingml/2006/main" noGrp="1"/>
          </p:cNvSpPr>
          <p:nvPr/>
        </p:nvSpPr>
        <p:spPr>
          <a:xfrm xmlns:a="http://schemas.openxmlformats.org/drawingml/2006/main">
            <a:off x="6949440" y="2167128"/>
            <a:ext cx="44805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600"/>
              </a:lnSpc>
              <a:buNone/>
            </a:pPr>
            <a:r>
              <a:rPr sz="1250">
                <a:solidFill>
                  <a:srgbClr val="FFFFFF"/>
                </a:solidFill>
                <a:latin typeface="Calibri"/>
                <a:ea typeface="Calibri"/>
                <a:cs typeface="Calibri"/>
              </a:rPr>
              <a:t>Full-text search over 223 titles</a:t>
            </a:r>
            <a:endParaRPr sz="1250"/>
          </a:p>
        </p:txBody>
      </p:sp>
      <p:sp>
        <p:nvSpPr>
          <p:cNvPr id="26" name="Text 23">
            <a:extLst xmlns:a="http://schemas.openxmlformats.org/drawingml/2006/main">
              <a:ext uri="{FF2B5EF4-FFF2-40B4-BE49-F238E27FC236}">
                <a16:creationId xmlns:a16="http://schemas.microsoft.com/office/drawing/2014/main" id="{38944EBE-5678-45B3-B7D0-D5430F673D5F}"/>
              </a:ext>
            </a:extLst>
          </p:cNvPr>
          <p:cNvSpPr>
            <a:spLocks xmlns:a="http://schemas.openxmlformats.org/drawingml/2006/main" noGrp="1"/>
          </p:cNvSpPr>
          <p:nvPr/>
        </p:nvSpPr>
        <p:spPr>
          <a:xfrm xmlns:a="http://schemas.openxmlformats.org/drawingml/2006/main">
            <a:off x="6949440" y="2670048"/>
            <a:ext cx="448056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9A8ECB"/>
                </a:solidFill>
                <a:latin typeface="Calibri"/>
                <a:ea typeface="Calibri"/>
                <a:cs typeface="Calibri"/>
              </a:rPr>
              <a:t>Paper ledger</a:t>
            </a:r>
            <a:endParaRPr sz="1200"/>
          </a:p>
        </p:txBody>
      </p:sp>
      <p:sp>
        <p:nvSpPr>
          <p:cNvPr id="27" name="Text 24">
            <a:extLst xmlns:a="http://schemas.openxmlformats.org/drawingml/2006/main">
              <a:ext uri="{FF2B5EF4-FFF2-40B4-BE49-F238E27FC236}">
                <a16:creationId xmlns:a16="http://schemas.microsoft.com/office/drawing/2014/main" id="{AE7DED60-01BA-4ED4-A073-7C159E37DCB0}"/>
              </a:ext>
            </a:extLst>
          </p:cNvPr>
          <p:cNvSpPr>
            <a:spLocks xmlns:a="http://schemas.openxmlformats.org/drawingml/2006/main" noGrp="1"/>
          </p:cNvSpPr>
          <p:nvPr/>
        </p:nvSpPr>
        <p:spPr>
          <a:xfrm xmlns:a="http://schemas.openxmlformats.org/drawingml/2006/main">
            <a:off x="6949440" y="2898648"/>
            <a:ext cx="44805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600"/>
              </a:lnSpc>
              <a:buNone/>
            </a:pPr>
            <a:r>
              <a:rPr sz="1250">
                <a:solidFill>
                  <a:srgbClr val="FFFFFF"/>
                </a:solidFill>
                <a:latin typeface="Calibri"/>
                <a:ea typeface="Calibri"/>
                <a:cs typeface="Calibri"/>
              </a:rPr>
              <a:t>A loan row, timed to the second</a:t>
            </a:r>
            <a:endParaRPr sz="1250"/>
          </a:p>
        </p:txBody>
      </p:sp>
      <p:sp>
        <p:nvSpPr>
          <p:cNvPr id="28" name="Text 25">
            <a:extLst xmlns:a="http://schemas.openxmlformats.org/drawingml/2006/main">
              <a:ext uri="{FF2B5EF4-FFF2-40B4-BE49-F238E27FC236}">
                <a16:creationId xmlns:a16="http://schemas.microsoft.com/office/drawing/2014/main" id="{38F98959-044E-4EEE-A583-B521EFB9C55C}"/>
              </a:ext>
            </a:extLst>
          </p:cNvPr>
          <p:cNvSpPr>
            <a:spLocks xmlns:a="http://schemas.openxmlformats.org/drawingml/2006/main" noGrp="1"/>
          </p:cNvSpPr>
          <p:nvPr/>
        </p:nvSpPr>
        <p:spPr>
          <a:xfrm xmlns:a="http://schemas.openxmlformats.org/drawingml/2006/main">
            <a:off x="6949440" y="3401568"/>
            <a:ext cx="448056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9A8ECB"/>
                </a:solidFill>
                <a:latin typeface="Calibri"/>
                <a:ea typeface="Calibri"/>
                <a:cs typeface="Calibri"/>
              </a:rPr>
              <a:t>Shelf walk</a:t>
            </a:r>
            <a:endParaRPr sz="1200"/>
          </a:p>
        </p:txBody>
      </p:sp>
      <p:sp>
        <p:nvSpPr>
          <p:cNvPr id="29" name="Text 26">
            <a:extLst xmlns:a="http://schemas.openxmlformats.org/drawingml/2006/main">
              <a:ext uri="{FF2B5EF4-FFF2-40B4-BE49-F238E27FC236}">
                <a16:creationId xmlns:a16="http://schemas.microsoft.com/office/drawing/2014/main" id="{C77B1BC4-0619-41A1-8780-98362B32DC2A}"/>
              </a:ext>
            </a:extLst>
          </p:cNvPr>
          <p:cNvSpPr>
            <a:spLocks xmlns:a="http://schemas.openxmlformats.org/drawingml/2006/main" noGrp="1"/>
          </p:cNvSpPr>
          <p:nvPr/>
        </p:nvSpPr>
        <p:spPr>
          <a:xfrm xmlns:a="http://schemas.openxmlformats.org/drawingml/2006/main">
            <a:off x="6949440" y="3630168"/>
            <a:ext cx="44805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600"/>
              </a:lnSpc>
              <a:buNone/>
            </a:pPr>
            <a:r>
              <a:rPr sz="1250">
                <a:solidFill>
                  <a:srgbClr val="FFFFFF"/>
                </a:solidFill>
                <a:latin typeface="Calibri"/>
                <a:ea typeface="Calibri"/>
                <a:cs typeface="Calibri"/>
              </a:rPr>
              <a:t>Live availability before you leave your room</a:t>
            </a:r>
            <a:endParaRPr sz="1250"/>
          </a:p>
        </p:txBody>
      </p:sp>
      <p:sp>
        <p:nvSpPr>
          <p:cNvPr id="30" name="Text 27">
            <a:extLst xmlns:a="http://schemas.openxmlformats.org/drawingml/2006/main">
              <a:ext uri="{FF2B5EF4-FFF2-40B4-BE49-F238E27FC236}">
                <a16:creationId xmlns:a16="http://schemas.microsoft.com/office/drawing/2014/main" id="{A58C9FC9-A866-401D-9D7E-090E5F2028F0}"/>
              </a:ext>
            </a:extLst>
          </p:cNvPr>
          <p:cNvSpPr>
            <a:spLocks xmlns:a="http://schemas.openxmlformats.org/drawingml/2006/main" noGrp="1"/>
          </p:cNvSpPr>
          <p:nvPr/>
        </p:nvSpPr>
        <p:spPr>
          <a:xfrm xmlns:a="http://schemas.openxmlformats.org/drawingml/2006/main">
            <a:off x="6949440" y="4133088"/>
            <a:ext cx="448056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9A8ECB"/>
                </a:solidFill>
                <a:latin typeface="Calibri"/>
                <a:ea typeface="Calibri"/>
                <a:cs typeface="Calibri"/>
              </a:rPr>
              <a:t>Manual audit</a:t>
            </a:r>
            <a:endParaRPr sz="1200"/>
          </a:p>
        </p:txBody>
      </p:sp>
      <p:sp>
        <p:nvSpPr>
          <p:cNvPr id="31" name="Text 28">
            <a:extLst xmlns:a="http://schemas.openxmlformats.org/drawingml/2006/main">
              <a:ext uri="{FF2B5EF4-FFF2-40B4-BE49-F238E27FC236}">
                <a16:creationId xmlns:a16="http://schemas.microsoft.com/office/drawing/2014/main" id="{48ECC06D-3A5E-4293-B7CB-CAAB254079CA}"/>
              </a:ext>
            </a:extLst>
          </p:cNvPr>
          <p:cNvSpPr>
            <a:spLocks xmlns:a="http://schemas.openxmlformats.org/drawingml/2006/main" noGrp="1"/>
          </p:cNvSpPr>
          <p:nvPr/>
        </p:nvSpPr>
        <p:spPr>
          <a:xfrm xmlns:a="http://schemas.openxmlformats.org/drawingml/2006/main">
            <a:off x="6949440" y="4361688"/>
            <a:ext cx="44805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600"/>
              </a:lnSpc>
              <a:buNone/>
            </a:pPr>
            <a:r>
              <a:rPr sz="1250">
                <a:solidFill>
                  <a:srgbClr val="FFFFFF"/>
                </a:solidFill>
                <a:latin typeface="Calibri"/>
                <a:ea typeface="Calibri"/>
                <a:cs typeface="Calibri"/>
              </a:rPr>
              <a:t>Overdue computed from the clock</a:t>
            </a:r>
            <a:endParaRPr sz="1250"/>
          </a:p>
        </p:txBody>
      </p:sp>
      <p:sp>
        <p:nvSpPr>
          <p:cNvPr id="32" name="Text 29">
            <a:extLst xmlns:a="http://schemas.openxmlformats.org/drawingml/2006/main">
              <a:ext uri="{FF2B5EF4-FFF2-40B4-BE49-F238E27FC236}">
                <a16:creationId xmlns:a16="http://schemas.microsoft.com/office/drawing/2014/main" id="{15446E3B-D0E4-4807-854A-0640251453A5}"/>
              </a:ext>
            </a:extLst>
          </p:cNvPr>
          <p:cNvSpPr>
            <a:spLocks xmlns:a="http://schemas.openxmlformats.org/drawingml/2006/main" noGrp="1"/>
          </p:cNvSpPr>
          <p:nvPr/>
        </p:nvSpPr>
        <p:spPr>
          <a:xfrm xmlns:a="http://schemas.openxmlformats.org/drawingml/2006/main">
            <a:off x="6949440" y="4864608"/>
            <a:ext cx="448056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9A8ECB"/>
                </a:solidFill>
                <a:latin typeface="Calibri"/>
                <a:ea typeface="Calibri"/>
                <a:cs typeface="Calibri"/>
              </a:rPr>
              <a:t>Verbal reminder</a:t>
            </a:r>
            <a:endParaRPr sz="1200"/>
          </a:p>
        </p:txBody>
      </p:sp>
      <p:sp>
        <p:nvSpPr>
          <p:cNvPr id="33" name="Text 30">
            <a:extLst xmlns:a="http://schemas.openxmlformats.org/drawingml/2006/main">
              <a:ext uri="{FF2B5EF4-FFF2-40B4-BE49-F238E27FC236}">
                <a16:creationId xmlns:a16="http://schemas.microsoft.com/office/drawing/2014/main" id="{D53D803D-55BB-44A5-96BD-C4C4D5DC792D}"/>
              </a:ext>
            </a:extLst>
          </p:cNvPr>
          <p:cNvSpPr>
            <a:spLocks xmlns:a="http://schemas.openxmlformats.org/drawingml/2006/main" noGrp="1"/>
          </p:cNvSpPr>
          <p:nvPr/>
        </p:nvSpPr>
        <p:spPr>
          <a:xfrm xmlns:a="http://schemas.openxmlformats.org/drawingml/2006/main">
            <a:off x="6949440" y="5093208"/>
            <a:ext cx="44805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600"/>
              </a:lnSpc>
              <a:buNone/>
            </a:pPr>
            <a:r>
              <a:rPr sz="1250">
                <a:solidFill>
                  <a:srgbClr val="FFFFFF"/>
                </a:solidFill>
                <a:latin typeface="Calibri"/>
                <a:ea typeface="Calibri"/>
                <a:cs typeface="Calibri"/>
              </a:rPr>
              <a:t>Email and push sent automatically</a:t>
            </a:r>
            <a:endParaRPr sz="1250"/>
          </a:p>
        </p:txBody>
      </p:sp>
    </p:spTree>
    <p:extLst>
      <p:ext uri="{BB962C8B-B14F-4D97-AF65-F5344CB8AC3E}">
        <p14:creationId xmlns:p14="http://schemas.microsoft.com/office/powerpoint/2010/main" val="105580867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8349F179-A8D9-44C1-9714-171A4F2E280B}"/>
              </a:ext>
            </a:extLst>
          </p:cNvPr>
          <p:cNvSpPr>
            <a:spLocks xmlns:a="http://schemas.openxmlformats.org/drawingml/2006/main" noGrp="1"/>
          </p:cNvSpPr>
          <p:nvPr/>
        </p:nvSpPr>
        <p:spPr>
          <a:xfrm xmlns:a="http://schemas.openxmlformats.org/drawingml/2006/main">
            <a:off x="566928" y="384048"/>
            <a:ext cx="82296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20">
                <a:solidFill>
                  <a:srgbClr val="E4B454"/>
                </a:solidFill>
                <a:latin typeface="Calibri"/>
                <a:ea typeface="Calibri"/>
                <a:cs typeface="Calibri"/>
              </a:rPr>
              <a:t>WHAT WE BUILT</a:t>
            </a:r>
            <a:endParaRPr sz="1100"/>
          </a:p>
        </p:txBody>
      </p:sp>
      <p:sp>
        <p:nvSpPr>
          <p:cNvPr id="3" name="Text 1">
            <a:extLst xmlns:a="http://schemas.openxmlformats.org/drawingml/2006/main">
              <a:ext uri="{FF2B5EF4-FFF2-40B4-BE49-F238E27FC236}">
                <a16:creationId xmlns:a16="http://schemas.microsoft.com/office/drawing/2014/main" id="{B4C9CBF2-3D84-44B2-9EC3-9A88FCA6151B}"/>
              </a:ext>
            </a:extLst>
          </p:cNvPr>
          <p:cNvSpPr>
            <a:spLocks xmlns:a="http://schemas.openxmlformats.org/drawingml/2006/main" noGrp="1"/>
          </p:cNvSpPr>
          <p:nvPr/>
        </p:nvSpPr>
        <p:spPr>
          <a:xfrm xmlns:a="http://schemas.openxmlformats.org/drawingml/2006/main">
            <a:off x="566928" y="640080"/>
            <a:ext cx="96926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40C54"/>
                </a:solidFill>
                <a:latin typeface="Cambria"/>
                <a:ea typeface="Cambria"/>
                <a:cs typeface="Cambria"/>
              </a:rPr>
              <a:t>A catalogue and a circulation desk</a:t>
            </a:r>
            <a:endParaRPr sz="3000"/>
          </a:p>
        </p:txBody>
      </p:sp>
      <p:pic>
        <p:nvPicPr>
          <p:cNvPr id="40" name="Image 0"/>
          <p:cNvPicPr>
            <a:picLocks xmlns:a="http://schemas.openxmlformats.org/drawingml/2006/main" noChangeAspect="1"/>
          </p:cNvPicPr>
          <p:nvPr/>
        </p:nvPicPr>
        <p:blipFill>
          <a:blip xmlns:r="http://schemas.openxmlformats.org/officeDocument/2006/relationships" xmlns:a="http://schemas.openxmlformats.org/drawingml/2006/main" r:embed="Ra351cc90d441441a"/>
          <a:stretch xmlns:a="http://schemas.openxmlformats.org/drawingml/2006/main">
            <a:fillRect l="0" t="0" r="0" b="0"/>
          </a:stretch>
        </p:blipFill>
        <p:spPr>
          <a:xfrm xmlns:a="http://schemas.openxmlformats.org/drawingml/2006/main">
            <a:off x="11149279" y="365760"/>
            <a:ext cx="475488" cy="466344"/>
          </a:xfrm>
          <a:prstGeom xmlns:a="http://schemas.openxmlformats.org/drawingml/2006/main" prst="rect">
            <a:avLst/>
          </a:prstGeom>
        </p:spPr>
      </p:pic>
      <p:sp>
        <p:nvSpPr>
          <p:cNvPr id="5" name="Text 2">
            <a:extLst xmlns:a="http://schemas.openxmlformats.org/drawingml/2006/main">
              <a:ext uri="{FF2B5EF4-FFF2-40B4-BE49-F238E27FC236}">
                <a16:creationId xmlns:a16="http://schemas.microsoft.com/office/drawing/2014/main" id="{1260A3D9-06B6-4D01-B118-5AA8ACB87DE5}"/>
              </a:ext>
            </a:extLst>
          </p:cNvPr>
          <p:cNvSpPr>
            <a:spLocks xmlns:a="http://schemas.openxmlformats.org/drawingml/2006/main" noGrp="1"/>
          </p:cNvSpPr>
          <p:nvPr/>
        </p:nvSpPr>
        <p:spPr>
          <a:xfrm xmlns:a="http://schemas.openxmlformats.org/drawingml/2006/main">
            <a:off x="11149279" y="6382512"/>
            <a:ext cx="475488"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000">
                <a:solidFill>
                  <a:srgbClr val="5B5B6B"/>
                </a:solidFill>
                <a:latin typeface="Calibri"/>
                <a:ea typeface="Calibri"/>
                <a:cs typeface="Calibri"/>
              </a:rPr>
              <a:t>3</a:t>
            </a:r>
            <a:endParaRPr sz="1000"/>
          </a:p>
        </p:txBody>
      </p:sp>
      <p:sp>
        <p:nvSpPr>
          <p:cNvPr id="6" name="Text 3">
            <a:extLst xmlns:a="http://schemas.openxmlformats.org/drawingml/2006/main">
              <a:ext uri="{FF2B5EF4-FFF2-40B4-BE49-F238E27FC236}">
                <a16:creationId xmlns:a16="http://schemas.microsoft.com/office/drawing/2014/main" id="{5E71C3D4-320B-4830-852F-173120CE3E05}"/>
              </a:ext>
            </a:extLst>
          </p:cNvPr>
          <p:cNvSpPr>
            <a:spLocks xmlns:a="http://schemas.openxmlformats.org/drawingml/2006/main" noGrp="1"/>
          </p:cNvSpPr>
          <p:nvPr/>
        </p:nvSpPr>
        <p:spPr>
          <a:xfrm xmlns:a="http://schemas.openxmlformats.org/drawingml/2006/main">
            <a:off x="566928" y="1371600"/>
            <a:ext cx="1005840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2000"/>
              </a:lnSpc>
              <a:buNone/>
            </a:pPr>
            <a:r>
              <a:rPr sz="1400">
                <a:solidFill>
                  <a:srgbClr val="1A1A2E"/>
                </a:solidFill>
                <a:latin typeface="Calibri"/>
                <a:ea typeface="Calibri"/>
                <a:cs typeface="Calibri"/>
              </a:rPr>
              <a:t>The system manages the physical collection. It never stores or serves book content: it tracks where each physical copy is and who is holding it.</a:t>
            </a:r>
            <a:endParaRPr sz="1400"/>
          </a:p>
        </p:txBody>
      </p:sp>
      <p:sp>
        <p:nvSpPr>
          <p:cNvPr id="7" name="Shape 4">
            <a:extLst xmlns:a="http://schemas.openxmlformats.org/drawingml/2006/main">
              <a:ext uri="{FF2B5EF4-FFF2-40B4-BE49-F238E27FC236}">
                <a16:creationId xmlns:a16="http://schemas.microsoft.com/office/drawing/2014/main" id="{43012EC4-C5B8-41E1-AD03-6396C10FFED0}"/>
              </a:ext>
            </a:extLst>
          </p:cNvPr>
          <p:cNvSpPr>
            <a:spLocks xmlns:a="http://schemas.openxmlformats.org/drawingml/2006/main" noGrp="1"/>
          </p:cNvSpPr>
          <p:nvPr/>
        </p:nvSpPr>
        <p:spPr>
          <a:xfrm xmlns:a="http://schemas.openxmlformats.org/drawingml/2006/main">
            <a:off x="566928" y="2029968"/>
            <a:ext cx="3520440" cy="1755648"/>
          </a:xfrm>
          <a:prstGeom xmlns:a="http://schemas.openxmlformats.org/drawingml/2006/main" prst="roundRect">
            <a:avLst>
              <a:gd name="adj" fmla="val 3646"/>
            </a:avLst>
          </a:prstGeom>
          <a:solidFill xmlns:a="http://schemas.openxmlformats.org/drawingml/2006/main">
            <a:srgbClr val="F4F5F9"/>
          </a:solidFill>
          <a:ln xmlns:a="http://schemas.openxmlformats.org/drawingml/2006/main" w="9525">
            <a:solidFill>
              <a:srgbClr val="D8DAE5"/>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8" name="Shape 5">
            <a:extLst xmlns:a="http://schemas.openxmlformats.org/drawingml/2006/main">
              <a:ext uri="{FF2B5EF4-FFF2-40B4-BE49-F238E27FC236}">
                <a16:creationId xmlns:a16="http://schemas.microsoft.com/office/drawing/2014/main" id="{2EEAEBC3-78EB-45C7-A68B-D1D39C0CB65E}"/>
              </a:ext>
            </a:extLst>
          </p:cNvPr>
          <p:cNvSpPr>
            <a:spLocks xmlns:a="http://schemas.openxmlformats.org/drawingml/2006/main" noGrp="1"/>
          </p:cNvSpPr>
          <p:nvPr/>
        </p:nvSpPr>
        <p:spPr>
          <a:xfrm xmlns:a="http://schemas.openxmlformats.org/drawingml/2006/main">
            <a:off x="768096" y="2212848"/>
            <a:ext cx="310896" cy="310896"/>
          </a:xfrm>
          <a:prstGeom xmlns:a="http://schemas.openxmlformats.org/drawingml/2006/main" prst="ellipse">
            <a:avLst/>
          </a:prstGeom>
          <a:solidFill xmlns:a="http://schemas.openxmlformats.org/drawingml/2006/main">
            <a:srgbClr val="240C54"/>
          </a:solidFill>
          <a:ln xmlns:a="http://schemas.openxmlformats.org/drawingml/2006/main" w="12700">
            <a:solidFill>
              <a:srgbClr val="240C54"/>
            </a:solidFill>
            <a:prstDash val="solid"/>
          </a:ln>
        </p:spPr>
      </p:sp>
      <p:sp>
        <p:nvSpPr>
          <p:cNvPr id="9" name="Text 6">
            <a:extLst xmlns:a="http://schemas.openxmlformats.org/drawingml/2006/main">
              <a:ext uri="{FF2B5EF4-FFF2-40B4-BE49-F238E27FC236}">
                <a16:creationId xmlns:a16="http://schemas.microsoft.com/office/drawing/2014/main" id="{C4AE391F-F29F-43A6-BE9C-84B6B6140145}"/>
              </a:ext>
            </a:extLst>
          </p:cNvPr>
          <p:cNvSpPr>
            <a:spLocks xmlns:a="http://schemas.openxmlformats.org/drawingml/2006/main" noGrp="1"/>
          </p:cNvSpPr>
          <p:nvPr/>
        </p:nvSpPr>
        <p:spPr>
          <a:xfrm xmlns:a="http://schemas.openxmlformats.org/drawingml/2006/main">
            <a:off x="768096" y="2212848"/>
            <a:ext cx="310896"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E4B454"/>
                </a:solidFill>
                <a:latin typeface="Calibri"/>
                <a:ea typeface="Calibri"/>
                <a:cs typeface="Calibri"/>
              </a:rPr>
              <a:t>1</a:t>
            </a:r>
            <a:endParaRPr sz="1300"/>
          </a:p>
        </p:txBody>
      </p:sp>
      <p:sp>
        <p:nvSpPr>
          <p:cNvPr id="10" name="Text 7">
            <a:extLst xmlns:a="http://schemas.openxmlformats.org/drawingml/2006/main">
              <a:ext uri="{FF2B5EF4-FFF2-40B4-BE49-F238E27FC236}">
                <a16:creationId xmlns:a16="http://schemas.microsoft.com/office/drawing/2014/main" id="{C70E4BFC-16DB-4A6F-88CB-109240A787C0}"/>
              </a:ext>
            </a:extLst>
          </p:cNvPr>
          <p:cNvSpPr>
            <a:spLocks xmlns:a="http://schemas.openxmlformats.org/drawingml/2006/main" noGrp="1"/>
          </p:cNvSpPr>
          <p:nvPr/>
        </p:nvSpPr>
        <p:spPr>
          <a:xfrm xmlns:a="http://schemas.openxmlformats.org/drawingml/2006/main">
            <a:off x="1170432" y="2203704"/>
            <a:ext cx="269748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240C54"/>
                </a:solidFill>
                <a:latin typeface="Calibri"/>
                <a:ea typeface="Calibri"/>
                <a:cs typeface="Calibri"/>
              </a:rPr>
              <a:t>Search the catalogue</a:t>
            </a:r>
            <a:endParaRPr sz="1500"/>
          </a:p>
        </p:txBody>
      </p:sp>
      <p:sp>
        <p:nvSpPr>
          <p:cNvPr id="11" name="Text 8">
            <a:extLst xmlns:a="http://schemas.openxmlformats.org/drawingml/2006/main">
              <a:ext uri="{FF2B5EF4-FFF2-40B4-BE49-F238E27FC236}">
                <a16:creationId xmlns:a16="http://schemas.microsoft.com/office/drawing/2014/main" id="{D2D27BDE-A5BB-45BB-B0E5-715AFAE6D14E}"/>
              </a:ext>
            </a:extLst>
          </p:cNvPr>
          <p:cNvSpPr>
            <a:spLocks xmlns:a="http://schemas.openxmlformats.org/drawingml/2006/main" noGrp="1"/>
          </p:cNvSpPr>
          <p:nvPr/>
        </p:nvSpPr>
        <p:spPr>
          <a:xfrm xmlns:a="http://schemas.openxmlformats.org/drawingml/2006/main">
            <a:off x="786384" y="2596896"/>
            <a:ext cx="3081528" cy="104241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650"/>
              </a:lnSpc>
              <a:buNone/>
            </a:pPr>
            <a:r>
              <a:rPr sz="1200">
                <a:solidFill>
                  <a:srgbClr val="1A1A2E"/>
                </a:solidFill>
                <a:latin typeface="Calibri"/>
                <a:ea typeface="Calibri"/>
                <a:cs typeface="Calibri"/>
              </a:rPr>
              <a:t>Title, author, ISBN and subject, with typo tolerance. Open to the public, no login.</a:t>
            </a:r>
            <a:endParaRPr sz="1200"/>
          </a:p>
        </p:txBody>
      </p:sp>
      <p:sp>
        <p:nvSpPr>
          <p:cNvPr id="12" name="Shape 9">
            <a:extLst xmlns:a="http://schemas.openxmlformats.org/drawingml/2006/main">
              <a:ext uri="{FF2B5EF4-FFF2-40B4-BE49-F238E27FC236}">
                <a16:creationId xmlns:a16="http://schemas.microsoft.com/office/drawing/2014/main" id="{4A99ABF4-474D-44BD-91DF-91AF131C3EC3}"/>
              </a:ext>
            </a:extLst>
          </p:cNvPr>
          <p:cNvSpPr>
            <a:spLocks xmlns:a="http://schemas.openxmlformats.org/drawingml/2006/main" noGrp="1"/>
          </p:cNvSpPr>
          <p:nvPr/>
        </p:nvSpPr>
        <p:spPr>
          <a:xfrm xmlns:a="http://schemas.openxmlformats.org/drawingml/2006/main">
            <a:off x="4306824" y="2029968"/>
            <a:ext cx="3520440" cy="1755648"/>
          </a:xfrm>
          <a:prstGeom xmlns:a="http://schemas.openxmlformats.org/drawingml/2006/main" prst="roundRect">
            <a:avLst>
              <a:gd name="adj" fmla="val 3646"/>
            </a:avLst>
          </a:prstGeom>
          <a:solidFill xmlns:a="http://schemas.openxmlformats.org/drawingml/2006/main">
            <a:srgbClr val="F4F5F9"/>
          </a:solidFill>
          <a:ln xmlns:a="http://schemas.openxmlformats.org/drawingml/2006/main" w="9525">
            <a:solidFill>
              <a:srgbClr val="D8DAE5"/>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13" name="Shape 10">
            <a:extLst xmlns:a="http://schemas.openxmlformats.org/drawingml/2006/main">
              <a:ext uri="{FF2B5EF4-FFF2-40B4-BE49-F238E27FC236}">
                <a16:creationId xmlns:a16="http://schemas.microsoft.com/office/drawing/2014/main" id="{4A618266-702D-48B1-B7E2-CDCAA9EFA8B1}"/>
              </a:ext>
            </a:extLst>
          </p:cNvPr>
          <p:cNvSpPr>
            <a:spLocks xmlns:a="http://schemas.openxmlformats.org/drawingml/2006/main" noGrp="1"/>
          </p:cNvSpPr>
          <p:nvPr/>
        </p:nvSpPr>
        <p:spPr>
          <a:xfrm xmlns:a="http://schemas.openxmlformats.org/drawingml/2006/main">
            <a:off x="4507992" y="2212848"/>
            <a:ext cx="310896" cy="310896"/>
          </a:xfrm>
          <a:prstGeom xmlns:a="http://schemas.openxmlformats.org/drawingml/2006/main" prst="ellipse">
            <a:avLst/>
          </a:prstGeom>
          <a:solidFill xmlns:a="http://schemas.openxmlformats.org/drawingml/2006/main">
            <a:srgbClr val="240C54"/>
          </a:solidFill>
          <a:ln xmlns:a="http://schemas.openxmlformats.org/drawingml/2006/main" w="12700">
            <a:solidFill>
              <a:srgbClr val="240C54"/>
            </a:solidFill>
            <a:prstDash val="solid"/>
          </a:ln>
        </p:spPr>
      </p:sp>
      <p:sp>
        <p:nvSpPr>
          <p:cNvPr id="14" name="Text 11">
            <a:extLst xmlns:a="http://schemas.openxmlformats.org/drawingml/2006/main">
              <a:ext uri="{FF2B5EF4-FFF2-40B4-BE49-F238E27FC236}">
                <a16:creationId xmlns:a16="http://schemas.microsoft.com/office/drawing/2014/main" id="{7EDE2B9C-6971-4631-8AE8-6DE4C10CE6E0}"/>
              </a:ext>
            </a:extLst>
          </p:cNvPr>
          <p:cNvSpPr>
            <a:spLocks xmlns:a="http://schemas.openxmlformats.org/drawingml/2006/main" noGrp="1"/>
          </p:cNvSpPr>
          <p:nvPr/>
        </p:nvSpPr>
        <p:spPr>
          <a:xfrm xmlns:a="http://schemas.openxmlformats.org/drawingml/2006/main">
            <a:off x="4507992" y="2212848"/>
            <a:ext cx="310896"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E4B454"/>
                </a:solidFill>
                <a:latin typeface="Calibri"/>
                <a:ea typeface="Calibri"/>
                <a:cs typeface="Calibri"/>
              </a:rPr>
              <a:t>2</a:t>
            </a:r>
            <a:endParaRPr sz="1300"/>
          </a:p>
        </p:txBody>
      </p:sp>
      <p:sp>
        <p:nvSpPr>
          <p:cNvPr id="15" name="Text 12">
            <a:extLst xmlns:a="http://schemas.openxmlformats.org/drawingml/2006/main">
              <a:ext uri="{FF2B5EF4-FFF2-40B4-BE49-F238E27FC236}">
                <a16:creationId xmlns:a16="http://schemas.microsoft.com/office/drawing/2014/main" id="{4EC71762-DF2E-4E3C-A7DB-4E32280FCC20}"/>
              </a:ext>
            </a:extLst>
          </p:cNvPr>
          <p:cNvSpPr>
            <a:spLocks xmlns:a="http://schemas.openxmlformats.org/drawingml/2006/main" noGrp="1"/>
          </p:cNvSpPr>
          <p:nvPr/>
        </p:nvSpPr>
        <p:spPr>
          <a:xfrm xmlns:a="http://schemas.openxmlformats.org/drawingml/2006/main">
            <a:off x="4910328" y="2203704"/>
            <a:ext cx="269748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240C54"/>
                </a:solidFill>
                <a:latin typeface="Calibri"/>
                <a:ea typeface="Calibri"/>
                <a:cs typeface="Calibri"/>
              </a:rPr>
              <a:t>Borrow and return</a:t>
            </a:r>
            <a:endParaRPr sz="1500"/>
          </a:p>
        </p:txBody>
      </p:sp>
      <p:sp>
        <p:nvSpPr>
          <p:cNvPr id="16" name="Text 13">
            <a:extLst xmlns:a="http://schemas.openxmlformats.org/drawingml/2006/main">
              <a:ext uri="{FF2B5EF4-FFF2-40B4-BE49-F238E27FC236}">
                <a16:creationId xmlns:a16="http://schemas.microsoft.com/office/drawing/2014/main" id="{1E6F8098-50D1-42A0-85F7-F7CFFF2AA562}"/>
              </a:ext>
            </a:extLst>
          </p:cNvPr>
          <p:cNvSpPr>
            <a:spLocks xmlns:a="http://schemas.openxmlformats.org/drawingml/2006/main" noGrp="1"/>
          </p:cNvSpPr>
          <p:nvPr/>
        </p:nvSpPr>
        <p:spPr>
          <a:xfrm xmlns:a="http://schemas.openxmlformats.org/drawingml/2006/main">
            <a:off x="4526280" y="2596896"/>
            <a:ext cx="3081528" cy="104241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650"/>
              </a:lnSpc>
              <a:buNone/>
            </a:pPr>
            <a:r>
              <a:rPr sz="1200">
                <a:solidFill>
                  <a:srgbClr val="1A1A2E"/>
                </a:solidFill>
                <a:latin typeface="Calibri"/>
                <a:ea typeface="Calibri"/>
                <a:cs typeface="Calibri"/>
              </a:rPr>
              <a:t>A librarian issues a copy at the desk. Limits and loan periods follow the member category.</a:t>
            </a:r>
            <a:endParaRPr sz="1200"/>
          </a:p>
        </p:txBody>
      </p:sp>
      <p:sp>
        <p:nvSpPr>
          <p:cNvPr id="17" name="Shape 14">
            <a:extLst xmlns:a="http://schemas.openxmlformats.org/drawingml/2006/main">
              <a:ext uri="{FF2B5EF4-FFF2-40B4-BE49-F238E27FC236}">
                <a16:creationId xmlns:a16="http://schemas.microsoft.com/office/drawing/2014/main" id="{6EB6FA26-A91F-40FC-BD23-10471D4263DC}"/>
              </a:ext>
            </a:extLst>
          </p:cNvPr>
          <p:cNvSpPr>
            <a:spLocks xmlns:a="http://schemas.openxmlformats.org/drawingml/2006/main" noGrp="1"/>
          </p:cNvSpPr>
          <p:nvPr/>
        </p:nvSpPr>
        <p:spPr>
          <a:xfrm xmlns:a="http://schemas.openxmlformats.org/drawingml/2006/main">
            <a:off x="8046720" y="2029968"/>
            <a:ext cx="3520440" cy="1755648"/>
          </a:xfrm>
          <a:prstGeom xmlns:a="http://schemas.openxmlformats.org/drawingml/2006/main" prst="roundRect">
            <a:avLst>
              <a:gd name="adj" fmla="val 3646"/>
            </a:avLst>
          </a:prstGeom>
          <a:solidFill xmlns:a="http://schemas.openxmlformats.org/drawingml/2006/main">
            <a:srgbClr val="F4F5F9"/>
          </a:solidFill>
          <a:ln xmlns:a="http://schemas.openxmlformats.org/drawingml/2006/main" w="9525">
            <a:solidFill>
              <a:srgbClr val="D8DAE5"/>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18" name="Shape 15">
            <a:extLst xmlns:a="http://schemas.openxmlformats.org/drawingml/2006/main">
              <a:ext uri="{FF2B5EF4-FFF2-40B4-BE49-F238E27FC236}">
                <a16:creationId xmlns:a16="http://schemas.microsoft.com/office/drawing/2014/main" id="{591515A3-0314-4D5C-BA0F-390343886080}"/>
              </a:ext>
            </a:extLst>
          </p:cNvPr>
          <p:cNvSpPr>
            <a:spLocks xmlns:a="http://schemas.openxmlformats.org/drawingml/2006/main" noGrp="1"/>
          </p:cNvSpPr>
          <p:nvPr/>
        </p:nvSpPr>
        <p:spPr>
          <a:xfrm xmlns:a="http://schemas.openxmlformats.org/drawingml/2006/main">
            <a:off x="8247888" y="2212848"/>
            <a:ext cx="310896" cy="310896"/>
          </a:xfrm>
          <a:prstGeom xmlns:a="http://schemas.openxmlformats.org/drawingml/2006/main" prst="ellipse">
            <a:avLst/>
          </a:prstGeom>
          <a:solidFill xmlns:a="http://schemas.openxmlformats.org/drawingml/2006/main">
            <a:srgbClr val="240C54"/>
          </a:solidFill>
          <a:ln xmlns:a="http://schemas.openxmlformats.org/drawingml/2006/main" w="12700">
            <a:solidFill>
              <a:srgbClr val="240C54"/>
            </a:solidFill>
            <a:prstDash val="solid"/>
          </a:ln>
        </p:spPr>
      </p:sp>
      <p:sp>
        <p:nvSpPr>
          <p:cNvPr id="19" name="Text 16">
            <a:extLst xmlns:a="http://schemas.openxmlformats.org/drawingml/2006/main">
              <a:ext uri="{FF2B5EF4-FFF2-40B4-BE49-F238E27FC236}">
                <a16:creationId xmlns:a16="http://schemas.microsoft.com/office/drawing/2014/main" id="{7E7D51BF-AD94-4CC3-9D0B-FAD013CFAC78}"/>
              </a:ext>
            </a:extLst>
          </p:cNvPr>
          <p:cNvSpPr>
            <a:spLocks xmlns:a="http://schemas.openxmlformats.org/drawingml/2006/main" noGrp="1"/>
          </p:cNvSpPr>
          <p:nvPr/>
        </p:nvSpPr>
        <p:spPr>
          <a:xfrm xmlns:a="http://schemas.openxmlformats.org/drawingml/2006/main">
            <a:off x="8247888" y="2212848"/>
            <a:ext cx="310896"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E4B454"/>
                </a:solidFill>
                <a:latin typeface="Calibri"/>
                <a:ea typeface="Calibri"/>
                <a:cs typeface="Calibri"/>
              </a:rPr>
              <a:t>3</a:t>
            </a:r>
            <a:endParaRPr sz="1300"/>
          </a:p>
        </p:txBody>
      </p:sp>
      <p:sp>
        <p:nvSpPr>
          <p:cNvPr id="20" name="Text 17">
            <a:extLst xmlns:a="http://schemas.openxmlformats.org/drawingml/2006/main">
              <a:ext uri="{FF2B5EF4-FFF2-40B4-BE49-F238E27FC236}">
                <a16:creationId xmlns:a16="http://schemas.microsoft.com/office/drawing/2014/main" id="{AA6A69E8-8CB3-4CD0-A841-09B9DA5CC2CA}"/>
              </a:ext>
            </a:extLst>
          </p:cNvPr>
          <p:cNvSpPr>
            <a:spLocks xmlns:a="http://schemas.openxmlformats.org/drawingml/2006/main" noGrp="1"/>
          </p:cNvSpPr>
          <p:nvPr/>
        </p:nvSpPr>
        <p:spPr>
          <a:xfrm xmlns:a="http://schemas.openxmlformats.org/drawingml/2006/main">
            <a:off x="8650224" y="2203704"/>
            <a:ext cx="269748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240C54"/>
                </a:solidFill>
                <a:latin typeface="Calibri"/>
                <a:ea typeface="Calibri"/>
                <a:cs typeface="Calibri"/>
              </a:rPr>
              <a:t>Reserve a title</a:t>
            </a:r>
            <a:endParaRPr sz="1500"/>
          </a:p>
        </p:txBody>
      </p:sp>
      <p:sp>
        <p:nvSpPr>
          <p:cNvPr id="21" name="Text 18">
            <a:extLst xmlns:a="http://schemas.openxmlformats.org/drawingml/2006/main">
              <a:ext uri="{FF2B5EF4-FFF2-40B4-BE49-F238E27FC236}">
                <a16:creationId xmlns:a16="http://schemas.microsoft.com/office/drawing/2014/main" id="{2FE7D453-AE2B-4333-A380-8F3E12302CC5}"/>
              </a:ext>
            </a:extLst>
          </p:cNvPr>
          <p:cNvSpPr>
            <a:spLocks xmlns:a="http://schemas.openxmlformats.org/drawingml/2006/main" noGrp="1"/>
          </p:cNvSpPr>
          <p:nvPr/>
        </p:nvSpPr>
        <p:spPr>
          <a:xfrm xmlns:a="http://schemas.openxmlformats.org/drawingml/2006/main">
            <a:off x="8266176" y="2596896"/>
            <a:ext cx="3081528" cy="104241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650"/>
              </a:lnSpc>
              <a:buNone/>
            </a:pPr>
            <a:r>
              <a:rPr sz="1200">
                <a:solidFill>
                  <a:srgbClr val="1A1A2E"/>
                </a:solidFill>
                <a:latin typeface="Calibri"/>
                <a:ea typeface="Calibri"/>
                <a:cs typeface="Calibri"/>
              </a:rPr>
              <a:t>When every copy is out, a member joins a queue and is told when one comes back.</a:t>
            </a:r>
            <a:endParaRPr sz="1200"/>
          </a:p>
        </p:txBody>
      </p:sp>
      <p:sp>
        <p:nvSpPr>
          <p:cNvPr id="22" name="Shape 19">
            <a:extLst xmlns:a="http://schemas.openxmlformats.org/drawingml/2006/main">
              <a:ext uri="{FF2B5EF4-FFF2-40B4-BE49-F238E27FC236}">
                <a16:creationId xmlns:a16="http://schemas.microsoft.com/office/drawing/2014/main" id="{02B507C9-376C-4F79-99E7-CC8920753626}"/>
              </a:ext>
            </a:extLst>
          </p:cNvPr>
          <p:cNvSpPr>
            <a:spLocks xmlns:a="http://schemas.openxmlformats.org/drawingml/2006/main" noGrp="1"/>
          </p:cNvSpPr>
          <p:nvPr/>
        </p:nvSpPr>
        <p:spPr>
          <a:xfrm xmlns:a="http://schemas.openxmlformats.org/drawingml/2006/main">
            <a:off x="566928" y="3950208"/>
            <a:ext cx="3520440" cy="1755648"/>
          </a:xfrm>
          <a:prstGeom xmlns:a="http://schemas.openxmlformats.org/drawingml/2006/main" prst="roundRect">
            <a:avLst>
              <a:gd name="adj" fmla="val 3646"/>
            </a:avLst>
          </a:prstGeom>
          <a:solidFill xmlns:a="http://schemas.openxmlformats.org/drawingml/2006/main">
            <a:srgbClr val="F4F5F9"/>
          </a:solidFill>
          <a:ln xmlns:a="http://schemas.openxmlformats.org/drawingml/2006/main" w="9525">
            <a:solidFill>
              <a:srgbClr val="D8DAE5"/>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23" name="Shape 20">
            <a:extLst xmlns:a="http://schemas.openxmlformats.org/drawingml/2006/main">
              <a:ext uri="{FF2B5EF4-FFF2-40B4-BE49-F238E27FC236}">
                <a16:creationId xmlns:a16="http://schemas.microsoft.com/office/drawing/2014/main" id="{BA6BE2A3-857F-435A-81CA-054B875EFF4E}"/>
              </a:ext>
            </a:extLst>
          </p:cNvPr>
          <p:cNvSpPr>
            <a:spLocks xmlns:a="http://schemas.openxmlformats.org/drawingml/2006/main" noGrp="1"/>
          </p:cNvSpPr>
          <p:nvPr/>
        </p:nvSpPr>
        <p:spPr>
          <a:xfrm xmlns:a="http://schemas.openxmlformats.org/drawingml/2006/main">
            <a:off x="768096" y="4133088"/>
            <a:ext cx="310896" cy="310896"/>
          </a:xfrm>
          <a:prstGeom xmlns:a="http://schemas.openxmlformats.org/drawingml/2006/main" prst="ellipse">
            <a:avLst/>
          </a:prstGeom>
          <a:solidFill xmlns:a="http://schemas.openxmlformats.org/drawingml/2006/main">
            <a:srgbClr val="240C54"/>
          </a:solidFill>
          <a:ln xmlns:a="http://schemas.openxmlformats.org/drawingml/2006/main" w="12700">
            <a:solidFill>
              <a:srgbClr val="240C54"/>
            </a:solidFill>
            <a:prstDash val="solid"/>
          </a:ln>
        </p:spPr>
      </p:sp>
      <p:sp>
        <p:nvSpPr>
          <p:cNvPr id="24" name="Text 21">
            <a:extLst xmlns:a="http://schemas.openxmlformats.org/drawingml/2006/main">
              <a:ext uri="{FF2B5EF4-FFF2-40B4-BE49-F238E27FC236}">
                <a16:creationId xmlns:a16="http://schemas.microsoft.com/office/drawing/2014/main" id="{541E4852-653C-4D46-8BC2-F0DFAEDDDED2}"/>
              </a:ext>
            </a:extLst>
          </p:cNvPr>
          <p:cNvSpPr>
            <a:spLocks xmlns:a="http://schemas.openxmlformats.org/drawingml/2006/main" noGrp="1"/>
          </p:cNvSpPr>
          <p:nvPr/>
        </p:nvSpPr>
        <p:spPr>
          <a:xfrm xmlns:a="http://schemas.openxmlformats.org/drawingml/2006/main">
            <a:off x="768096" y="4133088"/>
            <a:ext cx="310896"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E4B454"/>
                </a:solidFill>
                <a:latin typeface="Calibri"/>
                <a:ea typeface="Calibri"/>
                <a:cs typeface="Calibri"/>
              </a:rPr>
              <a:t>4</a:t>
            </a:r>
            <a:endParaRPr sz="1300"/>
          </a:p>
        </p:txBody>
      </p:sp>
      <p:sp>
        <p:nvSpPr>
          <p:cNvPr id="25" name="Text 22">
            <a:extLst xmlns:a="http://schemas.openxmlformats.org/drawingml/2006/main">
              <a:ext uri="{FF2B5EF4-FFF2-40B4-BE49-F238E27FC236}">
                <a16:creationId xmlns:a16="http://schemas.microsoft.com/office/drawing/2014/main" id="{0F980059-667D-4A7C-A973-8259F3DCF4DA}"/>
              </a:ext>
            </a:extLst>
          </p:cNvPr>
          <p:cNvSpPr>
            <a:spLocks xmlns:a="http://schemas.openxmlformats.org/drawingml/2006/main" noGrp="1"/>
          </p:cNvSpPr>
          <p:nvPr/>
        </p:nvSpPr>
        <p:spPr>
          <a:xfrm xmlns:a="http://schemas.openxmlformats.org/drawingml/2006/main">
            <a:off x="1170432" y="4123944"/>
            <a:ext cx="269748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240C54"/>
                </a:solidFill>
                <a:latin typeface="Calibri"/>
                <a:ea typeface="Calibri"/>
                <a:cs typeface="Calibri"/>
              </a:rPr>
              <a:t>Save a title</a:t>
            </a:r>
            <a:endParaRPr sz="1500"/>
          </a:p>
        </p:txBody>
      </p:sp>
      <p:sp>
        <p:nvSpPr>
          <p:cNvPr id="26" name="Text 23">
            <a:extLst xmlns:a="http://schemas.openxmlformats.org/drawingml/2006/main">
              <a:ext uri="{FF2B5EF4-FFF2-40B4-BE49-F238E27FC236}">
                <a16:creationId xmlns:a16="http://schemas.microsoft.com/office/drawing/2014/main" id="{2B4FE611-7D9E-4F1F-B1D7-4F03DB51D788}"/>
              </a:ext>
            </a:extLst>
          </p:cNvPr>
          <p:cNvSpPr>
            <a:spLocks xmlns:a="http://schemas.openxmlformats.org/drawingml/2006/main" noGrp="1"/>
          </p:cNvSpPr>
          <p:nvPr/>
        </p:nvSpPr>
        <p:spPr>
          <a:xfrm xmlns:a="http://schemas.openxmlformats.org/drawingml/2006/main">
            <a:off x="786384" y="4517136"/>
            <a:ext cx="3081528" cy="104241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650"/>
              </a:lnSpc>
              <a:buNone/>
            </a:pPr>
            <a:r>
              <a:rPr sz="1200">
                <a:solidFill>
                  <a:srgbClr val="1A1A2E"/>
                </a:solidFill>
                <a:latin typeface="Calibri"/>
                <a:ea typeface="Calibri"/>
                <a:cs typeface="Calibri"/>
              </a:rPr>
              <a:t>A private reading list. It reserves nothing and only the member can see it.</a:t>
            </a:r>
            <a:endParaRPr sz="1200"/>
          </a:p>
        </p:txBody>
      </p:sp>
      <p:sp>
        <p:nvSpPr>
          <p:cNvPr id="27" name="Shape 24">
            <a:extLst xmlns:a="http://schemas.openxmlformats.org/drawingml/2006/main">
              <a:ext uri="{FF2B5EF4-FFF2-40B4-BE49-F238E27FC236}">
                <a16:creationId xmlns:a16="http://schemas.microsoft.com/office/drawing/2014/main" id="{FEFBA702-1331-4141-B214-BA262B19D878}"/>
              </a:ext>
            </a:extLst>
          </p:cNvPr>
          <p:cNvSpPr>
            <a:spLocks xmlns:a="http://schemas.openxmlformats.org/drawingml/2006/main" noGrp="1"/>
          </p:cNvSpPr>
          <p:nvPr/>
        </p:nvSpPr>
        <p:spPr>
          <a:xfrm xmlns:a="http://schemas.openxmlformats.org/drawingml/2006/main">
            <a:off x="4306824" y="3950208"/>
            <a:ext cx="3520440" cy="1755648"/>
          </a:xfrm>
          <a:prstGeom xmlns:a="http://schemas.openxmlformats.org/drawingml/2006/main" prst="roundRect">
            <a:avLst>
              <a:gd name="adj" fmla="val 3646"/>
            </a:avLst>
          </a:prstGeom>
          <a:solidFill xmlns:a="http://schemas.openxmlformats.org/drawingml/2006/main">
            <a:srgbClr val="F4F5F9"/>
          </a:solidFill>
          <a:ln xmlns:a="http://schemas.openxmlformats.org/drawingml/2006/main" w="9525">
            <a:solidFill>
              <a:srgbClr val="D8DAE5"/>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28" name="Shape 25">
            <a:extLst xmlns:a="http://schemas.openxmlformats.org/drawingml/2006/main">
              <a:ext uri="{FF2B5EF4-FFF2-40B4-BE49-F238E27FC236}">
                <a16:creationId xmlns:a16="http://schemas.microsoft.com/office/drawing/2014/main" id="{17EF6477-C47F-4B8C-ADBB-BFB0D408A5E4}"/>
              </a:ext>
            </a:extLst>
          </p:cNvPr>
          <p:cNvSpPr>
            <a:spLocks xmlns:a="http://schemas.openxmlformats.org/drawingml/2006/main" noGrp="1"/>
          </p:cNvSpPr>
          <p:nvPr/>
        </p:nvSpPr>
        <p:spPr>
          <a:xfrm xmlns:a="http://schemas.openxmlformats.org/drawingml/2006/main">
            <a:off x="4507992" y="4133088"/>
            <a:ext cx="310896" cy="310896"/>
          </a:xfrm>
          <a:prstGeom xmlns:a="http://schemas.openxmlformats.org/drawingml/2006/main" prst="ellipse">
            <a:avLst/>
          </a:prstGeom>
          <a:solidFill xmlns:a="http://schemas.openxmlformats.org/drawingml/2006/main">
            <a:srgbClr val="240C54"/>
          </a:solidFill>
          <a:ln xmlns:a="http://schemas.openxmlformats.org/drawingml/2006/main" w="12700">
            <a:solidFill>
              <a:srgbClr val="240C54"/>
            </a:solidFill>
            <a:prstDash val="solid"/>
          </a:ln>
        </p:spPr>
      </p:sp>
      <p:sp>
        <p:nvSpPr>
          <p:cNvPr id="29" name="Text 26">
            <a:extLst xmlns:a="http://schemas.openxmlformats.org/drawingml/2006/main">
              <a:ext uri="{FF2B5EF4-FFF2-40B4-BE49-F238E27FC236}">
                <a16:creationId xmlns:a16="http://schemas.microsoft.com/office/drawing/2014/main" id="{5235BEA3-6E0E-4FC6-A35F-8DB8ACD8136F}"/>
              </a:ext>
            </a:extLst>
          </p:cNvPr>
          <p:cNvSpPr>
            <a:spLocks xmlns:a="http://schemas.openxmlformats.org/drawingml/2006/main" noGrp="1"/>
          </p:cNvSpPr>
          <p:nvPr/>
        </p:nvSpPr>
        <p:spPr>
          <a:xfrm xmlns:a="http://schemas.openxmlformats.org/drawingml/2006/main">
            <a:off x="4507992" y="4133088"/>
            <a:ext cx="310896"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E4B454"/>
                </a:solidFill>
                <a:latin typeface="Calibri"/>
                <a:ea typeface="Calibri"/>
                <a:cs typeface="Calibri"/>
              </a:rPr>
              <a:t>5</a:t>
            </a:r>
            <a:endParaRPr sz="1300"/>
          </a:p>
        </p:txBody>
      </p:sp>
      <p:sp>
        <p:nvSpPr>
          <p:cNvPr id="30" name="Text 27">
            <a:extLst xmlns:a="http://schemas.openxmlformats.org/drawingml/2006/main">
              <a:ext uri="{FF2B5EF4-FFF2-40B4-BE49-F238E27FC236}">
                <a16:creationId xmlns:a16="http://schemas.microsoft.com/office/drawing/2014/main" id="{D9EBD1BE-D991-4AE9-97A0-5277ACF5E9CF}"/>
              </a:ext>
            </a:extLst>
          </p:cNvPr>
          <p:cNvSpPr>
            <a:spLocks xmlns:a="http://schemas.openxmlformats.org/drawingml/2006/main" noGrp="1"/>
          </p:cNvSpPr>
          <p:nvPr/>
        </p:nvSpPr>
        <p:spPr>
          <a:xfrm xmlns:a="http://schemas.openxmlformats.org/drawingml/2006/main">
            <a:off x="4910328" y="4123944"/>
            <a:ext cx="269748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240C54"/>
                </a:solidFill>
                <a:latin typeface="Calibri"/>
                <a:ea typeface="Calibri"/>
                <a:cs typeface="Calibri"/>
              </a:rPr>
              <a:t>Members and roles</a:t>
            </a:r>
            <a:endParaRPr sz="1500"/>
          </a:p>
        </p:txBody>
      </p:sp>
      <p:sp>
        <p:nvSpPr>
          <p:cNvPr id="31" name="Text 28">
            <a:extLst xmlns:a="http://schemas.openxmlformats.org/drawingml/2006/main">
              <a:ext uri="{FF2B5EF4-FFF2-40B4-BE49-F238E27FC236}">
                <a16:creationId xmlns:a16="http://schemas.microsoft.com/office/drawing/2014/main" id="{5E225215-A59D-4280-8BBE-AD0B9ABF1FD9}"/>
              </a:ext>
            </a:extLst>
          </p:cNvPr>
          <p:cNvSpPr>
            <a:spLocks xmlns:a="http://schemas.openxmlformats.org/drawingml/2006/main" noGrp="1"/>
          </p:cNvSpPr>
          <p:nvPr/>
        </p:nvSpPr>
        <p:spPr>
          <a:xfrm xmlns:a="http://schemas.openxmlformats.org/drawingml/2006/main">
            <a:off x="4526280" y="4517136"/>
            <a:ext cx="3081528" cy="104241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650"/>
              </a:lnSpc>
              <a:buNone/>
            </a:pPr>
            <a:r>
              <a:rPr sz="1200">
                <a:solidFill>
                  <a:srgbClr val="1A1A2E"/>
                </a:solidFill>
                <a:latin typeface="Calibri"/>
                <a:ea typeface="Calibri"/>
                <a:cs typeface="Calibri"/>
              </a:rPr>
              <a:t>Member, librarian and administrator. Every permission is re-checked on the server.</a:t>
            </a:r>
            <a:endParaRPr sz="1200"/>
          </a:p>
        </p:txBody>
      </p:sp>
      <p:sp>
        <p:nvSpPr>
          <p:cNvPr id="32" name="Shape 29">
            <a:extLst xmlns:a="http://schemas.openxmlformats.org/drawingml/2006/main">
              <a:ext uri="{FF2B5EF4-FFF2-40B4-BE49-F238E27FC236}">
                <a16:creationId xmlns:a16="http://schemas.microsoft.com/office/drawing/2014/main" id="{5CD66B57-56B4-4C9F-BABF-CC95B9127C55}"/>
              </a:ext>
            </a:extLst>
          </p:cNvPr>
          <p:cNvSpPr>
            <a:spLocks xmlns:a="http://schemas.openxmlformats.org/drawingml/2006/main" noGrp="1"/>
          </p:cNvSpPr>
          <p:nvPr/>
        </p:nvSpPr>
        <p:spPr>
          <a:xfrm xmlns:a="http://schemas.openxmlformats.org/drawingml/2006/main">
            <a:off x="8046720" y="3950208"/>
            <a:ext cx="3520440" cy="1755648"/>
          </a:xfrm>
          <a:prstGeom xmlns:a="http://schemas.openxmlformats.org/drawingml/2006/main" prst="roundRect">
            <a:avLst>
              <a:gd name="adj" fmla="val 3646"/>
            </a:avLst>
          </a:prstGeom>
          <a:solidFill xmlns:a="http://schemas.openxmlformats.org/drawingml/2006/main">
            <a:srgbClr val="F4F5F9"/>
          </a:solidFill>
          <a:ln xmlns:a="http://schemas.openxmlformats.org/drawingml/2006/main" w="9525">
            <a:solidFill>
              <a:srgbClr val="D8DAE5"/>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33" name="Shape 30">
            <a:extLst xmlns:a="http://schemas.openxmlformats.org/drawingml/2006/main">
              <a:ext uri="{FF2B5EF4-FFF2-40B4-BE49-F238E27FC236}">
                <a16:creationId xmlns:a16="http://schemas.microsoft.com/office/drawing/2014/main" id="{5BEAC53E-CB35-4B42-8DA8-1B52C57ACDE4}"/>
              </a:ext>
            </a:extLst>
          </p:cNvPr>
          <p:cNvSpPr>
            <a:spLocks xmlns:a="http://schemas.openxmlformats.org/drawingml/2006/main" noGrp="1"/>
          </p:cNvSpPr>
          <p:nvPr/>
        </p:nvSpPr>
        <p:spPr>
          <a:xfrm xmlns:a="http://schemas.openxmlformats.org/drawingml/2006/main">
            <a:off x="8247888" y="4133088"/>
            <a:ext cx="310896" cy="310896"/>
          </a:xfrm>
          <a:prstGeom xmlns:a="http://schemas.openxmlformats.org/drawingml/2006/main" prst="ellipse">
            <a:avLst/>
          </a:prstGeom>
          <a:solidFill xmlns:a="http://schemas.openxmlformats.org/drawingml/2006/main">
            <a:srgbClr val="240C54"/>
          </a:solidFill>
          <a:ln xmlns:a="http://schemas.openxmlformats.org/drawingml/2006/main" w="12700">
            <a:solidFill>
              <a:srgbClr val="240C54"/>
            </a:solidFill>
            <a:prstDash val="solid"/>
          </a:ln>
        </p:spPr>
      </p:sp>
      <p:sp>
        <p:nvSpPr>
          <p:cNvPr id="34" name="Text 31">
            <a:extLst xmlns:a="http://schemas.openxmlformats.org/drawingml/2006/main">
              <a:ext uri="{FF2B5EF4-FFF2-40B4-BE49-F238E27FC236}">
                <a16:creationId xmlns:a16="http://schemas.microsoft.com/office/drawing/2014/main" id="{F2EC1723-0BCF-4E0E-A2A1-FF36AB278821}"/>
              </a:ext>
            </a:extLst>
          </p:cNvPr>
          <p:cNvSpPr>
            <a:spLocks xmlns:a="http://schemas.openxmlformats.org/drawingml/2006/main" noGrp="1"/>
          </p:cNvSpPr>
          <p:nvPr/>
        </p:nvSpPr>
        <p:spPr>
          <a:xfrm xmlns:a="http://schemas.openxmlformats.org/drawingml/2006/main">
            <a:off x="8247888" y="4133088"/>
            <a:ext cx="310896"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E4B454"/>
                </a:solidFill>
                <a:latin typeface="Calibri"/>
                <a:ea typeface="Calibri"/>
                <a:cs typeface="Calibri"/>
              </a:rPr>
              <a:t>6</a:t>
            </a:r>
            <a:endParaRPr sz="1300"/>
          </a:p>
        </p:txBody>
      </p:sp>
      <p:sp>
        <p:nvSpPr>
          <p:cNvPr id="35" name="Text 32">
            <a:extLst xmlns:a="http://schemas.openxmlformats.org/drawingml/2006/main">
              <a:ext uri="{FF2B5EF4-FFF2-40B4-BE49-F238E27FC236}">
                <a16:creationId xmlns:a16="http://schemas.microsoft.com/office/drawing/2014/main" id="{0DB81998-0FAB-4E9C-9AFB-DB4640108223}"/>
              </a:ext>
            </a:extLst>
          </p:cNvPr>
          <p:cNvSpPr>
            <a:spLocks xmlns:a="http://schemas.openxmlformats.org/drawingml/2006/main" noGrp="1"/>
          </p:cNvSpPr>
          <p:nvPr/>
        </p:nvSpPr>
        <p:spPr>
          <a:xfrm xmlns:a="http://schemas.openxmlformats.org/drawingml/2006/main">
            <a:off x="8650224" y="4123944"/>
            <a:ext cx="269748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240C54"/>
                </a:solidFill>
                <a:latin typeface="Calibri"/>
                <a:ea typeface="Calibri"/>
                <a:cs typeface="Calibri"/>
              </a:rPr>
              <a:t>Notifications</a:t>
            </a:r>
            <a:endParaRPr sz="1500"/>
          </a:p>
        </p:txBody>
      </p:sp>
      <p:sp>
        <p:nvSpPr>
          <p:cNvPr id="36" name="Text 33">
            <a:extLst xmlns:a="http://schemas.openxmlformats.org/drawingml/2006/main">
              <a:ext uri="{FF2B5EF4-FFF2-40B4-BE49-F238E27FC236}">
                <a16:creationId xmlns:a16="http://schemas.microsoft.com/office/drawing/2014/main" id="{D37CBB4B-DB64-4F67-AFF5-521981978C6B}"/>
              </a:ext>
            </a:extLst>
          </p:cNvPr>
          <p:cNvSpPr>
            <a:spLocks xmlns:a="http://schemas.openxmlformats.org/drawingml/2006/main" noGrp="1"/>
          </p:cNvSpPr>
          <p:nvPr/>
        </p:nvSpPr>
        <p:spPr>
          <a:xfrm xmlns:a="http://schemas.openxmlformats.org/drawingml/2006/main">
            <a:off x="8266176" y="4517136"/>
            <a:ext cx="3081528" cy="104241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650"/>
              </a:lnSpc>
              <a:buNone/>
            </a:pPr>
            <a:r>
              <a:rPr sz="1200">
                <a:solidFill>
                  <a:srgbClr val="1A1A2E"/>
                </a:solidFill>
                <a:latin typeface="Calibri"/>
                <a:ea typeface="Calibri"/>
                <a:cs typeface="Calibri"/>
              </a:rPr>
              <a:t>Due dates and reserve alerts by email and push, queued through an outbox.</a:t>
            </a:r>
            <a:endParaRPr sz="1200"/>
          </a:p>
        </p:txBody>
      </p:sp>
    </p:spTree>
    <p:extLst>
      <p:ext uri="{BB962C8B-B14F-4D97-AF65-F5344CB8AC3E}">
        <p14:creationId xmlns:p14="http://schemas.microsoft.com/office/powerpoint/2010/main" val="197659694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8ADE81E3-F0C3-4BBA-8800-67659074E98A}"/>
              </a:ext>
            </a:extLst>
          </p:cNvPr>
          <p:cNvSpPr>
            <a:spLocks xmlns:a="http://schemas.openxmlformats.org/drawingml/2006/main" noGrp="1"/>
          </p:cNvSpPr>
          <p:nvPr/>
        </p:nvSpPr>
        <p:spPr>
          <a:xfrm xmlns:a="http://schemas.openxmlformats.org/drawingml/2006/main">
            <a:off x="566928" y="384048"/>
            <a:ext cx="82296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20">
                <a:solidFill>
                  <a:srgbClr val="E4B454"/>
                </a:solidFill>
                <a:latin typeface="Calibri"/>
                <a:ea typeface="Calibri"/>
                <a:cs typeface="Calibri"/>
              </a:rPr>
              <a:t>THE STACK</a:t>
            </a:r>
            <a:endParaRPr sz="1100"/>
          </a:p>
        </p:txBody>
      </p:sp>
      <p:sp>
        <p:nvSpPr>
          <p:cNvPr id="3" name="Text 1">
            <a:extLst xmlns:a="http://schemas.openxmlformats.org/drawingml/2006/main">
              <a:ext uri="{FF2B5EF4-FFF2-40B4-BE49-F238E27FC236}">
                <a16:creationId xmlns:a16="http://schemas.microsoft.com/office/drawing/2014/main" id="{26E050E6-7569-4D33-8BEF-03E4FB9220B1}"/>
              </a:ext>
            </a:extLst>
          </p:cNvPr>
          <p:cNvSpPr>
            <a:spLocks xmlns:a="http://schemas.openxmlformats.org/drawingml/2006/main" noGrp="1"/>
          </p:cNvSpPr>
          <p:nvPr/>
        </p:nvSpPr>
        <p:spPr>
          <a:xfrm xmlns:a="http://schemas.openxmlformats.org/drawingml/2006/main">
            <a:off x="566928" y="640080"/>
            <a:ext cx="96926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40C54"/>
                </a:solidFill>
                <a:latin typeface="Cambria"/>
                <a:ea typeface="Cambria"/>
                <a:cs typeface="Cambria"/>
              </a:rPr>
              <a:t>Every technology, and what each one is for</a:t>
            </a:r>
            <a:endParaRPr sz="3000"/>
          </a:p>
        </p:txBody>
      </p:sp>
      <p:pic>
        <p:nvPicPr>
          <p:cNvPr id="59" name="Image 0"/>
          <p:cNvPicPr>
            <a:picLocks xmlns:a="http://schemas.openxmlformats.org/drawingml/2006/main" noChangeAspect="1"/>
          </p:cNvPicPr>
          <p:nvPr/>
        </p:nvPicPr>
        <p:blipFill>
          <a:blip xmlns:r="http://schemas.openxmlformats.org/officeDocument/2006/relationships" xmlns:a="http://schemas.openxmlformats.org/drawingml/2006/main" r:embed="R28af8d71c69b45f9"/>
          <a:stretch xmlns:a="http://schemas.openxmlformats.org/drawingml/2006/main">
            <a:fillRect l="0" t="0" r="0" b="0"/>
          </a:stretch>
        </p:blipFill>
        <p:spPr>
          <a:xfrm xmlns:a="http://schemas.openxmlformats.org/drawingml/2006/main">
            <a:off x="11149279" y="365760"/>
            <a:ext cx="475488" cy="466344"/>
          </a:xfrm>
          <a:prstGeom xmlns:a="http://schemas.openxmlformats.org/drawingml/2006/main" prst="rect">
            <a:avLst/>
          </a:prstGeom>
        </p:spPr>
      </p:pic>
      <p:sp>
        <p:nvSpPr>
          <p:cNvPr id="5" name="Text 2">
            <a:extLst xmlns:a="http://schemas.openxmlformats.org/drawingml/2006/main">
              <a:ext uri="{FF2B5EF4-FFF2-40B4-BE49-F238E27FC236}">
                <a16:creationId xmlns:a16="http://schemas.microsoft.com/office/drawing/2014/main" id="{28DDD96F-E41C-4BEA-A354-18E2D1A60266}"/>
              </a:ext>
            </a:extLst>
          </p:cNvPr>
          <p:cNvSpPr>
            <a:spLocks xmlns:a="http://schemas.openxmlformats.org/drawingml/2006/main" noGrp="1"/>
          </p:cNvSpPr>
          <p:nvPr/>
        </p:nvSpPr>
        <p:spPr>
          <a:xfrm xmlns:a="http://schemas.openxmlformats.org/drawingml/2006/main">
            <a:off x="11149279" y="6382512"/>
            <a:ext cx="475488"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000">
                <a:solidFill>
                  <a:srgbClr val="5B5B6B"/>
                </a:solidFill>
                <a:latin typeface="Calibri"/>
                <a:ea typeface="Calibri"/>
                <a:cs typeface="Calibri"/>
              </a:rPr>
              <a:t>4</a:t>
            </a:r>
            <a:endParaRPr sz="1000"/>
          </a:p>
        </p:txBody>
      </p:sp>
      <p:sp>
        <p:nvSpPr>
          <p:cNvPr id="6" name="Shape 3">
            <a:extLst xmlns:a="http://schemas.openxmlformats.org/drawingml/2006/main">
              <a:ext uri="{FF2B5EF4-FFF2-40B4-BE49-F238E27FC236}">
                <a16:creationId xmlns:a16="http://schemas.microsoft.com/office/drawing/2014/main" id="{EC0DA034-9798-4C6F-BC80-8CC9755E192A}"/>
              </a:ext>
            </a:extLst>
          </p:cNvPr>
          <p:cNvSpPr>
            <a:spLocks xmlns:a="http://schemas.openxmlformats.org/drawingml/2006/main" noGrp="1"/>
          </p:cNvSpPr>
          <p:nvPr/>
        </p:nvSpPr>
        <p:spPr>
          <a:xfrm xmlns:a="http://schemas.openxmlformats.org/drawingml/2006/main">
            <a:off x="566928" y="1316736"/>
            <a:ext cx="3474720" cy="4279392"/>
          </a:xfrm>
          <a:prstGeom xmlns:a="http://schemas.openxmlformats.org/drawingml/2006/main" prst="roundRect">
            <a:avLst>
              <a:gd name="adj" fmla="val 1842"/>
            </a:avLst>
          </a:prstGeom>
          <a:solidFill xmlns:a="http://schemas.openxmlformats.org/drawingml/2006/main">
            <a:srgbClr val="F4F5F9"/>
          </a:solidFill>
          <a:ln xmlns:a="http://schemas.openxmlformats.org/drawingml/2006/main" w="9525">
            <a:solidFill>
              <a:srgbClr val="D8DAE5"/>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7" name="Text 4">
            <a:extLst xmlns:a="http://schemas.openxmlformats.org/drawingml/2006/main">
              <a:ext uri="{FF2B5EF4-FFF2-40B4-BE49-F238E27FC236}">
                <a16:creationId xmlns:a16="http://schemas.microsoft.com/office/drawing/2014/main" id="{99C3C2C0-7C2C-48E6-8C47-8FC24173AEB0}"/>
              </a:ext>
            </a:extLst>
          </p:cNvPr>
          <p:cNvSpPr>
            <a:spLocks xmlns:a="http://schemas.openxmlformats.org/drawingml/2006/main" noGrp="1"/>
          </p:cNvSpPr>
          <p:nvPr/>
        </p:nvSpPr>
        <p:spPr>
          <a:xfrm xmlns:a="http://schemas.openxmlformats.org/drawingml/2006/main">
            <a:off x="786384" y="1490472"/>
            <a:ext cx="3035808"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240C54"/>
                </a:solidFill>
                <a:latin typeface="Calibri"/>
                <a:ea typeface="Calibri"/>
                <a:cs typeface="Calibri"/>
              </a:rPr>
              <a:t>Back end</a:t>
            </a:r>
            <a:endParaRPr sz="1500"/>
          </a:p>
        </p:txBody>
      </p:sp>
      <p:sp>
        <p:nvSpPr>
          <p:cNvPr id="8" name="Text 5">
            <a:extLst xmlns:a="http://schemas.openxmlformats.org/drawingml/2006/main">
              <a:ext uri="{FF2B5EF4-FFF2-40B4-BE49-F238E27FC236}">
                <a16:creationId xmlns:a16="http://schemas.microsoft.com/office/drawing/2014/main" id="{DF9556BC-2118-41E7-9A7E-45DC712FAC44}"/>
              </a:ext>
            </a:extLst>
          </p:cNvPr>
          <p:cNvSpPr>
            <a:spLocks xmlns:a="http://schemas.openxmlformats.org/drawingml/2006/main" noGrp="1"/>
          </p:cNvSpPr>
          <p:nvPr/>
        </p:nvSpPr>
        <p:spPr>
          <a:xfrm xmlns:a="http://schemas.openxmlformats.org/drawingml/2006/main">
            <a:off x="786384" y="1828800"/>
            <a:ext cx="3035808"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240C54"/>
                </a:solidFill>
                <a:latin typeface="Calibri"/>
                <a:ea typeface="Calibri"/>
                <a:cs typeface="Calibri"/>
              </a:rPr>
              <a:t>Go 1.27</a:t>
            </a:r>
            <a:endParaRPr sz="1100"/>
          </a:p>
        </p:txBody>
      </p:sp>
      <p:sp>
        <p:nvSpPr>
          <p:cNvPr id="9" name="Text 6">
            <a:extLst xmlns:a="http://schemas.openxmlformats.org/drawingml/2006/main">
              <a:ext uri="{FF2B5EF4-FFF2-40B4-BE49-F238E27FC236}">
                <a16:creationId xmlns:a16="http://schemas.microsoft.com/office/drawing/2014/main" id="{8B1DEEBE-3F27-4DE1-B7C8-ED472929704E}"/>
              </a:ext>
            </a:extLst>
          </p:cNvPr>
          <p:cNvSpPr>
            <a:spLocks xmlns:a="http://schemas.openxmlformats.org/drawingml/2006/main" noGrp="1"/>
          </p:cNvSpPr>
          <p:nvPr/>
        </p:nvSpPr>
        <p:spPr>
          <a:xfrm xmlns:a="http://schemas.openxmlformats.org/drawingml/2006/main">
            <a:off x="786384" y="2002536"/>
            <a:ext cx="3035808" cy="4175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150"/>
              </a:lnSpc>
              <a:buNone/>
            </a:pPr>
            <a:r>
              <a:rPr sz="950">
                <a:solidFill>
                  <a:srgbClr val="1A1A2E"/>
                </a:solidFill>
                <a:latin typeface="Calibri"/>
                <a:ea typeface="Calibri"/>
                <a:cs typeface="Calibri"/>
              </a:rPr>
              <a:t>One static binary. Concurrency is in the language, which borrowing needs.</a:t>
            </a:r>
            <a:endParaRPr sz="950"/>
          </a:p>
        </p:txBody>
      </p:sp>
      <p:sp>
        <p:nvSpPr>
          <p:cNvPr id="10" name="Text 7">
            <a:extLst xmlns:a="http://schemas.openxmlformats.org/drawingml/2006/main">
              <a:ext uri="{FF2B5EF4-FFF2-40B4-BE49-F238E27FC236}">
                <a16:creationId xmlns:a16="http://schemas.microsoft.com/office/drawing/2014/main" id="{BE494F99-6EDA-4F13-A7B2-4341FD1F0AF0}"/>
              </a:ext>
            </a:extLst>
          </p:cNvPr>
          <p:cNvSpPr>
            <a:spLocks xmlns:a="http://schemas.openxmlformats.org/drawingml/2006/main" noGrp="1"/>
          </p:cNvSpPr>
          <p:nvPr/>
        </p:nvSpPr>
        <p:spPr>
          <a:xfrm xmlns:a="http://schemas.openxmlformats.org/drawingml/2006/main">
            <a:off x="786384" y="2447544"/>
            <a:ext cx="3035808"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240C54"/>
                </a:solidFill>
                <a:latin typeface="Calibri"/>
                <a:ea typeface="Calibri"/>
                <a:cs typeface="Calibri"/>
              </a:rPr>
              <a:t>PostgreSQL</a:t>
            </a:r>
            <a:endParaRPr sz="1100"/>
          </a:p>
        </p:txBody>
      </p:sp>
      <p:sp>
        <p:nvSpPr>
          <p:cNvPr id="11" name="Text 8">
            <a:extLst xmlns:a="http://schemas.openxmlformats.org/drawingml/2006/main">
              <a:ext uri="{FF2B5EF4-FFF2-40B4-BE49-F238E27FC236}">
                <a16:creationId xmlns:a16="http://schemas.microsoft.com/office/drawing/2014/main" id="{AA9307DB-DC69-48FF-9AF5-1B3A43DA0FBF}"/>
              </a:ext>
            </a:extLst>
          </p:cNvPr>
          <p:cNvSpPr>
            <a:spLocks xmlns:a="http://schemas.openxmlformats.org/drawingml/2006/main" noGrp="1"/>
          </p:cNvSpPr>
          <p:nvPr/>
        </p:nvSpPr>
        <p:spPr>
          <a:xfrm xmlns:a="http://schemas.openxmlformats.org/drawingml/2006/main">
            <a:off x="786384" y="2621280"/>
            <a:ext cx="3035808" cy="4175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150"/>
              </a:lnSpc>
              <a:buNone/>
            </a:pPr>
            <a:r>
              <a:rPr sz="950">
                <a:solidFill>
                  <a:srgbClr val="1A1A2E"/>
                </a:solidFill>
                <a:latin typeface="Calibri"/>
                <a:ea typeface="Calibri"/>
                <a:cs typeface="Calibri"/>
              </a:rPr>
              <a:t>Row locks and transactions. A loan's correctness depends on them.</a:t>
            </a:r>
            <a:endParaRPr sz="950"/>
          </a:p>
        </p:txBody>
      </p:sp>
      <p:sp>
        <p:nvSpPr>
          <p:cNvPr id="12" name="Text 9">
            <a:extLst xmlns:a="http://schemas.openxmlformats.org/drawingml/2006/main">
              <a:ext uri="{FF2B5EF4-FFF2-40B4-BE49-F238E27FC236}">
                <a16:creationId xmlns:a16="http://schemas.microsoft.com/office/drawing/2014/main" id="{5B2F8981-6077-425B-9B84-56474FFB4556}"/>
              </a:ext>
            </a:extLst>
          </p:cNvPr>
          <p:cNvSpPr>
            <a:spLocks xmlns:a="http://schemas.openxmlformats.org/drawingml/2006/main" noGrp="1"/>
          </p:cNvSpPr>
          <p:nvPr/>
        </p:nvSpPr>
        <p:spPr>
          <a:xfrm xmlns:a="http://schemas.openxmlformats.org/drawingml/2006/main">
            <a:off x="786384" y="3066288"/>
            <a:ext cx="3035808"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240C54"/>
                </a:solidFill>
                <a:latin typeface="Calibri"/>
                <a:ea typeface="Calibri"/>
                <a:cs typeface="Calibri"/>
              </a:rPr>
              <a:t>pgx</a:t>
            </a:r>
            <a:endParaRPr sz="1100"/>
          </a:p>
        </p:txBody>
      </p:sp>
      <p:sp>
        <p:nvSpPr>
          <p:cNvPr id="13" name="Text 10">
            <a:extLst xmlns:a="http://schemas.openxmlformats.org/drawingml/2006/main">
              <a:ext uri="{FF2B5EF4-FFF2-40B4-BE49-F238E27FC236}">
                <a16:creationId xmlns:a16="http://schemas.microsoft.com/office/drawing/2014/main" id="{CFAF3205-2C61-4C5E-BB35-7635D5CFB196}"/>
              </a:ext>
            </a:extLst>
          </p:cNvPr>
          <p:cNvSpPr>
            <a:spLocks xmlns:a="http://schemas.openxmlformats.org/drawingml/2006/main" noGrp="1"/>
          </p:cNvSpPr>
          <p:nvPr/>
        </p:nvSpPr>
        <p:spPr>
          <a:xfrm xmlns:a="http://schemas.openxmlformats.org/drawingml/2006/main">
            <a:off x="786384" y="3240024"/>
            <a:ext cx="3035808" cy="4175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150"/>
              </a:lnSpc>
              <a:buNone/>
            </a:pPr>
            <a:r>
              <a:rPr sz="950">
                <a:solidFill>
                  <a:srgbClr val="1A1A2E"/>
                </a:solidFill>
                <a:latin typeface="Calibri"/>
                <a:ea typeface="Calibri"/>
                <a:cs typeface="Calibri"/>
              </a:rPr>
              <a:t>Postgres driver and connection pool.</a:t>
            </a:r>
            <a:endParaRPr sz="950"/>
          </a:p>
        </p:txBody>
      </p:sp>
      <p:sp>
        <p:nvSpPr>
          <p:cNvPr id="14" name="Text 11">
            <a:extLst xmlns:a="http://schemas.openxmlformats.org/drawingml/2006/main">
              <a:ext uri="{FF2B5EF4-FFF2-40B4-BE49-F238E27FC236}">
                <a16:creationId xmlns:a16="http://schemas.microsoft.com/office/drawing/2014/main" id="{F8916907-EEB2-437C-903F-BE51826DC38A}"/>
              </a:ext>
            </a:extLst>
          </p:cNvPr>
          <p:cNvSpPr>
            <a:spLocks xmlns:a="http://schemas.openxmlformats.org/drawingml/2006/main" noGrp="1"/>
          </p:cNvSpPr>
          <p:nvPr/>
        </p:nvSpPr>
        <p:spPr>
          <a:xfrm xmlns:a="http://schemas.openxmlformats.org/drawingml/2006/main">
            <a:off x="786384" y="3685032"/>
            <a:ext cx="3035808"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240C54"/>
                </a:solidFill>
                <a:latin typeface="Calibri"/>
                <a:ea typeface="Calibri"/>
                <a:cs typeface="Calibri"/>
              </a:rPr>
              <a:t>Redis</a:t>
            </a:r>
            <a:endParaRPr sz="1100"/>
          </a:p>
        </p:txBody>
      </p:sp>
      <p:sp>
        <p:nvSpPr>
          <p:cNvPr id="15" name="Text 12">
            <a:extLst xmlns:a="http://schemas.openxmlformats.org/drawingml/2006/main">
              <a:ext uri="{FF2B5EF4-FFF2-40B4-BE49-F238E27FC236}">
                <a16:creationId xmlns:a16="http://schemas.microsoft.com/office/drawing/2014/main" id="{AA30FCD3-3771-424F-96D2-99241A3A8173}"/>
              </a:ext>
            </a:extLst>
          </p:cNvPr>
          <p:cNvSpPr>
            <a:spLocks xmlns:a="http://schemas.openxmlformats.org/drawingml/2006/main" noGrp="1"/>
          </p:cNvSpPr>
          <p:nvPr/>
        </p:nvSpPr>
        <p:spPr>
          <a:xfrm xmlns:a="http://schemas.openxmlformats.org/drawingml/2006/main">
            <a:off x="786384" y="3858768"/>
            <a:ext cx="3035808" cy="4175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150"/>
              </a:lnSpc>
              <a:buNone/>
            </a:pPr>
            <a:r>
              <a:rPr sz="950">
                <a:solidFill>
                  <a:srgbClr val="1A1A2E"/>
                </a:solidFill>
                <a:latin typeface="Calibri"/>
                <a:ea typeface="Calibri"/>
                <a:cs typeface="Calibri"/>
              </a:rPr>
              <a:t>Rate-limit counters only. A cache, never a store of record.</a:t>
            </a:r>
            <a:endParaRPr sz="950"/>
          </a:p>
        </p:txBody>
      </p:sp>
      <p:sp>
        <p:nvSpPr>
          <p:cNvPr id="16" name="Text 13">
            <a:extLst xmlns:a="http://schemas.openxmlformats.org/drawingml/2006/main">
              <a:ext uri="{FF2B5EF4-FFF2-40B4-BE49-F238E27FC236}">
                <a16:creationId xmlns:a16="http://schemas.microsoft.com/office/drawing/2014/main" id="{796D1FD3-02FD-45EA-8147-63A09C448DCE}"/>
              </a:ext>
            </a:extLst>
          </p:cNvPr>
          <p:cNvSpPr>
            <a:spLocks xmlns:a="http://schemas.openxmlformats.org/drawingml/2006/main" noGrp="1"/>
          </p:cNvSpPr>
          <p:nvPr/>
        </p:nvSpPr>
        <p:spPr>
          <a:xfrm xmlns:a="http://schemas.openxmlformats.org/drawingml/2006/main">
            <a:off x="786384" y="4303776"/>
            <a:ext cx="3035808"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240C54"/>
                </a:solidFill>
                <a:latin typeface="Calibri"/>
                <a:ea typeface="Calibri"/>
                <a:cs typeface="Calibri"/>
              </a:rPr>
              <a:t>Argon2id</a:t>
            </a:r>
            <a:endParaRPr sz="1100"/>
          </a:p>
        </p:txBody>
      </p:sp>
      <p:sp>
        <p:nvSpPr>
          <p:cNvPr id="17" name="Text 14">
            <a:extLst xmlns:a="http://schemas.openxmlformats.org/drawingml/2006/main">
              <a:ext uri="{FF2B5EF4-FFF2-40B4-BE49-F238E27FC236}">
                <a16:creationId xmlns:a16="http://schemas.microsoft.com/office/drawing/2014/main" id="{B231144D-1A7E-4E9C-81B5-09471D36B905}"/>
              </a:ext>
            </a:extLst>
          </p:cNvPr>
          <p:cNvSpPr>
            <a:spLocks xmlns:a="http://schemas.openxmlformats.org/drawingml/2006/main" noGrp="1"/>
          </p:cNvSpPr>
          <p:nvPr/>
        </p:nvSpPr>
        <p:spPr>
          <a:xfrm xmlns:a="http://schemas.openxmlformats.org/drawingml/2006/main">
            <a:off x="786384" y="4477512"/>
            <a:ext cx="3035808" cy="4175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150"/>
              </a:lnSpc>
              <a:buNone/>
            </a:pPr>
            <a:r>
              <a:rPr sz="950">
                <a:solidFill>
                  <a:srgbClr val="1A1A2E"/>
                </a:solidFill>
                <a:latin typeface="Calibri"/>
                <a:ea typeface="Calibri"/>
                <a:cs typeface="Calibri"/>
              </a:rPr>
              <a:t>Password hashing, memory-hard at 64 MB.</a:t>
            </a:r>
            <a:endParaRPr sz="950"/>
          </a:p>
        </p:txBody>
      </p:sp>
      <p:sp>
        <p:nvSpPr>
          <p:cNvPr id="18" name="Text 15">
            <a:extLst xmlns:a="http://schemas.openxmlformats.org/drawingml/2006/main">
              <a:ext uri="{FF2B5EF4-FFF2-40B4-BE49-F238E27FC236}">
                <a16:creationId xmlns:a16="http://schemas.microsoft.com/office/drawing/2014/main" id="{DFAE7078-F943-47BF-BC5C-157FA42CEE48}"/>
              </a:ext>
            </a:extLst>
          </p:cNvPr>
          <p:cNvSpPr>
            <a:spLocks xmlns:a="http://schemas.openxmlformats.org/drawingml/2006/main" noGrp="1"/>
          </p:cNvSpPr>
          <p:nvPr/>
        </p:nvSpPr>
        <p:spPr>
          <a:xfrm xmlns:a="http://schemas.openxmlformats.org/drawingml/2006/main">
            <a:off x="786384" y="4922520"/>
            <a:ext cx="3035808"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240C54"/>
                </a:solidFill>
                <a:latin typeface="Calibri"/>
                <a:ea typeface="Calibri"/>
                <a:cs typeface="Calibri"/>
              </a:rPr>
              <a:t>JWT HS256</a:t>
            </a:r>
            <a:endParaRPr sz="1100"/>
          </a:p>
        </p:txBody>
      </p:sp>
      <p:sp>
        <p:nvSpPr>
          <p:cNvPr id="19" name="Text 16">
            <a:extLst xmlns:a="http://schemas.openxmlformats.org/drawingml/2006/main">
              <a:ext uri="{FF2B5EF4-FFF2-40B4-BE49-F238E27FC236}">
                <a16:creationId xmlns:a16="http://schemas.microsoft.com/office/drawing/2014/main" id="{E11C9E19-E7A1-4E8B-B65A-4D9470F84329}"/>
              </a:ext>
            </a:extLst>
          </p:cNvPr>
          <p:cNvSpPr>
            <a:spLocks xmlns:a="http://schemas.openxmlformats.org/drawingml/2006/main" noGrp="1"/>
          </p:cNvSpPr>
          <p:nvPr/>
        </p:nvSpPr>
        <p:spPr>
          <a:xfrm xmlns:a="http://schemas.openxmlformats.org/drawingml/2006/main">
            <a:off x="786384" y="5096256"/>
            <a:ext cx="3035808" cy="4175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150"/>
              </a:lnSpc>
              <a:buNone/>
            </a:pPr>
            <a:r>
              <a:rPr sz="950">
                <a:solidFill>
                  <a:srgbClr val="1A1A2E"/>
                </a:solidFill>
                <a:latin typeface="Calibri"/>
                <a:ea typeface="Calibri"/>
                <a:cs typeface="Calibri"/>
              </a:rPr>
              <a:t>Access tokens, with the algorithm pinned.</a:t>
            </a:r>
            <a:endParaRPr sz="950"/>
          </a:p>
        </p:txBody>
      </p:sp>
      <p:sp>
        <p:nvSpPr>
          <p:cNvPr id="20" name="Shape 17">
            <a:extLst xmlns:a="http://schemas.openxmlformats.org/drawingml/2006/main">
              <a:ext uri="{FF2B5EF4-FFF2-40B4-BE49-F238E27FC236}">
                <a16:creationId xmlns:a16="http://schemas.microsoft.com/office/drawing/2014/main" id="{8233C385-2048-45FC-85A1-A20EC1F4E577}"/>
              </a:ext>
            </a:extLst>
          </p:cNvPr>
          <p:cNvSpPr>
            <a:spLocks xmlns:a="http://schemas.openxmlformats.org/drawingml/2006/main" noGrp="1"/>
          </p:cNvSpPr>
          <p:nvPr/>
        </p:nvSpPr>
        <p:spPr>
          <a:xfrm xmlns:a="http://schemas.openxmlformats.org/drawingml/2006/main">
            <a:off x="4315968" y="1316736"/>
            <a:ext cx="3474720" cy="4279392"/>
          </a:xfrm>
          <a:prstGeom xmlns:a="http://schemas.openxmlformats.org/drawingml/2006/main" prst="roundRect">
            <a:avLst>
              <a:gd name="adj" fmla="val 1842"/>
            </a:avLst>
          </a:prstGeom>
          <a:solidFill xmlns:a="http://schemas.openxmlformats.org/drawingml/2006/main">
            <a:srgbClr val="F4F5F9"/>
          </a:solidFill>
          <a:ln xmlns:a="http://schemas.openxmlformats.org/drawingml/2006/main" w="9525">
            <a:solidFill>
              <a:srgbClr val="D8DAE5"/>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21" name="Text 18">
            <a:extLst xmlns:a="http://schemas.openxmlformats.org/drawingml/2006/main">
              <a:ext uri="{FF2B5EF4-FFF2-40B4-BE49-F238E27FC236}">
                <a16:creationId xmlns:a16="http://schemas.microsoft.com/office/drawing/2014/main" id="{6F87BD95-655A-437F-A765-F03ACF07F7BA}"/>
              </a:ext>
            </a:extLst>
          </p:cNvPr>
          <p:cNvSpPr>
            <a:spLocks xmlns:a="http://schemas.openxmlformats.org/drawingml/2006/main" noGrp="1"/>
          </p:cNvSpPr>
          <p:nvPr/>
        </p:nvSpPr>
        <p:spPr>
          <a:xfrm xmlns:a="http://schemas.openxmlformats.org/drawingml/2006/main">
            <a:off x="4535424" y="1490472"/>
            <a:ext cx="3035808"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1D4ED8"/>
                </a:solidFill>
                <a:latin typeface="Calibri"/>
                <a:ea typeface="Calibri"/>
                <a:cs typeface="Calibri"/>
              </a:rPr>
              <a:t>Front end</a:t>
            </a:r>
            <a:endParaRPr sz="1500"/>
          </a:p>
        </p:txBody>
      </p:sp>
      <p:sp>
        <p:nvSpPr>
          <p:cNvPr id="22" name="Text 19">
            <a:extLst xmlns:a="http://schemas.openxmlformats.org/drawingml/2006/main">
              <a:ext uri="{FF2B5EF4-FFF2-40B4-BE49-F238E27FC236}">
                <a16:creationId xmlns:a16="http://schemas.microsoft.com/office/drawing/2014/main" id="{249CFF3C-1F45-4FC8-B6EC-0061D808B0E4}"/>
              </a:ext>
            </a:extLst>
          </p:cNvPr>
          <p:cNvSpPr>
            <a:spLocks xmlns:a="http://schemas.openxmlformats.org/drawingml/2006/main" noGrp="1"/>
          </p:cNvSpPr>
          <p:nvPr/>
        </p:nvSpPr>
        <p:spPr>
          <a:xfrm xmlns:a="http://schemas.openxmlformats.org/drawingml/2006/main">
            <a:off x="4535424" y="1828800"/>
            <a:ext cx="3035808"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1D4ED8"/>
                </a:solidFill>
                <a:latin typeface="Calibri"/>
                <a:ea typeface="Calibri"/>
                <a:cs typeface="Calibri"/>
              </a:rPr>
              <a:t>HTML5</a:t>
            </a:r>
            <a:endParaRPr sz="1100"/>
          </a:p>
        </p:txBody>
      </p:sp>
      <p:sp>
        <p:nvSpPr>
          <p:cNvPr id="23" name="Text 20">
            <a:extLst xmlns:a="http://schemas.openxmlformats.org/drawingml/2006/main">
              <a:ext uri="{FF2B5EF4-FFF2-40B4-BE49-F238E27FC236}">
                <a16:creationId xmlns:a16="http://schemas.microsoft.com/office/drawing/2014/main" id="{A010ACFA-4D61-4369-80D6-17617AAF925A}"/>
              </a:ext>
            </a:extLst>
          </p:cNvPr>
          <p:cNvSpPr>
            <a:spLocks xmlns:a="http://schemas.openxmlformats.org/drawingml/2006/main" noGrp="1"/>
          </p:cNvSpPr>
          <p:nvPr/>
        </p:nvSpPr>
        <p:spPr>
          <a:xfrm xmlns:a="http://schemas.openxmlformats.org/drawingml/2006/main">
            <a:off x="4535424" y="2002536"/>
            <a:ext cx="3035808" cy="4175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150"/>
              </a:lnSpc>
              <a:buNone/>
            </a:pPr>
            <a:r>
              <a:rPr sz="950">
                <a:solidFill>
                  <a:srgbClr val="1A1A2E"/>
                </a:solidFill>
                <a:latin typeface="Calibri"/>
                <a:ea typeface="Calibri"/>
                <a:cs typeface="Calibri"/>
              </a:rPr>
              <a:t>Semantic elements and real form controls.</a:t>
            </a:r>
            <a:endParaRPr sz="950"/>
          </a:p>
        </p:txBody>
      </p:sp>
      <p:sp>
        <p:nvSpPr>
          <p:cNvPr id="24" name="Text 21">
            <a:extLst xmlns:a="http://schemas.openxmlformats.org/drawingml/2006/main">
              <a:ext uri="{FF2B5EF4-FFF2-40B4-BE49-F238E27FC236}">
                <a16:creationId xmlns:a16="http://schemas.microsoft.com/office/drawing/2014/main" id="{B9692669-E9DA-4A9B-B221-F47A01A2B071}"/>
              </a:ext>
            </a:extLst>
          </p:cNvPr>
          <p:cNvSpPr>
            <a:spLocks xmlns:a="http://schemas.openxmlformats.org/drawingml/2006/main" noGrp="1"/>
          </p:cNvSpPr>
          <p:nvPr/>
        </p:nvSpPr>
        <p:spPr>
          <a:xfrm xmlns:a="http://schemas.openxmlformats.org/drawingml/2006/main">
            <a:off x="4535424" y="2447544"/>
            <a:ext cx="3035808"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1D4ED8"/>
                </a:solidFill>
                <a:latin typeface="Calibri"/>
                <a:ea typeface="Calibri"/>
                <a:cs typeface="Calibri"/>
              </a:rPr>
              <a:t>CSS3</a:t>
            </a:r>
            <a:endParaRPr sz="1100"/>
          </a:p>
        </p:txBody>
      </p:sp>
      <p:sp>
        <p:nvSpPr>
          <p:cNvPr id="25" name="Text 22">
            <a:extLst xmlns:a="http://schemas.openxmlformats.org/drawingml/2006/main">
              <a:ext uri="{FF2B5EF4-FFF2-40B4-BE49-F238E27FC236}">
                <a16:creationId xmlns:a16="http://schemas.microsoft.com/office/drawing/2014/main" id="{EE2AEA6D-47E7-4106-8752-D46C1904F437}"/>
              </a:ext>
            </a:extLst>
          </p:cNvPr>
          <p:cNvSpPr>
            <a:spLocks xmlns:a="http://schemas.openxmlformats.org/drawingml/2006/main" noGrp="1"/>
          </p:cNvSpPr>
          <p:nvPr/>
        </p:nvSpPr>
        <p:spPr>
          <a:xfrm xmlns:a="http://schemas.openxmlformats.org/drawingml/2006/main">
            <a:off x="4535424" y="2621280"/>
            <a:ext cx="3035808" cy="4175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150"/>
              </a:lnSpc>
              <a:buNone/>
            </a:pPr>
            <a:r>
              <a:rPr sz="950">
                <a:solidFill>
                  <a:srgbClr val="1A1A2E"/>
                </a:solidFill>
                <a:latin typeface="Calibri"/>
                <a:ea typeface="Calibri"/>
                <a:cs typeface="Calibri"/>
              </a:rPr>
              <a:t>Custom properties, flexbox and grid. One responsive layout.</a:t>
            </a:r>
            <a:endParaRPr sz="950"/>
          </a:p>
        </p:txBody>
      </p:sp>
      <p:sp>
        <p:nvSpPr>
          <p:cNvPr id="26" name="Text 23">
            <a:extLst xmlns:a="http://schemas.openxmlformats.org/drawingml/2006/main">
              <a:ext uri="{FF2B5EF4-FFF2-40B4-BE49-F238E27FC236}">
                <a16:creationId xmlns:a16="http://schemas.microsoft.com/office/drawing/2014/main" id="{E40A9320-9A0A-49A7-BA4F-F5741B410D81}"/>
              </a:ext>
            </a:extLst>
          </p:cNvPr>
          <p:cNvSpPr>
            <a:spLocks xmlns:a="http://schemas.openxmlformats.org/drawingml/2006/main" noGrp="1"/>
          </p:cNvSpPr>
          <p:nvPr/>
        </p:nvSpPr>
        <p:spPr>
          <a:xfrm xmlns:a="http://schemas.openxmlformats.org/drawingml/2006/main">
            <a:off x="4535424" y="3066288"/>
            <a:ext cx="3035808"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1D4ED8"/>
                </a:solidFill>
                <a:latin typeface="Calibri"/>
                <a:ea typeface="Calibri"/>
                <a:cs typeface="Calibri"/>
              </a:rPr>
              <a:t>JavaScript</a:t>
            </a:r>
            <a:endParaRPr sz="1100"/>
          </a:p>
        </p:txBody>
      </p:sp>
      <p:sp>
        <p:nvSpPr>
          <p:cNvPr id="27" name="Text 24">
            <a:extLst xmlns:a="http://schemas.openxmlformats.org/drawingml/2006/main">
              <a:ext uri="{FF2B5EF4-FFF2-40B4-BE49-F238E27FC236}">
                <a16:creationId xmlns:a16="http://schemas.microsoft.com/office/drawing/2014/main" id="{C9CF2CF3-A22D-4A7E-9225-2C37D0B1BD95}"/>
              </a:ext>
            </a:extLst>
          </p:cNvPr>
          <p:cNvSpPr>
            <a:spLocks xmlns:a="http://schemas.openxmlformats.org/drawingml/2006/main" noGrp="1"/>
          </p:cNvSpPr>
          <p:nvPr/>
        </p:nvSpPr>
        <p:spPr>
          <a:xfrm xmlns:a="http://schemas.openxmlformats.org/drawingml/2006/main">
            <a:off x="4535424" y="3240024"/>
            <a:ext cx="3035808" cy="4175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150"/>
              </a:lnSpc>
              <a:buNone/>
            </a:pPr>
            <a:r>
              <a:rPr sz="950">
                <a:solidFill>
                  <a:srgbClr val="1A1A2E"/>
                </a:solidFill>
                <a:latin typeface="Calibri"/>
                <a:ea typeface="Calibri"/>
                <a:cs typeface="Calibri"/>
              </a:rPr>
              <a:t>Fetch and DOM. No framework: the course examines this directly.</a:t>
            </a:r>
            <a:endParaRPr sz="950"/>
          </a:p>
        </p:txBody>
      </p:sp>
      <p:sp>
        <p:nvSpPr>
          <p:cNvPr id="28" name="Text 25">
            <a:extLst xmlns:a="http://schemas.openxmlformats.org/drawingml/2006/main">
              <a:ext uri="{FF2B5EF4-FFF2-40B4-BE49-F238E27FC236}">
                <a16:creationId xmlns:a16="http://schemas.microsoft.com/office/drawing/2014/main" id="{67454D9A-5FFC-4572-97BF-14B2F59B5CCD}"/>
              </a:ext>
            </a:extLst>
          </p:cNvPr>
          <p:cNvSpPr>
            <a:spLocks xmlns:a="http://schemas.openxmlformats.org/drawingml/2006/main" noGrp="1"/>
          </p:cNvSpPr>
          <p:nvPr/>
        </p:nvSpPr>
        <p:spPr>
          <a:xfrm xmlns:a="http://schemas.openxmlformats.org/drawingml/2006/main">
            <a:off x="4535424" y="3685032"/>
            <a:ext cx="3035808"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1D4ED8"/>
                </a:solidFill>
                <a:latin typeface="Calibri"/>
                <a:ea typeface="Calibri"/>
                <a:cs typeface="Calibri"/>
              </a:rPr>
              <a:t>OpenAPI 3.0.3</a:t>
            </a:r>
            <a:endParaRPr sz="1100"/>
          </a:p>
        </p:txBody>
      </p:sp>
      <p:sp>
        <p:nvSpPr>
          <p:cNvPr id="29" name="Text 26">
            <a:extLst xmlns:a="http://schemas.openxmlformats.org/drawingml/2006/main">
              <a:ext uri="{FF2B5EF4-FFF2-40B4-BE49-F238E27FC236}">
                <a16:creationId xmlns:a16="http://schemas.microsoft.com/office/drawing/2014/main" id="{F82E59E9-B1A5-4884-98D7-B5EB39DDAF80}"/>
              </a:ext>
            </a:extLst>
          </p:cNvPr>
          <p:cNvSpPr>
            <a:spLocks xmlns:a="http://schemas.openxmlformats.org/drawingml/2006/main" noGrp="1"/>
          </p:cNvSpPr>
          <p:nvPr/>
        </p:nvSpPr>
        <p:spPr>
          <a:xfrm xmlns:a="http://schemas.openxmlformats.org/drawingml/2006/main">
            <a:off x="4535424" y="3858768"/>
            <a:ext cx="3035808" cy="4175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150"/>
              </a:lnSpc>
              <a:buNone/>
            </a:pPr>
            <a:r>
              <a:rPr sz="950">
                <a:solidFill>
                  <a:srgbClr val="1A1A2E"/>
                </a:solidFill>
                <a:latin typeface="Calibri"/>
                <a:ea typeface="Calibri"/>
                <a:cs typeface="Calibri"/>
              </a:rPr>
              <a:t>The contract the interface is written against.</a:t>
            </a:r>
            <a:endParaRPr sz="950"/>
          </a:p>
        </p:txBody>
      </p:sp>
      <p:sp>
        <p:nvSpPr>
          <p:cNvPr id="30" name="Text 27">
            <a:extLst xmlns:a="http://schemas.openxmlformats.org/drawingml/2006/main">
              <a:ext uri="{FF2B5EF4-FFF2-40B4-BE49-F238E27FC236}">
                <a16:creationId xmlns:a16="http://schemas.microsoft.com/office/drawing/2014/main" id="{FD6A38F2-6940-4378-B727-207B74F641EC}"/>
              </a:ext>
            </a:extLst>
          </p:cNvPr>
          <p:cNvSpPr>
            <a:spLocks xmlns:a="http://schemas.openxmlformats.org/drawingml/2006/main" noGrp="1"/>
          </p:cNvSpPr>
          <p:nvPr/>
        </p:nvSpPr>
        <p:spPr>
          <a:xfrm xmlns:a="http://schemas.openxmlformats.org/drawingml/2006/main">
            <a:off x="4535424" y="4303776"/>
            <a:ext cx="3035808"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1D4ED8"/>
                </a:solidFill>
                <a:latin typeface="Calibri"/>
                <a:ea typeface="Calibri"/>
                <a:cs typeface="Calibri"/>
              </a:rPr>
              <a:t>Open Library</a:t>
            </a:r>
            <a:endParaRPr sz="1100"/>
          </a:p>
        </p:txBody>
      </p:sp>
      <p:sp>
        <p:nvSpPr>
          <p:cNvPr id="31" name="Text 28">
            <a:extLst xmlns:a="http://schemas.openxmlformats.org/drawingml/2006/main">
              <a:ext uri="{FF2B5EF4-FFF2-40B4-BE49-F238E27FC236}">
                <a16:creationId xmlns:a16="http://schemas.microsoft.com/office/drawing/2014/main" id="{C5665A14-4EF6-482B-8539-8D84C7A35DB5}"/>
              </a:ext>
            </a:extLst>
          </p:cNvPr>
          <p:cNvSpPr>
            <a:spLocks xmlns:a="http://schemas.openxmlformats.org/drawingml/2006/main" noGrp="1"/>
          </p:cNvSpPr>
          <p:nvPr/>
        </p:nvSpPr>
        <p:spPr>
          <a:xfrm xmlns:a="http://schemas.openxmlformats.org/drawingml/2006/main">
            <a:off x="4535424" y="4477512"/>
            <a:ext cx="3035808" cy="4175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150"/>
              </a:lnSpc>
              <a:buNone/>
            </a:pPr>
            <a:r>
              <a:rPr sz="950">
                <a:solidFill>
                  <a:srgbClr val="1A1A2E"/>
                </a:solidFill>
                <a:latin typeface="Calibri"/>
                <a:ea typeface="Calibri"/>
                <a:cs typeface="Calibri"/>
              </a:rPr>
              <a:t>Book cover images, fetched by ISBN.</a:t>
            </a:r>
            <a:endParaRPr sz="950"/>
          </a:p>
        </p:txBody>
      </p:sp>
      <p:sp>
        <p:nvSpPr>
          <p:cNvPr id="32" name="Text 29">
            <a:extLst xmlns:a="http://schemas.openxmlformats.org/drawingml/2006/main">
              <a:ext uri="{FF2B5EF4-FFF2-40B4-BE49-F238E27FC236}">
                <a16:creationId xmlns:a16="http://schemas.microsoft.com/office/drawing/2014/main" id="{22A0CA89-5014-4F16-94F5-7880D32FB2F6}"/>
              </a:ext>
            </a:extLst>
          </p:cNvPr>
          <p:cNvSpPr>
            <a:spLocks xmlns:a="http://schemas.openxmlformats.org/drawingml/2006/main" noGrp="1"/>
          </p:cNvSpPr>
          <p:nvPr/>
        </p:nvSpPr>
        <p:spPr>
          <a:xfrm xmlns:a="http://schemas.openxmlformats.org/drawingml/2006/main">
            <a:off x="4535424" y="4922520"/>
            <a:ext cx="3035808"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1D4ED8"/>
                </a:solidFill>
                <a:latin typeface="Calibri"/>
                <a:ea typeface="Calibri"/>
                <a:cs typeface="Calibri"/>
              </a:rPr>
              <a:t>Schema.org</a:t>
            </a:r>
            <a:endParaRPr sz="1100"/>
          </a:p>
        </p:txBody>
      </p:sp>
      <p:sp>
        <p:nvSpPr>
          <p:cNvPr id="33" name="Text 30">
            <a:extLst xmlns:a="http://schemas.openxmlformats.org/drawingml/2006/main">
              <a:ext uri="{FF2B5EF4-FFF2-40B4-BE49-F238E27FC236}">
                <a16:creationId xmlns:a16="http://schemas.microsoft.com/office/drawing/2014/main" id="{8CAF80BF-FD27-4905-841F-613748E6116B}"/>
              </a:ext>
            </a:extLst>
          </p:cNvPr>
          <p:cNvSpPr>
            <a:spLocks xmlns:a="http://schemas.openxmlformats.org/drawingml/2006/main" noGrp="1"/>
          </p:cNvSpPr>
          <p:nvPr/>
        </p:nvSpPr>
        <p:spPr>
          <a:xfrm xmlns:a="http://schemas.openxmlformats.org/drawingml/2006/main">
            <a:off x="4535424" y="5096256"/>
            <a:ext cx="3035808" cy="4175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150"/>
              </a:lnSpc>
              <a:buNone/>
            </a:pPr>
            <a:r>
              <a:rPr sz="950">
                <a:solidFill>
                  <a:srgbClr val="1A1A2E"/>
                </a:solidFill>
                <a:latin typeface="Calibri"/>
                <a:ea typeface="Calibri"/>
                <a:cs typeface="Calibri"/>
              </a:rPr>
              <a:t>Structured data describing the site as a Library.</a:t>
            </a:r>
            <a:endParaRPr sz="950"/>
          </a:p>
        </p:txBody>
      </p:sp>
      <p:sp>
        <p:nvSpPr>
          <p:cNvPr id="34" name="Shape 31">
            <a:extLst xmlns:a="http://schemas.openxmlformats.org/drawingml/2006/main">
              <a:ext uri="{FF2B5EF4-FFF2-40B4-BE49-F238E27FC236}">
                <a16:creationId xmlns:a16="http://schemas.microsoft.com/office/drawing/2014/main" id="{09506F53-27D8-4329-851B-8BF1EFD0C691}"/>
              </a:ext>
            </a:extLst>
          </p:cNvPr>
          <p:cNvSpPr>
            <a:spLocks xmlns:a="http://schemas.openxmlformats.org/drawingml/2006/main" noGrp="1"/>
          </p:cNvSpPr>
          <p:nvPr/>
        </p:nvSpPr>
        <p:spPr>
          <a:xfrm xmlns:a="http://schemas.openxmlformats.org/drawingml/2006/main">
            <a:off x="8065008" y="1316736"/>
            <a:ext cx="3977640" cy="4279392"/>
          </a:xfrm>
          <a:prstGeom xmlns:a="http://schemas.openxmlformats.org/drawingml/2006/main" prst="roundRect">
            <a:avLst>
              <a:gd name="adj" fmla="val 1609"/>
            </a:avLst>
          </a:prstGeom>
          <a:solidFill xmlns:a="http://schemas.openxmlformats.org/drawingml/2006/main">
            <a:srgbClr val="F4F5F9"/>
          </a:solidFill>
          <a:ln xmlns:a="http://schemas.openxmlformats.org/drawingml/2006/main" w="9525">
            <a:solidFill>
              <a:srgbClr val="D8DAE5"/>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35" name="Text 32">
            <a:extLst xmlns:a="http://schemas.openxmlformats.org/drawingml/2006/main">
              <a:ext uri="{FF2B5EF4-FFF2-40B4-BE49-F238E27FC236}">
                <a16:creationId xmlns:a16="http://schemas.microsoft.com/office/drawing/2014/main" id="{53BB9B8E-09CE-40ED-82D2-FDB2443A8F81}"/>
              </a:ext>
            </a:extLst>
          </p:cNvPr>
          <p:cNvSpPr>
            <a:spLocks xmlns:a="http://schemas.openxmlformats.org/drawingml/2006/main" noGrp="1"/>
          </p:cNvSpPr>
          <p:nvPr/>
        </p:nvSpPr>
        <p:spPr>
          <a:xfrm xmlns:a="http://schemas.openxmlformats.org/drawingml/2006/main">
            <a:off x="8284464" y="1490472"/>
            <a:ext cx="3538728"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3B2C7A"/>
                </a:solidFill>
                <a:latin typeface="Calibri"/>
                <a:ea typeface="Calibri"/>
                <a:cs typeface="Calibri"/>
              </a:rPr>
              <a:t>Platform</a:t>
            </a:r>
            <a:endParaRPr sz="1500"/>
          </a:p>
        </p:txBody>
      </p:sp>
      <p:sp>
        <p:nvSpPr>
          <p:cNvPr id="36" name="Text 33">
            <a:extLst xmlns:a="http://schemas.openxmlformats.org/drawingml/2006/main">
              <a:ext uri="{FF2B5EF4-FFF2-40B4-BE49-F238E27FC236}">
                <a16:creationId xmlns:a16="http://schemas.microsoft.com/office/drawing/2014/main" id="{99045D36-C181-4035-A5B2-AB110F04CE7A}"/>
              </a:ext>
            </a:extLst>
          </p:cNvPr>
          <p:cNvSpPr>
            <a:spLocks xmlns:a="http://schemas.openxmlformats.org/drawingml/2006/main" noGrp="1"/>
          </p:cNvSpPr>
          <p:nvPr/>
        </p:nvSpPr>
        <p:spPr>
          <a:xfrm xmlns:a="http://schemas.openxmlformats.org/drawingml/2006/main">
            <a:off x="8284464" y="1828800"/>
            <a:ext cx="3538728"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3B2C7A"/>
                </a:solidFill>
                <a:latin typeface="Calibri"/>
                <a:ea typeface="Calibri"/>
                <a:cs typeface="Calibri"/>
              </a:rPr>
              <a:t>Docker</a:t>
            </a:r>
            <a:endParaRPr sz="1100"/>
          </a:p>
        </p:txBody>
      </p:sp>
      <p:sp>
        <p:nvSpPr>
          <p:cNvPr id="37" name="Text 34">
            <a:extLst xmlns:a="http://schemas.openxmlformats.org/drawingml/2006/main">
              <a:ext uri="{FF2B5EF4-FFF2-40B4-BE49-F238E27FC236}">
                <a16:creationId xmlns:a16="http://schemas.microsoft.com/office/drawing/2014/main" id="{CBC915D5-3677-42EE-AD74-A7B3661D9F89}"/>
              </a:ext>
            </a:extLst>
          </p:cNvPr>
          <p:cNvSpPr>
            <a:spLocks xmlns:a="http://schemas.openxmlformats.org/drawingml/2006/main" noGrp="1"/>
          </p:cNvSpPr>
          <p:nvPr/>
        </p:nvSpPr>
        <p:spPr>
          <a:xfrm xmlns:a="http://schemas.openxmlformats.org/drawingml/2006/main">
            <a:off x="8284464" y="2002536"/>
            <a:ext cx="3538728" cy="17007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150"/>
              </a:lnSpc>
              <a:buNone/>
            </a:pPr>
            <a:r>
              <a:rPr sz="950">
                <a:solidFill>
                  <a:srgbClr val="1A1A2E"/>
                </a:solidFill>
                <a:latin typeface="Calibri"/>
                <a:ea typeface="Calibri"/>
                <a:cs typeface="Calibri"/>
              </a:rPr>
              <a:t>Multi-stage build to a 15.5 MB scratch image.</a:t>
            </a:r>
            <a:endParaRPr sz="950"/>
          </a:p>
        </p:txBody>
      </p:sp>
      <p:sp>
        <p:nvSpPr>
          <p:cNvPr id="38" name="Text 35">
            <a:extLst xmlns:a="http://schemas.openxmlformats.org/drawingml/2006/main">
              <a:ext uri="{FF2B5EF4-FFF2-40B4-BE49-F238E27FC236}">
                <a16:creationId xmlns:a16="http://schemas.microsoft.com/office/drawing/2014/main" id="{362051C6-0B50-4CD3-8205-8CD54C2928E1}"/>
              </a:ext>
            </a:extLst>
          </p:cNvPr>
          <p:cNvSpPr>
            <a:spLocks xmlns:a="http://schemas.openxmlformats.org/drawingml/2006/main" noGrp="1"/>
          </p:cNvSpPr>
          <p:nvPr/>
        </p:nvSpPr>
        <p:spPr>
          <a:xfrm xmlns:a="http://schemas.openxmlformats.org/drawingml/2006/main">
            <a:off x="8284464" y="2200046"/>
            <a:ext cx="3538728"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3B2C7A"/>
                </a:solidFill>
                <a:latin typeface="Calibri"/>
                <a:ea typeface="Calibri"/>
                <a:cs typeface="Calibri"/>
              </a:rPr>
              <a:t>GitHub Actions</a:t>
            </a:r>
            <a:endParaRPr sz="1100"/>
          </a:p>
        </p:txBody>
      </p:sp>
      <p:sp>
        <p:nvSpPr>
          <p:cNvPr id="39" name="Text 36">
            <a:extLst xmlns:a="http://schemas.openxmlformats.org/drawingml/2006/main">
              <a:ext uri="{FF2B5EF4-FFF2-40B4-BE49-F238E27FC236}">
                <a16:creationId xmlns:a16="http://schemas.microsoft.com/office/drawing/2014/main" id="{7832EAE9-A68C-402F-BFF5-D9F180C8F34B}"/>
              </a:ext>
            </a:extLst>
          </p:cNvPr>
          <p:cNvSpPr>
            <a:spLocks xmlns:a="http://schemas.openxmlformats.org/drawingml/2006/main" noGrp="1"/>
          </p:cNvSpPr>
          <p:nvPr/>
        </p:nvSpPr>
        <p:spPr>
          <a:xfrm xmlns:a="http://schemas.openxmlformats.org/drawingml/2006/main">
            <a:off x="8284464" y="2373782"/>
            <a:ext cx="3538728" cy="17007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150"/>
              </a:lnSpc>
              <a:buNone/>
            </a:pPr>
            <a:r>
              <a:rPr sz="950">
                <a:solidFill>
                  <a:srgbClr val="1A1A2E"/>
                </a:solidFill>
                <a:latin typeface="Calibri"/>
                <a:ea typeface="Calibri"/>
                <a:cs typeface="Calibri"/>
              </a:rPr>
              <a:t>Test, scan, migrate, build, deploy, smoke.</a:t>
            </a:r>
            <a:endParaRPr sz="950"/>
          </a:p>
        </p:txBody>
      </p:sp>
      <p:sp>
        <p:nvSpPr>
          <p:cNvPr id="40" name="Text 37">
            <a:extLst xmlns:a="http://schemas.openxmlformats.org/drawingml/2006/main">
              <a:ext uri="{FF2B5EF4-FFF2-40B4-BE49-F238E27FC236}">
                <a16:creationId xmlns:a16="http://schemas.microsoft.com/office/drawing/2014/main" id="{8326EA30-0B05-4948-BE5C-B68D6EB82BB1}"/>
              </a:ext>
            </a:extLst>
          </p:cNvPr>
          <p:cNvSpPr>
            <a:spLocks xmlns:a="http://schemas.openxmlformats.org/drawingml/2006/main" noGrp="1"/>
          </p:cNvSpPr>
          <p:nvPr/>
        </p:nvSpPr>
        <p:spPr>
          <a:xfrm xmlns:a="http://schemas.openxmlformats.org/drawingml/2006/main">
            <a:off x="8284464" y="2571293"/>
            <a:ext cx="3538728"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3B2C7A"/>
                </a:solidFill>
                <a:latin typeface="Calibri"/>
                <a:ea typeface="Calibri"/>
                <a:cs typeface="Calibri"/>
              </a:rPr>
              <a:t>Render</a:t>
            </a:r>
            <a:endParaRPr sz="1100"/>
          </a:p>
        </p:txBody>
      </p:sp>
      <p:sp>
        <p:nvSpPr>
          <p:cNvPr id="41" name="Text 38">
            <a:extLst xmlns:a="http://schemas.openxmlformats.org/drawingml/2006/main">
              <a:ext uri="{FF2B5EF4-FFF2-40B4-BE49-F238E27FC236}">
                <a16:creationId xmlns:a16="http://schemas.microsoft.com/office/drawing/2014/main" id="{73FB6D7C-3D24-41C1-B7EB-C8F518058961}"/>
              </a:ext>
            </a:extLst>
          </p:cNvPr>
          <p:cNvSpPr>
            <a:spLocks xmlns:a="http://schemas.openxmlformats.org/drawingml/2006/main" noGrp="1"/>
          </p:cNvSpPr>
          <p:nvPr/>
        </p:nvSpPr>
        <p:spPr>
          <a:xfrm xmlns:a="http://schemas.openxmlformats.org/drawingml/2006/main">
            <a:off x="8284464" y="2745029"/>
            <a:ext cx="3538728" cy="17007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150"/>
              </a:lnSpc>
              <a:buNone/>
            </a:pPr>
            <a:r>
              <a:rPr sz="950">
                <a:solidFill>
                  <a:srgbClr val="1A1A2E"/>
                </a:solidFill>
                <a:latin typeface="Calibri"/>
                <a:ea typeface="Calibri"/>
                <a:cs typeface="Calibri"/>
              </a:rPr>
              <a:t>Runs the API. Ohio, US East.</a:t>
            </a:r>
            <a:endParaRPr sz="950"/>
          </a:p>
        </p:txBody>
      </p:sp>
      <p:sp>
        <p:nvSpPr>
          <p:cNvPr id="42" name="Text 39">
            <a:extLst xmlns:a="http://schemas.openxmlformats.org/drawingml/2006/main">
              <a:ext uri="{FF2B5EF4-FFF2-40B4-BE49-F238E27FC236}">
                <a16:creationId xmlns:a16="http://schemas.microsoft.com/office/drawing/2014/main" id="{3738560E-523E-440B-BC5A-F0BD7E1E2804}"/>
              </a:ext>
            </a:extLst>
          </p:cNvPr>
          <p:cNvSpPr>
            <a:spLocks xmlns:a="http://schemas.openxmlformats.org/drawingml/2006/main" noGrp="1"/>
          </p:cNvSpPr>
          <p:nvPr/>
        </p:nvSpPr>
        <p:spPr>
          <a:xfrm xmlns:a="http://schemas.openxmlformats.org/drawingml/2006/main">
            <a:off x="8284464" y="2942539"/>
            <a:ext cx="3538728"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3B2C7A"/>
                </a:solidFill>
                <a:latin typeface="Calibri"/>
                <a:ea typeface="Calibri"/>
                <a:cs typeface="Calibri"/>
              </a:rPr>
              <a:t>Neon</a:t>
            </a:r>
            <a:endParaRPr sz="1100"/>
          </a:p>
        </p:txBody>
      </p:sp>
      <p:sp>
        <p:nvSpPr>
          <p:cNvPr id="43" name="Text 40">
            <a:extLst xmlns:a="http://schemas.openxmlformats.org/drawingml/2006/main">
              <a:ext uri="{FF2B5EF4-FFF2-40B4-BE49-F238E27FC236}">
                <a16:creationId xmlns:a16="http://schemas.microsoft.com/office/drawing/2014/main" id="{BC7C36B0-A3F0-4475-AFBA-F0D34B1B00ED}"/>
              </a:ext>
            </a:extLst>
          </p:cNvPr>
          <p:cNvSpPr>
            <a:spLocks xmlns:a="http://schemas.openxmlformats.org/drawingml/2006/main" noGrp="1"/>
          </p:cNvSpPr>
          <p:nvPr/>
        </p:nvSpPr>
        <p:spPr>
          <a:xfrm xmlns:a="http://schemas.openxmlformats.org/drawingml/2006/main">
            <a:off x="8284464" y="3116275"/>
            <a:ext cx="3538728" cy="17007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150"/>
              </a:lnSpc>
              <a:buNone/>
            </a:pPr>
            <a:r>
              <a:rPr sz="950">
                <a:solidFill>
                  <a:srgbClr val="1A1A2E"/>
                </a:solidFill>
                <a:latin typeface="Calibri"/>
                <a:ea typeface="Calibri"/>
                <a:cs typeface="Calibri"/>
              </a:rPr>
              <a:t>Managed Postgres. us-east-1.</a:t>
            </a:r>
            <a:endParaRPr sz="950"/>
          </a:p>
        </p:txBody>
      </p:sp>
      <p:sp>
        <p:nvSpPr>
          <p:cNvPr id="44" name="Text 41">
            <a:extLst xmlns:a="http://schemas.openxmlformats.org/drawingml/2006/main">
              <a:ext uri="{FF2B5EF4-FFF2-40B4-BE49-F238E27FC236}">
                <a16:creationId xmlns:a16="http://schemas.microsoft.com/office/drawing/2014/main" id="{5DE95070-C1E6-489D-ABD2-25A389DF5CA8}"/>
              </a:ext>
            </a:extLst>
          </p:cNvPr>
          <p:cNvSpPr>
            <a:spLocks xmlns:a="http://schemas.openxmlformats.org/drawingml/2006/main" noGrp="1"/>
          </p:cNvSpPr>
          <p:nvPr/>
        </p:nvSpPr>
        <p:spPr>
          <a:xfrm xmlns:a="http://schemas.openxmlformats.org/drawingml/2006/main">
            <a:off x="8284464" y="3313786"/>
            <a:ext cx="3538728"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3B2C7A"/>
                </a:solidFill>
                <a:latin typeface="Calibri"/>
                <a:ea typeface="Calibri"/>
                <a:cs typeface="Calibri"/>
              </a:rPr>
              <a:t>Upstash</a:t>
            </a:r>
            <a:endParaRPr sz="1100"/>
          </a:p>
        </p:txBody>
      </p:sp>
      <p:sp>
        <p:nvSpPr>
          <p:cNvPr id="45" name="Text 42">
            <a:extLst xmlns:a="http://schemas.openxmlformats.org/drawingml/2006/main">
              <a:ext uri="{FF2B5EF4-FFF2-40B4-BE49-F238E27FC236}">
                <a16:creationId xmlns:a16="http://schemas.microsoft.com/office/drawing/2014/main" id="{CCFEA434-FC16-444E-B363-0FDF416582DE}"/>
              </a:ext>
            </a:extLst>
          </p:cNvPr>
          <p:cNvSpPr>
            <a:spLocks xmlns:a="http://schemas.openxmlformats.org/drawingml/2006/main" noGrp="1"/>
          </p:cNvSpPr>
          <p:nvPr/>
        </p:nvSpPr>
        <p:spPr>
          <a:xfrm xmlns:a="http://schemas.openxmlformats.org/drawingml/2006/main">
            <a:off x="8284464" y="3487522"/>
            <a:ext cx="3538728" cy="17007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150"/>
              </a:lnSpc>
              <a:buNone/>
            </a:pPr>
            <a:r>
              <a:rPr sz="950">
                <a:solidFill>
                  <a:srgbClr val="1A1A2E"/>
                </a:solidFill>
                <a:latin typeface="Calibri"/>
                <a:ea typeface="Calibri"/>
                <a:cs typeface="Calibri"/>
              </a:rPr>
              <a:t>Managed Redis. us-east-1.</a:t>
            </a:r>
            <a:endParaRPr sz="950"/>
          </a:p>
        </p:txBody>
      </p:sp>
      <p:sp>
        <p:nvSpPr>
          <p:cNvPr id="46" name="Text 43">
            <a:extLst xmlns:a="http://schemas.openxmlformats.org/drawingml/2006/main">
              <a:ext uri="{FF2B5EF4-FFF2-40B4-BE49-F238E27FC236}">
                <a16:creationId xmlns:a16="http://schemas.microsoft.com/office/drawing/2014/main" id="{44582B15-161D-4BA7-9E92-3965BBF9E954}"/>
              </a:ext>
            </a:extLst>
          </p:cNvPr>
          <p:cNvSpPr>
            <a:spLocks xmlns:a="http://schemas.openxmlformats.org/drawingml/2006/main" noGrp="1"/>
          </p:cNvSpPr>
          <p:nvPr/>
        </p:nvSpPr>
        <p:spPr>
          <a:xfrm xmlns:a="http://schemas.openxmlformats.org/drawingml/2006/main">
            <a:off x="8284464" y="3685032"/>
            <a:ext cx="3538728"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3B2C7A"/>
                </a:solidFill>
                <a:latin typeface="Calibri"/>
                <a:ea typeface="Calibri"/>
                <a:cs typeface="Calibri"/>
              </a:rPr>
              <a:t>Vercel</a:t>
            </a:r>
            <a:endParaRPr sz="1100"/>
          </a:p>
        </p:txBody>
      </p:sp>
      <p:sp>
        <p:nvSpPr>
          <p:cNvPr id="47" name="Text 44">
            <a:extLst xmlns:a="http://schemas.openxmlformats.org/drawingml/2006/main">
              <a:ext uri="{FF2B5EF4-FFF2-40B4-BE49-F238E27FC236}">
                <a16:creationId xmlns:a16="http://schemas.microsoft.com/office/drawing/2014/main" id="{7C00C348-E0A8-4F4D-A728-1DBE9181B983}"/>
              </a:ext>
            </a:extLst>
          </p:cNvPr>
          <p:cNvSpPr>
            <a:spLocks xmlns:a="http://schemas.openxmlformats.org/drawingml/2006/main" noGrp="1"/>
          </p:cNvSpPr>
          <p:nvPr/>
        </p:nvSpPr>
        <p:spPr>
          <a:xfrm xmlns:a="http://schemas.openxmlformats.org/drawingml/2006/main">
            <a:off x="8284464" y="3858768"/>
            <a:ext cx="3538728" cy="17007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150"/>
              </a:lnSpc>
              <a:buNone/>
            </a:pPr>
            <a:r>
              <a:rPr sz="950">
                <a:solidFill>
                  <a:srgbClr val="1A1A2E"/>
                </a:solidFill>
                <a:latin typeface="Calibri"/>
                <a:ea typeface="Calibri"/>
                <a:cs typeface="Calibri"/>
              </a:rPr>
              <a:t>Serves the front end at the edge.</a:t>
            </a:r>
            <a:endParaRPr sz="950"/>
          </a:p>
        </p:txBody>
      </p:sp>
      <p:sp>
        <p:nvSpPr>
          <p:cNvPr id="48" name="Text 45">
            <a:extLst xmlns:a="http://schemas.openxmlformats.org/drawingml/2006/main">
              <a:ext uri="{FF2B5EF4-FFF2-40B4-BE49-F238E27FC236}">
                <a16:creationId xmlns:a16="http://schemas.microsoft.com/office/drawing/2014/main" id="{E2652DDB-193D-4BCE-8AAF-DE0BEE0B17F6}"/>
              </a:ext>
            </a:extLst>
          </p:cNvPr>
          <p:cNvSpPr>
            <a:spLocks xmlns:a="http://schemas.openxmlformats.org/drawingml/2006/main" noGrp="1"/>
          </p:cNvSpPr>
          <p:nvPr/>
        </p:nvSpPr>
        <p:spPr>
          <a:xfrm xmlns:a="http://schemas.openxmlformats.org/drawingml/2006/main">
            <a:off x="8284464" y="4056278"/>
            <a:ext cx="3538728"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3B2C7A"/>
                </a:solidFill>
                <a:latin typeface="Calibri"/>
                <a:ea typeface="Calibri"/>
                <a:cs typeface="Calibri"/>
              </a:rPr>
              <a:t>Cloudflare</a:t>
            </a:r>
            <a:endParaRPr sz="1100"/>
          </a:p>
        </p:txBody>
      </p:sp>
      <p:sp>
        <p:nvSpPr>
          <p:cNvPr id="49" name="Text 46">
            <a:extLst xmlns:a="http://schemas.openxmlformats.org/drawingml/2006/main">
              <a:ext uri="{FF2B5EF4-FFF2-40B4-BE49-F238E27FC236}">
                <a16:creationId xmlns:a16="http://schemas.microsoft.com/office/drawing/2014/main" id="{39739E2F-566C-409A-87E4-FB5A20B5BE92}"/>
              </a:ext>
            </a:extLst>
          </p:cNvPr>
          <p:cNvSpPr>
            <a:spLocks xmlns:a="http://schemas.openxmlformats.org/drawingml/2006/main" noGrp="1"/>
          </p:cNvSpPr>
          <p:nvPr/>
        </p:nvSpPr>
        <p:spPr>
          <a:xfrm xmlns:a="http://schemas.openxmlformats.org/drawingml/2006/main">
            <a:off x="8284464" y="4230014"/>
            <a:ext cx="3538728" cy="17007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150"/>
              </a:lnSpc>
              <a:buNone/>
            </a:pPr>
            <a:r>
              <a:rPr sz="950">
                <a:solidFill>
                  <a:srgbClr val="1A1A2E"/>
                </a:solidFill>
                <a:latin typeface="Calibri"/>
                <a:ea typeface="Calibri"/>
                <a:cs typeface="Calibri"/>
              </a:rPr>
              <a:t>DNS and TLS for appmd.dev.</a:t>
            </a:r>
            <a:endParaRPr sz="950"/>
          </a:p>
        </p:txBody>
      </p:sp>
      <p:sp>
        <p:nvSpPr>
          <p:cNvPr id="50" name="Text 47">
            <a:extLst xmlns:a="http://schemas.openxmlformats.org/drawingml/2006/main">
              <a:ext uri="{FF2B5EF4-FFF2-40B4-BE49-F238E27FC236}">
                <a16:creationId xmlns:a16="http://schemas.microsoft.com/office/drawing/2014/main" id="{6F27D5F0-6EC8-48D7-BB13-5672079809A5}"/>
              </a:ext>
            </a:extLst>
          </p:cNvPr>
          <p:cNvSpPr>
            <a:spLocks xmlns:a="http://schemas.openxmlformats.org/drawingml/2006/main" noGrp="1"/>
          </p:cNvSpPr>
          <p:nvPr/>
        </p:nvSpPr>
        <p:spPr>
          <a:xfrm xmlns:a="http://schemas.openxmlformats.org/drawingml/2006/main">
            <a:off x="8284464" y="4427525"/>
            <a:ext cx="3538728"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3B2C7A"/>
                </a:solidFill>
                <a:latin typeface="Calibri"/>
                <a:ea typeface="Calibri"/>
                <a:cs typeface="Calibri"/>
              </a:rPr>
              <a:t>Resend</a:t>
            </a:r>
            <a:endParaRPr sz="1100"/>
          </a:p>
        </p:txBody>
      </p:sp>
      <p:sp>
        <p:nvSpPr>
          <p:cNvPr id="51" name="Text 48">
            <a:extLst xmlns:a="http://schemas.openxmlformats.org/drawingml/2006/main">
              <a:ext uri="{FF2B5EF4-FFF2-40B4-BE49-F238E27FC236}">
                <a16:creationId xmlns:a16="http://schemas.microsoft.com/office/drawing/2014/main" id="{51828093-FDA5-404F-8026-B1EED767A973}"/>
              </a:ext>
            </a:extLst>
          </p:cNvPr>
          <p:cNvSpPr>
            <a:spLocks xmlns:a="http://schemas.openxmlformats.org/drawingml/2006/main" noGrp="1"/>
          </p:cNvSpPr>
          <p:nvPr/>
        </p:nvSpPr>
        <p:spPr>
          <a:xfrm xmlns:a="http://schemas.openxmlformats.org/drawingml/2006/main">
            <a:off x="8284464" y="4601261"/>
            <a:ext cx="3538728" cy="17007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150"/>
              </a:lnSpc>
              <a:buNone/>
            </a:pPr>
            <a:r>
              <a:rPr sz="950">
                <a:solidFill>
                  <a:srgbClr val="1A1A2E"/>
                </a:solidFill>
                <a:latin typeface="Calibri"/>
                <a:ea typeface="Calibri"/>
                <a:cs typeface="Calibri"/>
              </a:rPr>
              <a:t>Transactional email from the verified domain.</a:t>
            </a:r>
            <a:endParaRPr sz="950"/>
          </a:p>
        </p:txBody>
      </p:sp>
      <p:sp>
        <p:nvSpPr>
          <p:cNvPr id="52" name="Text 49">
            <a:extLst xmlns:a="http://schemas.openxmlformats.org/drawingml/2006/main">
              <a:ext uri="{FF2B5EF4-FFF2-40B4-BE49-F238E27FC236}">
                <a16:creationId xmlns:a16="http://schemas.microsoft.com/office/drawing/2014/main" id="{D11D03C7-BD68-43DF-8669-F13E26810D5E}"/>
              </a:ext>
            </a:extLst>
          </p:cNvPr>
          <p:cNvSpPr>
            <a:spLocks xmlns:a="http://schemas.openxmlformats.org/drawingml/2006/main" noGrp="1"/>
          </p:cNvSpPr>
          <p:nvPr/>
        </p:nvSpPr>
        <p:spPr>
          <a:xfrm xmlns:a="http://schemas.openxmlformats.org/drawingml/2006/main">
            <a:off x="8284464" y="4798771"/>
            <a:ext cx="3538728"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3B2C7A"/>
                </a:solidFill>
                <a:latin typeface="Calibri"/>
                <a:ea typeface="Calibri"/>
                <a:cs typeface="Calibri"/>
              </a:rPr>
              <a:t>Firebase FCM</a:t>
            </a:r>
            <a:endParaRPr sz="1100"/>
          </a:p>
        </p:txBody>
      </p:sp>
      <p:sp>
        <p:nvSpPr>
          <p:cNvPr id="53" name="Text 50">
            <a:extLst xmlns:a="http://schemas.openxmlformats.org/drawingml/2006/main">
              <a:ext uri="{FF2B5EF4-FFF2-40B4-BE49-F238E27FC236}">
                <a16:creationId xmlns:a16="http://schemas.microsoft.com/office/drawing/2014/main" id="{1E917B90-4BD2-4B24-BBEA-D8DB2E5A6F3E}"/>
              </a:ext>
            </a:extLst>
          </p:cNvPr>
          <p:cNvSpPr>
            <a:spLocks xmlns:a="http://schemas.openxmlformats.org/drawingml/2006/main" noGrp="1"/>
          </p:cNvSpPr>
          <p:nvPr/>
        </p:nvSpPr>
        <p:spPr>
          <a:xfrm xmlns:a="http://schemas.openxmlformats.org/drawingml/2006/main">
            <a:off x="8284464" y="4972507"/>
            <a:ext cx="3538728" cy="17007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150"/>
              </a:lnSpc>
              <a:buNone/>
            </a:pPr>
            <a:r>
              <a:rPr sz="950">
                <a:solidFill>
                  <a:srgbClr val="1A1A2E"/>
                </a:solidFill>
                <a:latin typeface="Calibri"/>
                <a:ea typeface="Calibri"/>
                <a:cs typeface="Calibri"/>
              </a:rPr>
              <a:t>Push notifications to registered devices.</a:t>
            </a:r>
            <a:endParaRPr sz="950"/>
          </a:p>
        </p:txBody>
      </p:sp>
      <p:sp>
        <p:nvSpPr>
          <p:cNvPr id="54" name="Text 51">
            <a:extLst xmlns:a="http://schemas.openxmlformats.org/drawingml/2006/main">
              <a:ext uri="{FF2B5EF4-FFF2-40B4-BE49-F238E27FC236}">
                <a16:creationId xmlns:a16="http://schemas.microsoft.com/office/drawing/2014/main" id="{F0C1D893-308C-4545-B7F8-6D9ED60602B0}"/>
              </a:ext>
            </a:extLst>
          </p:cNvPr>
          <p:cNvSpPr>
            <a:spLocks xmlns:a="http://schemas.openxmlformats.org/drawingml/2006/main" noGrp="1"/>
          </p:cNvSpPr>
          <p:nvPr/>
        </p:nvSpPr>
        <p:spPr>
          <a:xfrm xmlns:a="http://schemas.openxmlformats.org/drawingml/2006/main">
            <a:off x="8284464" y="5170018"/>
            <a:ext cx="3538728"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3B2C7A"/>
                </a:solidFill>
                <a:latin typeface="Calibri"/>
                <a:ea typeface="Calibri"/>
                <a:cs typeface="Calibri"/>
              </a:rPr>
              <a:t>govulncheck</a:t>
            </a:r>
            <a:endParaRPr sz="1100"/>
          </a:p>
        </p:txBody>
      </p:sp>
      <p:sp>
        <p:nvSpPr>
          <p:cNvPr id="55" name="Text 52">
            <a:extLst xmlns:a="http://schemas.openxmlformats.org/drawingml/2006/main">
              <a:ext uri="{FF2B5EF4-FFF2-40B4-BE49-F238E27FC236}">
                <a16:creationId xmlns:a16="http://schemas.microsoft.com/office/drawing/2014/main" id="{E181D44D-1171-439B-B7D5-C6656972A319}"/>
              </a:ext>
            </a:extLst>
          </p:cNvPr>
          <p:cNvSpPr>
            <a:spLocks xmlns:a="http://schemas.openxmlformats.org/drawingml/2006/main" noGrp="1"/>
          </p:cNvSpPr>
          <p:nvPr/>
        </p:nvSpPr>
        <p:spPr>
          <a:xfrm xmlns:a="http://schemas.openxmlformats.org/drawingml/2006/main">
            <a:off x="8284464" y="5343754"/>
            <a:ext cx="3538728" cy="17007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150"/>
              </a:lnSpc>
              <a:buNone/>
            </a:pPr>
            <a:r>
              <a:rPr sz="950">
                <a:solidFill>
                  <a:srgbClr val="1A1A2E"/>
                </a:solidFill>
                <a:latin typeface="Calibri"/>
                <a:ea typeface="Calibri"/>
                <a:cs typeface="Calibri"/>
              </a:rPr>
              <a:t>Dependency vulnerability scanning in CI.</a:t>
            </a:r>
            <a:endParaRPr sz="950"/>
          </a:p>
        </p:txBody>
      </p:sp>
    </p:spTree>
    <p:extLst>
      <p:ext uri="{BB962C8B-B14F-4D97-AF65-F5344CB8AC3E}">
        <p14:creationId xmlns:p14="http://schemas.microsoft.com/office/powerpoint/2010/main" val="208288855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0" name="Image 0"/>
          <p:cNvPicPr>
            <a:picLocks xmlns:a="http://schemas.openxmlformats.org/drawingml/2006/main" noChangeAspect="1"/>
          </p:cNvPicPr>
          <p:nvPr/>
        </p:nvPicPr>
        <p:blipFill>
          <a:blip xmlns:r="http://schemas.openxmlformats.org/officeDocument/2006/relationships" xmlns:a="http://schemas.openxmlformats.org/drawingml/2006/main" r:embed="R41b994fb3e1e434a"/>
          <a:stretch xmlns:a="http://schemas.openxmlformats.org/drawingml/2006/main">
            <a:fillRect l="0" t="0" r="0" b="0"/>
          </a:stretch>
        </p:blipFill>
        <p:spPr>
          <a:xfrm xmlns:a="http://schemas.openxmlformats.org/drawingml/2006/main">
            <a:off x="11149279" y="365760"/>
            <a:ext cx="475488" cy="466344"/>
          </a:xfrm>
          <a:prstGeom xmlns:a="http://schemas.openxmlformats.org/drawingml/2006/main" prst="rect">
            <a:avLst/>
          </a:prstGeom>
        </p:spPr>
      </p:pic>
      <p:sp>
        <p:nvSpPr>
          <p:cNvPr id="43" name="">
            <a:extLst xmlns:a="http://schemas.openxmlformats.org/drawingml/2006/main">
              <a:ext uri="{FF2B5EF4-FFF2-40B4-BE49-F238E27FC236}">
                <a16:creationId xmlns:a16="http://schemas.microsoft.com/office/drawing/2014/main" id="{900A1C17-0754-4A5A-8D98-1F2239F976D5}"/>
              </a:ext>
            </a:extLst>
          </p:cNvPr>
          <p:cNvSpPr>
            <a:spLocks xmlns:a="http://schemas.openxmlformats.org/drawingml/2006/main" noGrp="1"/>
          </p:cNvSpPr>
          <p:nvPr/>
        </p:nvSpPr>
        <p:spPr>
          <a:xfrm xmlns:a="http://schemas.openxmlformats.org/drawingml/2006/main">
            <a:off x="552450" y="228600"/>
            <a:ext cx="3143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defRPr sz="975" b="1">
                <a:solidFill>
                  <a:srgbClr val="E9B33B"/>
                </a:solidFill>
                <a:latin typeface="Calibri"/>
                <a:ea typeface="Calibri"/>
                <a:cs typeface="Calibri"/>
              </a:defRPr>
            </a:pPr>
            <a:r>
              <a:rPr sz="975" b="1">
                <a:solidFill>
                  <a:srgbClr val="E9B33B"/>
                </a:solidFill>
                <a:latin typeface="Calibri"/>
                <a:ea typeface="Calibri"/>
                <a:cs typeface="Calibri"/>
              </a:rPr>
              <a:t>THE CLIENT</a:t>
            </a:r>
          </a:p>
        </p:txBody>
      </p:sp>
      <p:sp>
        <p:nvSpPr>
          <p:cNvPr id="44" name="">
            <a:extLst xmlns:a="http://schemas.openxmlformats.org/drawingml/2006/main">
              <a:ext uri="{FF2B5EF4-FFF2-40B4-BE49-F238E27FC236}">
                <a16:creationId xmlns:a16="http://schemas.microsoft.com/office/drawing/2014/main" id="{07A88C35-9588-4FD8-8272-13E53346C1FF}"/>
              </a:ext>
            </a:extLst>
          </p:cNvPr>
          <p:cNvSpPr>
            <a:spLocks xmlns:a="http://schemas.openxmlformats.org/drawingml/2006/main" noGrp="1"/>
          </p:cNvSpPr>
          <p:nvPr/>
        </p:nvSpPr>
        <p:spPr>
          <a:xfrm xmlns:a="http://schemas.openxmlformats.org/drawingml/2006/main">
            <a:off x="552450" y="457200"/>
            <a:ext cx="7620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7356"/>
          </a:bodyPr>
          <a:lstStyle xmlns:a="http://schemas.openxmlformats.org/drawingml/2006/main"/>
          <a:p xmlns:a="http://schemas.openxmlformats.org/drawingml/2006/main">
            <a:pPr>
              <a:defRPr sz="2175" b="1">
                <a:solidFill>
                  <a:srgbClr val="28115B"/>
                </a:solidFill>
                <a:latin typeface="Cambria"/>
                <a:ea typeface="Cambria"/>
                <a:cs typeface="Cambria"/>
              </a:defRPr>
            </a:pPr>
            <a:r>
              <a:rPr sz="2175" b="1">
                <a:solidFill>
                  <a:srgbClr val="28115B"/>
                </a:solidFill>
                <a:latin typeface="Cambria"/>
                <a:ea typeface="Cambria"/>
                <a:cs typeface="Cambria"/>
              </a:rPr>
              <a:t>The catalogue page, explained</a:t>
            </a:r>
          </a:p>
        </p:txBody>
      </p:sp>
      <p:sp>
        <p:nvSpPr>
          <p:cNvPr id="45" name="">
            <a:extLst xmlns:a="http://schemas.openxmlformats.org/drawingml/2006/main">
              <a:ext uri="{FF2B5EF4-FFF2-40B4-BE49-F238E27FC236}">
                <a16:creationId xmlns:a16="http://schemas.microsoft.com/office/drawing/2014/main" id="{C3FB98C3-8BA2-4F03-9EAC-EAB56415307E}"/>
              </a:ext>
            </a:extLst>
          </p:cNvPr>
          <p:cNvSpPr>
            <a:spLocks xmlns:a="http://schemas.openxmlformats.org/drawingml/2006/main" noGrp="1"/>
          </p:cNvSpPr>
          <p:nvPr/>
        </p:nvSpPr>
        <p:spPr>
          <a:xfrm xmlns:a="http://schemas.openxmlformats.org/drawingml/2006/main">
            <a:off x="552450" y="828675"/>
            <a:ext cx="9334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2222"/>
          </a:bodyPr>
          <a:lstStyle xmlns:a="http://schemas.openxmlformats.org/drawingml/2006/main"/>
          <a:p xmlns:a="http://schemas.openxmlformats.org/drawingml/2006/main">
            <a:pPr>
              <a:defRPr sz="900">
                <a:solidFill>
                  <a:srgbClr val="656A7B"/>
                </a:solidFill>
                <a:latin typeface="Calibri"/>
                <a:ea typeface="Calibri"/>
                <a:cs typeface="Calibri"/>
              </a:defRPr>
            </a:pPr>
            <a:r>
              <a:rPr sz="900">
                <a:solidFill>
                  <a:srgbClr val="656A7B"/>
                </a:solidFill>
                <a:latin typeface="Calibri"/>
                <a:ea typeface="Calibri"/>
                <a:cs typeface="Calibri"/>
              </a:rPr>
              <a:t>Hand-written HTML, token-based CSS and JavaScript work together in every screen.</a:t>
            </a:r>
          </a:p>
        </p:txBody>
      </p:sp>
      <p:pic>
        <p:nvPicPr>
          <p:cNvPr id="114" name=""/>
          <p:cNvPicPr>
            <a:picLocks xmlns:a="http://schemas.openxmlformats.org/drawingml/2006/main" noChangeAspect="1"/>
          </p:cNvPicPr>
          <p:nvPr/>
        </p:nvPicPr>
        <p:blipFill>
          <a:blip xmlns:r="http://schemas.openxmlformats.org/officeDocument/2006/relationships" xmlns:a="http://schemas.openxmlformats.org/drawingml/2006/main" r:embed="R4b53e65cff704507"/>
          <a:stretch xmlns:a="http://schemas.openxmlformats.org/drawingml/2006/main"/>
        </p:blipFill>
        <p:spPr>
          <a:xfrm xmlns:a="http://schemas.openxmlformats.org/drawingml/2006/main">
            <a:off x="11191875" y="244599"/>
            <a:ext cx="552450" cy="539502"/>
          </a:xfrm>
          <a:prstGeom xmlns:a="http://schemas.openxmlformats.org/drawingml/2006/main" prst="rect">
            <a:avLst/>
          </a:prstGeom>
        </p:spPr>
      </p:pic>
      <p:sp>
        <p:nvSpPr>
          <p:cNvPr id="47" name="">
            <a:extLst xmlns:a="http://schemas.openxmlformats.org/drawingml/2006/main">
              <a:ext uri="{FF2B5EF4-FFF2-40B4-BE49-F238E27FC236}">
                <a16:creationId xmlns:a16="http://schemas.microsoft.com/office/drawing/2014/main" id="{1962604B-80DB-4061-8750-83815D743DD2}"/>
              </a:ext>
            </a:extLst>
          </p:cNvPr>
          <p:cNvSpPr>
            <a:spLocks xmlns:a="http://schemas.openxmlformats.org/drawingml/2006/main" noGrp="1"/>
          </p:cNvSpPr>
          <p:nvPr/>
        </p:nvSpPr>
        <p:spPr>
          <a:xfrm xmlns:a="http://schemas.openxmlformats.org/drawingml/2006/main">
            <a:off x="2762250" y="1123950"/>
            <a:ext cx="6667500" cy="5334000"/>
          </a:xfrm>
          <a:prstGeom xmlns:a="http://schemas.openxmlformats.org/drawingml/2006/main" prst="roundRect">
            <a:avLst>
              <a:gd name="adj" fmla="val 2143"/>
            </a:avLst>
          </a:prstGeom>
          <a:solidFill xmlns:a="http://schemas.openxmlformats.org/drawingml/2006/main">
            <a:srgbClr val="FFFFFF"/>
          </a:solidFill>
          <a:ln xmlns:a="http://schemas.openxmlformats.org/drawingml/2006/main" w="11430">
            <a:solidFill>
              <a:srgbClr val="C6C8D5"/>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116" name=""/>
          <p:cNvPicPr>
            <a:picLocks xmlns:a="http://schemas.openxmlformats.org/drawingml/2006/main" noChangeAspect="1"/>
          </p:cNvPicPr>
          <p:nvPr/>
        </p:nvPicPr>
        <p:blipFill>
          <a:blip xmlns:r="http://schemas.openxmlformats.org/officeDocument/2006/relationships" xmlns:a="http://schemas.openxmlformats.org/drawingml/2006/main" r:embed="Re9de061831ea4fed"/>
          <a:stretch xmlns:a="http://schemas.openxmlformats.org/drawingml/2006/main"/>
        </p:blipFill>
        <p:spPr>
          <a:xfrm xmlns:a="http://schemas.openxmlformats.org/drawingml/2006/main">
            <a:off x="3012316" y="1181100"/>
            <a:ext cx="6167369" cy="5219700"/>
          </a:xfrm>
          <a:prstGeom xmlns:a="http://schemas.openxmlformats.org/drawingml/2006/main" prst="rect">
            <a:avLst/>
          </a:prstGeom>
        </p:spPr>
      </p:pic>
      <p:sp>
        <p:nvSpPr>
          <p:cNvPr id="49" name="">
            <a:extLst xmlns:a="http://schemas.openxmlformats.org/drawingml/2006/main">
              <a:ext uri="{FF2B5EF4-FFF2-40B4-BE49-F238E27FC236}">
                <a16:creationId xmlns:a16="http://schemas.microsoft.com/office/drawing/2014/main" id="{54B37E8F-D104-49C4-86BD-FAA4FD456FF5}"/>
              </a:ext>
            </a:extLst>
          </p:cNvPr>
          <p:cNvSpPr>
            <a:spLocks xmlns:a="http://schemas.openxmlformats.org/drawingml/2006/main" noGrp="1"/>
          </p:cNvSpPr>
          <p:nvPr/>
        </p:nvSpPr>
        <p:spPr>
          <a:xfrm xmlns:a="http://schemas.openxmlformats.org/drawingml/2006/main">
            <a:off x="209550" y="1162050"/>
            <a:ext cx="2400300" cy="723900"/>
          </a:xfrm>
          <a:prstGeom xmlns:a="http://schemas.openxmlformats.org/drawingml/2006/main" prst="roundRect">
            <a:avLst>
              <a:gd name="adj" fmla="val 10526"/>
            </a:avLst>
          </a:prstGeom>
          <a:solidFill xmlns:a="http://schemas.openxmlformats.org/drawingml/2006/main">
            <a:srgbClr val="F7F7FB"/>
          </a:solidFill>
          <a:ln xmlns:a="http://schemas.openxmlformats.org/drawingml/2006/main" w="9525">
            <a:solidFill>
              <a:srgbClr val="D8DAE6"/>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0" name="">
            <a:extLst xmlns:a="http://schemas.openxmlformats.org/drawingml/2006/main">
              <a:ext uri="{FF2B5EF4-FFF2-40B4-BE49-F238E27FC236}">
                <a16:creationId xmlns:a16="http://schemas.microsoft.com/office/drawing/2014/main" id="{0E21914D-371F-4B07-9F87-75DA183E8239}"/>
              </a:ext>
            </a:extLst>
          </p:cNvPr>
          <p:cNvSpPr>
            <a:spLocks xmlns:a="http://schemas.openxmlformats.org/drawingml/2006/main" noGrp="1"/>
          </p:cNvSpPr>
          <p:nvPr/>
        </p:nvSpPr>
        <p:spPr>
          <a:xfrm xmlns:a="http://schemas.openxmlformats.org/drawingml/2006/main">
            <a:off x="219075" y="1257300"/>
            <a:ext cx="38100" cy="533400"/>
          </a:xfrm>
          <a:prstGeom xmlns:a="http://schemas.openxmlformats.org/drawingml/2006/main" prst="rect">
            <a:avLst/>
          </a:prstGeom>
          <a:solidFill xmlns:a="http://schemas.openxmlformats.org/drawingml/2006/main">
            <a:srgbClr val="E9B33B"/>
          </a:solidFill>
          <a:ln xmlns:a="http://schemas.openxmlformats.org/drawingml/2006/main" w="0">
            <a:noFill/>
          </a:ln>
        </p:spPr>
      </p:sp>
      <p:sp>
        <p:nvSpPr>
          <p:cNvPr id="51" name="">
            <a:extLst xmlns:a="http://schemas.openxmlformats.org/drawingml/2006/main">
              <a:ext uri="{FF2B5EF4-FFF2-40B4-BE49-F238E27FC236}">
                <a16:creationId xmlns:a16="http://schemas.microsoft.com/office/drawing/2014/main" id="{2E0BFE7C-5BF6-4DCC-AAEA-72A5856E9678}"/>
              </a:ext>
            </a:extLst>
          </p:cNvPr>
          <p:cNvSpPr>
            <a:spLocks xmlns:a="http://schemas.openxmlformats.org/drawingml/2006/main" noGrp="1"/>
          </p:cNvSpPr>
          <p:nvPr/>
        </p:nvSpPr>
        <p:spPr>
          <a:xfrm xmlns:a="http://schemas.openxmlformats.org/drawingml/2006/main">
            <a:off x="352425" y="1257300"/>
            <a:ext cx="21336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5970"/>
          </a:bodyPr>
          <a:lstStyle xmlns:a="http://schemas.openxmlformats.org/drawingml/2006/main"/>
          <a:p xmlns:a="http://schemas.openxmlformats.org/drawingml/2006/main">
            <a:pPr>
              <a:defRPr sz="938" b="1">
                <a:solidFill>
                  <a:srgbClr val="28115B"/>
                </a:solidFill>
                <a:latin typeface="Calibri"/>
                <a:ea typeface="Calibri"/>
                <a:cs typeface="Calibri"/>
              </a:defRPr>
            </a:pPr>
            <a:r>
              <a:rPr sz="938" b="1">
                <a:solidFill>
                  <a:srgbClr val="28115B"/>
                </a:solidFill>
                <a:latin typeface="Calibri"/>
                <a:ea typeface="Calibri"/>
                <a:cs typeface="Calibri"/>
              </a:rPr>
              <a:t>Semantic structure</a:t>
            </a:r>
          </a:p>
        </p:txBody>
      </p:sp>
      <p:sp>
        <p:nvSpPr>
          <p:cNvPr id="52" name="">
            <a:extLst xmlns:a="http://schemas.openxmlformats.org/drawingml/2006/main">
              <a:ext uri="{FF2B5EF4-FFF2-40B4-BE49-F238E27FC236}">
                <a16:creationId xmlns:a16="http://schemas.microsoft.com/office/drawing/2014/main" id="{DB283455-3BF2-4F50-A16A-28EAD19501C7}"/>
              </a:ext>
            </a:extLst>
          </p:cNvPr>
          <p:cNvSpPr>
            <a:spLocks xmlns:a="http://schemas.openxmlformats.org/drawingml/2006/main" noGrp="1"/>
          </p:cNvSpPr>
          <p:nvPr/>
        </p:nvSpPr>
        <p:spPr>
          <a:xfrm xmlns:a="http://schemas.openxmlformats.org/drawingml/2006/main">
            <a:off x="352425" y="1457325"/>
            <a:ext cx="2133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720">
                <a:solidFill>
                  <a:srgbClr val="656A7B"/>
                </a:solidFill>
                <a:latin typeface="Calibri"/>
                <a:ea typeface="Calibri"/>
                <a:cs typeface="Calibri"/>
              </a:defRPr>
            </a:pPr>
            <a:r>
              <a:rPr sz="720">
                <a:solidFill>
                  <a:srgbClr val="656A7B"/>
                </a:solidFill>
                <a:latin typeface="Calibri"/>
                <a:ea typeface="Calibri"/>
                <a:cs typeface="Calibri"/>
              </a:rPr>
              <a:t>Native header, navigation, main content and footer give the page a clear structure.</a:t>
            </a:r>
          </a:p>
        </p:txBody>
      </p:sp>
      <p:sp>
        <p:nvSpPr>
          <p:cNvPr id="53" name="">
            <a:extLst xmlns:a="http://schemas.openxmlformats.org/drawingml/2006/main">
              <a:ext uri="{FF2B5EF4-FFF2-40B4-BE49-F238E27FC236}">
                <a16:creationId xmlns:a16="http://schemas.microsoft.com/office/drawing/2014/main" id="{DA8C0BA6-9E69-4CDE-B33F-D18FE156375C}"/>
              </a:ext>
            </a:extLst>
          </p:cNvPr>
          <p:cNvSpPr>
            <a:spLocks xmlns:a="http://schemas.openxmlformats.org/drawingml/2006/main" noGrp="1"/>
          </p:cNvSpPr>
          <p:nvPr/>
        </p:nvSpPr>
        <p:spPr>
          <a:xfrm xmlns:a="http://schemas.openxmlformats.org/drawingml/2006/main">
            <a:off x="5524500" y="1962150"/>
            <a:ext cx="95250" cy="95250"/>
          </a:xfrm>
          <a:prstGeom xmlns:a="http://schemas.openxmlformats.org/drawingml/2006/main" prst="ellipse">
            <a:avLst/>
          </a:prstGeom>
          <a:solidFill xmlns:a="http://schemas.openxmlformats.org/drawingml/2006/main">
            <a:srgbClr val="E9B33B"/>
          </a:solidFill>
          <a:ln xmlns:a="http://schemas.openxmlformats.org/drawingml/2006/main" w="9525">
            <a:solidFill>
              <a:srgbClr val="FFFFFF"/>
            </a:solidFill>
            <a:prstDash val="solid"/>
          </a:ln>
        </p:spPr>
      </p:sp>
      <p:cxnSp>
        <p:nvCxnSpPr>
          <p:cNvPr id="122" name=""/>
          <p:cNvCxnSpPr>
            <a:stCxn xmlns:a="http://schemas.openxmlformats.org/drawingml/2006/main" id="49" idx="3"/>
            <a:endCxn xmlns:a="http://schemas.openxmlformats.org/drawingml/2006/main" id="53" idx="2"/>
          </p:cNvCxnSpPr>
          <p:nvPr/>
        </p:nvCxnSpPr>
        <p:spPr>
          <a:xfrm xmlns:a="http://schemas.openxmlformats.org/drawingml/2006/main">
            <a:off x="2609850" y="1524000"/>
            <a:ext cx="2914650" cy="485775"/>
          </a:xfrm>
          <a:prstGeom xmlns:a="http://schemas.openxmlformats.org/drawingml/2006/main" prst="straightConnector1">
            <a:avLst/>
          </a:prstGeom>
          <a:ln xmlns:a="http://schemas.openxmlformats.org/drawingml/2006/main" w="11906">
            <a:solidFill>
              <a:srgbClr val="E9B33B"/>
            </a:solidFill>
            <a:prstDash val="solid"/>
            <a:tailEnd type="arrow" w="sm" len="sm"/>
          </a:ln>
        </p:spPr>
      </p:cxnSp>
      <p:sp>
        <p:nvSpPr>
          <p:cNvPr id="55" name="">
            <a:extLst xmlns:a="http://schemas.openxmlformats.org/drawingml/2006/main">
              <a:ext uri="{FF2B5EF4-FFF2-40B4-BE49-F238E27FC236}">
                <a16:creationId xmlns:a16="http://schemas.microsoft.com/office/drawing/2014/main" id="{AE64DAF4-2493-4851-BA0B-D6ECC6B75F1E}"/>
              </a:ext>
            </a:extLst>
          </p:cNvPr>
          <p:cNvSpPr>
            <a:spLocks xmlns:a="http://schemas.openxmlformats.org/drawingml/2006/main" noGrp="1"/>
          </p:cNvSpPr>
          <p:nvPr/>
        </p:nvSpPr>
        <p:spPr>
          <a:xfrm xmlns:a="http://schemas.openxmlformats.org/drawingml/2006/main">
            <a:off x="209550" y="2038350"/>
            <a:ext cx="2400300" cy="723900"/>
          </a:xfrm>
          <a:prstGeom xmlns:a="http://schemas.openxmlformats.org/drawingml/2006/main" prst="roundRect">
            <a:avLst>
              <a:gd name="adj" fmla="val 10526"/>
            </a:avLst>
          </a:prstGeom>
          <a:solidFill xmlns:a="http://schemas.openxmlformats.org/drawingml/2006/main">
            <a:srgbClr val="F7F7FB"/>
          </a:solidFill>
          <a:ln xmlns:a="http://schemas.openxmlformats.org/drawingml/2006/main" w="9525">
            <a:solidFill>
              <a:srgbClr val="D8DAE6"/>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6" name="">
            <a:extLst xmlns:a="http://schemas.openxmlformats.org/drawingml/2006/main">
              <a:ext uri="{FF2B5EF4-FFF2-40B4-BE49-F238E27FC236}">
                <a16:creationId xmlns:a16="http://schemas.microsoft.com/office/drawing/2014/main" id="{2248676F-ACE2-4399-AA07-C269A7D250AE}"/>
              </a:ext>
            </a:extLst>
          </p:cNvPr>
          <p:cNvSpPr>
            <a:spLocks xmlns:a="http://schemas.openxmlformats.org/drawingml/2006/main" noGrp="1"/>
          </p:cNvSpPr>
          <p:nvPr/>
        </p:nvSpPr>
        <p:spPr>
          <a:xfrm xmlns:a="http://schemas.openxmlformats.org/drawingml/2006/main">
            <a:off x="219075" y="2133600"/>
            <a:ext cx="38100" cy="533400"/>
          </a:xfrm>
          <a:prstGeom xmlns:a="http://schemas.openxmlformats.org/drawingml/2006/main" prst="rect">
            <a:avLst/>
          </a:prstGeom>
          <a:solidFill xmlns:a="http://schemas.openxmlformats.org/drawingml/2006/main">
            <a:srgbClr val="E9B33B"/>
          </a:solidFill>
          <a:ln xmlns:a="http://schemas.openxmlformats.org/drawingml/2006/main" w="0">
            <a:noFill/>
          </a:ln>
        </p:spPr>
      </p:sp>
      <p:sp>
        <p:nvSpPr>
          <p:cNvPr id="57" name="">
            <a:extLst xmlns:a="http://schemas.openxmlformats.org/drawingml/2006/main">
              <a:ext uri="{FF2B5EF4-FFF2-40B4-BE49-F238E27FC236}">
                <a16:creationId xmlns:a16="http://schemas.microsoft.com/office/drawing/2014/main" id="{17EE17F7-2F58-41E3-BF7D-31EDF05D306E}"/>
              </a:ext>
            </a:extLst>
          </p:cNvPr>
          <p:cNvSpPr>
            <a:spLocks xmlns:a="http://schemas.openxmlformats.org/drawingml/2006/main" noGrp="1"/>
          </p:cNvSpPr>
          <p:nvPr/>
        </p:nvSpPr>
        <p:spPr>
          <a:xfrm xmlns:a="http://schemas.openxmlformats.org/drawingml/2006/main">
            <a:off x="352425" y="2133600"/>
            <a:ext cx="21336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5970"/>
          </a:bodyPr>
          <a:lstStyle xmlns:a="http://schemas.openxmlformats.org/drawingml/2006/main"/>
          <a:p xmlns:a="http://schemas.openxmlformats.org/drawingml/2006/main">
            <a:pPr>
              <a:defRPr sz="938" b="1">
                <a:solidFill>
                  <a:srgbClr val="28115B"/>
                </a:solidFill>
                <a:latin typeface="Calibri"/>
                <a:ea typeface="Calibri"/>
                <a:cs typeface="Calibri"/>
              </a:defRPr>
            </a:pPr>
            <a:r>
              <a:rPr sz="938" b="1">
                <a:solidFill>
                  <a:srgbClr val="28115B"/>
                </a:solidFill>
                <a:latin typeface="Calibri"/>
                <a:ea typeface="Calibri"/>
                <a:cs typeface="Calibri"/>
              </a:rPr>
              <a:t>Labelled search form</a:t>
            </a:r>
          </a:p>
        </p:txBody>
      </p:sp>
      <p:sp>
        <p:nvSpPr>
          <p:cNvPr id="58" name="">
            <a:extLst xmlns:a="http://schemas.openxmlformats.org/drawingml/2006/main">
              <a:ext uri="{FF2B5EF4-FFF2-40B4-BE49-F238E27FC236}">
                <a16:creationId xmlns:a16="http://schemas.microsoft.com/office/drawing/2014/main" id="{50452AE3-36AC-45A2-8AAB-4EC3973A1B80}"/>
              </a:ext>
            </a:extLst>
          </p:cNvPr>
          <p:cNvSpPr>
            <a:spLocks xmlns:a="http://schemas.openxmlformats.org/drawingml/2006/main" noGrp="1"/>
          </p:cNvSpPr>
          <p:nvPr/>
        </p:nvSpPr>
        <p:spPr>
          <a:xfrm xmlns:a="http://schemas.openxmlformats.org/drawingml/2006/main">
            <a:off x="352425" y="2333625"/>
            <a:ext cx="2133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720">
                <a:solidFill>
                  <a:srgbClr val="656A7B"/>
                </a:solidFill>
                <a:latin typeface="Calibri"/>
                <a:ea typeface="Calibri"/>
                <a:cs typeface="Calibri"/>
              </a:defRPr>
            </a:pPr>
            <a:r>
              <a:rPr sz="720">
                <a:solidFill>
                  <a:srgbClr val="656A7B"/>
                </a:solidFill>
                <a:latin typeface="Calibri"/>
                <a:ea typeface="Calibri"/>
                <a:cs typeface="Calibri"/>
              </a:rPr>
              <a:t>The search field and button use a real form so readers can search by keyboard.</a:t>
            </a:r>
          </a:p>
        </p:txBody>
      </p:sp>
      <p:sp>
        <p:nvSpPr>
          <p:cNvPr id="59" name="">
            <a:extLst xmlns:a="http://schemas.openxmlformats.org/drawingml/2006/main">
              <a:ext uri="{FF2B5EF4-FFF2-40B4-BE49-F238E27FC236}">
                <a16:creationId xmlns:a16="http://schemas.microsoft.com/office/drawing/2014/main" id="{D484A19E-879E-46DF-93AB-63AAE81EFC0E}"/>
              </a:ext>
            </a:extLst>
          </p:cNvPr>
          <p:cNvSpPr>
            <a:spLocks xmlns:a="http://schemas.openxmlformats.org/drawingml/2006/main" noGrp="1"/>
          </p:cNvSpPr>
          <p:nvPr/>
        </p:nvSpPr>
        <p:spPr>
          <a:xfrm xmlns:a="http://schemas.openxmlformats.org/drawingml/2006/main">
            <a:off x="4857750" y="2847975"/>
            <a:ext cx="95250" cy="95250"/>
          </a:xfrm>
          <a:prstGeom xmlns:a="http://schemas.openxmlformats.org/drawingml/2006/main" prst="ellipse">
            <a:avLst/>
          </a:prstGeom>
          <a:solidFill xmlns:a="http://schemas.openxmlformats.org/drawingml/2006/main">
            <a:srgbClr val="E9B33B"/>
          </a:solidFill>
          <a:ln xmlns:a="http://schemas.openxmlformats.org/drawingml/2006/main" w="9525">
            <a:solidFill>
              <a:srgbClr val="FFFFFF"/>
            </a:solidFill>
            <a:prstDash val="solid"/>
          </a:ln>
        </p:spPr>
      </p:sp>
      <p:cxnSp>
        <p:nvCxnSpPr>
          <p:cNvPr id="128" name=""/>
          <p:cNvCxnSpPr>
            <a:stCxn xmlns:a="http://schemas.openxmlformats.org/drawingml/2006/main" id="55" idx="3"/>
            <a:endCxn xmlns:a="http://schemas.openxmlformats.org/drawingml/2006/main" id="59" idx="2"/>
          </p:cNvCxnSpPr>
          <p:nvPr/>
        </p:nvCxnSpPr>
        <p:spPr>
          <a:xfrm xmlns:a="http://schemas.openxmlformats.org/drawingml/2006/main">
            <a:off x="2609850" y="2400300"/>
            <a:ext cx="2247900" cy="495300"/>
          </a:xfrm>
          <a:prstGeom xmlns:a="http://schemas.openxmlformats.org/drawingml/2006/main" prst="straightConnector1">
            <a:avLst/>
          </a:prstGeom>
          <a:ln xmlns:a="http://schemas.openxmlformats.org/drawingml/2006/main" w="11906">
            <a:solidFill>
              <a:srgbClr val="E9B33B"/>
            </a:solidFill>
            <a:prstDash val="solid"/>
            <a:tailEnd type="arrow" w="sm" len="sm"/>
          </a:ln>
        </p:spPr>
      </p:cxnSp>
      <p:sp>
        <p:nvSpPr>
          <p:cNvPr id="61" name="">
            <a:extLst xmlns:a="http://schemas.openxmlformats.org/drawingml/2006/main">
              <a:ext uri="{FF2B5EF4-FFF2-40B4-BE49-F238E27FC236}">
                <a16:creationId xmlns:a16="http://schemas.microsoft.com/office/drawing/2014/main" id="{F3F3B050-9B3B-47A1-B9E1-E80E5D6C9A43}"/>
              </a:ext>
            </a:extLst>
          </p:cNvPr>
          <p:cNvSpPr>
            <a:spLocks xmlns:a="http://schemas.openxmlformats.org/drawingml/2006/main" noGrp="1"/>
          </p:cNvSpPr>
          <p:nvPr/>
        </p:nvSpPr>
        <p:spPr>
          <a:xfrm xmlns:a="http://schemas.openxmlformats.org/drawingml/2006/main">
            <a:off x="209550" y="2914650"/>
            <a:ext cx="2400300" cy="723900"/>
          </a:xfrm>
          <a:prstGeom xmlns:a="http://schemas.openxmlformats.org/drawingml/2006/main" prst="roundRect">
            <a:avLst>
              <a:gd name="adj" fmla="val 10526"/>
            </a:avLst>
          </a:prstGeom>
          <a:solidFill xmlns:a="http://schemas.openxmlformats.org/drawingml/2006/main">
            <a:srgbClr val="F7F7FB"/>
          </a:solidFill>
          <a:ln xmlns:a="http://schemas.openxmlformats.org/drawingml/2006/main" w="9525">
            <a:solidFill>
              <a:srgbClr val="D8DAE6"/>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2" name="">
            <a:extLst xmlns:a="http://schemas.openxmlformats.org/drawingml/2006/main">
              <a:ext uri="{FF2B5EF4-FFF2-40B4-BE49-F238E27FC236}">
                <a16:creationId xmlns:a16="http://schemas.microsoft.com/office/drawing/2014/main" id="{FF533DBD-84D9-4C5C-B92C-3396670DAB83}"/>
              </a:ext>
            </a:extLst>
          </p:cNvPr>
          <p:cNvSpPr>
            <a:spLocks xmlns:a="http://schemas.openxmlformats.org/drawingml/2006/main" noGrp="1"/>
          </p:cNvSpPr>
          <p:nvPr/>
        </p:nvSpPr>
        <p:spPr>
          <a:xfrm xmlns:a="http://schemas.openxmlformats.org/drawingml/2006/main">
            <a:off x="219075" y="3009900"/>
            <a:ext cx="38100" cy="533400"/>
          </a:xfrm>
          <a:prstGeom xmlns:a="http://schemas.openxmlformats.org/drawingml/2006/main" prst="rect">
            <a:avLst/>
          </a:prstGeom>
          <a:solidFill xmlns:a="http://schemas.openxmlformats.org/drawingml/2006/main">
            <a:srgbClr val="E9B33B"/>
          </a:solidFill>
          <a:ln xmlns:a="http://schemas.openxmlformats.org/drawingml/2006/main" w="0">
            <a:noFill/>
          </a:ln>
        </p:spPr>
      </p:sp>
      <p:sp>
        <p:nvSpPr>
          <p:cNvPr id="63" name="">
            <a:extLst xmlns:a="http://schemas.openxmlformats.org/drawingml/2006/main">
              <a:ext uri="{FF2B5EF4-FFF2-40B4-BE49-F238E27FC236}">
                <a16:creationId xmlns:a16="http://schemas.microsoft.com/office/drawing/2014/main" id="{764FFC75-76AC-4A84-9C08-15E96995CDC4}"/>
              </a:ext>
            </a:extLst>
          </p:cNvPr>
          <p:cNvSpPr>
            <a:spLocks xmlns:a="http://schemas.openxmlformats.org/drawingml/2006/main" noGrp="1"/>
          </p:cNvSpPr>
          <p:nvPr/>
        </p:nvSpPr>
        <p:spPr>
          <a:xfrm xmlns:a="http://schemas.openxmlformats.org/drawingml/2006/main">
            <a:off x="352425" y="3009900"/>
            <a:ext cx="21336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5970"/>
          </a:bodyPr>
          <a:lstStyle xmlns:a="http://schemas.openxmlformats.org/drawingml/2006/main"/>
          <a:p xmlns:a="http://schemas.openxmlformats.org/drawingml/2006/main">
            <a:pPr>
              <a:defRPr sz="938" b="1">
                <a:solidFill>
                  <a:srgbClr val="28115B"/>
                </a:solidFill>
                <a:latin typeface="Calibri"/>
                <a:ea typeface="Calibri"/>
                <a:cs typeface="Calibri"/>
              </a:defRPr>
            </a:pPr>
            <a:r>
              <a:rPr sz="938" b="1">
                <a:solidFill>
                  <a:srgbClr val="28115B"/>
                </a:solidFill>
                <a:latin typeface="Calibri"/>
                <a:ea typeface="Calibri"/>
                <a:cs typeface="Calibri"/>
              </a:rPr>
              <a:t>Filter and browse</a:t>
            </a:r>
          </a:p>
        </p:txBody>
      </p:sp>
      <p:sp>
        <p:nvSpPr>
          <p:cNvPr id="64" name="">
            <a:extLst xmlns:a="http://schemas.openxmlformats.org/drawingml/2006/main">
              <a:ext uri="{FF2B5EF4-FFF2-40B4-BE49-F238E27FC236}">
                <a16:creationId xmlns:a16="http://schemas.microsoft.com/office/drawing/2014/main" id="{7DF009CC-7480-4651-99A8-DACB9FBB7367}"/>
              </a:ext>
            </a:extLst>
          </p:cNvPr>
          <p:cNvSpPr>
            <a:spLocks xmlns:a="http://schemas.openxmlformats.org/drawingml/2006/main" noGrp="1"/>
          </p:cNvSpPr>
          <p:nvPr/>
        </p:nvSpPr>
        <p:spPr>
          <a:xfrm xmlns:a="http://schemas.openxmlformats.org/drawingml/2006/main">
            <a:off x="352425" y="3209925"/>
            <a:ext cx="2133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720">
                <a:solidFill>
                  <a:srgbClr val="656A7B"/>
                </a:solidFill>
                <a:latin typeface="Calibri"/>
                <a:ea typeface="Calibri"/>
                <a:cs typeface="Calibri"/>
              </a:defRPr>
            </a:pPr>
            <a:r>
              <a:rPr sz="720">
                <a:solidFill>
                  <a:srgbClr val="656A7B"/>
                </a:solidFill>
                <a:latin typeface="Calibri"/>
                <a:ea typeface="Calibri"/>
                <a:cs typeface="Calibri"/>
              </a:rPr>
              <a:t>The expandable filter keeps the first view simple and provides a focused way to browse.</a:t>
            </a:r>
          </a:p>
        </p:txBody>
      </p:sp>
      <p:sp>
        <p:nvSpPr>
          <p:cNvPr id="65" name="">
            <a:extLst xmlns:a="http://schemas.openxmlformats.org/drawingml/2006/main">
              <a:ext uri="{FF2B5EF4-FFF2-40B4-BE49-F238E27FC236}">
                <a16:creationId xmlns:a16="http://schemas.microsoft.com/office/drawing/2014/main" id="{30C80101-CF09-4E1F-AB2C-6DFD725D49C2}"/>
              </a:ext>
            </a:extLst>
          </p:cNvPr>
          <p:cNvSpPr>
            <a:spLocks xmlns:a="http://schemas.openxmlformats.org/drawingml/2006/main" noGrp="1"/>
          </p:cNvSpPr>
          <p:nvPr/>
        </p:nvSpPr>
        <p:spPr>
          <a:xfrm xmlns:a="http://schemas.openxmlformats.org/drawingml/2006/main">
            <a:off x="4857750" y="3171825"/>
            <a:ext cx="95250" cy="95250"/>
          </a:xfrm>
          <a:prstGeom xmlns:a="http://schemas.openxmlformats.org/drawingml/2006/main" prst="ellipse">
            <a:avLst/>
          </a:prstGeom>
          <a:solidFill xmlns:a="http://schemas.openxmlformats.org/drawingml/2006/main">
            <a:srgbClr val="E9B33B"/>
          </a:solidFill>
          <a:ln xmlns:a="http://schemas.openxmlformats.org/drawingml/2006/main" w="9525">
            <a:solidFill>
              <a:srgbClr val="FFFFFF"/>
            </a:solidFill>
            <a:prstDash val="solid"/>
          </a:ln>
        </p:spPr>
      </p:sp>
      <p:cxnSp>
        <p:nvCxnSpPr>
          <p:cNvPr id="134" name=""/>
          <p:cNvCxnSpPr>
            <a:stCxn xmlns:a="http://schemas.openxmlformats.org/drawingml/2006/main" id="61" idx="3"/>
            <a:endCxn xmlns:a="http://schemas.openxmlformats.org/drawingml/2006/main" id="65" idx="2"/>
          </p:cNvCxnSpPr>
          <p:nvPr/>
        </p:nvCxnSpPr>
        <p:spPr>
          <a:xfrm xmlns:a="http://schemas.openxmlformats.org/drawingml/2006/main" flipV="1">
            <a:off x="2609850" y="3219450"/>
            <a:ext cx="2247900" cy="57150"/>
          </a:xfrm>
          <a:prstGeom xmlns:a="http://schemas.openxmlformats.org/drawingml/2006/main" prst="straightConnector1">
            <a:avLst/>
          </a:prstGeom>
          <a:ln xmlns:a="http://schemas.openxmlformats.org/drawingml/2006/main" w="11906">
            <a:solidFill>
              <a:srgbClr val="E9B33B"/>
            </a:solidFill>
            <a:prstDash val="solid"/>
            <a:tailEnd type="arrow" w="sm" len="sm"/>
          </a:ln>
        </p:spPr>
      </p:cxnSp>
      <p:sp>
        <p:nvSpPr>
          <p:cNvPr id="67" name="">
            <a:extLst xmlns:a="http://schemas.openxmlformats.org/drawingml/2006/main">
              <a:ext uri="{FF2B5EF4-FFF2-40B4-BE49-F238E27FC236}">
                <a16:creationId xmlns:a16="http://schemas.microsoft.com/office/drawing/2014/main" id="{8FF31892-EB50-41C7-A482-266F4BF6AF49}"/>
              </a:ext>
            </a:extLst>
          </p:cNvPr>
          <p:cNvSpPr>
            <a:spLocks xmlns:a="http://schemas.openxmlformats.org/drawingml/2006/main" noGrp="1"/>
          </p:cNvSpPr>
          <p:nvPr/>
        </p:nvSpPr>
        <p:spPr>
          <a:xfrm xmlns:a="http://schemas.openxmlformats.org/drawingml/2006/main">
            <a:off x="209550" y="3790950"/>
            <a:ext cx="2400300" cy="723900"/>
          </a:xfrm>
          <a:prstGeom xmlns:a="http://schemas.openxmlformats.org/drawingml/2006/main" prst="roundRect">
            <a:avLst>
              <a:gd name="adj" fmla="val 10526"/>
            </a:avLst>
          </a:prstGeom>
          <a:solidFill xmlns:a="http://schemas.openxmlformats.org/drawingml/2006/main">
            <a:srgbClr val="F7F7FB"/>
          </a:solidFill>
          <a:ln xmlns:a="http://schemas.openxmlformats.org/drawingml/2006/main" w="9525">
            <a:solidFill>
              <a:srgbClr val="D8DAE6"/>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8" name="">
            <a:extLst xmlns:a="http://schemas.openxmlformats.org/drawingml/2006/main">
              <a:ext uri="{FF2B5EF4-FFF2-40B4-BE49-F238E27FC236}">
                <a16:creationId xmlns:a16="http://schemas.microsoft.com/office/drawing/2014/main" id="{5A38C49D-46CB-449E-AD7E-57DB9A0DF6EE}"/>
              </a:ext>
            </a:extLst>
          </p:cNvPr>
          <p:cNvSpPr>
            <a:spLocks xmlns:a="http://schemas.openxmlformats.org/drawingml/2006/main" noGrp="1"/>
          </p:cNvSpPr>
          <p:nvPr/>
        </p:nvSpPr>
        <p:spPr>
          <a:xfrm xmlns:a="http://schemas.openxmlformats.org/drawingml/2006/main">
            <a:off x="219075" y="3886200"/>
            <a:ext cx="38100" cy="533400"/>
          </a:xfrm>
          <a:prstGeom xmlns:a="http://schemas.openxmlformats.org/drawingml/2006/main" prst="rect">
            <a:avLst/>
          </a:prstGeom>
          <a:solidFill xmlns:a="http://schemas.openxmlformats.org/drawingml/2006/main">
            <a:srgbClr val="E9B33B"/>
          </a:solidFill>
          <a:ln xmlns:a="http://schemas.openxmlformats.org/drawingml/2006/main" w="0">
            <a:noFill/>
          </a:ln>
        </p:spPr>
      </p:sp>
      <p:sp>
        <p:nvSpPr>
          <p:cNvPr id="69" name="">
            <a:extLst xmlns:a="http://schemas.openxmlformats.org/drawingml/2006/main">
              <a:ext uri="{FF2B5EF4-FFF2-40B4-BE49-F238E27FC236}">
                <a16:creationId xmlns:a16="http://schemas.microsoft.com/office/drawing/2014/main" id="{BD2F4CA0-664A-4F5C-80A3-974A2B4B923F}"/>
              </a:ext>
            </a:extLst>
          </p:cNvPr>
          <p:cNvSpPr>
            <a:spLocks xmlns:a="http://schemas.openxmlformats.org/drawingml/2006/main" noGrp="1"/>
          </p:cNvSpPr>
          <p:nvPr/>
        </p:nvSpPr>
        <p:spPr>
          <a:xfrm xmlns:a="http://schemas.openxmlformats.org/drawingml/2006/main">
            <a:off x="352425" y="3886200"/>
            <a:ext cx="21336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5970"/>
          </a:bodyPr>
          <a:lstStyle xmlns:a="http://schemas.openxmlformats.org/drawingml/2006/main"/>
          <a:p xmlns:a="http://schemas.openxmlformats.org/drawingml/2006/main">
            <a:pPr>
              <a:defRPr sz="938" b="1">
                <a:solidFill>
                  <a:srgbClr val="28115B"/>
                </a:solidFill>
                <a:latin typeface="Calibri"/>
                <a:ea typeface="Calibri"/>
                <a:cs typeface="Calibri"/>
              </a:defRPr>
            </a:pPr>
            <a:r>
              <a:rPr sz="938" b="1">
                <a:solidFill>
                  <a:srgbClr val="28115B"/>
                </a:solidFill>
                <a:latin typeface="Calibri"/>
                <a:ea typeface="Calibri"/>
                <a:cs typeface="Calibri"/>
              </a:rPr>
              <a:t>Availability language</a:t>
            </a:r>
          </a:p>
        </p:txBody>
      </p:sp>
      <p:sp>
        <p:nvSpPr>
          <p:cNvPr id="70" name="">
            <a:extLst xmlns:a="http://schemas.openxmlformats.org/drawingml/2006/main">
              <a:ext uri="{FF2B5EF4-FFF2-40B4-BE49-F238E27FC236}">
                <a16:creationId xmlns:a16="http://schemas.microsoft.com/office/drawing/2014/main" id="{771456FF-43B7-4924-9B7C-D927A58B1F67}"/>
              </a:ext>
            </a:extLst>
          </p:cNvPr>
          <p:cNvSpPr>
            <a:spLocks xmlns:a="http://schemas.openxmlformats.org/drawingml/2006/main" noGrp="1"/>
          </p:cNvSpPr>
          <p:nvPr/>
        </p:nvSpPr>
        <p:spPr>
          <a:xfrm xmlns:a="http://schemas.openxmlformats.org/drawingml/2006/main">
            <a:off x="352425" y="4086225"/>
            <a:ext cx="2133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720">
                <a:solidFill>
                  <a:srgbClr val="656A7B"/>
                </a:solidFill>
                <a:latin typeface="Calibri"/>
                <a:ea typeface="Calibri"/>
                <a:cs typeface="Calibri"/>
              </a:defRPr>
            </a:pPr>
            <a:r>
              <a:rPr sz="720">
                <a:solidFill>
                  <a:srgbClr val="656A7B"/>
                </a:solidFill>
                <a:latin typeface="Calibri"/>
                <a:ea typeface="Calibri"/>
                <a:cs typeface="Calibri"/>
              </a:rPr>
              <a:t>The legend explains whether a copy can go home, stays in the library or is on loan.</a:t>
            </a:r>
          </a:p>
        </p:txBody>
      </p:sp>
      <p:sp>
        <p:nvSpPr>
          <p:cNvPr id="71" name="">
            <a:extLst xmlns:a="http://schemas.openxmlformats.org/drawingml/2006/main">
              <a:ext uri="{FF2B5EF4-FFF2-40B4-BE49-F238E27FC236}">
                <a16:creationId xmlns:a16="http://schemas.microsoft.com/office/drawing/2014/main" id="{3D31BCFC-DA94-4938-B265-006B6FD21D1D}"/>
              </a:ext>
            </a:extLst>
          </p:cNvPr>
          <p:cNvSpPr>
            <a:spLocks xmlns:a="http://schemas.openxmlformats.org/drawingml/2006/main" noGrp="1"/>
          </p:cNvSpPr>
          <p:nvPr/>
        </p:nvSpPr>
        <p:spPr>
          <a:xfrm xmlns:a="http://schemas.openxmlformats.org/drawingml/2006/main">
            <a:off x="7210425" y="4124325"/>
            <a:ext cx="95250" cy="95250"/>
          </a:xfrm>
          <a:prstGeom xmlns:a="http://schemas.openxmlformats.org/drawingml/2006/main" prst="ellipse">
            <a:avLst/>
          </a:prstGeom>
          <a:solidFill xmlns:a="http://schemas.openxmlformats.org/drawingml/2006/main">
            <a:srgbClr val="E9B33B"/>
          </a:solidFill>
          <a:ln xmlns:a="http://schemas.openxmlformats.org/drawingml/2006/main" w="9525">
            <a:solidFill>
              <a:srgbClr val="FFFFFF"/>
            </a:solidFill>
            <a:prstDash val="solid"/>
          </a:ln>
        </p:spPr>
      </p:sp>
      <p:cxnSp>
        <p:nvCxnSpPr>
          <p:cNvPr id="140" name=""/>
          <p:cNvCxnSpPr>
            <a:stCxn xmlns:a="http://schemas.openxmlformats.org/drawingml/2006/main" id="67" idx="3"/>
            <a:endCxn xmlns:a="http://schemas.openxmlformats.org/drawingml/2006/main" id="71" idx="2"/>
          </p:cNvCxnSpPr>
          <p:nvPr/>
        </p:nvCxnSpPr>
        <p:spPr>
          <a:xfrm xmlns:a="http://schemas.openxmlformats.org/drawingml/2006/main">
            <a:off x="2609850" y="4152900"/>
            <a:ext cx="4600575" cy="19050"/>
          </a:xfrm>
          <a:prstGeom xmlns:a="http://schemas.openxmlformats.org/drawingml/2006/main" prst="straightConnector1">
            <a:avLst/>
          </a:prstGeom>
          <a:ln xmlns:a="http://schemas.openxmlformats.org/drawingml/2006/main" w="11906">
            <a:solidFill>
              <a:srgbClr val="E9B33B"/>
            </a:solidFill>
            <a:prstDash val="solid"/>
            <a:tailEnd type="arrow" w="sm" len="sm"/>
          </a:ln>
        </p:spPr>
      </p:cxnSp>
      <p:sp>
        <p:nvSpPr>
          <p:cNvPr id="73" name="">
            <a:extLst xmlns:a="http://schemas.openxmlformats.org/drawingml/2006/main">
              <a:ext uri="{FF2B5EF4-FFF2-40B4-BE49-F238E27FC236}">
                <a16:creationId xmlns:a16="http://schemas.microsoft.com/office/drawing/2014/main" id="{D4F0EDAD-7186-4A9B-B6D5-4F56CAC5D8BE}"/>
              </a:ext>
            </a:extLst>
          </p:cNvPr>
          <p:cNvSpPr>
            <a:spLocks xmlns:a="http://schemas.openxmlformats.org/drawingml/2006/main" noGrp="1"/>
          </p:cNvSpPr>
          <p:nvPr/>
        </p:nvSpPr>
        <p:spPr>
          <a:xfrm xmlns:a="http://schemas.openxmlformats.org/drawingml/2006/main">
            <a:off x="209550" y="4667250"/>
            <a:ext cx="2400300" cy="723900"/>
          </a:xfrm>
          <a:prstGeom xmlns:a="http://schemas.openxmlformats.org/drawingml/2006/main" prst="roundRect">
            <a:avLst>
              <a:gd name="adj" fmla="val 10526"/>
            </a:avLst>
          </a:prstGeom>
          <a:solidFill xmlns:a="http://schemas.openxmlformats.org/drawingml/2006/main">
            <a:srgbClr val="F7F7FB"/>
          </a:solidFill>
          <a:ln xmlns:a="http://schemas.openxmlformats.org/drawingml/2006/main" w="9525">
            <a:solidFill>
              <a:srgbClr val="D8DAE6"/>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4" name="">
            <a:extLst xmlns:a="http://schemas.openxmlformats.org/drawingml/2006/main">
              <a:ext uri="{FF2B5EF4-FFF2-40B4-BE49-F238E27FC236}">
                <a16:creationId xmlns:a16="http://schemas.microsoft.com/office/drawing/2014/main" id="{E909D4BD-55AE-41D1-A905-2ECE2E3A1FC2}"/>
              </a:ext>
            </a:extLst>
          </p:cNvPr>
          <p:cNvSpPr>
            <a:spLocks xmlns:a="http://schemas.openxmlformats.org/drawingml/2006/main" noGrp="1"/>
          </p:cNvSpPr>
          <p:nvPr/>
        </p:nvSpPr>
        <p:spPr>
          <a:xfrm xmlns:a="http://schemas.openxmlformats.org/drawingml/2006/main">
            <a:off x="219075" y="4762500"/>
            <a:ext cx="38100" cy="533400"/>
          </a:xfrm>
          <a:prstGeom xmlns:a="http://schemas.openxmlformats.org/drawingml/2006/main" prst="rect">
            <a:avLst/>
          </a:prstGeom>
          <a:solidFill xmlns:a="http://schemas.openxmlformats.org/drawingml/2006/main">
            <a:srgbClr val="E9B33B"/>
          </a:solidFill>
          <a:ln xmlns:a="http://schemas.openxmlformats.org/drawingml/2006/main" w="0">
            <a:noFill/>
          </a:ln>
        </p:spPr>
      </p:sp>
      <p:sp>
        <p:nvSpPr>
          <p:cNvPr id="75" name="">
            <a:extLst xmlns:a="http://schemas.openxmlformats.org/drawingml/2006/main">
              <a:ext uri="{FF2B5EF4-FFF2-40B4-BE49-F238E27FC236}">
                <a16:creationId xmlns:a16="http://schemas.microsoft.com/office/drawing/2014/main" id="{FED7A153-2009-4E9F-BCE5-E3B681BAA3D6}"/>
              </a:ext>
            </a:extLst>
          </p:cNvPr>
          <p:cNvSpPr>
            <a:spLocks xmlns:a="http://schemas.openxmlformats.org/drawingml/2006/main" noGrp="1"/>
          </p:cNvSpPr>
          <p:nvPr/>
        </p:nvSpPr>
        <p:spPr>
          <a:xfrm xmlns:a="http://schemas.openxmlformats.org/drawingml/2006/main">
            <a:off x="352425" y="4762500"/>
            <a:ext cx="21336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5970"/>
          </a:bodyPr>
          <a:lstStyle xmlns:a="http://schemas.openxmlformats.org/drawingml/2006/main"/>
          <a:p xmlns:a="http://schemas.openxmlformats.org/drawingml/2006/main">
            <a:pPr>
              <a:defRPr sz="938" b="1">
                <a:solidFill>
                  <a:srgbClr val="28115B"/>
                </a:solidFill>
                <a:latin typeface="Calibri"/>
                <a:ea typeface="Calibri"/>
                <a:cs typeface="Calibri"/>
              </a:defRPr>
            </a:pPr>
            <a:r>
              <a:rPr sz="938" b="1">
                <a:solidFill>
                  <a:srgbClr val="28115B"/>
                </a:solidFill>
                <a:latin typeface="Calibri"/>
                <a:ea typeface="Calibri"/>
                <a:cs typeface="Calibri"/>
              </a:rPr>
              <a:t>Footer navigation</a:t>
            </a:r>
          </a:p>
        </p:txBody>
      </p:sp>
      <p:sp>
        <p:nvSpPr>
          <p:cNvPr id="76" name="">
            <a:extLst xmlns:a="http://schemas.openxmlformats.org/drawingml/2006/main">
              <a:ext uri="{FF2B5EF4-FFF2-40B4-BE49-F238E27FC236}">
                <a16:creationId xmlns:a16="http://schemas.microsoft.com/office/drawing/2014/main" id="{65743288-C14B-4A94-AD5C-137041885D36}"/>
              </a:ext>
            </a:extLst>
          </p:cNvPr>
          <p:cNvSpPr>
            <a:spLocks xmlns:a="http://schemas.openxmlformats.org/drawingml/2006/main" noGrp="1"/>
          </p:cNvSpPr>
          <p:nvPr/>
        </p:nvSpPr>
        <p:spPr>
          <a:xfrm xmlns:a="http://schemas.openxmlformats.org/drawingml/2006/main">
            <a:off x="352425" y="4962525"/>
            <a:ext cx="2133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720">
                <a:solidFill>
                  <a:srgbClr val="656A7B"/>
                </a:solidFill>
                <a:latin typeface="Calibri"/>
                <a:ea typeface="Calibri"/>
                <a:cs typeface="Calibri"/>
              </a:defRPr>
            </a:pPr>
            <a:r>
              <a:rPr sz="720">
                <a:solidFill>
                  <a:srgbClr val="656A7B"/>
                </a:solidFill>
                <a:latin typeface="Calibri"/>
                <a:ea typeface="Calibri"/>
                <a:cs typeface="Calibri"/>
              </a:rPr>
              <a:t>Library, account and help links stay available at the end of every page.</a:t>
            </a:r>
          </a:p>
        </p:txBody>
      </p:sp>
      <p:sp>
        <p:nvSpPr>
          <p:cNvPr id="77" name="">
            <a:extLst xmlns:a="http://schemas.openxmlformats.org/drawingml/2006/main">
              <a:ext uri="{FF2B5EF4-FFF2-40B4-BE49-F238E27FC236}">
                <a16:creationId xmlns:a16="http://schemas.microsoft.com/office/drawing/2014/main" id="{78BFC256-C4D2-41CD-AC5A-F1BFAA89CB75}"/>
              </a:ext>
            </a:extLst>
          </p:cNvPr>
          <p:cNvSpPr>
            <a:spLocks xmlns:a="http://schemas.openxmlformats.org/drawingml/2006/main" noGrp="1"/>
          </p:cNvSpPr>
          <p:nvPr/>
        </p:nvSpPr>
        <p:spPr>
          <a:xfrm xmlns:a="http://schemas.openxmlformats.org/drawingml/2006/main">
            <a:off x="5572125" y="5857875"/>
            <a:ext cx="95250" cy="95250"/>
          </a:xfrm>
          <a:prstGeom xmlns:a="http://schemas.openxmlformats.org/drawingml/2006/main" prst="ellipse">
            <a:avLst/>
          </a:prstGeom>
          <a:solidFill xmlns:a="http://schemas.openxmlformats.org/drawingml/2006/main">
            <a:srgbClr val="E9B33B"/>
          </a:solidFill>
          <a:ln xmlns:a="http://schemas.openxmlformats.org/drawingml/2006/main" w="9525">
            <a:solidFill>
              <a:srgbClr val="FFFFFF"/>
            </a:solidFill>
            <a:prstDash val="solid"/>
          </a:ln>
        </p:spPr>
      </p:sp>
      <p:cxnSp>
        <p:nvCxnSpPr>
          <p:cNvPr id="146" name=""/>
          <p:cNvCxnSpPr>
            <a:stCxn xmlns:a="http://schemas.openxmlformats.org/drawingml/2006/main" id="73" idx="3"/>
            <a:endCxn xmlns:a="http://schemas.openxmlformats.org/drawingml/2006/main" id="77" idx="2"/>
          </p:cNvCxnSpPr>
          <p:nvPr/>
        </p:nvCxnSpPr>
        <p:spPr>
          <a:xfrm xmlns:a="http://schemas.openxmlformats.org/drawingml/2006/main">
            <a:off x="2609850" y="5029200"/>
            <a:ext cx="2962275" cy="876300"/>
          </a:xfrm>
          <a:prstGeom xmlns:a="http://schemas.openxmlformats.org/drawingml/2006/main" prst="straightConnector1">
            <a:avLst/>
          </a:prstGeom>
          <a:ln xmlns:a="http://schemas.openxmlformats.org/drawingml/2006/main" w="11906">
            <a:solidFill>
              <a:srgbClr val="E9B33B"/>
            </a:solidFill>
            <a:prstDash val="solid"/>
            <a:tailEnd type="arrow" w="sm" len="sm"/>
          </a:ln>
        </p:spPr>
      </p:cxnSp>
      <p:sp>
        <p:nvSpPr>
          <p:cNvPr id="79" name="">
            <a:extLst xmlns:a="http://schemas.openxmlformats.org/drawingml/2006/main">
              <a:ext uri="{FF2B5EF4-FFF2-40B4-BE49-F238E27FC236}">
                <a16:creationId xmlns:a16="http://schemas.microsoft.com/office/drawing/2014/main" id="{556D9213-F539-4FEF-BBDA-9B4E6DE88B2E}"/>
              </a:ext>
            </a:extLst>
          </p:cNvPr>
          <p:cNvSpPr>
            <a:spLocks xmlns:a="http://schemas.openxmlformats.org/drawingml/2006/main" noGrp="1"/>
          </p:cNvSpPr>
          <p:nvPr/>
        </p:nvSpPr>
        <p:spPr>
          <a:xfrm xmlns:a="http://schemas.openxmlformats.org/drawingml/2006/main">
            <a:off x="9582150" y="1162050"/>
            <a:ext cx="2400300" cy="723900"/>
          </a:xfrm>
          <a:prstGeom xmlns:a="http://schemas.openxmlformats.org/drawingml/2006/main" prst="roundRect">
            <a:avLst>
              <a:gd name="adj" fmla="val 10526"/>
            </a:avLst>
          </a:prstGeom>
          <a:solidFill xmlns:a="http://schemas.openxmlformats.org/drawingml/2006/main">
            <a:srgbClr val="F7F7FB"/>
          </a:solidFill>
          <a:ln xmlns:a="http://schemas.openxmlformats.org/drawingml/2006/main" w="9525">
            <a:solidFill>
              <a:srgbClr val="D8DAE6"/>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80" name="">
            <a:extLst xmlns:a="http://schemas.openxmlformats.org/drawingml/2006/main">
              <a:ext uri="{FF2B5EF4-FFF2-40B4-BE49-F238E27FC236}">
                <a16:creationId xmlns:a16="http://schemas.microsoft.com/office/drawing/2014/main" id="{B7CF27E5-101A-4D8C-A134-B4648D6338D2}"/>
              </a:ext>
            </a:extLst>
          </p:cNvPr>
          <p:cNvSpPr>
            <a:spLocks xmlns:a="http://schemas.openxmlformats.org/drawingml/2006/main" noGrp="1"/>
          </p:cNvSpPr>
          <p:nvPr/>
        </p:nvSpPr>
        <p:spPr>
          <a:xfrm xmlns:a="http://schemas.openxmlformats.org/drawingml/2006/main">
            <a:off x="9591675" y="1257300"/>
            <a:ext cx="38100" cy="533400"/>
          </a:xfrm>
          <a:prstGeom xmlns:a="http://schemas.openxmlformats.org/drawingml/2006/main" prst="rect">
            <a:avLst/>
          </a:prstGeom>
          <a:solidFill xmlns:a="http://schemas.openxmlformats.org/drawingml/2006/main">
            <a:srgbClr val="E9B33B"/>
          </a:solidFill>
          <a:ln xmlns:a="http://schemas.openxmlformats.org/drawingml/2006/main" w="0">
            <a:noFill/>
          </a:ln>
        </p:spPr>
      </p:sp>
      <p:sp>
        <p:nvSpPr>
          <p:cNvPr id="81" name="">
            <a:extLst xmlns:a="http://schemas.openxmlformats.org/drawingml/2006/main">
              <a:ext uri="{FF2B5EF4-FFF2-40B4-BE49-F238E27FC236}">
                <a16:creationId xmlns:a16="http://schemas.microsoft.com/office/drawing/2014/main" id="{85B4604E-EBC4-429A-9274-35F937A54647}"/>
              </a:ext>
            </a:extLst>
          </p:cNvPr>
          <p:cNvSpPr>
            <a:spLocks xmlns:a="http://schemas.openxmlformats.org/drawingml/2006/main" noGrp="1"/>
          </p:cNvSpPr>
          <p:nvPr/>
        </p:nvSpPr>
        <p:spPr>
          <a:xfrm xmlns:a="http://schemas.openxmlformats.org/drawingml/2006/main">
            <a:off x="9725025" y="1257300"/>
            <a:ext cx="21336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5970"/>
          </a:bodyPr>
          <a:lstStyle xmlns:a="http://schemas.openxmlformats.org/drawingml/2006/main"/>
          <a:p xmlns:a="http://schemas.openxmlformats.org/drawingml/2006/main">
            <a:pPr>
              <a:defRPr sz="938" b="1">
                <a:solidFill>
                  <a:srgbClr val="28115B"/>
                </a:solidFill>
                <a:latin typeface="Calibri"/>
                <a:ea typeface="Calibri"/>
                <a:cs typeface="Calibri"/>
              </a:defRPr>
            </a:pPr>
            <a:r>
              <a:rPr sz="938" b="1">
                <a:solidFill>
                  <a:srgbClr val="28115B"/>
                </a:solidFill>
                <a:latin typeface="Calibri"/>
                <a:ea typeface="Calibri"/>
                <a:cs typeface="Calibri"/>
              </a:rPr>
              <a:t>Shared CSS tokens</a:t>
            </a:r>
          </a:p>
        </p:txBody>
      </p:sp>
      <p:sp>
        <p:nvSpPr>
          <p:cNvPr id="82" name="">
            <a:extLst xmlns:a="http://schemas.openxmlformats.org/drawingml/2006/main">
              <a:ext uri="{FF2B5EF4-FFF2-40B4-BE49-F238E27FC236}">
                <a16:creationId xmlns:a16="http://schemas.microsoft.com/office/drawing/2014/main" id="{7245C707-43E8-41FF-B193-783677A6F4C3}"/>
              </a:ext>
            </a:extLst>
          </p:cNvPr>
          <p:cNvSpPr>
            <a:spLocks xmlns:a="http://schemas.openxmlformats.org/drawingml/2006/main" noGrp="1"/>
          </p:cNvSpPr>
          <p:nvPr/>
        </p:nvSpPr>
        <p:spPr>
          <a:xfrm xmlns:a="http://schemas.openxmlformats.org/drawingml/2006/main">
            <a:off x="9725025" y="1457325"/>
            <a:ext cx="2133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720">
                <a:solidFill>
                  <a:srgbClr val="656A7B"/>
                </a:solidFill>
                <a:latin typeface="Calibri"/>
                <a:ea typeface="Calibri"/>
                <a:cs typeface="Calibri"/>
              </a:defRPr>
            </a:pPr>
            <a:r>
              <a:rPr sz="720">
                <a:solidFill>
                  <a:srgbClr val="656A7B"/>
                </a:solidFill>
                <a:latin typeface="Calibri"/>
                <a:ea typeface="Calibri"/>
                <a:cs typeface="Calibri"/>
              </a:rPr>
              <a:t>The purple and gold palette, spacing and type remain consistent across the interface.</a:t>
            </a:r>
          </a:p>
        </p:txBody>
      </p:sp>
      <p:sp>
        <p:nvSpPr>
          <p:cNvPr id="83" name="">
            <a:extLst xmlns:a="http://schemas.openxmlformats.org/drawingml/2006/main">
              <a:ext uri="{FF2B5EF4-FFF2-40B4-BE49-F238E27FC236}">
                <a16:creationId xmlns:a16="http://schemas.microsoft.com/office/drawing/2014/main" id="{894AA822-E23E-4712-8957-DE44C133A759}"/>
              </a:ext>
            </a:extLst>
          </p:cNvPr>
          <p:cNvSpPr>
            <a:spLocks xmlns:a="http://schemas.openxmlformats.org/drawingml/2006/main" noGrp="1"/>
          </p:cNvSpPr>
          <p:nvPr/>
        </p:nvSpPr>
        <p:spPr>
          <a:xfrm xmlns:a="http://schemas.openxmlformats.org/drawingml/2006/main">
            <a:off x="7572375" y="2400300"/>
            <a:ext cx="95250" cy="95250"/>
          </a:xfrm>
          <a:prstGeom xmlns:a="http://schemas.openxmlformats.org/drawingml/2006/main" prst="ellipse">
            <a:avLst/>
          </a:prstGeom>
          <a:solidFill xmlns:a="http://schemas.openxmlformats.org/drawingml/2006/main">
            <a:srgbClr val="E9B33B"/>
          </a:solidFill>
          <a:ln xmlns:a="http://schemas.openxmlformats.org/drawingml/2006/main" w="9525">
            <a:solidFill>
              <a:srgbClr val="FFFFFF"/>
            </a:solidFill>
            <a:prstDash val="solid"/>
          </a:ln>
        </p:spPr>
      </p:sp>
      <p:cxnSp>
        <p:nvCxnSpPr>
          <p:cNvPr id="152" name=""/>
          <p:cNvCxnSpPr>
            <a:stCxn xmlns:a="http://schemas.openxmlformats.org/drawingml/2006/main" id="79" idx="1"/>
            <a:endCxn xmlns:a="http://schemas.openxmlformats.org/drawingml/2006/main" id="83" idx="6"/>
          </p:cNvCxnSpPr>
          <p:nvPr/>
        </p:nvCxnSpPr>
        <p:spPr>
          <a:xfrm xmlns:a="http://schemas.openxmlformats.org/drawingml/2006/main" flipH="1">
            <a:off x="7667625" y="1524000"/>
            <a:ext cx="1914525" cy="923925"/>
          </a:xfrm>
          <a:prstGeom xmlns:a="http://schemas.openxmlformats.org/drawingml/2006/main" prst="straightConnector1">
            <a:avLst/>
          </a:prstGeom>
          <a:ln xmlns:a="http://schemas.openxmlformats.org/drawingml/2006/main" w="11906">
            <a:solidFill>
              <a:srgbClr val="E9B33B"/>
            </a:solidFill>
            <a:prstDash val="solid"/>
            <a:tailEnd type="arrow" w="sm" len="sm"/>
          </a:ln>
        </p:spPr>
      </p:cxnSp>
      <p:sp>
        <p:nvSpPr>
          <p:cNvPr id="85" name="">
            <a:extLst xmlns:a="http://schemas.openxmlformats.org/drawingml/2006/main">
              <a:ext uri="{FF2B5EF4-FFF2-40B4-BE49-F238E27FC236}">
                <a16:creationId xmlns:a16="http://schemas.microsoft.com/office/drawing/2014/main" id="{2524C33B-F76D-4410-A561-CA8A81F4DEC0}"/>
              </a:ext>
            </a:extLst>
          </p:cNvPr>
          <p:cNvSpPr>
            <a:spLocks xmlns:a="http://schemas.openxmlformats.org/drawingml/2006/main" noGrp="1"/>
          </p:cNvSpPr>
          <p:nvPr/>
        </p:nvSpPr>
        <p:spPr>
          <a:xfrm xmlns:a="http://schemas.openxmlformats.org/drawingml/2006/main">
            <a:off x="9582150" y="2038350"/>
            <a:ext cx="2400300" cy="723900"/>
          </a:xfrm>
          <a:prstGeom xmlns:a="http://schemas.openxmlformats.org/drawingml/2006/main" prst="roundRect">
            <a:avLst>
              <a:gd name="adj" fmla="val 10526"/>
            </a:avLst>
          </a:prstGeom>
          <a:solidFill xmlns:a="http://schemas.openxmlformats.org/drawingml/2006/main">
            <a:srgbClr val="F7F7FB"/>
          </a:solidFill>
          <a:ln xmlns:a="http://schemas.openxmlformats.org/drawingml/2006/main" w="9525">
            <a:solidFill>
              <a:srgbClr val="D8DAE6"/>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86" name="">
            <a:extLst xmlns:a="http://schemas.openxmlformats.org/drawingml/2006/main">
              <a:ext uri="{FF2B5EF4-FFF2-40B4-BE49-F238E27FC236}">
                <a16:creationId xmlns:a16="http://schemas.microsoft.com/office/drawing/2014/main" id="{AAB5EFBB-EDEA-4039-8934-6B1F9BA766E2}"/>
              </a:ext>
            </a:extLst>
          </p:cNvPr>
          <p:cNvSpPr>
            <a:spLocks xmlns:a="http://schemas.openxmlformats.org/drawingml/2006/main" noGrp="1"/>
          </p:cNvSpPr>
          <p:nvPr/>
        </p:nvSpPr>
        <p:spPr>
          <a:xfrm xmlns:a="http://schemas.openxmlformats.org/drawingml/2006/main">
            <a:off x="9591675" y="2133600"/>
            <a:ext cx="38100" cy="533400"/>
          </a:xfrm>
          <a:prstGeom xmlns:a="http://schemas.openxmlformats.org/drawingml/2006/main" prst="rect">
            <a:avLst/>
          </a:prstGeom>
          <a:solidFill xmlns:a="http://schemas.openxmlformats.org/drawingml/2006/main">
            <a:srgbClr val="E9B33B"/>
          </a:solidFill>
          <a:ln xmlns:a="http://schemas.openxmlformats.org/drawingml/2006/main" w="0">
            <a:noFill/>
          </a:ln>
        </p:spPr>
      </p:sp>
      <p:sp>
        <p:nvSpPr>
          <p:cNvPr id="87" name="">
            <a:extLst xmlns:a="http://schemas.openxmlformats.org/drawingml/2006/main">
              <a:ext uri="{FF2B5EF4-FFF2-40B4-BE49-F238E27FC236}">
                <a16:creationId xmlns:a16="http://schemas.microsoft.com/office/drawing/2014/main" id="{053BB7F9-1F65-4217-8CFC-DE055981FB5F}"/>
              </a:ext>
            </a:extLst>
          </p:cNvPr>
          <p:cNvSpPr>
            <a:spLocks xmlns:a="http://schemas.openxmlformats.org/drawingml/2006/main" noGrp="1"/>
          </p:cNvSpPr>
          <p:nvPr/>
        </p:nvSpPr>
        <p:spPr>
          <a:xfrm xmlns:a="http://schemas.openxmlformats.org/drawingml/2006/main">
            <a:off x="9725025" y="2133600"/>
            <a:ext cx="21336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5970"/>
          </a:bodyPr>
          <a:lstStyle xmlns:a="http://schemas.openxmlformats.org/drawingml/2006/main"/>
          <a:p xmlns:a="http://schemas.openxmlformats.org/drawingml/2006/main">
            <a:pPr>
              <a:defRPr sz="938" b="1">
                <a:solidFill>
                  <a:srgbClr val="28115B"/>
                </a:solidFill>
                <a:latin typeface="Calibri"/>
                <a:ea typeface="Calibri"/>
                <a:cs typeface="Calibri"/>
              </a:defRPr>
            </a:pPr>
            <a:r>
              <a:rPr sz="938" b="1">
                <a:solidFill>
                  <a:srgbClr val="28115B"/>
                </a:solidFill>
                <a:latin typeface="Calibri"/>
                <a:ea typeface="Calibri"/>
                <a:cs typeface="Calibri"/>
              </a:rPr>
              <a:t>One API module</a:t>
            </a:r>
          </a:p>
        </p:txBody>
      </p:sp>
      <p:sp>
        <p:nvSpPr>
          <p:cNvPr id="88" name="">
            <a:extLst xmlns:a="http://schemas.openxmlformats.org/drawingml/2006/main">
              <a:ext uri="{FF2B5EF4-FFF2-40B4-BE49-F238E27FC236}">
                <a16:creationId xmlns:a16="http://schemas.microsoft.com/office/drawing/2014/main" id="{BE96F3FF-FF4C-40A3-9C69-18E04ECA40A6}"/>
              </a:ext>
            </a:extLst>
          </p:cNvPr>
          <p:cNvSpPr>
            <a:spLocks xmlns:a="http://schemas.openxmlformats.org/drawingml/2006/main" noGrp="1"/>
          </p:cNvSpPr>
          <p:nvPr/>
        </p:nvSpPr>
        <p:spPr>
          <a:xfrm xmlns:a="http://schemas.openxmlformats.org/drawingml/2006/main">
            <a:off x="9725025" y="2333625"/>
            <a:ext cx="2133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720">
                <a:solidFill>
                  <a:srgbClr val="656A7B"/>
                </a:solidFill>
                <a:latin typeface="Calibri"/>
                <a:ea typeface="Calibri"/>
                <a:cs typeface="Calibri"/>
              </a:defRPr>
            </a:pPr>
            <a:r>
              <a:rPr sz="720">
                <a:solidFill>
                  <a:srgbClr val="656A7B"/>
                </a:solidFill>
                <a:latin typeface="Calibri"/>
                <a:ea typeface="Calibri"/>
                <a:cs typeface="Calibri"/>
              </a:rPr>
              <a:t>The search action uses one async module for requests, token renewal and errors.</a:t>
            </a:r>
          </a:p>
        </p:txBody>
      </p:sp>
      <p:sp>
        <p:nvSpPr>
          <p:cNvPr id="89" name="">
            <a:extLst xmlns:a="http://schemas.openxmlformats.org/drawingml/2006/main">
              <a:ext uri="{FF2B5EF4-FFF2-40B4-BE49-F238E27FC236}">
                <a16:creationId xmlns:a16="http://schemas.microsoft.com/office/drawing/2014/main" id="{160D6349-33E3-4E75-A690-69DB0B7735DB}"/>
              </a:ext>
            </a:extLst>
          </p:cNvPr>
          <p:cNvSpPr>
            <a:spLocks xmlns:a="http://schemas.openxmlformats.org/drawingml/2006/main" noGrp="1"/>
          </p:cNvSpPr>
          <p:nvPr/>
        </p:nvSpPr>
        <p:spPr>
          <a:xfrm xmlns:a="http://schemas.openxmlformats.org/drawingml/2006/main">
            <a:off x="6267450" y="2857500"/>
            <a:ext cx="95250" cy="95250"/>
          </a:xfrm>
          <a:prstGeom xmlns:a="http://schemas.openxmlformats.org/drawingml/2006/main" prst="ellipse">
            <a:avLst/>
          </a:prstGeom>
          <a:solidFill xmlns:a="http://schemas.openxmlformats.org/drawingml/2006/main">
            <a:srgbClr val="E9B33B"/>
          </a:solidFill>
          <a:ln xmlns:a="http://schemas.openxmlformats.org/drawingml/2006/main" w="9525">
            <a:solidFill>
              <a:srgbClr val="FFFFFF"/>
            </a:solidFill>
            <a:prstDash val="solid"/>
          </a:ln>
        </p:spPr>
      </p:sp>
      <p:cxnSp>
        <p:nvCxnSpPr>
          <p:cNvPr id="158" name=""/>
          <p:cNvCxnSpPr>
            <a:stCxn xmlns:a="http://schemas.openxmlformats.org/drawingml/2006/main" id="85" idx="1"/>
            <a:endCxn xmlns:a="http://schemas.openxmlformats.org/drawingml/2006/main" id="89" idx="6"/>
          </p:cNvCxnSpPr>
          <p:nvPr/>
        </p:nvCxnSpPr>
        <p:spPr>
          <a:xfrm xmlns:a="http://schemas.openxmlformats.org/drawingml/2006/main" flipH="1">
            <a:off x="6362700" y="2400300"/>
            <a:ext cx="3219450" cy="504825"/>
          </a:xfrm>
          <a:prstGeom xmlns:a="http://schemas.openxmlformats.org/drawingml/2006/main" prst="straightConnector1">
            <a:avLst/>
          </a:prstGeom>
          <a:ln xmlns:a="http://schemas.openxmlformats.org/drawingml/2006/main" w="11906">
            <a:solidFill>
              <a:srgbClr val="E9B33B"/>
            </a:solidFill>
            <a:prstDash val="solid"/>
            <a:tailEnd type="arrow" w="sm" len="sm"/>
          </a:ln>
        </p:spPr>
      </p:cxnSp>
      <p:sp>
        <p:nvSpPr>
          <p:cNvPr id="91" name="">
            <a:extLst xmlns:a="http://schemas.openxmlformats.org/drawingml/2006/main">
              <a:ext uri="{FF2B5EF4-FFF2-40B4-BE49-F238E27FC236}">
                <a16:creationId xmlns:a16="http://schemas.microsoft.com/office/drawing/2014/main" id="{D5F99141-3F96-4690-98DA-A8258AD6BBF1}"/>
              </a:ext>
            </a:extLst>
          </p:cNvPr>
          <p:cNvSpPr>
            <a:spLocks xmlns:a="http://schemas.openxmlformats.org/drawingml/2006/main" noGrp="1"/>
          </p:cNvSpPr>
          <p:nvPr/>
        </p:nvSpPr>
        <p:spPr>
          <a:xfrm xmlns:a="http://schemas.openxmlformats.org/drawingml/2006/main">
            <a:off x="9582150" y="2914650"/>
            <a:ext cx="2400300" cy="723900"/>
          </a:xfrm>
          <a:prstGeom xmlns:a="http://schemas.openxmlformats.org/drawingml/2006/main" prst="roundRect">
            <a:avLst>
              <a:gd name="adj" fmla="val 10526"/>
            </a:avLst>
          </a:prstGeom>
          <a:solidFill xmlns:a="http://schemas.openxmlformats.org/drawingml/2006/main">
            <a:srgbClr val="F7F7FB"/>
          </a:solidFill>
          <a:ln xmlns:a="http://schemas.openxmlformats.org/drawingml/2006/main" w="9525">
            <a:solidFill>
              <a:srgbClr val="D8DAE6"/>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2" name="">
            <a:extLst xmlns:a="http://schemas.openxmlformats.org/drawingml/2006/main">
              <a:ext uri="{FF2B5EF4-FFF2-40B4-BE49-F238E27FC236}">
                <a16:creationId xmlns:a16="http://schemas.microsoft.com/office/drawing/2014/main" id="{2BCA7BA2-BD84-4A1A-9C16-51C098903665}"/>
              </a:ext>
            </a:extLst>
          </p:cNvPr>
          <p:cNvSpPr>
            <a:spLocks xmlns:a="http://schemas.openxmlformats.org/drawingml/2006/main" noGrp="1"/>
          </p:cNvSpPr>
          <p:nvPr/>
        </p:nvSpPr>
        <p:spPr>
          <a:xfrm xmlns:a="http://schemas.openxmlformats.org/drawingml/2006/main">
            <a:off x="9591675" y="3009900"/>
            <a:ext cx="38100" cy="533400"/>
          </a:xfrm>
          <a:prstGeom xmlns:a="http://schemas.openxmlformats.org/drawingml/2006/main" prst="rect">
            <a:avLst/>
          </a:prstGeom>
          <a:solidFill xmlns:a="http://schemas.openxmlformats.org/drawingml/2006/main">
            <a:srgbClr val="E9B33B"/>
          </a:solidFill>
          <a:ln xmlns:a="http://schemas.openxmlformats.org/drawingml/2006/main" w="0">
            <a:noFill/>
          </a:ln>
        </p:spPr>
      </p:sp>
      <p:sp>
        <p:nvSpPr>
          <p:cNvPr id="93" name="">
            <a:extLst xmlns:a="http://schemas.openxmlformats.org/drawingml/2006/main">
              <a:ext uri="{FF2B5EF4-FFF2-40B4-BE49-F238E27FC236}">
                <a16:creationId xmlns:a16="http://schemas.microsoft.com/office/drawing/2014/main" id="{E7C7230E-6CC0-4C94-A088-A7F30AC4AB0E}"/>
              </a:ext>
            </a:extLst>
          </p:cNvPr>
          <p:cNvSpPr>
            <a:spLocks xmlns:a="http://schemas.openxmlformats.org/drawingml/2006/main" noGrp="1"/>
          </p:cNvSpPr>
          <p:nvPr/>
        </p:nvSpPr>
        <p:spPr>
          <a:xfrm xmlns:a="http://schemas.openxmlformats.org/drawingml/2006/main">
            <a:off x="9725025" y="3009900"/>
            <a:ext cx="21336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5970"/>
          </a:bodyPr>
          <a:lstStyle xmlns:a="http://schemas.openxmlformats.org/drawingml/2006/main"/>
          <a:p xmlns:a="http://schemas.openxmlformats.org/drawingml/2006/main">
            <a:pPr>
              <a:defRPr sz="938" b="1">
                <a:solidFill>
                  <a:srgbClr val="28115B"/>
                </a:solidFill>
                <a:latin typeface="Calibri"/>
                <a:ea typeface="Calibri"/>
                <a:cs typeface="Calibri"/>
              </a:defRPr>
            </a:pPr>
            <a:r>
              <a:rPr sz="938" b="1">
                <a:solidFill>
                  <a:srgbClr val="28115B"/>
                </a:solidFill>
                <a:latin typeface="Calibri"/>
                <a:ea typeface="Calibri"/>
                <a:cs typeface="Calibri"/>
              </a:rPr>
              <a:t>DOM-rendered results</a:t>
            </a:r>
          </a:p>
        </p:txBody>
      </p:sp>
      <p:sp>
        <p:nvSpPr>
          <p:cNvPr id="94" name="">
            <a:extLst xmlns:a="http://schemas.openxmlformats.org/drawingml/2006/main">
              <a:ext uri="{FF2B5EF4-FFF2-40B4-BE49-F238E27FC236}">
                <a16:creationId xmlns:a16="http://schemas.microsoft.com/office/drawing/2014/main" id="{5B5F92E5-D81C-444F-A52B-F0A384979359}"/>
              </a:ext>
            </a:extLst>
          </p:cNvPr>
          <p:cNvSpPr>
            <a:spLocks xmlns:a="http://schemas.openxmlformats.org/drawingml/2006/main" noGrp="1"/>
          </p:cNvSpPr>
          <p:nvPr/>
        </p:nvSpPr>
        <p:spPr>
          <a:xfrm xmlns:a="http://schemas.openxmlformats.org/drawingml/2006/main">
            <a:off x="9725025" y="3209925"/>
            <a:ext cx="2133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720">
                <a:solidFill>
                  <a:srgbClr val="656A7B"/>
                </a:solidFill>
                <a:latin typeface="Calibri"/>
                <a:ea typeface="Calibri"/>
                <a:cs typeface="Calibri"/>
              </a:defRPr>
            </a:pPr>
            <a:r>
              <a:rPr sz="720">
                <a:solidFill>
                  <a:srgbClr val="656A7B"/>
                </a:solidFill>
                <a:latin typeface="Calibri"/>
                <a:ea typeface="Calibri"/>
                <a:cs typeface="Calibri"/>
              </a:rPr>
              <a:t>JavaScript creates result content safely with textContent instead of innerHTML.</a:t>
            </a:r>
          </a:p>
        </p:txBody>
      </p:sp>
      <p:sp>
        <p:nvSpPr>
          <p:cNvPr id="95" name="">
            <a:extLst xmlns:a="http://schemas.openxmlformats.org/drawingml/2006/main">
              <a:ext uri="{FF2B5EF4-FFF2-40B4-BE49-F238E27FC236}">
                <a16:creationId xmlns:a16="http://schemas.microsoft.com/office/drawing/2014/main" id="{5E21EC7D-7B4A-42C8-8243-37EC5AA40CBE}"/>
              </a:ext>
            </a:extLst>
          </p:cNvPr>
          <p:cNvSpPr>
            <a:spLocks xmlns:a="http://schemas.openxmlformats.org/drawingml/2006/main" noGrp="1"/>
          </p:cNvSpPr>
          <p:nvPr/>
        </p:nvSpPr>
        <p:spPr>
          <a:xfrm xmlns:a="http://schemas.openxmlformats.org/drawingml/2006/main">
            <a:off x="5648325" y="4276725"/>
            <a:ext cx="95250" cy="95250"/>
          </a:xfrm>
          <a:prstGeom xmlns:a="http://schemas.openxmlformats.org/drawingml/2006/main" prst="ellipse">
            <a:avLst/>
          </a:prstGeom>
          <a:solidFill xmlns:a="http://schemas.openxmlformats.org/drawingml/2006/main">
            <a:srgbClr val="E9B33B"/>
          </a:solidFill>
          <a:ln xmlns:a="http://schemas.openxmlformats.org/drawingml/2006/main" w="9525">
            <a:solidFill>
              <a:srgbClr val="FFFFFF"/>
            </a:solidFill>
            <a:prstDash val="solid"/>
          </a:ln>
        </p:spPr>
      </p:sp>
      <p:cxnSp>
        <p:nvCxnSpPr>
          <p:cNvPr id="164" name=""/>
          <p:cNvCxnSpPr>
            <a:stCxn xmlns:a="http://schemas.openxmlformats.org/drawingml/2006/main" id="91" idx="1"/>
            <a:endCxn xmlns:a="http://schemas.openxmlformats.org/drawingml/2006/main" id="95" idx="6"/>
          </p:cNvCxnSpPr>
          <p:nvPr/>
        </p:nvCxnSpPr>
        <p:spPr>
          <a:xfrm xmlns:a="http://schemas.openxmlformats.org/drawingml/2006/main" flipH="1">
            <a:off x="5743575" y="3276600"/>
            <a:ext cx="3838575" cy="1047750"/>
          </a:xfrm>
          <a:prstGeom xmlns:a="http://schemas.openxmlformats.org/drawingml/2006/main" prst="straightConnector1">
            <a:avLst/>
          </a:prstGeom>
          <a:ln xmlns:a="http://schemas.openxmlformats.org/drawingml/2006/main" w="11906">
            <a:solidFill>
              <a:srgbClr val="E9B33B"/>
            </a:solidFill>
            <a:prstDash val="solid"/>
            <a:tailEnd type="arrow" w="sm" len="sm"/>
          </a:ln>
        </p:spPr>
      </p:cxnSp>
      <p:sp>
        <p:nvSpPr>
          <p:cNvPr id="97" name="">
            <a:extLst xmlns:a="http://schemas.openxmlformats.org/drawingml/2006/main">
              <a:ext uri="{FF2B5EF4-FFF2-40B4-BE49-F238E27FC236}">
                <a16:creationId xmlns:a16="http://schemas.microsoft.com/office/drawing/2014/main" id="{7CFCF3F7-F140-45B3-A662-5B886A6C9391}"/>
              </a:ext>
            </a:extLst>
          </p:cNvPr>
          <p:cNvSpPr>
            <a:spLocks xmlns:a="http://schemas.openxmlformats.org/drawingml/2006/main" noGrp="1"/>
          </p:cNvSpPr>
          <p:nvPr/>
        </p:nvSpPr>
        <p:spPr>
          <a:xfrm xmlns:a="http://schemas.openxmlformats.org/drawingml/2006/main">
            <a:off x="9582150" y="3790950"/>
            <a:ext cx="2400300" cy="723900"/>
          </a:xfrm>
          <a:prstGeom xmlns:a="http://schemas.openxmlformats.org/drawingml/2006/main" prst="roundRect">
            <a:avLst>
              <a:gd name="adj" fmla="val 10526"/>
            </a:avLst>
          </a:prstGeom>
          <a:solidFill xmlns:a="http://schemas.openxmlformats.org/drawingml/2006/main">
            <a:srgbClr val="F7F7FB"/>
          </a:solidFill>
          <a:ln xmlns:a="http://schemas.openxmlformats.org/drawingml/2006/main" w="9525">
            <a:solidFill>
              <a:srgbClr val="D8DAE6"/>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8" name="">
            <a:extLst xmlns:a="http://schemas.openxmlformats.org/drawingml/2006/main">
              <a:ext uri="{FF2B5EF4-FFF2-40B4-BE49-F238E27FC236}">
                <a16:creationId xmlns:a16="http://schemas.microsoft.com/office/drawing/2014/main" id="{B24A6685-2A12-4E14-B4D9-4083F4184892}"/>
              </a:ext>
            </a:extLst>
          </p:cNvPr>
          <p:cNvSpPr>
            <a:spLocks xmlns:a="http://schemas.openxmlformats.org/drawingml/2006/main" noGrp="1"/>
          </p:cNvSpPr>
          <p:nvPr/>
        </p:nvSpPr>
        <p:spPr>
          <a:xfrm xmlns:a="http://schemas.openxmlformats.org/drawingml/2006/main">
            <a:off x="9591675" y="3886200"/>
            <a:ext cx="38100" cy="533400"/>
          </a:xfrm>
          <a:prstGeom xmlns:a="http://schemas.openxmlformats.org/drawingml/2006/main" prst="rect">
            <a:avLst/>
          </a:prstGeom>
          <a:solidFill xmlns:a="http://schemas.openxmlformats.org/drawingml/2006/main">
            <a:srgbClr val="E9B33B"/>
          </a:solidFill>
          <a:ln xmlns:a="http://schemas.openxmlformats.org/drawingml/2006/main" w="0">
            <a:noFill/>
          </a:ln>
        </p:spPr>
      </p:sp>
      <p:sp>
        <p:nvSpPr>
          <p:cNvPr id="99" name="">
            <a:extLst xmlns:a="http://schemas.openxmlformats.org/drawingml/2006/main">
              <a:ext uri="{FF2B5EF4-FFF2-40B4-BE49-F238E27FC236}">
                <a16:creationId xmlns:a16="http://schemas.microsoft.com/office/drawing/2014/main" id="{C1D0221B-D414-4008-9E1E-C0AFD74D3589}"/>
              </a:ext>
            </a:extLst>
          </p:cNvPr>
          <p:cNvSpPr>
            <a:spLocks xmlns:a="http://schemas.openxmlformats.org/drawingml/2006/main" noGrp="1"/>
          </p:cNvSpPr>
          <p:nvPr/>
        </p:nvSpPr>
        <p:spPr>
          <a:xfrm xmlns:a="http://schemas.openxmlformats.org/drawingml/2006/main">
            <a:off x="9725025" y="3886200"/>
            <a:ext cx="21336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5970"/>
          </a:bodyPr>
          <a:lstStyle xmlns:a="http://schemas.openxmlformats.org/drawingml/2006/main"/>
          <a:p xmlns:a="http://schemas.openxmlformats.org/drawingml/2006/main">
            <a:pPr>
              <a:defRPr sz="938" b="1">
                <a:solidFill>
                  <a:srgbClr val="28115B"/>
                </a:solidFill>
                <a:latin typeface="Calibri"/>
                <a:ea typeface="Calibri"/>
                <a:cs typeface="Calibri"/>
              </a:defRPr>
            </a:pPr>
            <a:r>
              <a:rPr sz="938" b="1">
                <a:solidFill>
                  <a:srgbClr val="28115B"/>
                </a:solidFill>
                <a:latin typeface="Calibri"/>
                <a:ea typeface="Calibri"/>
                <a:cs typeface="Calibri"/>
              </a:rPr>
              <a:t>Responsive layout</a:t>
            </a:r>
          </a:p>
        </p:txBody>
      </p:sp>
      <p:sp>
        <p:nvSpPr>
          <p:cNvPr id="100" name="">
            <a:extLst xmlns:a="http://schemas.openxmlformats.org/drawingml/2006/main">
              <a:ext uri="{FF2B5EF4-FFF2-40B4-BE49-F238E27FC236}">
                <a16:creationId xmlns:a16="http://schemas.microsoft.com/office/drawing/2014/main" id="{A991822F-171A-4217-9321-18CF1CDC76B8}"/>
              </a:ext>
            </a:extLst>
          </p:cNvPr>
          <p:cNvSpPr>
            <a:spLocks xmlns:a="http://schemas.openxmlformats.org/drawingml/2006/main" noGrp="1"/>
          </p:cNvSpPr>
          <p:nvPr/>
        </p:nvSpPr>
        <p:spPr>
          <a:xfrm xmlns:a="http://schemas.openxmlformats.org/drawingml/2006/main">
            <a:off x="9725025" y="4086225"/>
            <a:ext cx="2133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720">
                <a:solidFill>
                  <a:srgbClr val="656A7B"/>
                </a:solidFill>
                <a:latin typeface="Calibri"/>
                <a:ea typeface="Calibri"/>
                <a:cs typeface="Calibri"/>
              </a:defRPr>
            </a:pPr>
            <a:r>
              <a:rPr sz="720">
                <a:solidFill>
                  <a:srgbClr val="656A7B"/>
                </a:solidFill>
                <a:latin typeface="Calibri"/>
                <a:ea typeface="Calibri"/>
                <a:cs typeface="Calibri"/>
              </a:rPr>
              <a:t>CSS grid and flexbox keep the search, results and legend readable from phone to desk.</a:t>
            </a:r>
          </a:p>
        </p:txBody>
      </p:sp>
      <p:sp>
        <p:nvSpPr>
          <p:cNvPr id="101" name="">
            <a:extLst xmlns:a="http://schemas.openxmlformats.org/drawingml/2006/main">
              <a:ext uri="{FF2B5EF4-FFF2-40B4-BE49-F238E27FC236}">
                <a16:creationId xmlns:a16="http://schemas.microsoft.com/office/drawing/2014/main" id="{7E7396A5-8AFA-4AF0-83C2-C0CB999FA4A5}"/>
              </a:ext>
            </a:extLst>
          </p:cNvPr>
          <p:cNvSpPr>
            <a:spLocks xmlns:a="http://schemas.openxmlformats.org/drawingml/2006/main" noGrp="1"/>
          </p:cNvSpPr>
          <p:nvPr/>
        </p:nvSpPr>
        <p:spPr>
          <a:xfrm xmlns:a="http://schemas.openxmlformats.org/drawingml/2006/main">
            <a:off x="6629400" y="4286250"/>
            <a:ext cx="95250" cy="95250"/>
          </a:xfrm>
          <a:prstGeom xmlns:a="http://schemas.openxmlformats.org/drawingml/2006/main" prst="ellipse">
            <a:avLst/>
          </a:prstGeom>
          <a:solidFill xmlns:a="http://schemas.openxmlformats.org/drawingml/2006/main">
            <a:srgbClr val="E9B33B"/>
          </a:solidFill>
          <a:ln xmlns:a="http://schemas.openxmlformats.org/drawingml/2006/main" w="9525">
            <a:solidFill>
              <a:srgbClr val="FFFFFF"/>
            </a:solidFill>
            <a:prstDash val="solid"/>
          </a:ln>
        </p:spPr>
      </p:sp>
      <p:cxnSp>
        <p:nvCxnSpPr>
          <p:cNvPr id="170" name=""/>
          <p:cNvCxnSpPr>
            <a:stCxn xmlns:a="http://schemas.openxmlformats.org/drawingml/2006/main" id="97" idx="1"/>
            <a:endCxn xmlns:a="http://schemas.openxmlformats.org/drawingml/2006/main" id="101" idx="6"/>
          </p:cNvCxnSpPr>
          <p:nvPr/>
        </p:nvCxnSpPr>
        <p:spPr>
          <a:xfrm xmlns:a="http://schemas.openxmlformats.org/drawingml/2006/main" flipH="1">
            <a:off x="6724650" y="4152900"/>
            <a:ext cx="2857500" cy="180975"/>
          </a:xfrm>
          <a:prstGeom xmlns:a="http://schemas.openxmlformats.org/drawingml/2006/main" prst="straightConnector1">
            <a:avLst/>
          </a:prstGeom>
          <a:ln xmlns:a="http://schemas.openxmlformats.org/drawingml/2006/main" w="11906">
            <a:solidFill>
              <a:srgbClr val="E9B33B"/>
            </a:solidFill>
            <a:prstDash val="solid"/>
            <a:tailEnd type="arrow" w="sm" len="sm"/>
          </a:ln>
        </p:spPr>
      </p:cxnSp>
      <p:sp>
        <p:nvSpPr>
          <p:cNvPr id="103" name="">
            <a:extLst xmlns:a="http://schemas.openxmlformats.org/drawingml/2006/main">
              <a:ext uri="{FF2B5EF4-FFF2-40B4-BE49-F238E27FC236}">
                <a16:creationId xmlns:a16="http://schemas.microsoft.com/office/drawing/2014/main" id="{84FFCBE1-577F-46CD-A991-59EA25EC2369}"/>
              </a:ext>
            </a:extLst>
          </p:cNvPr>
          <p:cNvSpPr>
            <a:spLocks xmlns:a="http://schemas.openxmlformats.org/drawingml/2006/main" noGrp="1"/>
          </p:cNvSpPr>
          <p:nvPr/>
        </p:nvSpPr>
        <p:spPr>
          <a:xfrm xmlns:a="http://schemas.openxmlformats.org/drawingml/2006/main">
            <a:off x="9582150" y="4667250"/>
            <a:ext cx="2400300" cy="723900"/>
          </a:xfrm>
          <a:prstGeom xmlns:a="http://schemas.openxmlformats.org/drawingml/2006/main" prst="roundRect">
            <a:avLst>
              <a:gd name="adj" fmla="val 10526"/>
            </a:avLst>
          </a:prstGeom>
          <a:solidFill xmlns:a="http://schemas.openxmlformats.org/drawingml/2006/main">
            <a:srgbClr val="F7F7FB"/>
          </a:solidFill>
          <a:ln xmlns:a="http://schemas.openxmlformats.org/drawingml/2006/main" w="9525">
            <a:solidFill>
              <a:srgbClr val="D8DAE6"/>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4" name="">
            <a:extLst xmlns:a="http://schemas.openxmlformats.org/drawingml/2006/main">
              <a:ext uri="{FF2B5EF4-FFF2-40B4-BE49-F238E27FC236}">
                <a16:creationId xmlns:a16="http://schemas.microsoft.com/office/drawing/2014/main" id="{4DEFE0B1-3A97-41E6-9C39-6774A5460B22}"/>
              </a:ext>
            </a:extLst>
          </p:cNvPr>
          <p:cNvSpPr>
            <a:spLocks xmlns:a="http://schemas.openxmlformats.org/drawingml/2006/main" noGrp="1"/>
          </p:cNvSpPr>
          <p:nvPr/>
        </p:nvSpPr>
        <p:spPr>
          <a:xfrm xmlns:a="http://schemas.openxmlformats.org/drawingml/2006/main">
            <a:off x="9591675" y="4762500"/>
            <a:ext cx="38100" cy="533400"/>
          </a:xfrm>
          <a:prstGeom xmlns:a="http://schemas.openxmlformats.org/drawingml/2006/main" prst="rect">
            <a:avLst/>
          </a:prstGeom>
          <a:solidFill xmlns:a="http://schemas.openxmlformats.org/drawingml/2006/main">
            <a:srgbClr val="E9B33B"/>
          </a:solidFill>
          <a:ln xmlns:a="http://schemas.openxmlformats.org/drawingml/2006/main" w="0">
            <a:noFill/>
          </a:ln>
        </p:spPr>
      </p:sp>
      <p:sp>
        <p:nvSpPr>
          <p:cNvPr id="105" name="">
            <a:extLst xmlns:a="http://schemas.openxmlformats.org/drawingml/2006/main">
              <a:ext uri="{FF2B5EF4-FFF2-40B4-BE49-F238E27FC236}">
                <a16:creationId xmlns:a16="http://schemas.microsoft.com/office/drawing/2014/main" id="{1F459A3D-1FD7-4CC9-806B-A75725B03CBF}"/>
              </a:ext>
            </a:extLst>
          </p:cNvPr>
          <p:cNvSpPr>
            <a:spLocks xmlns:a="http://schemas.openxmlformats.org/drawingml/2006/main" noGrp="1"/>
          </p:cNvSpPr>
          <p:nvPr/>
        </p:nvSpPr>
        <p:spPr>
          <a:xfrm xmlns:a="http://schemas.openxmlformats.org/drawingml/2006/main">
            <a:off x="9725025" y="4762500"/>
            <a:ext cx="21336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5970"/>
          </a:bodyPr>
          <a:lstStyle xmlns:a="http://schemas.openxmlformats.org/drawingml/2006/main"/>
          <a:p xmlns:a="http://schemas.openxmlformats.org/drawingml/2006/main">
            <a:pPr>
              <a:defRPr sz="938" b="1">
                <a:solidFill>
                  <a:srgbClr val="28115B"/>
                </a:solidFill>
                <a:latin typeface="Calibri"/>
                <a:ea typeface="Calibri"/>
                <a:cs typeface="Calibri"/>
              </a:defRPr>
            </a:pPr>
            <a:r>
              <a:rPr sz="938" b="1">
                <a:solidFill>
                  <a:srgbClr val="28115B"/>
                </a:solidFill>
                <a:latin typeface="Calibri"/>
                <a:ea typeface="Calibri"/>
                <a:cs typeface="Calibri"/>
              </a:rPr>
              <a:t>Accessibility built in</a:t>
            </a:r>
          </a:p>
        </p:txBody>
      </p:sp>
      <p:sp>
        <p:nvSpPr>
          <p:cNvPr id="106" name="">
            <a:extLst xmlns:a="http://schemas.openxmlformats.org/drawingml/2006/main">
              <a:ext uri="{FF2B5EF4-FFF2-40B4-BE49-F238E27FC236}">
                <a16:creationId xmlns:a16="http://schemas.microsoft.com/office/drawing/2014/main" id="{744559BB-5FFC-43F1-A6E6-290FCD5122AA}"/>
              </a:ext>
            </a:extLst>
          </p:cNvPr>
          <p:cNvSpPr>
            <a:spLocks xmlns:a="http://schemas.openxmlformats.org/drawingml/2006/main" noGrp="1"/>
          </p:cNvSpPr>
          <p:nvPr/>
        </p:nvSpPr>
        <p:spPr>
          <a:xfrm xmlns:a="http://schemas.openxmlformats.org/drawingml/2006/main">
            <a:off x="9725025" y="4962525"/>
            <a:ext cx="2133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859"/>
          </a:bodyPr>
          <a:lstStyle xmlns:a="http://schemas.openxmlformats.org/drawingml/2006/main"/>
          <a:p xmlns:a="http://schemas.openxmlformats.org/drawingml/2006/main">
            <a:pPr>
              <a:defRPr sz="720">
                <a:solidFill>
                  <a:srgbClr val="656A7B"/>
                </a:solidFill>
                <a:latin typeface="Calibri"/>
                <a:ea typeface="Calibri"/>
                <a:cs typeface="Calibri"/>
              </a:defRPr>
            </a:pPr>
            <a:r>
              <a:rPr sz="720">
                <a:solidFill>
                  <a:srgbClr val="656A7B"/>
                </a:solidFill>
                <a:latin typeface="Calibri"/>
                <a:ea typeface="Calibri"/>
                <a:cs typeface="Calibri"/>
              </a:rPr>
              <a:t>Words support colour, controls work by keyboard and reduced-motion settings are respected.</a:t>
            </a:r>
          </a:p>
        </p:txBody>
      </p:sp>
      <p:sp>
        <p:nvSpPr>
          <p:cNvPr id="107" name="">
            <a:extLst xmlns:a="http://schemas.openxmlformats.org/drawingml/2006/main">
              <a:ext uri="{FF2B5EF4-FFF2-40B4-BE49-F238E27FC236}">
                <a16:creationId xmlns:a16="http://schemas.microsoft.com/office/drawing/2014/main" id="{66CE0051-8D01-459A-9BFC-C0436860D99A}"/>
              </a:ext>
            </a:extLst>
          </p:cNvPr>
          <p:cNvSpPr>
            <a:spLocks xmlns:a="http://schemas.openxmlformats.org/drawingml/2006/main" noGrp="1"/>
          </p:cNvSpPr>
          <p:nvPr/>
        </p:nvSpPr>
        <p:spPr>
          <a:xfrm xmlns:a="http://schemas.openxmlformats.org/drawingml/2006/main">
            <a:off x="4752975" y="4648200"/>
            <a:ext cx="95250" cy="95250"/>
          </a:xfrm>
          <a:prstGeom xmlns:a="http://schemas.openxmlformats.org/drawingml/2006/main" prst="ellipse">
            <a:avLst/>
          </a:prstGeom>
          <a:solidFill xmlns:a="http://schemas.openxmlformats.org/drawingml/2006/main">
            <a:srgbClr val="E9B33B"/>
          </a:solidFill>
          <a:ln xmlns:a="http://schemas.openxmlformats.org/drawingml/2006/main" w="9525">
            <a:solidFill>
              <a:srgbClr val="FFFFFF"/>
            </a:solidFill>
            <a:prstDash val="solid"/>
          </a:ln>
        </p:spPr>
      </p:sp>
      <p:cxnSp>
        <p:nvCxnSpPr>
          <p:cNvPr id="176" name=""/>
          <p:cNvCxnSpPr>
            <a:stCxn xmlns:a="http://schemas.openxmlformats.org/drawingml/2006/main" id="103" idx="1"/>
            <a:endCxn xmlns:a="http://schemas.openxmlformats.org/drawingml/2006/main" id="107" idx="6"/>
          </p:cNvCxnSpPr>
          <p:nvPr/>
        </p:nvCxnSpPr>
        <p:spPr>
          <a:xfrm xmlns:a="http://schemas.openxmlformats.org/drawingml/2006/main" flipH="1" flipV="1">
            <a:off x="4848225" y="4695825"/>
            <a:ext cx="4733925" cy="333375"/>
          </a:xfrm>
          <a:prstGeom xmlns:a="http://schemas.openxmlformats.org/drawingml/2006/main" prst="straightConnector1">
            <a:avLst/>
          </a:prstGeom>
          <a:ln xmlns:a="http://schemas.openxmlformats.org/drawingml/2006/main" w="11906">
            <a:solidFill>
              <a:srgbClr val="E9B33B"/>
            </a:solidFill>
            <a:prstDash val="solid"/>
            <a:tailEnd type="arrow" w="sm" len="sm"/>
          </a:ln>
        </p:spPr>
      </p:cxnSp>
      <p:sp>
        <p:nvSpPr>
          <p:cNvPr id="109" name="">
            <a:extLst xmlns:a="http://schemas.openxmlformats.org/drawingml/2006/main">
              <a:ext uri="{FF2B5EF4-FFF2-40B4-BE49-F238E27FC236}">
                <a16:creationId xmlns:a16="http://schemas.microsoft.com/office/drawing/2014/main" id="{E4E3EA32-3FBB-48ED-9315-F4B30E956AF8}"/>
              </a:ext>
            </a:extLst>
          </p:cNvPr>
          <p:cNvSpPr>
            <a:spLocks xmlns:a="http://schemas.openxmlformats.org/drawingml/2006/main" noGrp="1"/>
          </p:cNvSpPr>
          <p:nvPr/>
        </p:nvSpPr>
        <p:spPr>
          <a:xfrm xmlns:a="http://schemas.openxmlformats.org/drawingml/2006/main">
            <a:off x="11334750" y="6524625"/>
            <a:ext cx="304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4444"/>
          </a:bodyPr>
          <a:lstStyle xmlns:a="http://schemas.openxmlformats.org/drawingml/2006/main"/>
          <a:p xmlns:a="http://schemas.openxmlformats.org/drawingml/2006/main">
            <a:pPr>
              <a:defRPr sz="900">
                <a:solidFill>
                  <a:srgbClr val="656A7B"/>
                </a:solidFill>
                <a:latin typeface="Calibri"/>
                <a:ea typeface="Calibri"/>
                <a:cs typeface="Calibri"/>
              </a:defRPr>
            </a:pPr>
            <a:r>
              <a:rPr sz="900">
                <a:solidFill>
                  <a:srgbClr val="656A7B"/>
                </a:solidFill>
                <a:latin typeface="Calibri"/>
                <a:ea typeface="Calibri"/>
                <a:cs typeface="Calibri"/>
              </a:rPr>
              <a:t>5</a:t>
            </a:r>
          </a:p>
        </p:txBody>
      </p:sp>
    </p:spTree>
    <p:extLst>
      <p:ext uri="{BB962C8B-B14F-4D97-AF65-F5344CB8AC3E}">
        <p14:creationId xmlns:p14="http://schemas.microsoft.com/office/powerpoint/2010/main" val="212321969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25850DA5-5C78-4D5B-8E4E-96E01C041B89}"/>
              </a:ext>
            </a:extLst>
          </p:cNvPr>
          <p:cNvSpPr>
            <a:spLocks xmlns:a="http://schemas.openxmlformats.org/drawingml/2006/main" noGrp="1"/>
          </p:cNvSpPr>
          <p:nvPr/>
        </p:nvSpPr>
        <p:spPr>
          <a:xfrm xmlns:a="http://schemas.openxmlformats.org/drawingml/2006/main">
            <a:off x="566928" y="384048"/>
            <a:ext cx="82296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20">
                <a:solidFill>
                  <a:srgbClr val="E4B454"/>
                </a:solidFill>
                <a:latin typeface="Calibri"/>
                <a:ea typeface="Calibri"/>
                <a:cs typeface="Calibri"/>
              </a:rPr>
              <a:t>SYSTEM DESIGN</a:t>
            </a:r>
            <a:endParaRPr sz="1100"/>
          </a:p>
        </p:txBody>
      </p:sp>
      <p:sp>
        <p:nvSpPr>
          <p:cNvPr id="3" name="Text 1">
            <a:extLst xmlns:a="http://schemas.openxmlformats.org/drawingml/2006/main">
              <a:ext uri="{FF2B5EF4-FFF2-40B4-BE49-F238E27FC236}">
                <a16:creationId xmlns:a16="http://schemas.microsoft.com/office/drawing/2014/main" id="{4AE40204-19BA-4D06-81EA-E1B992B57F89}"/>
              </a:ext>
            </a:extLst>
          </p:cNvPr>
          <p:cNvSpPr>
            <a:spLocks xmlns:a="http://schemas.openxmlformats.org/drawingml/2006/main" noGrp="1"/>
          </p:cNvSpPr>
          <p:nvPr/>
        </p:nvSpPr>
        <p:spPr>
          <a:xfrm xmlns:a="http://schemas.openxmlformats.org/drawingml/2006/main">
            <a:off x="566928" y="640080"/>
            <a:ext cx="96926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40C54"/>
                </a:solidFill>
                <a:latin typeface="Cambria"/>
                <a:ea typeface="Cambria"/>
                <a:cs typeface="Cambria"/>
              </a:rPr>
              <a:t>How a request travels through the system</a:t>
            </a:r>
            <a:endParaRPr sz="3000"/>
          </a:p>
        </p:txBody>
      </p:sp>
      <p:pic>
        <p:nvPicPr>
          <p:cNvPr id="48" name="Image 0"/>
          <p:cNvPicPr>
            <a:picLocks xmlns:a="http://schemas.openxmlformats.org/drawingml/2006/main" noChangeAspect="1"/>
          </p:cNvPicPr>
          <p:nvPr/>
        </p:nvPicPr>
        <p:blipFill>
          <a:blip xmlns:r="http://schemas.openxmlformats.org/officeDocument/2006/relationships" xmlns:a="http://schemas.openxmlformats.org/drawingml/2006/main" r:embed="R82991f3dfbb04a44"/>
          <a:stretch xmlns:a="http://schemas.openxmlformats.org/drawingml/2006/main">
            <a:fillRect l="0" t="0" r="0" b="0"/>
          </a:stretch>
        </p:blipFill>
        <p:spPr>
          <a:xfrm xmlns:a="http://schemas.openxmlformats.org/drawingml/2006/main">
            <a:off x="11149279" y="365760"/>
            <a:ext cx="475488" cy="466344"/>
          </a:xfrm>
          <a:prstGeom xmlns:a="http://schemas.openxmlformats.org/drawingml/2006/main" prst="rect">
            <a:avLst/>
          </a:prstGeom>
        </p:spPr>
      </p:pic>
      <p:sp>
        <p:nvSpPr>
          <p:cNvPr id="5" name="Text 2">
            <a:extLst xmlns:a="http://schemas.openxmlformats.org/drawingml/2006/main">
              <a:ext uri="{FF2B5EF4-FFF2-40B4-BE49-F238E27FC236}">
                <a16:creationId xmlns:a16="http://schemas.microsoft.com/office/drawing/2014/main" id="{BE5152B4-6555-47AD-AF5A-68D28DC565A2}"/>
              </a:ext>
            </a:extLst>
          </p:cNvPr>
          <p:cNvSpPr>
            <a:spLocks xmlns:a="http://schemas.openxmlformats.org/drawingml/2006/main" noGrp="1"/>
          </p:cNvSpPr>
          <p:nvPr/>
        </p:nvSpPr>
        <p:spPr>
          <a:xfrm xmlns:a="http://schemas.openxmlformats.org/drawingml/2006/main">
            <a:off x="11149279" y="6382512"/>
            <a:ext cx="475488"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000">
                <a:solidFill>
                  <a:srgbClr val="5B5B6B"/>
                </a:solidFill>
                <a:latin typeface="Calibri"/>
                <a:ea typeface="Calibri"/>
                <a:cs typeface="Calibri"/>
              </a:rPr>
              <a:t>6</a:t>
            </a:r>
            <a:endParaRPr sz="1000"/>
          </a:p>
        </p:txBody>
      </p:sp>
      <p:sp>
        <p:nvSpPr>
          <p:cNvPr id="6" name="Text 3">
            <a:extLst xmlns:a="http://schemas.openxmlformats.org/drawingml/2006/main">
              <a:ext uri="{FF2B5EF4-FFF2-40B4-BE49-F238E27FC236}">
                <a16:creationId xmlns:a16="http://schemas.microsoft.com/office/drawing/2014/main" id="{7729FC03-677E-49B2-B41E-AC2455BD8EB5}"/>
              </a:ext>
            </a:extLst>
          </p:cNvPr>
          <p:cNvSpPr>
            <a:spLocks xmlns:a="http://schemas.openxmlformats.org/drawingml/2006/main" noGrp="1"/>
          </p:cNvSpPr>
          <p:nvPr/>
        </p:nvSpPr>
        <p:spPr>
          <a:xfrm xmlns:a="http://schemas.openxmlformats.org/drawingml/2006/main">
            <a:off x="566928" y="1316736"/>
            <a:ext cx="1005840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a:solidFill>
                  <a:srgbClr val="1A1A2E"/>
                </a:solidFill>
                <a:latin typeface="Calibri"/>
                <a:ea typeface="Calibri"/>
                <a:cs typeface="Calibri"/>
              </a:rPr>
              <a:t>Following one action end to end: a member presses Borrow, and a due-date reminder arrives three days later.</a:t>
            </a:r>
            <a:endParaRPr sz="1350"/>
          </a:p>
        </p:txBody>
      </p:sp>
      <p:sp>
        <p:nvSpPr>
          <p:cNvPr id="7" name="Shape 4">
            <a:extLst xmlns:a="http://schemas.openxmlformats.org/drawingml/2006/main">
              <a:ext uri="{FF2B5EF4-FFF2-40B4-BE49-F238E27FC236}">
                <a16:creationId xmlns:a16="http://schemas.microsoft.com/office/drawing/2014/main" id="{F982AA4B-006B-45F7-8E8A-9A838718047D}"/>
              </a:ext>
            </a:extLst>
          </p:cNvPr>
          <p:cNvSpPr>
            <a:spLocks xmlns:a="http://schemas.openxmlformats.org/drawingml/2006/main" noGrp="1"/>
          </p:cNvSpPr>
          <p:nvPr/>
        </p:nvSpPr>
        <p:spPr>
          <a:xfrm xmlns:a="http://schemas.openxmlformats.org/drawingml/2006/main">
            <a:off x="566928" y="1828800"/>
            <a:ext cx="1847088" cy="1170432"/>
          </a:xfrm>
          <a:prstGeom xmlns:a="http://schemas.openxmlformats.org/drawingml/2006/main" prst="roundRect">
            <a:avLst>
              <a:gd name="adj" fmla="val 5469"/>
            </a:avLst>
          </a:prstGeom>
          <a:solidFill xmlns:a="http://schemas.openxmlformats.org/drawingml/2006/main">
            <a:srgbClr val="1D4ED8"/>
          </a:solidFill>
          <a:ln xmlns:a="http://schemas.openxmlformats.org/drawingml/2006/main" w="12700">
            <a:solidFill>
              <a:srgbClr val="1D4ED8"/>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8" name="Text 5">
            <a:extLst xmlns:a="http://schemas.openxmlformats.org/drawingml/2006/main">
              <a:ext uri="{FF2B5EF4-FFF2-40B4-BE49-F238E27FC236}">
                <a16:creationId xmlns:a16="http://schemas.microsoft.com/office/drawing/2014/main" id="{C77278B4-2DB0-424A-AF67-02B90BE69195}"/>
              </a:ext>
            </a:extLst>
          </p:cNvPr>
          <p:cNvSpPr>
            <a:spLocks xmlns:a="http://schemas.openxmlformats.org/drawingml/2006/main" noGrp="1"/>
          </p:cNvSpPr>
          <p:nvPr/>
        </p:nvSpPr>
        <p:spPr>
          <a:xfrm xmlns:a="http://schemas.openxmlformats.org/drawingml/2006/main">
            <a:off x="658368" y="1975104"/>
            <a:ext cx="1664208"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E4B454"/>
                </a:solidFill>
                <a:latin typeface="Calibri"/>
                <a:ea typeface="Calibri"/>
                <a:cs typeface="Calibri"/>
              </a:rPr>
              <a:t>Browser</a:t>
            </a:r>
            <a:endParaRPr sz="1300"/>
          </a:p>
        </p:txBody>
      </p:sp>
      <p:sp>
        <p:nvSpPr>
          <p:cNvPr id="9" name="Text 6">
            <a:extLst xmlns:a="http://schemas.openxmlformats.org/drawingml/2006/main">
              <a:ext uri="{FF2B5EF4-FFF2-40B4-BE49-F238E27FC236}">
                <a16:creationId xmlns:a16="http://schemas.microsoft.com/office/drawing/2014/main" id="{9A4B10E2-2FFA-407B-9CD5-89FB62B6A78B}"/>
              </a:ext>
            </a:extLst>
          </p:cNvPr>
          <p:cNvSpPr>
            <a:spLocks xmlns:a="http://schemas.openxmlformats.org/drawingml/2006/main" noGrp="1"/>
          </p:cNvSpPr>
          <p:nvPr/>
        </p:nvSpPr>
        <p:spPr>
          <a:xfrm xmlns:a="http://schemas.openxmlformats.org/drawingml/2006/main">
            <a:off x="640080" y="2249424"/>
            <a:ext cx="1700784"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ts val="1300"/>
              </a:lnSpc>
              <a:buNone/>
            </a:pPr>
            <a:r>
              <a:rPr sz="1000">
                <a:solidFill>
                  <a:srgbClr val="E2DEF2"/>
                </a:solidFill>
                <a:latin typeface="Calibri"/>
                <a:ea typeface="Calibri"/>
                <a:cs typeface="Calibri"/>
              </a:rPr>
              <a:t>HTML, CSS and</a:t>
            </a:r>
            <a:endParaRPr sz="1000"/>
          </a:p>
          <a:p xmlns:a="http://schemas.openxmlformats.org/drawingml/2006/main">
            <a:pPr marL="0" indent="0" algn="ctr">
              <a:lnSpc>
                <a:spcPts val="1300"/>
              </a:lnSpc>
              <a:buNone/>
            </a:pPr>
            <a:r>
              <a:rPr sz="1000">
                <a:solidFill>
                  <a:srgbClr val="E2DEF2"/>
                </a:solidFill>
                <a:latin typeface="Calibri"/>
                <a:ea typeface="Calibri"/>
                <a:cs typeface="Calibri"/>
              </a:rPr>
              <a:t>JavaScript</a:t>
            </a:r>
            <a:endParaRPr sz="1000"/>
          </a:p>
        </p:txBody>
      </p:sp>
      <p:sp>
        <p:nvSpPr>
          <p:cNvPr id="10" name="Shape 7">
            <a:extLst xmlns:a="http://schemas.openxmlformats.org/drawingml/2006/main">
              <a:ext uri="{FF2B5EF4-FFF2-40B4-BE49-F238E27FC236}">
                <a16:creationId xmlns:a16="http://schemas.microsoft.com/office/drawing/2014/main" id="{9574E8D5-57BE-4D11-B9F1-BA61B9312460}"/>
              </a:ext>
            </a:extLst>
          </p:cNvPr>
          <p:cNvSpPr>
            <a:spLocks xmlns:a="http://schemas.openxmlformats.org/drawingml/2006/main" noGrp="1"/>
          </p:cNvSpPr>
          <p:nvPr/>
        </p:nvSpPr>
        <p:spPr>
          <a:xfrm xmlns:a="http://schemas.openxmlformats.org/drawingml/2006/main">
            <a:off x="2450592" y="2340864"/>
            <a:ext cx="201168" cy="164592"/>
          </a:xfrm>
          <a:prstGeom xmlns:a="http://schemas.openxmlformats.org/drawingml/2006/main" prst="chevron">
            <a:avLst/>
          </a:prstGeom>
          <a:solidFill xmlns:a="http://schemas.openxmlformats.org/drawingml/2006/main">
            <a:srgbClr val="D8DAE5"/>
          </a:solidFill>
          <a:ln xmlns:a="http://schemas.openxmlformats.org/drawingml/2006/main" w="12700">
            <a:solidFill>
              <a:srgbClr val="D8DAE5"/>
            </a:solidFill>
            <a:prstDash val="solid"/>
          </a:ln>
        </p:spPr>
      </p:sp>
      <p:sp>
        <p:nvSpPr>
          <p:cNvPr id="11" name="Shape 8">
            <a:extLst xmlns:a="http://schemas.openxmlformats.org/drawingml/2006/main">
              <a:ext uri="{FF2B5EF4-FFF2-40B4-BE49-F238E27FC236}">
                <a16:creationId xmlns:a16="http://schemas.microsoft.com/office/drawing/2014/main" id="{17E1977E-D749-458B-B97F-B0528612CA16}"/>
              </a:ext>
            </a:extLst>
          </p:cNvPr>
          <p:cNvSpPr>
            <a:spLocks xmlns:a="http://schemas.openxmlformats.org/drawingml/2006/main" noGrp="1"/>
          </p:cNvSpPr>
          <p:nvPr/>
        </p:nvSpPr>
        <p:spPr>
          <a:xfrm xmlns:a="http://schemas.openxmlformats.org/drawingml/2006/main">
            <a:off x="2715768" y="1828800"/>
            <a:ext cx="1847088" cy="1170432"/>
          </a:xfrm>
          <a:prstGeom xmlns:a="http://schemas.openxmlformats.org/drawingml/2006/main" prst="roundRect">
            <a:avLst>
              <a:gd name="adj" fmla="val 5469"/>
            </a:avLst>
          </a:prstGeom>
          <a:solidFill xmlns:a="http://schemas.openxmlformats.org/drawingml/2006/main">
            <a:srgbClr val="3B82F6"/>
          </a:solidFill>
          <a:ln xmlns:a="http://schemas.openxmlformats.org/drawingml/2006/main" w="12700">
            <a:solidFill>
              <a:srgbClr val="3B82F6"/>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12" name="Text 9">
            <a:extLst xmlns:a="http://schemas.openxmlformats.org/drawingml/2006/main">
              <a:ext uri="{FF2B5EF4-FFF2-40B4-BE49-F238E27FC236}">
                <a16:creationId xmlns:a16="http://schemas.microsoft.com/office/drawing/2014/main" id="{FA5F00C3-E132-4245-AAA5-5F0EF108216D}"/>
              </a:ext>
            </a:extLst>
          </p:cNvPr>
          <p:cNvSpPr>
            <a:spLocks xmlns:a="http://schemas.openxmlformats.org/drawingml/2006/main" noGrp="1"/>
          </p:cNvSpPr>
          <p:nvPr/>
        </p:nvSpPr>
        <p:spPr>
          <a:xfrm xmlns:a="http://schemas.openxmlformats.org/drawingml/2006/main">
            <a:off x="2807208" y="1975104"/>
            <a:ext cx="1664208"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E4B454"/>
                </a:solidFill>
                <a:latin typeface="Calibri"/>
                <a:ea typeface="Calibri"/>
                <a:cs typeface="Calibri"/>
              </a:rPr>
              <a:t>Cloudflare</a:t>
            </a:r>
            <a:endParaRPr sz="1300"/>
          </a:p>
        </p:txBody>
      </p:sp>
      <p:sp>
        <p:nvSpPr>
          <p:cNvPr id="13" name="Text 10">
            <a:extLst xmlns:a="http://schemas.openxmlformats.org/drawingml/2006/main">
              <a:ext uri="{FF2B5EF4-FFF2-40B4-BE49-F238E27FC236}">
                <a16:creationId xmlns:a16="http://schemas.microsoft.com/office/drawing/2014/main" id="{208D2B98-7D2B-4594-BC39-1A13F33A29BF}"/>
              </a:ext>
            </a:extLst>
          </p:cNvPr>
          <p:cNvSpPr>
            <a:spLocks xmlns:a="http://schemas.openxmlformats.org/drawingml/2006/main" noGrp="1"/>
          </p:cNvSpPr>
          <p:nvPr/>
        </p:nvSpPr>
        <p:spPr>
          <a:xfrm xmlns:a="http://schemas.openxmlformats.org/drawingml/2006/main">
            <a:off x="2788920" y="2249424"/>
            <a:ext cx="1700784"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ts val="1300"/>
              </a:lnSpc>
              <a:buNone/>
            </a:pPr>
            <a:r>
              <a:rPr sz="1000">
                <a:solidFill>
                  <a:srgbClr val="E2DEF2"/>
                </a:solidFill>
                <a:latin typeface="Calibri"/>
                <a:ea typeface="Calibri"/>
                <a:cs typeface="Calibri"/>
              </a:rPr>
              <a:t>DNS and TLS</a:t>
            </a:r>
            <a:endParaRPr sz="1000"/>
          </a:p>
          <a:p xmlns:a="http://schemas.openxmlformats.org/drawingml/2006/main">
            <a:pPr marL="0" indent="0" algn="ctr">
              <a:lnSpc>
                <a:spcPts val="1300"/>
              </a:lnSpc>
              <a:buNone/>
            </a:pPr>
            <a:r>
              <a:rPr sz="1000">
                <a:solidFill>
                  <a:srgbClr val="E2DEF2"/>
                </a:solidFill>
                <a:latin typeface="Calibri"/>
                <a:ea typeface="Calibri"/>
                <a:cs typeface="Calibri"/>
              </a:rPr>
              <a:t>for the domain</a:t>
            </a:r>
            <a:endParaRPr sz="1000"/>
          </a:p>
        </p:txBody>
      </p:sp>
      <p:sp>
        <p:nvSpPr>
          <p:cNvPr id="14" name="Shape 11">
            <a:extLst xmlns:a="http://schemas.openxmlformats.org/drawingml/2006/main">
              <a:ext uri="{FF2B5EF4-FFF2-40B4-BE49-F238E27FC236}">
                <a16:creationId xmlns:a16="http://schemas.microsoft.com/office/drawing/2014/main" id="{2B73628E-F1F7-4A37-950D-F17814F19964}"/>
              </a:ext>
            </a:extLst>
          </p:cNvPr>
          <p:cNvSpPr>
            <a:spLocks xmlns:a="http://schemas.openxmlformats.org/drawingml/2006/main" noGrp="1"/>
          </p:cNvSpPr>
          <p:nvPr/>
        </p:nvSpPr>
        <p:spPr>
          <a:xfrm xmlns:a="http://schemas.openxmlformats.org/drawingml/2006/main">
            <a:off x="4599432" y="2340864"/>
            <a:ext cx="201168" cy="164592"/>
          </a:xfrm>
          <a:prstGeom xmlns:a="http://schemas.openxmlformats.org/drawingml/2006/main" prst="chevron">
            <a:avLst/>
          </a:prstGeom>
          <a:solidFill xmlns:a="http://schemas.openxmlformats.org/drawingml/2006/main">
            <a:srgbClr val="D8DAE5"/>
          </a:solidFill>
          <a:ln xmlns:a="http://schemas.openxmlformats.org/drawingml/2006/main" w="12700">
            <a:solidFill>
              <a:srgbClr val="D8DAE5"/>
            </a:solidFill>
            <a:prstDash val="solid"/>
          </a:ln>
        </p:spPr>
      </p:sp>
      <p:sp>
        <p:nvSpPr>
          <p:cNvPr id="15" name="Shape 12">
            <a:extLst xmlns:a="http://schemas.openxmlformats.org/drawingml/2006/main">
              <a:ext uri="{FF2B5EF4-FFF2-40B4-BE49-F238E27FC236}">
                <a16:creationId xmlns:a16="http://schemas.microsoft.com/office/drawing/2014/main" id="{39C9CCFC-C105-44A7-8804-CF347ECF3D53}"/>
              </a:ext>
            </a:extLst>
          </p:cNvPr>
          <p:cNvSpPr>
            <a:spLocks xmlns:a="http://schemas.openxmlformats.org/drawingml/2006/main" noGrp="1"/>
          </p:cNvSpPr>
          <p:nvPr/>
        </p:nvSpPr>
        <p:spPr>
          <a:xfrm xmlns:a="http://schemas.openxmlformats.org/drawingml/2006/main">
            <a:off x="4864608" y="1828800"/>
            <a:ext cx="1847088" cy="1170432"/>
          </a:xfrm>
          <a:prstGeom xmlns:a="http://schemas.openxmlformats.org/drawingml/2006/main" prst="roundRect">
            <a:avLst>
              <a:gd name="adj" fmla="val 5469"/>
            </a:avLst>
          </a:prstGeom>
          <a:solidFill xmlns:a="http://schemas.openxmlformats.org/drawingml/2006/main">
            <a:srgbClr val="240C54"/>
          </a:solidFill>
          <a:ln xmlns:a="http://schemas.openxmlformats.org/drawingml/2006/main" w="12700">
            <a:solidFill>
              <a:srgbClr val="240C54"/>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16" name="Text 13">
            <a:extLst xmlns:a="http://schemas.openxmlformats.org/drawingml/2006/main">
              <a:ext uri="{FF2B5EF4-FFF2-40B4-BE49-F238E27FC236}">
                <a16:creationId xmlns:a16="http://schemas.microsoft.com/office/drawing/2014/main" id="{54FC05DC-7BCD-43CC-8CCC-3672A704288F}"/>
              </a:ext>
            </a:extLst>
          </p:cNvPr>
          <p:cNvSpPr>
            <a:spLocks xmlns:a="http://schemas.openxmlformats.org/drawingml/2006/main" noGrp="1"/>
          </p:cNvSpPr>
          <p:nvPr/>
        </p:nvSpPr>
        <p:spPr>
          <a:xfrm xmlns:a="http://schemas.openxmlformats.org/drawingml/2006/main">
            <a:off x="4956048" y="1975104"/>
            <a:ext cx="1664208"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E4B454"/>
                </a:solidFill>
                <a:latin typeface="Calibri"/>
                <a:ea typeface="Calibri"/>
                <a:cs typeface="Calibri"/>
              </a:rPr>
              <a:t>Render</a:t>
            </a:r>
            <a:endParaRPr sz="1300"/>
          </a:p>
        </p:txBody>
      </p:sp>
      <p:sp>
        <p:nvSpPr>
          <p:cNvPr id="17" name="Text 14">
            <a:extLst xmlns:a="http://schemas.openxmlformats.org/drawingml/2006/main">
              <a:ext uri="{FF2B5EF4-FFF2-40B4-BE49-F238E27FC236}">
                <a16:creationId xmlns:a16="http://schemas.microsoft.com/office/drawing/2014/main" id="{E9A7A781-3597-419F-8FCB-1FEB3013477A}"/>
              </a:ext>
            </a:extLst>
          </p:cNvPr>
          <p:cNvSpPr>
            <a:spLocks xmlns:a="http://schemas.openxmlformats.org/drawingml/2006/main" noGrp="1"/>
          </p:cNvSpPr>
          <p:nvPr/>
        </p:nvSpPr>
        <p:spPr>
          <a:xfrm xmlns:a="http://schemas.openxmlformats.org/drawingml/2006/main">
            <a:off x="4937760" y="2249424"/>
            <a:ext cx="1700784"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ts val="1300"/>
              </a:lnSpc>
              <a:buNone/>
            </a:pPr>
            <a:r>
              <a:rPr sz="1000">
                <a:solidFill>
                  <a:srgbClr val="E2DEF2"/>
                </a:solidFill>
                <a:latin typeface="Calibri"/>
                <a:ea typeface="Calibri"/>
                <a:cs typeface="Calibri"/>
              </a:rPr>
              <a:t>The Go binary,</a:t>
            </a:r>
            <a:endParaRPr sz="1000"/>
          </a:p>
          <a:p xmlns:a="http://schemas.openxmlformats.org/drawingml/2006/main">
            <a:pPr marL="0" indent="0" algn="ctr">
              <a:lnSpc>
                <a:spcPts val="1300"/>
              </a:lnSpc>
              <a:buNone/>
            </a:pPr>
            <a:r>
              <a:rPr sz="1000">
                <a:solidFill>
                  <a:srgbClr val="E2DEF2"/>
                </a:solidFill>
                <a:latin typeface="Calibri"/>
                <a:ea typeface="Calibri"/>
                <a:cs typeface="Calibri"/>
              </a:rPr>
              <a:t>one container</a:t>
            </a:r>
            <a:endParaRPr sz="1000"/>
          </a:p>
        </p:txBody>
      </p:sp>
      <p:sp>
        <p:nvSpPr>
          <p:cNvPr id="18" name="Shape 15">
            <a:extLst xmlns:a="http://schemas.openxmlformats.org/drawingml/2006/main">
              <a:ext uri="{FF2B5EF4-FFF2-40B4-BE49-F238E27FC236}">
                <a16:creationId xmlns:a16="http://schemas.microsoft.com/office/drawing/2014/main" id="{20303232-3245-465E-BB56-78D7B7FAE78A}"/>
              </a:ext>
            </a:extLst>
          </p:cNvPr>
          <p:cNvSpPr>
            <a:spLocks xmlns:a="http://schemas.openxmlformats.org/drawingml/2006/main" noGrp="1"/>
          </p:cNvSpPr>
          <p:nvPr/>
        </p:nvSpPr>
        <p:spPr>
          <a:xfrm xmlns:a="http://schemas.openxmlformats.org/drawingml/2006/main">
            <a:off x="6748272" y="2340864"/>
            <a:ext cx="201168" cy="164592"/>
          </a:xfrm>
          <a:prstGeom xmlns:a="http://schemas.openxmlformats.org/drawingml/2006/main" prst="chevron">
            <a:avLst/>
          </a:prstGeom>
          <a:solidFill xmlns:a="http://schemas.openxmlformats.org/drawingml/2006/main">
            <a:srgbClr val="D8DAE5"/>
          </a:solidFill>
          <a:ln xmlns:a="http://schemas.openxmlformats.org/drawingml/2006/main" w="12700">
            <a:solidFill>
              <a:srgbClr val="D8DAE5"/>
            </a:solidFill>
            <a:prstDash val="solid"/>
          </a:ln>
        </p:spPr>
      </p:sp>
      <p:sp>
        <p:nvSpPr>
          <p:cNvPr id="19" name="Shape 16">
            <a:extLst xmlns:a="http://schemas.openxmlformats.org/drawingml/2006/main">
              <a:ext uri="{FF2B5EF4-FFF2-40B4-BE49-F238E27FC236}">
                <a16:creationId xmlns:a16="http://schemas.microsoft.com/office/drawing/2014/main" id="{5664E055-43AD-4B2B-9747-06C425ACC6BE}"/>
              </a:ext>
            </a:extLst>
          </p:cNvPr>
          <p:cNvSpPr>
            <a:spLocks xmlns:a="http://schemas.openxmlformats.org/drawingml/2006/main" noGrp="1"/>
          </p:cNvSpPr>
          <p:nvPr/>
        </p:nvSpPr>
        <p:spPr>
          <a:xfrm xmlns:a="http://schemas.openxmlformats.org/drawingml/2006/main">
            <a:off x="7013448" y="1828800"/>
            <a:ext cx="1847088" cy="1170432"/>
          </a:xfrm>
          <a:prstGeom xmlns:a="http://schemas.openxmlformats.org/drawingml/2006/main" prst="roundRect">
            <a:avLst>
              <a:gd name="adj" fmla="val 5469"/>
            </a:avLst>
          </a:prstGeom>
          <a:solidFill xmlns:a="http://schemas.openxmlformats.org/drawingml/2006/main">
            <a:srgbClr val="3B2C7A"/>
          </a:solidFill>
          <a:ln xmlns:a="http://schemas.openxmlformats.org/drawingml/2006/main" w="12700">
            <a:solidFill>
              <a:srgbClr val="3B2C7A"/>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20" name="Text 17">
            <a:extLst xmlns:a="http://schemas.openxmlformats.org/drawingml/2006/main">
              <a:ext uri="{FF2B5EF4-FFF2-40B4-BE49-F238E27FC236}">
                <a16:creationId xmlns:a16="http://schemas.microsoft.com/office/drawing/2014/main" id="{DCBFEBB5-98AF-4F48-A839-B31371F35949}"/>
              </a:ext>
            </a:extLst>
          </p:cNvPr>
          <p:cNvSpPr>
            <a:spLocks xmlns:a="http://schemas.openxmlformats.org/drawingml/2006/main" noGrp="1"/>
          </p:cNvSpPr>
          <p:nvPr/>
        </p:nvSpPr>
        <p:spPr>
          <a:xfrm xmlns:a="http://schemas.openxmlformats.org/drawingml/2006/main">
            <a:off x="7104888" y="1975104"/>
            <a:ext cx="1664208"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E4B454"/>
                </a:solidFill>
                <a:latin typeface="Calibri"/>
                <a:ea typeface="Calibri"/>
                <a:cs typeface="Calibri"/>
              </a:rPr>
              <a:t>Postgres</a:t>
            </a:r>
            <a:endParaRPr sz="1300"/>
          </a:p>
        </p:txBody>
      </p:sp>
      <p:sp>
        <p:nvSpPr>
          <p:cNvPr id="21" name="Text 18">
            <a:extLst xmlns:a="http://schemas.openxmlformats.org/drawingml/2006/main">
              <a:ext uri="{FF2B5EF4-FFF2-40B4-BE49-F238E27FC236}">
                <a16:creationId xmlns:a16="http://schemas.microsoft.com/office/drawing/2014/main" id="{DCD3B6C3-234C-4B95-B787-7CF57C389D84}"/>
              </a:ext>
            </a:extLst>
          </p:cNvPr>
          <p:cNvSpPr>
            <a:spLocks xmlns:a="http://schemas.openxmlformats.org/drawingml/2006/main" noGrp="1"/>
          </p:cNvSpPr>
          <p:nvPr/>
        </p:nvSpPr>
        <p:spPr>
          <a:xfrm xmlns:a="http://schemas.openxmlformats.org/drawingml/2006/main">
            <a:off x="7086600" y="2249424"/>
            <a:ext cx="1700784"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ts val="1300"/>
              </a:lnSpc>
              <a:buNone/>
            </a:pPr>
            <a:r>
              <a:rPr sz="1000">
                <a:solidFill>
                  <a:srgbClr val="E2DEF2"/>
                </a:solidFill>
                <a:latin typeface="Calibri"/>
                <a:ea typeface="Calibri"/>
                <a:cs typeface="Calibri"/>
              </a:rPr>
              <a:t>Locks, rows,</a:t>
            </a:r>
            <a:endParaRPr sz="1000"/>
          </a:p>
          <a:p xmlns:a="http://schemas.openxmlformats.org/drawingml/2006/main">
            <a:pPr marL="0" indent="0" algn="ctr">
              <a:lnSpc>
                <a:spcPts val="1300"/>
              </a:lnSpc>
              <a:buNone/>
            </a:pPr>
            <a:r>
              <a:rPr sz="1000">
                <a:solidFill>
                  <a:srgbClr val="E2DEF2"/>
                </a:solidFill>
                <a:latin typeface="Calibri"/>
                <a:ea typeface="Calibri"/>
                <a:cs typeface="Calibri"/>
              </a:rPr>
              <a:t>the truth</a:t>
            </a:r>
            <a:endParaRPr sz="1000"/>
          </a:p>
        </p:txBody>
      </p:sp>
      <p:sp>
        <p:nvSpPr>
          <p:cNvPr id="22" name="Shape 19">
            <a:extLst xmlns:a="http://schemas.openxmlformats.org/drawingml/2006/main">
              <a:ext uri="{FF2B5EF4-FFF2-40B4-BE49-F238E27FC236}">
                <a16:creationId xmlns:a16="http://schemas.microsoft.com/office/drawing/2014/main" id="{430FBFFC-2C16-44F1-9C8C-EA3C0ACA68D1}"/>
              </a:ext>
            </a:extLst>
          </p:cNvPr>
          <p:cNvSpPr>
            <a:spLocks xmlns:a="http://schemas.openxmlformats.org/drawingml/2006/main" noGrp="1"/>
          </p:cNvSpPr>
          <p:nvPr/>
        </p:nvSpPr>
        <p:spPr>
          <a:xfrm xmlns:a="http://schemas.openxmlformats.org/drawingml/2006/main">
            <a:off x="4864608" y="3163824"/>
            <a:ext cx="1847088" cy="786384"/>
          </a:xfrm>
          <a:prstGeom xmlns:a="http://schemas.openxmlformats.org/drawingml/2006/main" prst="roundRect">
            <a:avLst>
              <a:gd name="adj" fmla="val 8140"/>
            </a:avLst>
          </a:prstGeom>
          <a:solidFill xmlns:a="http://schemas.openxmlformats.org/drawingml/2006/main">
            <a:srgbClr val="F4F5F9"/>
          </a:solidFill>
          <a:ln xmlns:a="http://schemas.openxmlformats.org/drawingml/2006/main" w="12700">
            <a:solidFill>
              <a:srgbClr val="D8DAE5"/>
            </a:solidFill>
            <a:prstDash val="solid"/>
          </a:ln>
        </p:spPr>
      </p:sp>
      <p:sp>
        <p:nvSpPr>
          <p:cNvPr id="23" name="Text 20">
            <a:extLst xmlns:a="http://schemas.openxmlformats.org/drawingml/2006/main">
              <a:ext uri="{FF2B5EF4-FFF2-40B4-BE49-F238E27FC236}">
                <a16:creationId xmlns:a16="http://schemas.microsoft.com/office/drawing/2014/main" id="{271CCAE0-8097-4352-8D4C-50123929A2EF}"/>
              </a:ext>
            </a:extLst>
          </p:cNvPr>
          <p:cNvSpPr>
            <a:spLocks xmlns:a="http://schemas.openxmlformats.org/drawingml/2006/main" noGrp="1"/>
          </p:cNvSpPr>
          <p:nvPr/>
        </p:nvSpPr>
        <p:spPr>
          <a:xfrm xmlns:a="http://schemas.openxmlformats.org/drawingml/2006/main">
            <a:off x="4956048" y="3246120"/>
            <a:ext cx="1664208"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240C54"/>
                </a:solidFill>
                <a:latin typeface="Calibri"/>
                <a:ea typeface="Calibri"/>
                <a:cs typeface="Calibri"/>
              </a:rPr>
              <a:t>Redis</a:t>
            </a:r>
            <a:endParaRPr sz="1200"/>
          </a:p>
        </p:txBody>
      </p:sp>
      <p:sp>
        <p:nvSpPr>
          <p:cNvPr id="24" name="Text 21">
            <a:extLst xmlns:a="http://schemas.openxmlformats.org/drawingml/2006/main">
              <a:ext uri="{FF2B5EF4-FFF2-40B4-BE49-F238E27FC236}">
                <a16:creationId xmlns:a16="http://schemas.microsoft.com/office/drawing/2014/main" id="{7B5307E9-6CCB-4BB0-9215-738D570EF76B}"/>
              </a:ext>
            </a:extLst>
          </p:cNvPr>
          <p:cNvSpPr>
            <a:spLocks xmlns:a="http://schemas.openxmlformats.org/drawingml/2006/main" noGrp="1"/>
          </p:cNvSpPr>
          <p:nvPr/>
        </p:nvSpPr>
        <p:spPr>
          <a:xfrm xmlns:a="http://schemas.openxmlformats.org/drawingml/2006/main">
            <a:off x="4937760" y="3465576"/>
            <a:ext cx="1700784"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a:solidFill>
                  <a:srgbClr val="5B5B6B"/>
                </a:solidFill>
                <a:latin typeface="Calibri"/>
                <a:ea typeface="Calibri"/>
                <a:cs typeface="Calibri"/>
              </a:rPr>
              <a:t>rate limits only</a:t>
            </a:r>
            <a:endParaRPr sz="950"/>
          </a:p>
        </p:txBody>
      </p:sp>
      <p:sp>
        <p:nvSpPr>
          <p:cNvPr id="25" name="Shape 22">
            <a:extLst xmlns:a="http://schemas.openxmlformats.org/drawingml/2006/main">
              <a:ext uri="{FF2B5EF4-FFF2-40B4-BE49-F238E27FC236}">
                <a16:creationId xmlns:a16="http://schemas.microsoft.com/office/drawing/2014/main" id="{485AA179-95B4-44AF-9844-1D0C4BFEA858}"/>
              </a:ext>
            </a:extLst>
          </p:cNvPr>
          <p:cNvSpPr>
            <a:spLocks xmlns:a="http://schemas.openxmlformats.org/drawingml/2006/main" noGrp="1"/>
          </p:cNvSpPr>
          <p:nvPr/>
        </p:nvSpPr>
        <p:spPr>
          <a:xfrm xmlns:a="http://schemas.openxmlformats.org/drawingml/2006/main">
            <a:off x="5788152" y="2999232"/>
            <a:ext cx="0" cy="164592"/>
          </a:xfrm>
          <a:prstGeom xmlns:a="http://schemas.openxmlformats.org/drawingml/2006/main" prst="line">
            <a:avLst/>
          </a:prstGeom>
          <a:noFill xmlns:a="http://schemas.openxmlformats.org/drawingml/2006/main"/>
          <a:ln xmlns:a="http://schemas.openxmlformats.org/drawingml/2006/main" w="12700">
            <a:solidFill>
              <a:srgbClr val="D8DAE5"/>
            </a:solidFill>
            <a:prstDash val="dash"/>
          </a:ln>
        </p:spPr>
      </p:sp>
      <p:sp>
        <p:nvSpPr>
          <p:cNvPr id="26" name="Shape 23">
            <a:extLst xmlns:a="http://schemas.openxmlformats.org/drawingml/2006/main">
              <a:ext uri="{FF2B5EF4-FFF2-40B4-BE49-F238E27FC236}">
                <a16:creationId xmlns:a16="http://schemas.microsoft.com/office/drawing/2014/main" id="{396D7316-B474-4369-A51F-F0BE9E98E3FA}"/>
              </a:ext>
            </a:extLst>
          </p:cNvPr>
          <p:cNvSpPr>
            <a:spLocks xmlns:a="http://schemas.openxmlformats.org/drawingml/2006/main" noGrp="1"/>
          </p:cNvSpPr>
          <p:nvPr/>
        </p:nvSpPr>
        <p:spPr>
          <a:xfrm xmlns:a="http://schemas.openxmlformats.org/drawingml/2006/main">
            <a:off x="566928" y="4590288"/>
            <a:ext cx="2560320" cy="1316736"/>
          </a:xfrm>
          <a:prstGeom xmlns:a="http://schemas.openxmlformats.org/drawingml/2006/main" prst="roundRect">
            <a:avLst>
              <a:gd name="adj" fmla="val 4861"/>
            </a:avLst>
          </a:prstGeom>
          <a:solidFill xmlns:a="http://schemas.openxmlformats.org/drawingml/2006/main">
            <a:srgbClr val="3B2C7A"/>
          </a:solidFill>
          <a:ln xmlns:a="http://schemas.openxmlformats.org/drawingml/2006/main" w="12700">
            <a:solidFill>
              <a:srgbClr val="3B2C7A"/>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27" name="Text 24">
            <a:extLst xmlns:a="http://schemas.openxmlformats.org/drawingml/2006/main">
              <a:ext uri="{FF2B5EF4-FFF2-40B4-BE49-F238E27FC236}">
                <a16:creationId xmlns:a16="http://schemas.microsoft.com/office/drawing/2014/main" id="{47E75309-D6CE-40C7-BA42-1315F8D48324}"/>
              </a:ext>
            </a:extLst>
          </p:cNvPr>
          <p:cNvSpPr>
            <a:spLocks xmlns:a="http://schemas.openxmlformats.org/drawingml/2006/main" noGrp="1"/>
          </p:cNvSpPr>
          <p:nvPr/>
        </p:nvSpPr>
        <p:spPr>
          <a:xfrm xmlns:a="http://schemas.openxmlformats.org/drawingml/2006/main">
            <a:off x="694944" y="4736592"/>
            <a:ext cx="2304288"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E4B454"/>
                </a:solidFill>
                <a:latin typeface="Calibri"/>
                <a:ea typeface="Calibri"/>
                <a:cs typeface="Calibri"/>
              </a:rPr>
              <a:t>Outbox</a:t>
            </a:r>
            <a:endParaRPr sz="1300"/>
          </a:p>
        </p:txBody>
      </p:sp>
      <p:sp>
        <p:nvSpPr>
          <p:cNvPr id="28" name="Text 25">
            <a:extLst xmlns:a="http://schemas.openxmlformats.org/drawingml/2006/main">
              <a:ext uri="{FF2B5EF4-FFF2-40B4-BE49-F238E27FC236}">
                <a16:creationId xmlns:a16="http://schemas.microsoft.com/office/drawing/2014/main" id="{F270C517-A7CF-4E46-9E78-C41CCE96C218}"/>
              </a:ext>
            </a:extLst>
          </p:cNvPr>
          <p:cNvSpPr>
            <a:spLocks xmlns:a="http://schemas.openxmlformats.org/drawingml/2006/main" noGrp="1"/>
          </p:cNvSpPr>
          <p:nvPr/>
        </p:nvSpPr>
        <p:spPr>
          <a:xfrm xmlns:a="http://schemas.openxmlformats.org/drawingml/2006/main">
            <a:off x="694944" y="5029200"/>
            <a:ext cx="2304288" cy="7498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350"/>
              </a:lnSpc>
              <a:buNone/>
            </a:pPr>
            <a:r>
              <a:rPr sz="1050">
                <a:solidFill>
                  <a:srgbClr val="E4E0F2"/>
                </a:solidFill>
                <a:latin typeface="Calibri"/>
                <a:ea typeface="Calibri"/>
                <a:cs typeface="Calibri"/>
              </a:rPr>
              <a:t>The intention is written</a:t>
            </a:r>
            <a:endParaRPr sz="1050"/>
          </a:p>
          <a:p xmlns:a="http://schemas.openxmlformats.org/drawingml/2006/main">
            <a:pPr marL="0" indent="0">
              <a:lnSpc>
                <a:spcPts val="1350"/>
              </a:lnSpc>
              <a:buNone/>
            </a:pPr>
            <a:r>
              <a:rPr sz="1050">
                <a:solidFill>
                  <a:srgbClr val="E4E0F2"/>
                </a:solidFill>
                <a:latin typeface="Calibri"/>
                <a:ea typeface="Calibri"/>
                <a:cs typeface="Calibri"/>
              </a:rPr>
              <a:t>in the SAME transaction</a:t>
            </a:r>
            <a:endParaRPr sz="1050"/>
          </a:p>
        </p:txBody>
      </p:sp>
      <p:sp>
        <p:nvSpPr>
          <p:cNvPr id="29" name="Shape 26">
            <a:extLst xmlns:a="http://schemas.openxmlformats.org/drawingml/2006/main">
              <a:ext uri="{FF2B5EF4-FFF2-40B4-BE49-F238E27FC236}">
                <a16:creationId xmlns:a16="http://schemas.microsoft.com/office/drawing/2014/main" id="{292C763D-BFAE-426E-8B8B-F82AC75FFBD2}"/>
              </a:ext>
            </a:extLst>
          </p:cNvPr>
          <p:cNvSpPr>
            <a:spLocks xmlns:a="http://schemas.openxmlformats.org/drawingml/2006/main" noGrp="1"/>
          </p:cNvSpPr>
          <p:nvPr/>
        </p:nvSpPr>
        <p:spPr>
          <a:xfrm xmlns:a="http://schemas.openxmlformats.org/drawingml/2006/main">
            <a:off x="3163824" y="5175504"/>
            <a:ext cx="182880" cy="155448"/>
          </a:xfrm>
          <a:prstGeom xmlns:a="http://schemas.openxmlformats.org/drawingml/2006/main" prst="chevron">
            <a:avLst/>
          </a:prstGeom>
          <a:solidFill xmlns:a="http://schemas.openxmlformats.org/drawingml/2006/main">
            <a:srgbClr val="D8DAE5"/>
          </a:solidFill>
          <a:ln xmlns:a="http://schemas.openxmlformats.org/drawingml/2006/main" w="12700">
            <a:solidFill>
              <a:srgbClr val="D8DAE5"/>
            </a:solidFill>
            <a:prstDash val="solid"/>
          </a:ln>
        </p:spPr>
      </p:sp>
      <p:sp>
        <p:nvSpPr>
          <p:cNvPr id="30" name="Shape 27">
            <a:extLst xmlns:a="http://schemas.openxmlformats.org/drawingml/2006/main">
              <a:ext uri="{FF2B5EF4-FFF2-40B4-BE49-F238E27FC236}">
                <a16:creationId xmlns:a16="http://schemas.microsoft.com/office/drawing/2014/main" id="{F0DF7ED8-221D-4E00-A2D0-27E534AAC2FF}"/>
              </a:ext>
            </a:extLst>
          </p:cNvPr>
          <p:cNvSpPr>
            <a:spLocks xmlns:a="http://schemas.openxmlformats.org/drawingml/2006/main" noGrp="1"/>
          </p:cNvSpPr>
          <p:nvPr/>
        </p:nvSpPr>
        <p:spPr>
          <a:xfrm xmlns:a="http://schemas.openxmlformats.org/drawingml/2006/main">
            <a:off x="3401568" y="4590288"/>
            <a:ext cx="2560320" cy="1316736"/>
          </a:xfrm>
          <a:prstGeom xmlns:a="http://schemas.openxmlformats.org/drawingml/2006/main" prst="roundRect">
            <a:avLst>
              <a:gd name="adj" fmla="val 4861"/>
            </a:avLst>
          </a:prstGeom>
          <a:solidFill xmlns:a="http://schemas.openxmlformats.org/drawingml/2006/main">
            <a:srgbClr val="240C54"/>
          </a:solidFill>
          <a:ln xmlns:a="http://schemas.openxmlformats.org/drawingml/2006/main" w="12700">
            <a:solidFill>
              <a:srgbClr val="240C54"/>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31" name="Text 28">
            <a:extLst xmlns:a="http://schemas.openxmlformats.org/drawingml/2006/main">
              <a:ext uri="{FF2B5EF4-FFF2-40B4-BE49-F238E27FC236}">
                <a16:creationId xmlns:a16="http://schemas.microsoft.com/office/drawing/2014/main" id="{D2C21381-3E61-4ACF-B3D7-C18A70A3F53F}"/>
              </a:ext>
            </a:extLst>
          </p:cNvPr>
          <p:cNvSpPr>
            <a:spLocks xmlns:a="http://schemas.openxmlformats.org/drawingml/2006/main" noGrp="1"/>
          </p:cNvSpPr>
          <p:nvPr/>
        </p:nvSpPr>
        <p:spPr>
          <a:xfrm xmlns:a="http://schemas.openxmlformats.org/drawingml/2006/main">
            <a:off x="3529584" y="4736592"/>
            <a:ext cx="2304288"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E4B454"/>
                </a:solidFill>
                <a:latin typeface="Calibri"/>
                <a:ea typeface="Calibri"/>
                <a:cs typeface="Calibri"/>
              </a:rPr>
              <a:t>Worker</a:t>
            </a:r>
            <a:endParaRPr sz="1300"/>
          </a:p>
        </p:txBody>
      </p:sp>
      <p:sp>
        <p:nvSpPr>
          <p:cNvPr id="32" name="Text 29">
            <a:extLst xmlns:a="http://schemas.openxmlformats.org/drawingml/2006/main">
              <a:ext uri="{FF2B5EF4-FFF2-40B4-BE49-F238E27FC236}">
                <a16:creationId xmlns:a16="http://schemas.microsoft.com/office/drawing/2014/main" id="{5A1D636B-1ACB-4B50-9464-4A1F886DBA94}"/>
              </a:ext>
            </a:extLst>
          </p:cNvPr>
          <p:cNvSpPr>
            <a:spLocks xmlns:a="http://schemas.openxmlformats.org/drawingml/2006/main" noGrp="1"/>
          </p:cNvSpPr>
          <p:nvPr/>
        </p:nvSpPr>
        <p:spPr>
          <a:xfrm xmlns:a="http://schemas.openxmlformats.org/drawingml/2006/main">
            <a:off x="3529584" y="5029200"/>
            <a:ext cx="2304288" cy="7498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350"/>
              </a:lnSpc>
              <a:buNone/>
            </a:pPr>
            <a:r>
              <a:rPr sz="1050">
                <a:solidFill>
                  <a:srgbClr val="E4E0F2"/>
                </a:solidFill>
                <a:latin typeface="Calibri"/>
                <a:ea typeface="Calibri"/>
                <a:cs typeface="Calibri"/>
              </a:rPr>
              <a:t>Wakes every 30s and</a:t>
            </a:r>
            <a:endParaRPr sz="1050"/>
          </a:p>
          <a:p xmlns:a="http://schemas.openxmlformats.org/drawingml/2006/main">
            <a:pPr marL="0" indent="0">
              <a:lnSpc>
                <a:spcPts val="1350"/>
              </a:lnSpc>
              <a:buNone/>
            </a:pPr>
            <a:r>
              <a:rPr sz="1050">
                <a:solidFill>
                  <a:srgbClr val="E4E0F2"/>
                </a:solidFill>
                <a:latin typeface="Calibri"/>
                <a:ea typeface="Calibri"/>
                <a:cs typeface="Calibri"/>
              </a:rPr>
              <a:t>re-checks the database</a:t>
            </a:r>
            <a:endParaRPr sz="1050"/>
          </a:p>
        </p:txBody>
      </p:sp>
      <p:sp>
        <p:nvSpPr>
          <p:cNvPr id="33" name="Shape 30">
            <a:extLst xmlns:a="http://schemas.openxmlformats.org/drawingml/2006/main">
              <a:ext uri="{FF2B5EF4-FFF2-40B4-BE49-F238E27FC236}">
                <a16:creationId xmlns:a16="http://schemas.microsoft.com/office/drawing/2014/main" id="{500C9CC5-3A2A-4A80-A74D-85AB31705E5A}"/>
              </a:ext>
            </a:extLst>
          </p:cNvPr>
          <p:cNvSpPr>
            <a:spLocks xmlns:a="http://schemas.openxmlformats.org/drawingml/2006/main" noGrp="1"/>
          </p:cNvSpPr>
          <p:nvPr/>
        </p:nvSpPr>
        <p:spPr>
          <a:xfrm xmlns:a="http://schemas.openxmlformats.org/drawingml/2006/main">
            <a:off x="5998464" y="5175504"/>
            <a:ext cx="182880" cy="155448"/>
          </a:xfrm>
          <a:prstGeom xmlns:a="http://schemas.openxmlformats.org/drawingml/2006/main" prst="chevron">
            <a:avLst/>
          </a:prstGeom>
          <a:solidFill xmlns:a="http://schemas.openxmlformats.org/drawingml/2006/main">
            <a:srgbClr val="D8DAE5"/>
          </a:solidFill>
          <a:ln xmlns:a="http://schemas.openxmlformats.org/drawingml/2006/main" w="12700">
            <a:solidFill>
              <a:srgbClr val="D8DAE5"/>
            </a:solidFill>
            <a:prstDash val="solid"/>
          </a:ln>
        </p:spPr>
      </p:sp>
      <p:sp>
        <p:nvSpPr>
          <p:cNvPr id="34" name="Shape 31">
            <a:extLst xmlns:a="http://schemas.openxmlformats.org/drawingml/2006/main">
              <a:ext uri="{FF2B5EF4-FFF2-40B4-BE49-F238E27FC236}">
                <a16:creationId xmlns:a16="http://schemas.microsoft.com/office/drawing/2014/main" id="{7ED52033-9DD9-4BBC-ADD7-CF83706E8803}"/>
              </a:ext>
            </a:extLst>
          </p:cNvPr>
          <p:cNvSpPr>
            <a:spLocks xmlns:a="http://schemas.openxmlformats.org/drawingml/2006/main" noGrp="1"/>
          </p:cNvSpPr>
          <p:nvPr/>
        </p:nvSpPr>
        <p:spPr>
          <a:xfrm xmlns:a="http://schemas.openxmlformats.org/drawingml/2006/main">
            <a:off x="6236208" y="4590288"/>
            <a:ext cx="2560320" cy="1316736"/>
          </a:xfrm>
          <a:prstGeom xmlns:a="http://schemas.openxmlformats.org/drawingml/2006/main" prst="roundRect">
            <a:avLst>
              <a:gd name="adj" fmla="val 4861"/>
            </a:avLst>
          </a:prstGeom>
          <a:solidFill xmlns:a="http://schemas.openxmlformats.org/drawingml/2006/main">
            <a:srgbClr val="1E7A46"/>
          </a:solidFill>
          <a:ln xmlns:a="http://schemas.openxmlformats.org/drawingml/2006/main" w="12700">
            <a:solidFill>
              <a:srgbClr val="1E7A46"/>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35" name="Text 32">
            <a:extLst xmlns:a="http://schemas.openxmlformats.org/drawingml/2006/main">
              <a:ext uri="{FF2B5EF4-FFF2-40B4-BE49-F238E27FC236}">
                <a16:creationId xmlns:a16="http://schemas.microsoft.com/office/drawing/2014/main" id="{0170BC86-DE01-4D29-B08B-9D4058316C02}"/>
              </a:ext>
            </a:extLst>
          </p:cNvPr>
          <p:cNvSpPr>
            <a:spLocks xmlns:a="http://schemas.openxmlformats.org/drawingml/2006/main" noGrp="1"/>
          </p:cNvSpPr>
          <p:nvPr/>
        </p:nvSpPr>
        <p:spPr>
          <a:xfrm xmlns:a="http://schemas.openxmlformats.org/drawingml/2006/main">
            <a:off x="6364224" y="4736592"/>
            <a:ext cx="2304288"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E4B454"/>
                </a:solidFill>
                <a:latin typeface="Calibri"/>
                <a:ea typeface="Calibri"/>
                <a:cs typeface="Calibri"/>
              </a:rPr>
              <a:t>Resend</a:t>
            </a:r>
            <a:endParaRPr sz="1300"/>
          </a:p>
        </p:txBody>
      </p:sp>
      <p:sp>
        <p:nvSpPr>
          <p:cNvPr id="36" name="Text 33">
            <a:extLst xmlns:a="http://schemas.openxmlformats.org/drawingml/2006/main">
              <a:ext uri="{FF2B5EF4-FFF2-40B4-BE49-F238E27FC236}">
                <a16:creationId xmlns:a16="http://schemas.microsoft.com/office/drawing/2014/main" id="{EB90EA0A-2EE2-4AD7-A8E6-3DF3566F74BC}"/>
              </a:ext>
            </a:extLst>
          </p:cNvPr>
          <p:cNvSpPr>
            <a:spLocks xmlns:a="http://schemas.openxmlformats.org/drawingml/2006/main" noGrp="1"/>
          </p:cNvSpPr>
          <p:nvPr/>
        </p:nvSpPr>
        <p:spPr>
          <a:xfrm xmlns:a="http://schemas.openxmlformats.org/drawingml/2006/main">
            <a:off x="6364224" y="5029200"/>
            <a:ext cx="2304288" cy="7498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350"/>
              </a:lnSpc>
              <a:buNone/>
            </a:pPr>
            <a:r>
              <a:rPr sz="1050">
                <a:solidFill>
                  <a:srgbClr val="E4E0F2"/>
                </a:solidFill>
                <a:latin typeface="Calibri"/>
                <a:ea typeface="Calibri"/>
                <a:cs typeface="Calibri"/>
              </a:rPr>
              <a:t>Email to the member's</a:t>
            </a:r>
            <a:endParaRPr sz="1050"/>
          </a:p>
          <a:p xmlns:a="http://schemas.openxmlformats.org/drawingml/2006/main">
            <a:pPr marL="0" indent="0">
              <a:lnSpc>
                <a:spcPts val="1350"/>
              </a:lnSpc>
              <a:buNone/>
            </a:pPr>
            <a:r>
              <a:rPr sz="1050">
                <a:solidFill>
                  <a:srgbClr val="E4E0F2"/>
                </a:solidFill>
                <a:latin typeface="Calibri"/>
                <a:ea typeface="Calibri"/>
                <a:cs typeface="Calibri"/>
              </a:rPr>
              <a:t>real address</a:t>
            </a:r>
            <a:endParaRPr sz="1050"/>
          </a:p>
        </p:txBody>
      </p:sp>
      <p:sp>
        <p:nvSpPr>
          <p:cNvPr id="37" name="Shape 34">
            <a:extLst xmlns:a="http://schemas.openxmlformats.org/drawingml/2006/main">
              <a:ext uri="{FF2B5EF4-FFF2-40B4-BE49-F238E27FC236}">
                <a16:creationId xmlns:a16="http://schemas.microsoft.com/office/drawing/2014/main" id="{21E6CA15-027F-4D06-8424-4F6CA85D63C0}"/>
              </a:ext>
            </a:extLst>
          </p:cNvPr>
          <p:cNvSpPr>
            <a:spLocks xmlns:a="http://schemas.openxmlformats.org/drawingml/2006/main" noGrp="1"/>
          </p:cNvSpPr>
          <p:nvPr/>
        </p:nvSpPr>
        <p:spPr>
          <a:xfrm xmlns:a="http://schemas.openxmlformats.org/drawingml/2006/main">
            <a:off x="8833104" y="5175504"/>
            <a:ext cx="182880" cy="155448"/>
          </a:xfrm>
          <a:prstGeom xmlns:a="http://schemas.openxmlformats.org/drawingml/2006/main" prst="chevron">
            <a:avLst/>
          </a:prstGeom>
          <a:solidFill xmlns:a="http://schemas.openxmlformats.org/drawingml/2006/main">
            <a:srgbClr val="D8DAE5"/>
          </a:solidFill>
          <a:ln xmlns:a="http://schemas.openxmlformats.org/drawingml/2006/main" w="12700">
            <a:solidFill>
              <a:srgbClr val="D8DAE5"/>
            </a:solidFill>
            <a:prstDash val="solid"/>
          </a:ln>
        </p:spPr>
      </p:sp>
      <p:sp>
        <p:nvSpPr>
          <p:cNvPr id="38" name="Shape 35">
            <a:extLst xmlns:a="http://schemas.openxmlformats.org/drawingml/2006/main">
              <a:ext uri="{FF2B5EF4-FFF2-40B4-BE49-F238E27FC236}">
                <a16:creationId xmlns:a16="http://schemas.microsoft.com/office/drawing/2014/main" id="{509F770C-F7B3-4129-B417-6952C58BAA16}"/>
              </a:ext>
            </a:extLst>
          </p:cNvPr>
          <p:cNvSpPr>
            <a:spLocks xmlns:a="http://schemas.openxmlformats.org/drawingml/2006/main" noGrp="1"/>
          </p:cNvSpPr>
          <p:nvPr/>
        </p:nvSpPr>
        <p:spPr>
          <a:xfrm xmlns:a="http://schemas.openxmlformats.org/drawingml/2006/main">
            <a:off x="9070848" y="4590288"/>
            <a:ext cx="2560320" cy="1316736"/>
          </a:xfrm>
          <a:prstGeom xmlns:a="http://schemas.openxmlformats.org/drawingml/2006/main" prst="roundRect">
            <a:avLst>
              <a:gd name="adj" fmla="val 4861"/>
            </a:avLst>
          </a:prstGeom>
          <a:solidFill xmlns:a="http://schemas.openxmlformats.org/drawingml/2006/main">
            <a:srgbClr val="6D28D9"/>
          </a:solidFill>
          <a:ln xmlns:a="http://schemas.openxmlformats.org/drawingml/2006/main" w="12700">
            <a:solidFill>
              <a:srgbClr val="6D28D9"/>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39" name="Text 36">
            <a:extLst xmlns:a="http://schemas.openxmlformats.org/drawingml/2006/main">
              <a:ext uri="{FF2B5EF4-FFF2-40B4-BE49-F238E27FC236}">
                <a16:creationId xmlns:a16="http://schemas.microsoft.com/office/drawing/2014/main" id="{8D43CDA1-F0B5-4908-BEA8-E0A4FBE2EDB6}"/>
              </a:ext>
            </a:extLst>
          </p:cNvPr>
          <p:cNvSpPr>
            <a:spLocks xmlns:a="http://schemas.openxmlformats.org/drawingml/2006/main" noGrp="1"/>
          </p:cNvSpPr>
          <p:nvPr/>
        </p:nvSpPr>
        <p:spPr>
          <a:xfrm xmlns:a="http://schemas.openxmlformats.org/drawingml/2006/main">
            <a:off x="9198864" y="4736592"/>
            <a:ext cx="2304288"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E4B454"/>
                </a:solidFill>
                <a:latin typeface="Calibri"/>
                <a:ea typeface="Calibri"/>
                <a:cs typeface="Calibri"/>
              </a:rPr>
              <a:t>Firebase</a:t>
            </a:r>
            <a:endParaRPr sz="1300"/>
          </a:p>
        </p:txBody>
      </p:sp>
      <p:sp>
        <p:nvSpPr>
          <p:cNvPr id="40" name="Text 37">
            <a:extLst xmlns:a="http://schemas.openxmlformats.org/drawingml/2006/main">
              <a:ext uri="{FF2B5EF4-FFF2-40B4-BE49-F238E27FC236}">
                <a16:creationId xmlns:a16="http://schemas.microsoft.com/office/drawing/2014/main" id="{21C993D4-EEBB-4B0C-BF05-D21279DA119F}"/>
              </a:ext>
            </a:extLst>
          </p:cNvPr>
          <p:cNvSpPr>
            <a:spLocks xmlns:a="http://schemas.openxmlformats.org/drawingml/2006/main" noGrp="1"/>
          </p:cNvSpPr>
          <p:nvPr/>
        </p:nvSpPr>
        <p:spPr>
          <a:xfrm xmlns:a="http://schemas.openxmlformats.org/drawingml/2006/main">
            <a:off x="9198864" y="5029200"/>
            <a:ext cx="2304288" cy="7498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350"/>
              </a:lnSpc>
              <a:buNone/>
            </a:pPr>
            <a:r>
              <a:rPr sz="1050">
                <a:solidFill>
                  <a:srgbClr val="E4E0F2"/>
                </a:solidFill>
                <a:latin typeface="Calibri"/>
                <a:ea typeface="Calibri"/>
                <a:cs typeface="Calibri"/>
              </a:rPr>
              <a:t>Push to any device</a:t>
            </a:r>
            <a:endParaRPr sz="1050"/>
          </a:p>
          <a:p xmlns:a="http://schemas.openxmlformats.org/drawingml/2006/main">
            <a:pPr marL="0" indent="0">
              <a:lnSpc>
                <a:spcPts val="1350"/>
              </a:lnSpc>
              <a:buNone/>
            </a:pPr>
            <a:r>
              <a:rPr sz="1050">
                <a:solidFill>
                  <a:srgbClr val="E4E0F2"/>
                </a:solidFill>
                <a:latin typeface="Calibri"/>
                <a:ea typeface="Calibri"/>
                <a:cs typeface="Calibri"/>
              </a:rPr>
              <a:t>they registered</a:t>
            </a:r>
            <a:endParaRPr sz="1050"/>
          </a:p>
        </p:txBody>
      </p:sp>
      <p:sp>
        <p:nvSpPr>
          <p:cNvPr id="41" name="Shape 38">
            <a:extLst xmlns:a="http://schemas.openxmlformats.org/drawingml/2006/main">
              <a:ext uri="{FF2B5EF4-FFF2-40B4-BE49-F238E27FC236}">
                <a16:creationId xmlns:a16="http://schemas.microsoft.com/office/drawing/2014/main" id="{8B11935C-4CF0-4808-AA1E-C357A743962C}"/>
              </a:ext>
            </a:extLst>
          </p:cNvPr>
          <p:cNvSpPr>
            <a:spLocks xmlns:a="http://schemas.openxmlformats.org/drawingml/2006/main" noGrp="1"/>
          </p:cNvSpPr>
          <p:nvPr/>
        </p:nvSpPr>
        <p:spPr>
          <a:xfrm xmlns:a="http://schemas.openxmlformats.org/drawingml/2006/main">
            <a:off x="9345168" y="1828800"/>
            <a:ext cx="2279599" cy="1463040"/>
          </a:xfrm>
          <a:prstGeom xmlns:a="http://schemas.openxmlformats.org/drawingml/2006/main" prst="roundRect">
            <a:avLst>
              <a:gd name="adj" fmla="val 4375"/>
            </a:avLst>
          </a:prstGeom>
          <a:solidFill xmlns:a="http://schemas.openxmlformats.org/drawingml/2006/main">
            <a:srgbClr val="FBF4E4"/>
          </a:solidFill>
          <a:ln xmlns:a="http://schemas.openxmlformats.org/drawingml/2006/main" w="9525">
            <a:solidFill>
              <a:srgbClr val="E8D9AE"/>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42" name="Text 39">
            <a:extLst xmlns:a="http://schemas.openxmlformats.org/drawingml/2006/main">
              <a:ext uri="{FF2B5EF4-FFF2-40B4-BE49-F238E27FC236}">
                <a16:creationId xmlns:a16="http://schemas.microsoft.com/office/drawing/2014/main" id="{35C34D9A-C3D8-4249-A09A-A4ED9484FDD6}"/>
              </a:ext>
            </a:extLst>
          </p:cNvPr>
          <p:cNvSpPr>
            <a:spLocks xmlns:a="http://schemas.openxmlformats.org/drawingml/2006/main" noGrp="1"/>
          </p:cNvSpPr>
          <p:nvPr/>
        </p:nvSpPr>
        <p:spPr>
          <a:xfrm xmlns:a="http://schemas.openxmlformats.org/drawingml/2006/main">
            <a:off x="9564624" y="2002536"/>
            <a:ext cx="1840687"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240C54"/>
                </a:solidFill>
                <a:latin typeface="Calibri"/>
                <a:ea typeface="Calibri"/>
                <a:cs typeface="Calibri"/>
              </a:rPr>
              <a:t>Why an outbox</a:t>
            </a:r>
            <a:endParaRPr sz="1250"/>
          </a:p>
        </p:txBody>
      </p:sp>
      <p:sp>
        <p:nvSpPr>
          <p:cNvPr id="43" name="Text 40">
            <a:extLst xmlns:a="http://schemas.openxmlformats.org/drawingml/2006/main">
              <a:ext uri="{FF2B5EF4-FFF2-40B4-BE49-F238E27FC236}">
                <a16:creationId xmlns:a16="http://schemas.microsoft.com/office/drawing/2014/main" id="{81B1E2D3-7B54-4920-9EBA-8CEFB39BB72C}"/>
              </a:ext>
            </a:extLst>
          </p:cNvPr>
          <p:cNvSpPr>
            <a:spLocks xmlns:a="http://schemas.openxmlformats.org/drawingml/2006/main" noGrp="1"/>
          </p:cNvSpPr>
          <p:nvPr/>
        </p:nvSpPr>
        <p:spPr>
          <a:xfrm xmlns:a="http://schemas.openxmlformats.org/drawingml/2006/main">
            <a:off x="9564624" y="2395728"/>
            <a:ext cx="1840687" cy="7498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300"/>
              </a:lnSpc>
              <a:buNone/>
            </a:pPr>
            <a:r>
              <a:rPr sz="1000">
                <a:solidFill>
                  <a:srgbClr val="1A1A2E"/>
                </a:solidFill>
                <a:latin typeface="Calibri"/>
                <a:ea typeface="Calibri"/>
                <a:cs typeface="Calibri"/>
              </a:rPr>
              <a:t>The loan and the intention to notify are written in one transaction. Neither can exist without the other.</a:t>
            </a:r>
            <a:endParaRPr sz="1000"/>
          </a:p>
        </p:txBody>
      </p:sp>
      <p:sp>
        <p:nvSpPr>
          <p:cNvPr id="44" name="Text 41">
            <a:extLst xmlns:a="http://schemas.openxmlformats.org/drawingml/2006/main">
              <a:ext uri="{FF2B5EF4-FFF2-40B4-BE49-F238E27FC236}">
                <a16:creationId xmlns:a16="http://schemas.microsoft.com/office/drawing/2014/main" id="{9F3AFEFF-E02D-4AAD-9D69-AE89C33B76B9}"/>
              </a:ext>
            </a:extLst>
          </p:cNvPr>
          <p:cNvSpPr>
            <a:spLocks xmlns:a="http://schemas.openxmlformats.org/drawingml/2006/main" noGrp="1"/>
          </p:cNvSpPr>
          <p:nvPr/>
        </p:nvSpPr>
        <p:spPr>
          <a:xfrm xmlns:a="http://schemas.openxmlformats.org/drawingml/2006/main">
            <a:off x="566928" y="4133088"/>
            <a:ext cx="11055096"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i="1">
                <a:solidFill>
                  <a:srgbClr val="5B5B6B"/>
                </a:solidFill>
                <a:latin typeface="Calibri"/>
                <a:ea typeface="Calibri"/>
                <a:cs typeface="Calibri"/>
              </a:rPr>
              <a:t>The worker re-reads the database before sending, so a reminder queued last night for a book returned this morning is marked superseded and never sent.</a:t>
            </a:r>
            <a:endParaRPr sz="1150"/>
          </a:p>
        </p:txBody>
      </p:sp>
    </p:spTree>
    <p:extLst>
      <p:ext uri="{BB962C8B-B14F-4D97-AF65-F5344CB8AC3E}">
        <p14:creationId xmlns:p14="http://schemas.microsoft.com/office/powerpoint/2010/main" val="14468226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F459A467-543B-4CDE-9892-A60E6EFDA6DE}"/>
              </a:ext>
            </a:extLst>
          </p:cNvPr>
          <p:cNvSpPr>
            <a:spLocks xmlns:a="http://schemas.openxmlformats.org/drawingml/2006/main" noGrp="1"/>
          </p:cNvSpPr>
          <p:nvPr/>
        </p:nvSpPr>
        <p:spPr>
          <a:xfrm xmlns:a="http://schemas.openxmlformats.org/drawingml/2006/main">
            <a:off x="566928" y="384048"/>
            <a:ext cx="82296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20">
                <a:solidFill>
                  <a:srgbClr val="E4B454"/>
                </a:solidFill>
                <a:latin typeface="Calibri"/>
                <a:ea typeface="Calibri"/>
                <a:cs typeface="Calibri"/>
              </a:rPr>
              <a:t>ARCHITECTURE</a:t>
            </a:r>
            <a:endParaRPr sz="1100"/>
          </a:p>
        </p:txBody>
      </p:sp>
      <p:sp>
        <p:nvSpPr>
          <p:cNvPr id="3" name="Text 1">
            <a:extLst xmlns:a="http://schemas.openxmlformats.org/drawingml/2006/main">
              <a:ext uri="{FF2B5EF4-FFF2-40B4-BE49-F238E27FC236}">
                <a16:creationId xmlns:a16="http://schemas.microsoft.com/office/drawing/2014/main" id="{458E716E-1F1A-4563-A2FF-0ADEF25F2BA7}"/>
              </a:ext>
            </a:extLst>
          </p:cNvPr>
          <p:cNvSpPr>
            <a:spLocks xmlns:a="http://schemas.openxmlformats.org/drawingml/2006/main" noGrp="1"/>
          </p:cNvSpPr>
          <p:nvPr/>
        </p:nvSpPr>
        <p:spPr>
          <a:xfrm xmlns:a="http://schemas.openxmlformats.org/drawingml/2006/main">
            <a:off x="566928" y="640080"/>
            <a:ext cx="96926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40C54"/>
                </a:solidFill>
                <a:latin typeface="Cambria"/>
                <a:ea typeface="Cambria"/>
                <a:cs typeface="Cambria"/>
              </a:rPr>
              <a:t>A layered monolith, deployed as one binary</a:t>
            </a:r>
            <a:endParaRPr sz="3000"/>
          </a:p>
        </p:txBody>
      </p:sp>
      <p:pic>
        <p:nvPicPr>
          <p:cNvPr id="30" name="Image 0"/>
          <p:cNvPicPr>
            <a:picLocks xmlns:a="http://schemas.openxmlformats.org/drawingml/2006/main" noChangeAspect="1"/>
          </p:cNvPicPr>
          <p:nvPr/>
        </p:nvPicPr>
        <p:blipFill>
          <a:blip xmlns:r="http://schemas.openxmlformats.org/officeDocument/2006/relationships" xmlns:a="http://schemas.openxmlformats.org/drawingml/2006/main" r:embed="R4401d07157e048cb"/>
          <a:stretch xmlns:a="http://schemas.openxmlformats.org/drawingml/2006/main">
            <a:fillRect l="0" t="0" r="0" b="0"/>
          </a:stretch>
        </p:blipFill>
        <p:spPr>
          <a:xfrm xmlns:a="http://schemas.openxmlformats.org/drawingml/2006/main">
            <a:off x="11149279" y="365760"/>
            <a:ext cx="475488" cy="466344"/>
          </a:xfrm>
          <a:prstGeom xmlns:a="http://schemas.openxmlformats.org/drawingml/2006/main" prst="rect">
            <a:avLst/>
          </a:prstGeom>
        </p:spPr>
      </p:pic>
      <p:sp>
        <p:nvSpPr>
          <p:cNvPr id="5" name="Text 2">
            <a:extLst xmlns:a="http://schemas.openxmlformats.org/drawingml/2006/main">
              <a:ext uri="{FF2B5EF4-FFF2-40B4-BE49-F238E27FC236}">
                <a16:creationId xmlns:a16="http://schemas.microsoft.com/office/drawing/2014/main" id="{67DB1E4B-C68F-4C45-A1EB-D3034B2642E7}"/>
              </a:ext>
            </a:extLst>
          </p:cNvPr>
          <p:cNvSpPr>
            <a:spLocks xmlns:a="http://schemas.openxmlformats.org/drawingml/2006/main" noGrp="1"/>
          </p:cNvSpPr>
          <p:nvPr/>
        </p:nvSpPr>
        <p:spPr>
          <a:xfrm xmlns:a="http://schemas.openxmlformats.org/drawingml/2006/main">
            <a:off x="11149279" y="6382512"/>
            <a:ext cx="475488"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000">
                <a:solidFill>
                  <a:srgbClr val="5B5B6B"/>
                </a:solidFill>
                <a:latin typeface="Calibri"/>
                <a:ea typeface="Calibri"/>
                <a:cs typeface="Calibri"/>
              </a:rPr>
              <a:t>7</a:t>
            </a:r>
            <a:endParaRPr sz="1000"/>
          </a:p>
        </p:txBody>
      </p:sp>
      <p:sp>
        <p:nvSpPr>
          <p:cNvPr id="6" name="Shape 3">
            <a:extLst xmlns:a="http://schemas.openxmlformats.org/drawingml/2006/main">
              <a:ext uri="{FF2B5EF4-FFF2-40B4-BE49-F238E27FC236}">
                <a16:creationId xmlns:a16="http://schemas.microsoft.com/office/drawing/2014/main" id="{375F96A5-895F-48C9-8A39-85456C9A9D33}"/>
              </a:ext>
            </a:extLst>
          </p:cNvPr>
          <p:cNvSpPr>
            <a:spLocks xmlns:a="http://schemas.openxmlformats.org/drawingml/2006/main" noGrp="1"/>
          </p:cNvSpPr>
          <p:nvPr/>
        </p:nvSpPr>
        <p:spPr>
          <a:xfrm xmlns:a="http://schemas.openxmlformats.org/drawingml/2006/main">
            <a:off x="566928" y="1389888"/>
            <a:ext cx="6903720" cy="877824"/>
          </a:xfrm>
          <a:prstGeom xmlns:a="http://schemas.openxmlformats.org/drawingml/2006/main" prst="roundRect">
            <a:avLst>
              <a:gd name="adj" fmla="val 6250"/>
            </a:avLst>
          </a:prstGeom>
          <a:solidFill xmlns:a="http://schemas.openxmlformats.org/drawingml/2006/main">
            <a:srgbClr val="3B82F6"/>
          </a:solidFill>
          <a:ln xmlns:a="http://schemas.openxmlformats.org/drawingml/2006/main" w="12700">
            <a:solidFill>
              <a:srgbClr val="3B82F6"/>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7" name="Text 4">
            <a:extLst xmlns:a="http://schemas.openxmlformats.org/drawingml/2006/main">
              <a:ext uri="{FF2B5EF4-FFF2-40B4-BE49-F238E27FC236}">
                <a16:creationId xmlns:a16="http://schemas.microsoft.com/office/drawing/2014/main" id="{83E57580-7E30-478D-ABAD-76468D3F6A45}"/>
              </a:ext>
            </a:extLst>
          </p:cNvPr>
          <p:cNvSpPr>
            <a:spLocks xmlns:a="http://schemas.openxmlformats.org/drawingml/2006/main" noGrp="1"/>
          </p:cNvSpPr>
          <p:nvPr/>
        </p:nvSpPr>
        <p:spPr>
          <a:xfrm xmlns:a="http://schemas.openxmlformats.org/drawingml/2006/main">
            <a:off x="822960" y="1389888"/>
            <a:ext cx="1481328" cy="8778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FFFFFF"/>
                </a:solidFill>
                <a:latin typeface="Calibri"/>
                <a:ea typeface="Calibri"/>
                <a:cs typeface="Calibri"/>
              </a:rPr>
              <a:t>Browser</a:t>
            </a:r>
            <a:endParaRPr sz="1500"/>
          </a:p>
        </p:txBody>
      </p:sp>
      <p:sp>
        <p:nvSpPr>
          <p:cNvPr id="8" name="Text 5">
            <a:extLst xmlns:a="http://schemas.openxmlformats.org/drawingml/2006/main">
              <a:ext uri="{FF2B5EF4-FFF2-40B4-BE49-F238E27FC236}">
                <a16:creationId xmlns:a16="http://schemas.microsoft.com/office/drawing/2014/main" id="{B3A6A010-A3D0-45D6-AE32-B9E65924FB66}"/>
              </a:ext>
            </a:extLst>
          </p:cNvPr>
          <p:cNvSpPr>
            <a:spLocks xmlns:a="http://schemas.openxmlformats.org/drawingml/2006/main" noGrp="1"/>
          </p:cNvSpPr>
          <p:nvPr/>
        </p:nvSpPr>
        <p:spPr>
          <a:xfrm xmlns:a="http://schemas.openxmlformats.org/drawingml/2006/main">
            <a:off x="2359152" y="1389888"/>
            <a:ext cx="4919472" cy="8778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550"/>
              </a:lnSpc>
              <a:buNone/>
            </a:pPr>
            <a:r>
              <a:rPr sz="1200">
                <a:solidFill>
                  <a:srgbClr val="E8E6F4"/>
                </a:solidFill>
                <a:latin typeface="Calibri"/>
                <a:ea typeface="Calibri"/>
                <a:cs typeface="Calibri"/>
              </a:rPr>
              <a:t>HTML, CSS, JavaScript. Renders results and collects input. Trusted with nothing.</a:t>
            </a:r>
            <a:endParaRPr sz="1200"/>
          </a:p>
        </p:txBody>
      </p:sp>
      <p:sp>
        <p:nvSpPr>
          <p:cNvPr id="9" name="Shape 6">
            <a:extLst xmlns:a="http://schemas.openxmlformats.org/drawingml/2006/main">
              <a:ext uri="{FF2B5EF4-FFF2-40B4-BE49-F238E27FC236}">
                <a16:creationId xmlns:a16="http://schemas.microsoft.com/office/drawing/2014/main" id="{ABEF4AFB-6193-4D2D-B2EF-5244ECA40CCE}"/>
              </a:ext>
            </a:extLst>
          </p:cNvPr>
          <p:cNvSpPr>
            <a:spLocks xmlns:a="http://schemas.openxmlformats.org/drawingml/2006/main" noGrp="1"/>
          </p:cNvSpPr>
          <p:nvPr/>
        </p:nvSpPr>
        <p:spPr>
          <a:xfrm xmlns:a="http://schemas.openxmlformats.org/drawingml/2006/main" rot="5400000">
            <a:off x="3794760" y="2295144"/>
            <a:ext cx="402336" cy="137160"/>
          </a:xfrm>
          <a:prstGeom xmlns:a="http://schemas.openxmlformats.org/drawingml/2006/main" prst="chevron">
            <a:avLst/>
          </a:prstGeom>
          <a:solidFill xmlns:a="http://schemas.openxmlformats.org/drawingml/2006/main">
            <a:srgbClr val="D8DAE5"/>
          </a:solidFill>
          <a:ln xmlns:a="http://schemas.openxmlformats.org/drawingml/2006/main" w="12700">
            <a:solidFill>
              <a:srgbClr val="D8DAE5"/>
            </a:solidFill>
            <a:prstDash val="solid"/>
          </a:ln>
        </p:spPr>
      </p:sp>
      <p:sp>
        <p:nvSpPr>
          <p:cNvPr id="10" name="Shape 7">
            <a:extLst xmlns:a="http://schemas.openxmlformats.org/drawingml/2006/main">
              <a:ext uri="{FF2B5EF4-FFF2-40B4-BE49-F238E27FC236}">
                <a16:creationId xmlns:a16="http://schemas.microsoft.com/office/drawing/2014/main" id="{6991A71E-3C12-468B-B491-4BFB8B74EF0A}"/>
              </a:ext>
            </a:extLst>
          </p:cNvPr>
          <p:cNvSpPr>
            <a:spLocks xmlns:a="http://schemas.openxmlformats.org/drawingml/2006/main" noGrp="1"/>
          </p:cNvSpPr>
          <p:nvPr/>
        </p:nvSpPr>
        <p:spPr>
          <a:xfrm xmlns:a="http://schemas.openxmlformats.org/drawingml/2006/main">
            <a:off x="566928" y="2432304"/>
            <a:ext cx="6903720" cy="877824"/>
          </a:xfrm>
          <a:prstGeom xmlns:a="http://schemas.openxmlformats.org/drawingml/2006/main" prst="roundRect">
            <a:avLst>
              <a:gd name="adj" fmla="val 6250"/>
            </a:avLst>
          </a:prstGeom>
          <a:solidFill xmlns:a="http://schemas.openxmlformats.org/drawingml/2006/main">
            <a:srgbClr val="1D4ED8"/>
          </a:solidFill>
          <a:ln xmlns:a="http://schemas.openxmlformats.org/drawingml/2006/main" w="12700">
            <a:solidFill>
              <a:srgbClr val="1D4ED8"/>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11" name="Text 8">
            <a:extLst xmlns:a="http://schemas.openxmlformats.org/drawingml/2006/main">
              <a:ext uri="{FF2B5EF4-FFF2-40B4-BE49-F238E27FC236}">
                <a16:creationId xmlns:a16="http://schemas.microsoft.com/office/drawing/2014/main" id="{D785314C-C183-406C-976E-5C95017BFA39}"/>
              </a:ext>
            </a:extLst>
          </p:cNvPr>
          <p:cNvSpPr>
            <a:spLocks xmlns:a="http://schemas.openxmlformats.org/drawingml/2006/main" noGrp="1"/>
          </p:cNvSpPr>
          <p:nvPr/>
        </p:nvSpPr>
        <p:spPr>
          <a:xfrm xmlns:a="http://schemas.openxmlformats.org/drawingml/2006/main">
            <a:off x="822960" y="2432304"/>
            <a:ext cx="1481328" cy="8778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FFFFFF"/>
                </a:solidFill>
                <a:latin typeface="Calibri"/>
                <a:ea typeface="Calibri"/>
                <a:cs typeface="Calibri"/>
              </a:rPr>
              <a:t>Handler</a:t>
            </a:r>
            <a:endParaRPr sz="1500"/>
          </a:p>
        </p:txBody>
      </p:sp>
      <p:sp>
        <p:nvSpPr>
          <p:cNvPr id="12" name="Text 9">
            <a:extLst xmlns:a="http://schemas.openxmlformats.org/drawingml/2006/main">
              <a:ext uri="{FF2B5EF4-FFF2-40B4-BE49-F238E27FC236}">
                <a16:creationId xmlns:a16="http://schemas.microsoft.com/office/drawing/2014/main" id="{77425A4A-4D5C-4B55-8F17-EC655982DE0D}"/>
              </a:ext>
            </a:extLst>
          </p:cNvPr>
          <p:cNvSpPr>
            <a:spLocks xmlns:a="http://schemas.openxmlformats.org/drawingml/2006/main" noGrp="1"/>
          </p:cNvSpPr>
          <p:nvPr/>
        </p:nvSpPr>
        <p:spPr>
          <a:xfrm xmlns:a="http://schemas.openxmlformats.org/drawingml/2006/main">
            <a:off x="2359152" y="2432304"/>
            <a:ext cx="4919472" cy="8778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550"/>
              </a:lnSpc>
              <a:buNone/>
            </a:pPr>
            <a:r>
              <a:rPr sz="1200">
                <a:solidFill>
                  <a:srgbClr val="E8E6F4"/>
                </a:solidFill>
                <a:latin typeface="Calibri"/>
                <a:ea typeface="Calibri"/>
                <a:cs typeface="Calibri"/>
              </a:rPr>
              <a:t>Parses HTTP, validates shape, checks the token. No library rules live here.</a:t>
            </a:r>
            <a:endParaRPr sz="1200"/>
          </a:p>
        </p:txBody>
      </p:sp>
      <p:sp>
        <p:nvSpPr>
          <p:cNvPr id="13" name="Shape 10">
            <a:extLst xmlns:a="http://schemas.openxmlformats.org/drawingml/2006/main">
              <a:ext uri="{FF2B5EF4-FFF2-40B4-BE49-F238E27FC236}">
                <a16:creationId xmlns:a16="http://schemas.microsoft.com/office/drawing/2014/main" id="{041F4005-5705-44B5-B8B2-46AE90A59A03}"/>
              </a:ext>
            </a:extLst>
          </p:cNvPr>
          <p:cNvSpPr>
            <a:spLocks xmlns:a="http://schemas.openxmlformats.org/drawingml/2006/main" noGrp="1"/>
          </p:cNvSpPr>
          <p:nvPr/>
        </p:nvSpPr>
        <p:spPr>
          <a:xfrm xmlns:a="http://schemas.openxmlformats.org/drawingml/2006/main" rot="5400000">
            <a:off x="3794760" y="3337560"/>
            <a:ext cx="402336" cy="137160"/>
          </a:xfrm>
          <a:prstGeom xmlns:a="http://schemas.openxmlformats.org/drawingml/2006/main" prst="chevron">
            <a:avLst/>
          </a:prstGeom>
          <a:solidFill xmlns:a="http://schemas.openxmlformats.org/drawingml/2006/main">
            <a:srgbClr val="D8DAE5"/>
          </a:solidFill>
          <a:ln xmlns:a="http://schemas.openxmlformats.org/drawingml/2006/main" w="12700">
            <a:solidFill>
              <a:srgbClr val="D8DAE5"/>
            </a:solidFill>
            <a:prstDash val="solid"/>
          </a:ln>
        </p:spPr>
      </p:sp>
      <p:sp>
        <p:nvSpPr>
          <p:cNvPr id="14" name="Shape 11">
            <a:extLst xmlns:a="http://schemas.openxmlformats.org/drawingml/2006/main">
              <a:ext uri="{FF2B5EF4-FFF2-40B4-BE49-F238E27FC236}">
                <a16:creationId xmlns:a16="http://schemas.microsoft.com/office/drawing/2014/main" id="{05426AB5-B887-45C1-9C8D-765B640CDD8B}"/>
              </a:ext>
            </a:extLst>
          </p:cNvPr>
          <p:cNvSpPr>
            <a:spLocks xmlns:a="http://schemas.openxmlformats.org/drawingml/2006/main" noGrp="1"/>
          </p:cNvSpPr>
          <p:nvPr/>
        </p:nvSpPr>
        <p:spPr>
          <a:xfrm xmlns:a="http://schemas.openxmlformats.org/drawingml/2006/main">
            <a:off x="566928" y="3474720"/>
            <a:ext cx="6903720" cy="877824"/>
          </a:xfrm>
          <a:prstGeom xmlns:a="http://schemas.openxmlformats.org/drawingml/2006/main" prst="roundRect">
            <a:avLst>
              <a:gd name="adj" fmla="val 6250"/>
            </a:avLst>
          </a:prstGeom>
          <a:solidFill xmlns:a="http://schemas.openxmlformats.org/drawingml/2006/main">
            <a:srgbClr val="3B2C7A"/>
          </a:solidFill>
          <a:ln xmlns:a="http://schemas.openxmlformats.org/drawingml/2006/main" w="12700">
            <a:solidFill>
              <a:srgbClr val="3B2C7A"/>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15" name="Text 12">
            <a:extLst xmlns:a="http://schemas.openxmlformats.org/drawingml/2006/main">
              <a:ext uri="{FF2B5EF4-FFF2-40B4-BE49-F238E27FC236}">
                <a16:creationId xmlns:a16="http://schemas.microsoft.com/office/drawing/2014/main" id="{9D8D4261-4FA1-4B5A-A7B7-BB0EB7B7C37A}"/>
              </a:ext>
            </a:extLst>
          </p:cNvPr>
          <p:cNvSpPr>
            <a:spLocks xmlns:a="http://schemas.openxmlformats.org/drawingml/2006/main" noGrp="1"/>
          </p:cNvSpPr>
          <p:nvPr/>
        </p:nvSpPr>
        <p:spPr>
          <a:xfrm xmlns:a="http://schemas.openxmlformats.org/drawingml/2006/main">
            <a:off x="822960" y="3474720"/>
            <a:ext cx="1481328" cy="8778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FFFFFF"/>
                </a:solidFill>
                <a:latin typeface="Calibri"/>
                <a:ea typeface="Calibri"/>
                <a:cs typeface="Calibri"/>
              </a:rPr>
              <a:t>Service</a:t>
            </a:r>
            <a:endParaRPr sz="1500"/>
          </a:p>
        </p:txBody>
      </p:sp>
      <p:sp>
        <p:nvSpPr>
          <p:cNvPr id="16" name="Text 13">
            <a:extLst xmlns:a="http://schemas.openxmlformats.org/drawingml/2006/main">
              <a:ext uri="{FF2B5EF4-FFF2-40B4-BE49-F238E27FC236}">
                <a16:creationId xmlns:a16="http://schemas.microsoft.com/office/drawing/2014/main" id="{1D45B76C-50DE-4AFB-809B-53940D8191A9}"/>
              </a:ext>
            </a:extLst>
          </p:cNvPr>
          <p:cNvSpPr>
            <a:spLocks xmlns:a="http://schemas.openxmlformats.org/drawingml/2006/main" noGrp="1"/>
          </p:cNvSpPr>
          <p:nvPr/>
        </p:nvSpPr>
        <p:spPr>
          <a:xfrm xmlns:a="http://schemas.openxmlformats.org/drawingml/2006/main">
            <a:off x="2359152" y="3474720"/>
            <a:ext cx="4919472" cy="8778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550"/>
              </a:lnSpc>
              <a:buNone/>
            </a:pPr>
            <a:r>
              <a:rPr sz="1200">
                <a:solidFill>
                  <a:srgbClr val="E8E6F4"/>
                </a:solidFill>
                <a:latin typeface="Calibri"/>
                <a:ea typeface="Calibri"/>
                <a:cs typeface="Calibri"/>
              </a:rPr>
              <a:t>The library's rules: who may borrow, how many, for how long, what is overdue.</a:t>
            </a:r>
            <a:endParaRPr sz="1200"/>
          </a:p>
        </p:txBody>
      </p:sp>
      <p:sp>
        <p:nvSpPr>
          <p:cNvPr id="17" name="Shape 14">
            <a:extLst xmlns:a="http://schemas.openxmlformats.org/drawingml/2006/main">
              <a:ext uri="{FF2B5EF4-FFF2-40B4-BE49-F238E27FC236}">
                <a16:creationId xmlns:a16="http://schemas.microsoft.com/office/drawing/2014/main" id="{EA9C6DBA-CFDC-4EFC-A391-F086A524DB09}"/>
              </a:ext>
            </a:extLst>
          </p:cNvPr>
          <p:cNvSpPr>
            <a:spLocks xmlns:a="http://schemas.openxmlformats.org/drawingml/2006/main" noGrp="1"/>
          </p:cNvSpPr>
          <p:nvPr/>
        </p:nvSpPr>
        <p:spPr>
          <a:xfrm xmlns:a="http://schemas.openxmlformats.org/drawingml/2006/main" rot="5400000">
            <a:off x="3794760" y="4379976"/>
            <a:ext cx="402336" cy="137160"/>
          </a:xfrm>
          <a:prstGeom xmlns:a="http://schemas.openxmlformats.org/drawingml/2006/main" prst="chevron">
            <a:avLst/>
          </a:prstGeom>
          <a:solidFill xmlns:a="http://schemas.openxmlformats.org/drawingml/2006/main">
            <a:srgbClr val="D8DAE5"/>
          </a:solidFill>
          <a:ln xmlns:a="http://schemas.openxmlformats.org/drawingml/2006/main" w="12700">
            <a:solidFill>
              <a:srgbClr val="D8DAE5"/>
            </a:solidFill>
            <a:prstDash val="solid"/>
          </a:ln>
        </p:spPr>
      </p:sp>
      <p:sp>
        <p:nvSpPr>
          <p:cNvPr id="18" name="Shape 15">
            <a:extLst xmlns:a="http://schemas.openxmlformats.org/drawingml/2006/main">
              <a:ext uri="{FF2B5EF4-FFF2-40B4-BE49-F238E27FC236}">
                <a16:creationId xmlns:a16="http://schemas.microsoft.com/office/drawing/2014/main" id="{9563A74E-632B-4E3B-9051-DFC2B55A9F83}"/>
              </a:ext>
            </a:extLst>
          </p:cNvPr>
          <p:cNvSpPr>
            <a:spLocks xmlns:a="http://schemas.openxmlformats.org/drawingml/2006/main" noGrp="1"/>
          </p:cNvSpPr>
          <p:nvPr/>
        </p:nvSpPr>
        <p:spPr>
          <a:xfrm xmlns:a="http://schemas.openxmlformats.org/drawingml/2006/main">
            <a:off x="566928" y="4517136"/>
            <a:ext cx="6903720" cy="877824"/>
          </a:xfrm>
          <a:prstGeom xmlns:a="http://schemas.openxmlformats.org/drawingml/2006/main" prst="roundRect">
            <a:avLst>
              <a:gd name="adj" fmla="val 6250"/>
            </a:avLst>
          </a:prstGeom>
          <a:solidFill xmlns:a="http://schemas.openxmlformats.org/drawingml/2006/main">
            <a:srgbClr val="240C54"/>
          </a:solidFill>
          <a:ln xmlns:a="http://schemas.openxmlformats.org/drawingml/2006/main" w="12700">
            <a:solidFill>
              <a:srgbClr val="240C54"/>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19" name="Text 16">
            <a:extLst xmlns:a="http://schemas.openxmlformats.org/drawingml/2006/main">
              <a:ext uri="{FF2B5EF4-FFF2-40B4-BE49-F238E27FC236}">
                <a16:creationId xmlns:a16="http://schemas.microsoft.com/office/drawing/2014/main" id="{1244588B-15C4-4B8E-BC6A-EA9335B8BD89}"/>
              </a:ext>
            </a:extLst>
          </p:cNvPr>
          <p:cNvSpPr>
            <a:spLocks xmlns:a="http://schemas.openxmlformats.org/drawingml/2006/main" noGrp="1"/>
          </p:cNvSpPr>
          <p:nvPr/>
        </p:nvSpPr>
        <p:spPr>
          <a:xfrm xmlns:a="http://schemas.openxmlformats.org/drawingml/2006/main">
            <a:off x="822960" y="4517136"/>
            <a:ext cx="1481328" cy="8778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FFFFFF"/>
                </a:solidFill>
                <a:latin typeface="Calibri"/>
                <a:ea typeface="Calibri"/>
                <a:cs typeface="Calibri"/>
              </a:rPr>
              <a:t>Repository</a:t>
            </a:r>
            <a:endParaRPr sz="1500"/>
          </a:p>
        </p:txBody>
      </p:sp>
      <p:sp>
        <p:nvSpPr>
          <p:cNvPr id="20" name="Text 17">
            <a:extLst xmlns:a="http://schemas.openxmlformats.org/drawingml/2006/main">
              <a:ext uri="{FF2B5EF4-FFF2-40B4-BE49-F238E27FC236}">
                <a16:creationId xmlns:a16="http://schemas.microsoft.com/office/drawing/2014/main" id="{3BD4B35C-4FD2-4FB9-B80B-073B011496FA}"/>
              </a:ext>
            </a:extLst>
          </p:cNvPr>
          <p:cNvSpPr>
            <a:spLocks xmlns:a="http://schemas.openxmlformats.org/drawingml/2006/main" noGrp="1"/>
          </p:cNvSpPr>
          <p:nvPr/>
        </p:nvSpPr>
        <p:spPr>
          <a:xfrm xmlns:a="http://schemas.openxmlformats.org/drawingml/2006/main">
            <a:off x="2359152" y="4517136"/>
            <a:ext cx="4919472" cy="8778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550"/>
              </a:lnSpc>
              <a:buNone/>
            </a:pPr>
            <a:r>
              <a:rPr sz="1200">
                <a:solidFill>
                  <a:srgbClr val="E8E6F4"/>
                </a:solidFill>
                <a:latin typeface="Calibri"/>
                <a:ea typeface="Calibri"/>
                <a:cs typeface="Calibri"/>
              </a:rPr>
              <a:t>SQL, transactions and row locks. The only layer that knows Postgres exists.</a:t>
            </a:r>
            <a:endParaRPr sz="1200"/>
          </a:p>
        </p:txBody>
      </p:sp>
      <p:sp>
        <p:nvSpPr>
          <p:cNvPr id="21" name="Shape 18">
            <a:extLst xmlns:a="http://schemas.openxmlformats.org/drawingml/2006/main">
              <a:ext uri="{FF2B5EF4-FFF2-40B4-BE49-F238E27FC236}">
                <a16:creationId xmlns:a16="http://schemas.microsoft.com/office/drawing/2014/main" id="{15BE6F15-6463-4FA1-B207-F6C9679A7F03}"/>
              </a:ext>
            </a:extLst>
          </p:cNvPr>
          <p:cNvSpPr>
            <a:spLocks xmlns:a="http://schemas.openxmlformats.org/drawingml/2006/main" noGrp="1"/>
          </p:cNvSpPr>
          <p:nvPr/>
        </p:nvSpPr>
        <p:spPr>
          <a:xfrm xmlns:a="http://schemas.openxmlformats.org/drawingml/2006/main">
            <a:off x="7699248" y="1389888"/>
            <a:ext cx="3925519" cy="2048256"/>
          </a:xfrm>
          <a:prstGeom xmlns:a="http://schemas.openxmlformats.org/drawingml/2006/main" prst="roundRect">
            <a:avLst>
              <a:gd name="adj" fmla="val 3125"/>
            </a:avLst>
          </a:prstGeom>
          <a:solidFill xmlns:a="http://schemas.openxmlformats.org/drawingml/2006/main">
            <a:srgbClr val="F4F5F9"/>
          </a:solidFill>
          <a:ln xmlns:a="http://schemas.openxmlformats.org/drawingml/2006/main" w="9525">
            <a:solidFill>
              <a:srgbClr val="D8DAE5"/>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22" name="Text 19">
            <a:extLst xmlns:a="http://schemas.openxmlformats.org/drawingml/2006/main">
              <a:ext uri="{FF2B5EF4-FFF2-40B4-BE49-F238E27FC236}">
                <a16:creationId xmlns:a16="http://schemas.microsoft.com/office/drawing/2014/main" id="{FDD20FFE-0688-4E52-9615-7B95C3FE4537}"/>
              </a:ext>
            </a:extLst>
          </p:cNvPr>
          <p:cNvSpPr>
            <a:spLocks xmlns:a="http://schemas.openxmlformats.org/drawingml/2006/main" noGrp="1"/>
          </p:cNvSpPr>
          <p:nvPr/>
        </p:nvSpPr>
        <p:spPr>
          <a:xfrm xmlns:a="http://schemas.openxmlformats.org/drawingml/2006/main">
            <a:off x="7918704" y="1563624"/>
            <a:ext cx="3486607"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240C54"/>
                </a:solidFill>
                <a:latin typeface="Calibri"/>
                <a:ea typeface="Calibri"/>
                <a:cs typeface="Calibri"/>
              </a:rPr>
              <a:t>Dependencies point one way</a:t>
            </a:r>
            <a:endParaRPr sz="1400"/>
          </a:p>
        </p:txBody>
      </p:sp>
      <p:sp>
        <p:nvSpPr>
          <p:cNvPr id="23" name="Text 20">
            <a:extLst xmlns:a="http://schemas.openxmlformats.org/drawingml/2006/main">
              <a:ext uri="{FF2B5EF4-FFF2-40B4-BE49-F238E27FC236}">
                <a16:creationId xmlns:a16="http://schemas.microsoft.com/office/drawing/2014/main" id="{40F88F23-157B-41E8-AEFF-3D47CE5BD63C}"/>
              </a:ext>
            </a:extLst>
          </p:cNvPr>
          <p:cNvSpPr>
            <a:spLocks xmlns:a="http://schemas.openxmlformats.org/drawingml/2006/main" noGrp="1"/>
          </p:cNvSpPr>
          <p:nvPr/>
        </p:nvSpPr>
        <p:spPr>
          <a:xfrm xmlns:a="http://schemas.openxmlformats.org/drawingml/2006/main">
            <a:off x="7918704" y="1956816"/>
            <a:ext cx="3486607" cy="13350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650"/>
              </a:lnSpc>
              <a:buNone/>
            </a:pPr>
            <a:r>
              <a:rPr sz="1200">
                <a:solidFill>
                  <a:srgbClr val="1A1A2E"/>
                </a:solidFill>
                <a:latin typeface="Calibri"/>
                <a:ea typeface="Calibri"/>
                <a:cs typeface="Calibri"/>
              </a:rPr>
              <a:t>A layer may call the one beneath it and never the one above. The domain package at the centre imports nothing from this project at all, so the library's rules can be tested without a database, a server or a network.</a:t>
            </a:r>
            <a:endParaRPr sz="1200"/>
          </a:p>
        </p:txBody>
      </p:sp>
      <p:sp>
        <p:nvSpPr>
          <p:cNvPr id="24" name="Shape 21">
            <a:extLst xmlns:a="http://schemas.openxmlformats.org/drawingml/2006/main">
              <a:ext uri="{FF2B5EF4-FFF2-40B4-BE49-F238E27FC236}">
                <a16:creationId xmlns:a16="http://schemas.microsoft.com/office/drawing/2014/main" id="{653A7ADD-BCBF-4AD3-A9BA-05C2F5F14C03}"/>
              </a:ext>
            </a:extLst>
          </p:cNvPr>
          <p:cNvSpPr>
            <a:spLocks xmlns:a="http://schemas.openxmlformats.org/drawingml/2006/main" noGrp="1"/>
          </p:cNvSpPr>
          <p:nvPr/>
        </p:nvSpPr>
        <p:spPr>
          <a:xfrm xmlns:a="http://schemas.openxmlformats.org/drawingml/2006/main">
            <a:off x="7699248" y="3602736"/>
            <a:ext cx="3925519" cy="1993392"/>
          </a:xfrm>
          <a:prstGeom xmlns:a="http://schemas.openxmlformats.org/drawingml/2006/main" prst="roundRect">
            <a:avLst>
              <a:gd name="adj" fmla="val 3211"/>
            </a:avLst>
          </a:prstGeom>
          <a:solidFill xmlns:a="http://schemas.openxmlformats.org/drawingml/2006/main">
            <a:srgbClr val="FBF4E4"/>
          </a:solidFill>
          <a:ln xmlns:a="http://schemas.openxmlformats.org/drawingml/2006/main" w="9525">
            <a:solidFill>
              <a:srgbClr val="E8D9AE"/>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25" name="Text 22">
            <a:extLst xmlns:a="http://schemas.openxmlformats.org/drawingml/2006/main">
              <a:ext uri="{FF2B5EF4-FFF2-40B4-BE49-F238E27FC236}">
                <a16:creationId xmlns:a16="http://schemas.microsoft.com/office/drawing/2014/main" id="{C60F0C15-9CC4-454F-837B-2B9EE9848BFA}"/>
              </a:ext>
            </a:extLst>
          </p:cNvPr>
          <p:cNvSpPr>
            <a:spLocks xmlns:a="http://schemas.openxmlformats.org/drawingml/2006/main" noGrp="1"/>
          </p:cNvSpPr>
          <p:nvPr/>
        </p:nvSpPr>
        <p:spPr>
          <a:xfrm xmlns:a="http://schemas.openxmlformats.org/drawingml/2006/main">
            <a:off x="7918704" y="3776472"/>
            <a:ext cx="3486607"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240C54"/>
                </a:solidFill>
                <a:latin typeface="Calibri"/>
                <a:ea typeface="Calibri"/>
                <a:cs typeface="Calibri"/>
              </a:rPr>
              <a:t>Why not microservices?</a:t>
            </a:r>
            <a:endParaRPr sz="1400"/>
          </a:p>
        </p:txBody>
      </p:sp>
      <p:sp>
        <p:nvSpPr>
          <p:cNvPr id="26" name="Text 23">
            <a:extLst xmlns:a="http://schemas.openxmlformats.org/drawingml/2006/main">
              <a:ext uri="{FF2B5EF4-FFF2-40B4-BE49-F238E27FC236}">
                <a16:creationId xmlns:a16="http://schemas.microsoft.com/office/drawing/2014/main" id="{62187C1B-A340-4D65-AD9A-EA791BE608DC}"/>
              </a:ext>
            </a:extLst>
          </p:cNvPr>
          <p:cNvSpPr>
            <a:spLocks xmlns:a="http://schemas.openxmlformats.org/drawingml/2006/main" noGrp="1"/>
          </p:cNvSpPr>
          <p:nvPr/>
        </p:nvSpPr>
        <p:spPr>
          <a:xfrm xmlns:a="http://schemas.openxmlformats.org/drawingml/2006/main">
            <a:off x="7918704" y="4169664"/>
            <a:ext cx="3486607"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650"/>
              </a:lnSpc>
              <a:buNone/>
            </a:pPr>
            <a:r>
              <a:rPr sz="1200">
                <a:solidFill>
                  <a:srgbClr val="1A1A2E"/>
                </a:solidFill>
                <a:latin typeface="Calibri"/>
                <a:ea typeface="Calibri"/>
                <a:cs typeface="Calibri"/>
              </a:rPr>
              <a:t>Borrowing touches the copy, the loan and the member in one atomic step. Split across services that becomes a distributed transaction. One database and one transaction is not a compromise here; it is the correct design.</a:t>
            </a:r>
            <a:endParaRPr sz="1200"/>
          </a:p>
        </p:txBody>
      </p:sp>
    </p:spTree>
    <p:extLst>
      <p:ext uri="{BB962C8B-B14F-4D97-AF65-F5344CB8AC3E}">
        <p14:creationId xmlns:p14="http://schemas.microsoft.com/office/powerpoint/2010/main" val="149514146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3D1F7C54-44A2-4668-8029-57AFF286B736}"/>
              </a:ext>
            </a:extLst>
          </p:cNvPr>
          <p:cNvSpPr>
            <a:spLocks xmlns:a="http://schemas.openxmlformats.org/drawingml/2006/main" noGrp="1"/>
          </p:cNvSpPr>
          <p:nvPr/>
        </p:nvSpPr>
        <p:spPr>
          <a:xfrm xmlns:a="http://schemas.openxmlformats.org/drawingml/2006/main">
            <a:off x="566928" y="384048"/>
            <a:ext cx="82296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20">
                <a:solidFill>
                  <a:srgbClr val="E4B454"/>
                </a:solidFill>
                <a:latin typeface="Calibri"/>
                <a:ea typeface="Calibri"/>
                <a:cs typeface="Calibri"/>
              </a:rPr>
              <a:t>DATA MODEL</a:t>
            </a:r>
            <a:endParaRPr sz="1100"/>
          </a:p>
        </p:txBody>
      </p:sp>
      <p:sp>
        <p:nvSpPr>
          <p:cNvPr id="3" name="Text 1">
            <a:extLst xmlns:a="http://schemas.openxmlformats.org/drawingml/2006/main">
              <a:ext uri="{FF2B5EF4-FFF2-40B4-BE49-F238E27FC236}">
                <a16:creationId xmlns:a16="http://schemas.microsoft.com/office/drawing/2014/main" id="{E9071914-B45A-4825-95A5-7A2AA3742C44}"/>
              </a:ext>
            </a:extLst>
          </p:cNvPr>
          <p:cNvSpPr>
            <a:spLocks xmlns:a="http://schemas.openxmlformats.org/drawingml/2006/main" noGrp="1"/>
          </p:cNvSpPr>
          <p:nvPr/>
        </p:nvSpPr>
        <p:spPr>
          <a:xfrm xmlns:a="http://schemas.openxmlformats.org/drawingml/2006/main">
            <a:off x="566928" y="640080"/>
            <a:ext cx="96926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40C54"/>
                </a:solidFill>
                <a:latin typeface="Cambria"/>
                <a:ea typeface="Cambria"/>
                <a:cs typeface="Cambria"/>
              </a:rPr>
              <a:t>The member record, and what it deliberately holds</a:t>
            </a:r>
            <a:endParaRPr sz="3000"/>
          </a:p>
        </p:txBody>
      </p:sp>
      <p:pic>
        <p:nvPicPr>
          <p:cNvPr id="17" name="Image 0"/>
          <p:cNvPicPr>
            <a:picLocks xmlns:a="http://schemas.openxmlformats.org/drawingml/2006/main" noChangeAspect="1"/>
          </p:cNvPicPr>
          <p:nvPr/>
        </p:nvPicPr>
        <p:blipFill>
          <a:blip xmlns:r="http://schemas.openxmlformats.org/officeDocument/2006/relationships" xmlns:a="http://schemas.openxmlformats.org/drawingml/2006/main" r:embed="Rc69e8700d0834dfa"/>
          <a:stretch xmlns:a="http://schemas.openxmlformats.org/drawingml/2006/main">
            <a:fillRect l="0" t="0" r="0" b="0"/>
          </a:stretch>
        </p:blipFill>
        <p:spPr>
          <a:xfrm xmlns:a="http://schemas.openxmlformats.org/drawingml/2006/main">
            <a:off x="11149279" y="365760"/>
            <a:ext cx="475488" cy="466344"/>
          </a:xfrm>
          <a:prstGeom xmlns:a="http://schemas.openxmlformats.org/drawingml/2006/main" prst="rect">
            <a:avLst/>
          </a:prstGeom>
        </p:spPr>
      </p:pic>
      <p:sp>
        <p:nvSpPr>
          <p:cNvPr id="5" name="Text 2">
            <a:extLst xmlns:a="http://schemas.openxmlformats.org/drawingml/2006/main">
              <a:ext uri="{FF2B5EF4-FFF2-40B4-BE49-F238E27FC236}">
                <a16:creationId xmlns:a16="http://schemas.microsoft.com/office/drawing/2014/main" id="{76A7E739-17AE-4FA3-9FB3-7620AE2D56CB}"/>
              </a:ext>
            </a:extLst>
          </p:cNvPr>
          <p:cNvSpPr>
            <a:spLocks xmlns:a="http://schemas.openxmlformats.org/drawingml/2006/main" noGrp="1"/>
          </p:cNvSpPr>
          <p:nvPr/>
        </p:nvSpPr>
        <p:spPr>
          <a:xfrm xmlns:a="http://schemas.openxmlformats.org/drawingml/2006/main">
            <a:off x="11149279" y="6382512"/>
            <a:ext cx="475488"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000">
                <a:solidFill>
                  <a:srgbClr val="5B5B6B"/>
                </a:solidFill>
                <a:latin typeface="Calibri"/>
                <a:ea typeface="Calibri"/>
                <a:cs typeface="Calibri"/>
              </a:rPr>
              <a:t>8</a:t>
            </a:r>
            <a:endParaRPr sz="1000"/>
          </a:p>
        </p:txBody>
      </p:sp>
      <p:sp>
        <p:nvSpPr>
          <p:cNvPr id="6" name="Shape 3">
            <a:extLst xmlns:a="http://schemas.openxmlformats.org/drawingml/2006/main">
              <a:ext uri="{FF2B5EF4-FFF2-40B4-BE49-F238E27FC236}">
                <a16:creationId xmlns:a16="http://schemas.microsoft.com/office/drawing/2014/main" id="{FA8497F3-89FC-4686-AD3C-ED8945492BCF}"/>
              </a:ext>
            </a:extLst>
          </p:cNvPr>
          <p:cNvSpPr>
            <a:spLocks xmlns:a="http://schemas.openxmlformats.org/drawingml/2006/main" noGrp="1"/>
          </p:cNvSpPr>
          <p:nvPr/>
        </p:nvSpPr>
        <p:spPr>
          <a:xfrm xmlns:a="http://schemas.openxmlformats.org/drawingml/2006/main">
            <a:off x="566928" y="1316736"/>
            <a:ext cx="7004304" cy="4279392"/>
          </a:xfrm>
          <a:prstGeom xmlns:a="http://schemas.openxmlformats.org/drawingml/2006/main" prst="roundRect">
            <a:avLst>
              <a:gd name="adj" fmla="val 1282"/>
            </a:avLst>
          </a:prstGeom>
          <a:solidFill xmlns:a="http://schemas.openxmlformats.org/drawingml/2006/main">
            <a:srgbClr val="10131F"/>
          </a:solidFill>
          <a:ln xmlns:a="http://schemas.openxmlformats.org/drawingml/2006/main" w="12700">
            <a:solidFill>
              <a:srgbClr val="10131F"/>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7" name="Text 4">
            <a:extLst xmlns:a="http://schemas.openxmlformats.org/drawingml/2006/main">
              <a:ext uri="{FF2B5EF4-FFF2-40B4-BE49-F238E27FC236}">
                <a16:creationId xmlns:a16="http://schemas.microsoft.com/office/drawing/2014/main" id="{5DBCECEB-D8BB-4B88-8788-A56EA00CE64B}"/>
              </a:ext>
            </a:extLst>
          </p:cNvPr>
          <p:cNvSpPr>
            <a:spLocks xmlns:a="http://schemas.openxmlformats.org/drawingml/2006/main" noGrp="1"/>
          </p:cNvSpPr>
          <p:nvPr/>
        </p:nvSpPr>
        <p:spPr>
          <a:xfrm xmlns:a="http://schemas.openxmlformats.org/drawingml/2006/main">
            <a:off x="749808" y="1463040"/>
            <a:ext cx="6638544" cy="39867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350"/>
              </a:lnSpc>
              <a:buNone/>
            </a:pPr>
            <a:r>
              <a:rPr sz="1000">
                <a:solidFill>
                  <a:srgbClr val="C792EA"/>
                </a:solidFill>
                <a:latin typeface="Courier New"/>
                <a:ea typeface="Courier New"/>
                <a:cs typeface="Courier New"/>
              </a:rPr>
              <a:t>type Member struct {</a:t>
            </a:r>
            <a:endParaRPr sz="1000"/>
          </a:p>
          <a:p xmlns:a="http://schemas.openxmlformats.org/drawingml/2006/main">
            <a:pPr marL="0" indent="0">
              <a:lnSpc>
                <a:spcPts val="1350"/>
              </a:lnSpc>
              <a:buNone/>
            </a:pPr>
            <a:r>
              <a:rPr sz="1000">
                <a:solidFill>
                  <a:srgbClr val="D6DAE8"/>
                </a:solidFill>
                <a:latin typeface="Courier New"/>
                <a:ea typeface="Courier New"/>
                <a:cs typeface="Courier New"/>
              </a:rPr>
              <a:t> </a:t>
            </a:r>
            <a:endParaRPr sz="1000"/>
          </a:p>
          <a:p xmlns:a="http://schemas.openxmlformats.org/drawingml/2006/main">
            <a:pPr marL="0" indent="0">
              <a:lnSpc>
                <a:spcPts val="1350"/>
              </a:lnSpc>
              <a:buNone/>
            </a:pPr>
            <a:r>
              <a:rPr sz="1000">
                <a:solidFill>
                  <a:srgbClr val="6F7C99"/>
                </a:solidFill>
                <a:latin typeface="Courier New"/>
                <a:ea typeface="Courier New"/>
                <a:cs typeface="Courier New"/>
              </a:rPr>
              <a:t>    // --- identity ---</a:t>
            </a:r>
            <a:endParaRPr sz="1000"/>
          </a:p>
          <a:p xmlns:a="http://schemas.openxmlformats.org/drawingml/2006/main">
            <a:pPr marL="0" indent="0">
              <a:lnSpc>
                <a:spcPts val="1350"/>
              </a:lnSpc>
              <a:buNone/>
            </a:pPr>
            <a:r>
              <a:rPr sz="1000">
                <a:solidFill>
                  <a:srgbClr val="82AAFF"/>
                </a:solidFill>
                <a:latin typeface="Courier New"/>
                <a:ea typeface="Courier New"/>
                <a:cs typeface="Courier New"/>
              </a:rPr>
              <a:t>    ID         string  </a:t>
            </a:r>
            <a:endParaRPr sz="1000"/>
          </a:p>
          <a:p xmlns:a="http://schemas.openxmlformats.org/drawingml/2006/main">
            <a:pPr marL="0" indent="0">
              <a:lnSpc>
                <a:spcPts val="1350"/>
              </a:lnSpc>
              <a:buNone/>
            </a:pPr>
            <a:r>
              <a:rPr sz="1000">
                <a:solidFill>
                  <a:srgbClr val="82AAFF"/>
                </a:solidFill>
                <a:latin typeface="Courier New"/>
                <a:ea typeface="Courier New"/>
                <a:cs typeface="Courier New"/>
              </a:rPr>
              <a:t>    Identifier string  // matric or staff no., UNIQUE</a:t>
            </a:r>
            <a:endParaRPr sz="1000"/>
          </a:p>
          <a:p xmlns:a="http://schemas.openxmlformats.org/drawingml/2006/main">
            <a:pPr marL="0" indent="0">
              <a:lnSpc>
                <a:spcPts val="1350"/>
              </a:lnSpc>
              <a:buNone/>
            </a:pPr>
            <a:r>
              <a:rPr sz="1000">
                <a:solidFill>
                  <a:srgbClr val="82AAFF"/>
                </a:solidFill>
                <a:latin typeface="Courier New"/>
                <a:ea typeface="Courier New"/>
                <a:cs typeface="Courier New"/>
              </a:rPr>
              <a:t>    Email      string  // citext: Ada@ and ada@ are one</a:t>
            </a:r>
            <a:endParaRPr sz="1000"/>
          </a:p>
          <a:p xmlns:a="http://schemas.openxmlformats.org/drawingml/2006/main">
            <a:pPr marL="0" indent="0">
              <a:lnSpc>
                <a:spcPts val="1350"/>
              </a:lnSpc>
              <a:buNone/>
            </a:pPr>
            <a:r>
              <a:rPr sz="1000">
                <a:solidFill>
                  <a:srgbClr val="82AAFF"/>
                </a:solidFill>
                <a:latin typeface="Courier New"/>
                <a:ea typeface="Courier New"/>
                <a:cs typeface="Courier New"/>
              </a:rPr>
              <a:t>    Faculty, Department, Level string</a:t>
            </a:r>
            <a:endParaRPr sz="1000"/>
          </a:p>
          <a:p xmlns:a="http://schemas.openxmlformats.org/drawingml/2006/main">
            <a:pPr marL="0" indent="0">
              <a:lnSpc>
                <a:spcPts val="1350"/>
              </a:lnSpc>
              <a:buNone/>
            </a:pPr>
            <a:r>
              <a:rPr sz="1000">
                <a:solidFill>
                  <a:srgbClr val="D6DAE8"/>
                </a:solidFill>
                <a:latin typeface="Courier New"/>
                <a:ea typeface="Courier New"/>
                <a:cs typeface="Courier New"/>
              </a:rPr>
              <a:t> </a:t>
            </a:r>
            <a:endParaRPr sz="1000"/>
          </a:p>
          <a:p xmlns:a="http://schemas.openxmlformats.org/drawingml/2006/main">
            <a:pPr marL="0" indent="0">
              <a:lnSpc>
                <a:spcPts val="1350"/>
              </a:lnSpc>
              <a:buNone/>
            </a:pPr>
            <a:r>
              <a:rPr sz="1000">
                <a:solidFill>
                  <a:srgbClr val="6F7C99"/>
                </a:solidFill>
                <a:latin typeface="Courier New"/>
                <a:ea typeface="Courier New"/>
                <a:cs typeface="Courier New"/>
              </a:rPr>
              <a:t>    // --- entitlement ---</a:t>
            </a:r>
            <a:endParaRPr sz="1000"/>
          </a:p>
          <a:p xmlns:a="http://schemas.openxmlformats.org/drawingml/2006/main">
            <a:pPr marL="0" indent="0">
              <a:lnSpc>
                <a:spcPts val="1350"/>
              </a:lnSpc>
              <a:buNone/>
            </a:pPr>
            <a:r>
              <a:rPr sz="1000">
                <a:solidFill>
                  <a:srgbClr val="7FDBCA"/>
                </a:solidFill>
                <a:latin typeface="Courier New"/>
                <a:ea typeface="Courier New"/>
                <a:cs typeface="Courier New"/>
              </a:rPr>
              <a:t>    Role     Role             // checked on the SERVER</a:t>
            </a:r>
            <a:endParaRPr sz="1000"/>
          </a:p>
          <a:p xmlns:a="http://schemas.openxmlformats.org/drawingml/2006/main">
            <a:pPr marL="0" indent="0">
              <a:lnSpc>
                <a:spcPts val="1350"/>
              </a:lnSpc>
              <a:buNone/>
            </a:pPr>
            <a:r>
              <a:rPr sz="1000">
                <a:solidFill>
                  <a:srgbClr val="7FDBCA"/>
                </a:solidFill>
                <a:latin typeface="Courier New"/>
                <a:ea typeface="Courier New"/>
                <a:cs typeface="Courier New"/>
              </a:rPr>
              <a:t>    Category *MemberCategory  // null for staff</a:t>
            </a:r>
            <a:endParaRPr sz="1000"/>
          </a:p>
          <a:p xmlns:a="http://schemas.openxmlformats.org/drawingml/2006/main">
            <a:pPr marL="0" indent="0">
              <a:lnSpc>
                <a:spcPts val="1350"/>
              </a:lnSpc>
              <a:buNone/>
            </a:pPr>
            <a:r>
              <a:rPr sz="1000">
                <a:solidFill>
                  <a:srgbClr val="7FDBCA"/>
                </a:solidFill>
                <a:latin typeface="Courier New"/>
                <a:ea typeface="Courier New"/>
                <a:cs typeface="Courier New"/>
              </a:rPr>
              <a:t>    Status   UserStatus       // suspended cannot sign in</a:t>
            </a:r>
            <a:endParaRPr sz="1000"/>
          </a:p>
          <a:p xmlns:a="http://schemas.openxmlformats.org/drawingml/2006/main">
            <a:pPr marL="0" indent="0">
              <a:lnSpc>
                <a:spcPts val="1350"/>
              </a:lnSpc>
              <a:buNone/>
            </a:pPr>
            <a:r>
              <a:rPr sz="1000">
                <a:solidFill>
                  <a:srgbClr val="D6DAE8"/>
                </a:solidFill>
                <a:latin typeface="Courier New"/>
                <a:ea typeface="Courier New"/>
                <a:cs typeface="Courier New"/>
              </a:rPr>
              <a:t> </a:t>
            </a:r>
            <a:endParaRPr sz="1000"/>
          </a:p>
          <a:p xmlns:a="http://schemas.openxmlformats.org/drawingml/2006/main">
            <a:pPr marL="0" indent="0">
              <a:lnSpc>
                <a:spcPts val="1350"/>
              </a:lnSpc>
              <a:buNone/>
            </a:pPr>
            <a:r>
              <a:rPr sz="1000">
                <a:solidFill>
                  <a:srgbClr val="6F7C99"/>
                </a:solidFill>
                <a:latin typeface="Courier New"/>
                <a:ea typeface="Courier New"/>
                <a:cs typeface="Courier New"/>
              </a:rPr>
              <a:t>    // --- credentials ---</a:t>
            </a:r>
            <a:endParaRPr sz="1000"/>
          </a:p>
          <a:p xmlns:a="http://schemas.openxmlformats.org/drawingml/2006/main">
            <a:pPr marL="0" indent="0">
              <a:lnSpc>
                <a:spcPts val="1350"/>
              </a:lnSpc>
              <a:buNone/>
            </a:pPr>
            <a:r>
              <a:rPr sz="1000">
                <a:solidFill>
                  <a:srgbClr val="82AAFF"/>
                </a:solidFill>
                <a:latin typeface="Courier New"/>
                <a:ea typeface="Courier New"/>
                <a:cs typeface="Courier New"/>
              </a:rPr>
              <a:t>    PasswordHash        string  // Argon2id. Never sent.</a:t>
            </a:r>
            <a:endParaRPr sz="1000"/>
          </a:p>
          <a:p xmlns:a="http://schemas.openxmlformats.org/drawingml/2006/main">
            <a:pPr marL="0" indent="0">
              <a:lnSpc>
                <a:spcPts val="1350"/>
              </a:lnSpc>
              <a:buNone/>
            </a:pPr>
            <a:r>
              <a:rPr sz="1000">
                <a:solidFill>
                  <a:srgbClr val="82AAFF"/>
                </a:solidFill>
                <a:latin typeface="Courier New"/>
                <a:ea typeface="Courier New"/>
                <a:cs typeface="Courier New"/>
              </a:rPr>
              <a:t>    MustChangePassword  bool    // travels in the token</a:t>
            </a:r>
            <a:endParaRPr sz="1000"/>
          </a:p>
          <a:p xmlns:a="http://schemas.openxmlformats.org/drawingml/2006/main">
            <a:pPr marL="0" indent="0">
              <a:lnSpc>
                <a:spcPts val="1350"/>
              </a:lnSpc>
              <a:buNone/>
            </a:pPr>
            <a:r>
              <a:rPr sz="1000">
                <a:solidFill>
                  <a:srgbClr val="82AAFF"/>
                </a:solidFill>
                <a:latin typeface="Courier New"/>
                <a:ea typeface="Courier New"/>
                <a:cs typeface="Courier New"/>
              </a:rPr>
              <a:t>    TokensInvalidBefore time.Time</a:t>
            </a:r>
            <a:endParaRPr sz="1000"/>
          </a:p>
          <a:p xmlns:a="http://schemas.openxmlformats.org/drawingml/2006/main">
            <a:pPr marL="0" indent="0">
              <a:lnSpc>
                <a:spcPts val="1350"/>
              </a:lnSpc>
              <a:buNone/>
            </a:pPr>
            <a:r>
              <a:rPr sz="1000">
                <a:solidFill>
                  <a:srgbClr val="D6DAE8"/>
                </a:solidFill>
                <a:latin typeface="Courier New"/>
                <a:ea typeface="Courier New"/>
                <a:cs typeface="Courier New"/>
              </a:rPr>
              <a:t> </a:t>
            </a:r>
            <a:endParaRPr sz="1000"/>
          </a:p>
          <a:p xmlns:a="http://schemas.openxmlformats.org/drawingml/2006/main">
            <a:pPr marL="0" indent="0">
              <a:lnSpc>
                <a:spcPts val="1350"/>
              </a:lnSpc>
              <a:buNone/>
            </a:pPr>
            <a:r>
              <a:rPr sz="1000">
                <a:solidFill>
                  <a:srgbClr val="6F7C99"/>
                </a:solidFill>
                <a:latin typeface="Courier New"/>
                <a:ea typeface="Courier New"/>
                <a:cs typeface="Courier New"/>
              </a:rPr>
              <a:t>    // --- provenance ---</a:t>
            </a:r>
            <a:endParaRPr sz="1000"/>
          </a:p>
          <a:p xmlns:a="http://schemas.openxmlformats.org/drawingml/2006/main">
            <a:pPr marL="0" indent="0">
              <a:lnSpc>
                <a:spcPts val="1350"/>
              </a:lnSpc>
              <a:buNone/>
            </a:pPr>
            <a:r>
              <a:rPr sz="1000">
                <a:solidFill>
                  <a:srgbClr val="82AAFF"/>
                </a:solidFill>
                <a:latin typeface="Courier New"/>
                <a:ea typeface="Courier New"/>
                <a:cs typeface="Courier New"/>
              </a:rPr>
              <a:t>    IsSynthetic bool  // simulator-created</a:t>
            </a:r>
            <a:endParaRPr sz="1000"/>
          </a:p>
          <a:p xmlns:a="http://schemas.openxmlformats.org/drawingml/2006/main">
            <a:pPr marL="0" indent="0">
              <a:lnSpc>
                <a:spcPts val="1350"/>
              </a:lnSpc>
              <a:buNone/>
            </a:pPr>
            <a:r>
              <a:rPr sz="1000">
                <a:solidFill>
                  <a:srgbClr val="82AAFF"/>
                </a:solidFill>
                <a:latin typeface="Courier New"/>
                <a:ea typeface="Courier New"/>
                <a:cs typeface="Courier New"/>
              </a:rPr>
              <a:t>    CreatedAt, UpdatedAt time.Time  // TIMESTAMPTZ</a:t>
            </a:r>
            <a:endParaRPr sz="1000"/>
          </a:p>
          <a:p xmlns:a="http://schemas.openxmlformats.org/drawingml/2006/main">
            <a:pPr marL="0" indent="0">
              <a:lnSpc>
                <a:spcPts val="1350"/>
              </a:lnSpc>
              <a:buNone/>
            </a:pPr>
            <a:r>
              <a:rPr sz="1000">
                <a:solidFill>
                  <a:srgbClr val="C792EA"/>
                </a:solidFill>
                <a:latin typeface="Courier New"/>
                <a:ea typeface="Courier New"/>
                <a:cs typeface="Courier New"/>
              </a:rPr>
              <a:t>}</a:t>
            </a:r>
            <a:endParaRPr sz="1000"/>
          </a:p>
        </p:txBody>
      </p:sp>
      <p:sp>
        <p:nvSpPr>
          <p:cNvPr id="8" name="Shape 5">
            <a:extLst xmlns:a="http://schemas.openxmlformats.org/drawingml/2006/main">
              <a:ext uri="{FF2B5EF4-FFF2-40B4-BE49-F238E27FC236}">
                <a16:creationId xmlns:a16="http://schemas.microsoft.com/office/drawing/2014/main" id="{C000A5CB-55DF-44E7-82AF-D19590BEB08A}"/>
              </a:ext>
            </a:extLst>
          </p:cNvPr>
          <p:cNvSpPr>
            <a:spLocks xmlns:a="http://schemas.openxmlformats.org/drawingml/2006/main" noGrp="1"/>
          </p:cNvSpPr>
          <p:nvPr/>
        </p:nvSpPr>
        <p:spPr>
          <a:xfrm xmlns:a="http://schemas.openxmlformats.org/drawingml/2006/main">
            <a:off x="7863840" y="1316736"/>
            <a:ext cx="3760927" cy="2084832"/>
          </a:xfrm>
          <a:prstGeom xmlns:a="http://schemas.openxmlformats.org/drawingml/2006/main" prst="roundRect">
            <a:avLst>
              <a:gd name="adj" fmla="val 3070"/>
            </a:avLst>
          </a:prstGeom>
          <a:solidFill xmlns:a="http://schemas.openxmlformats.org/drawingml/2006/main">
            <a:srgbClr val="F4F5F9"/>
          </a:solidFill>
          <a:ln xmlns:a="http://schemas.openxmlformats.org/drawingml/2006/main" w="9525">
            <a:solidFill>
              <a:srgbClr val="D8DAE5"/>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9" name="Text 6">
            <a:extLst xmlns:a="http://schemas.openxmlformats.org/drawingml/2006/main">
              <a:ext uri="{FF2B5EF4-FFF2-40B4-BE49-F238E27FC236}">
                <a16:creationId xmlns:a16="http://schemas.microsoft.com/office/drawing/2014/main" id="{4E114D3E-4167-40C9-B54A-B48BE3366E39}"/>
              </a:ext>
            </a:extLst>
          </p:cNvPr>
          <p:cNvSpPr>
            <a:spLocks xmlns:a="http://schemas.openxmlformats.org/drawingml/2006/main" noGrp="1"/>
          </p:cNvSpPr>
          <p:nvPr/>
        </p:nvSpPr>
        <p:spPr>
          <a:xfrm xmlns:a="http://schemas.openxmlformats.org/drawingml/2006/main">
            <a:off x="8083296" y="1490472"/>
            <a:ext cx="3322015"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240C54"/>
                </a:solidFill>
                <a:latin typeface="Calibri"/>
                <a:ea typeface="Calibri"/>
                <a:cs typeface="Calibri"/>
              </a:rPr>
              <a:t>Identity</a:t>
            </a:r>
            <a:endParaRPr sz="1400"/>
          </a:p>
        </p:txBody>
      </p:sp>
      <p:sp>
        <p:nvSpPr>
          <p:cNvPr id="10" name="Text 7">
            <a:extLst xmlns:a="http://schemas.openxmlformats.org/drawingml/2006/main">
              <a:ext uri="{FF2B5EF4-FFF2-40B4-BE49-F238E27FC236}">
                <a16:creationId xmlns:a16="http://schemas.microsoft.com/office/drawing/2014/main" id="{071FB9CB-D381-4BBF-BAAB-5C9B7C5C6B5E}"/>
              </a:ext>
            </a:extLst>
          </p:cNvPr>
          <p:cNvSpPr>
            <a:spLocks xmlns:a="http://schemas.openxmlformats.org/drawingml/2006/main" noGrp="1"/>
          </p:cNvSpPr>
          <p:nvPr/>
        </p:nvSpPr>
        <p:spPr>
          <a:xfrm xmlns:a="http://schemas.openxmlformats.org/drawingml/2006/main">
            <a:off x="8083296" y="1883664"/>
            <a:ext cx="3322015"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650"/>
              </a:lnSpc>
              <a:buNone/>
            </a:pPr>
            <a:r>
              <a:rPr sz="1200">
                <a:solidFill>
                  <a:srgbClr val="1A1A2E"/>
                </a:solidFill>
                <a:latin typeface="Calibri"/>
                <a:ea typeface="Calibri"/>
                <a:cs typeface="Calibri"/>
              </a:rPr>
              <a:t>The id is a UUID, not a running number: a sequential id invites walking the list. Email is citext, so Ada@ and ada@ are one person and cannot register twice.</a:t>
            </a:r>
            <a:endParaRPr sz="1200"/>
          </a:p>
        </p:txBody>
      </p:sp>
      <p:sp>
        <p:nvSpPr>
          <p:cNvPr id="11" name="Shape 8">
            <a:extLst xmlns:a="http://schemas.openxmlformats.org/drawingml/2006/main">
              <a:ext uri="{FF2B5EF4-FFF2-40B4-BE49-F238E27FC236}">
                <a16:creationId xmlns:a16="http://schemas.microsoft.com/office/drawing/2014/main" id="{3ED06AC4-15AF-4C21-922F-A26A1D6741D2}"/>
              </a:ext>
            </a:extLst>
          </p:cNvPr>
          <p:cNvSpPr>
            <a:spLocks xmlns:a="http://schemas.openxmlformats.org/drawingml/2006/main" noGrp="1"/>
          </p:cNvSpPr>
          <p:nvPr/>
        </p:nvSpPr>
        <p:spPr>
          <a:xfrm xmlns:a="http://schemas.openxmlformats.org/drawingml/2006/main">
            <a:off x="7863840" y="3566160"/>
            <a:ext cx="3760927" cy="2029968"/>
          </a:xfrm>
          <a:prstGeom xmlns:a="http://schemas.openxmlformats.org/drawingml/2006/main" prst="roundRect">
            <a:avLst>
              <a:gd name="adj" fmla="val 3153"/>
            </a:avLst>
          </a:prstGeom>
          <a:solidFill xmlns:a="http://schemas.openxmlformats.org/drawingml/2006/main">
            <a:srgbClr val="240C54"/>
          </a:solidFill>
          <a:ln xmlns:a="http://schemas.openxmlformats.org/drawingml/2006/main" w="9525">
            <a:solidFill>
              <a:srgbClr val="240C54"/>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12" name="Text 9">
            <a:extLst xmlns:a="http://schemas.openxmlformats.org/drawingml/2006/main">
              <a:ext uri="{FF2B5EF4-FFF2-40B4-BE49-F238E27FC236}">
                <a16:creationId xmlns:a16="http://schemas.microsoft.com/office/drawing/2014/main" id="{0917BFC6-6981-4BAA-84A7-3FA033BC5B56}"/>
              </a:ext>
            </a:extLst>
          </p:cNvPr>
          <p:cNvSpPr>
            <a:spLocks xmlns:a="http://schemas.openxmlformats.org/drawingml/2006/main" noGrp="1"/>
          </p:cNvSpPr>
          <p:nvPr/>
        </p:nvSpPr>
        <p:spPr>
          <a:xfrm xmlns:a="http://schemas.openxmlformats.org/drawingml/2006/main">
            <a:off x="8083296" y="3739896"/>
            <a:ext cx="3322015"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E4B454"/>
                </a:solidFill>
                <a:latin typeface="Calibri"/>
                <a:ea typeface="Calibri"/>
                <a:cs typeface="Calibri"/>
              </a:rPr>
              <a:t>Credentials</a:t>
            </a:r>
            <a:endParaRPr sz="1400"/>
          </a:p>
        </p:txBody>
      </p:sp>
      <p:sp>
        <p:nvSpPr>
          <p:cNvPr id="13" name="Text 10">
            <a:extLst xmlns:a="http://schemas.openxmlformats.org/drawingml/2006/main">
              <a:ext uri="{FF2B5EF4-FFF2-40B4-BE49-F238E27FC236}">
                <a16:creationId xmlns:a16="http://schemas.microsoft.com/office/drawing/2014/main" id="{4C1072A8-06ED-4391-B8FB-7860E96895D0}"/>
              </a:ext>
            </a:extLst>
          </p:cNvPr>
          <p:cNvSpPr>
            <a:spLocks xmlns:a="http://schemas.openxmlformats.org/drawingml/2006/main" noGrp="1"/>
          </p:cNvSpPr>
          <p:nvPr/>
        </p:nvSpPr>
        <p:spPr>
          <a:xfrm xmlns:a="http://schemas.openxmlformats.org/drawingml/2006/main">
            <a:off x="8083296" y="4133088"/>
            <a:ext cx="3322015" cy="13167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650"/>
              </a:lnSpc>
              <a:buNone/>
            </a:pPr>
            <a:r>
              <a:rPr sz="1200">
                <a:solidFill>
                  <a:srgbClr val="E4E0F2"/>
                </a:solidFill>
                <a:latin typeface="Calibri"/>
                <a:ea typeface="Calibri"/>
                <a:cs typeface="Calibri"/>
              </a:rPr>
              <a:t>TokensInvalidBefore voids every session issued before a password change. It is stamped in the same statement as the new hash, so a refresh arriving mid-change cannot slip through.</a:t>
            </a:r>
            <a:endParaRPr sz="1200"/>
          </a:p>
        </p:txBody>
      </p:sp>
    </p:spTree>
    <p:extLst>
      <p:ext uri="{BB962C8B-B14F-4D97-AF65-F5344CB8AC3E}">
        <p14:creationId xmlns:p14="http://schemas.microsoft.com/office/powerpoint/2010/main" val="209390037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81BE5C8-C80F-408E-B2D1-CD10921012ED}"/>
              </a:ext>
            </a:extLst>
          </p:cNvPr>
          <p:cNvSpPr>
            <a:spLocks xmlns:a="http://schemas.openxmlformats.org/drawingml/2006/main" noGrp="1"/>
          </p:cNvSpPr>
          <p:nvPr/>
        </p:nvSpPr>
        <p:spPr>
          <a:xfrm xmlns:a="http://schemas.openxmlformats.org/drawingml/2006/main">
            <a:off x="566928" y="384048"/>
            <a:ext cx="82296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20">
                <a:solidFill>
                  <a:srgbClr val="E4B454"/>
                </a:solidFill>
                <a:latin typeface="Calibri"/>
                <a:ea typeface="Calibri"/>
                <a:cs typeface="Calibri"/>
              </a:rPr>
              <a:t>BORROWING BEHAVIOUR</a:t>
            </a:r>
            <a:endParaRPr sz="1100"/>
          </a:p>
        </p:txBody>
      </p:sp>
      <p:sp>
        <p:nvSpPr>
          <p:cNvPr id="3" name="Text 1">
            <a:extLst xmlns:a="http://schemas.openxmlformats.org/drawingml/2006/main">
              <a:ext uri="{FF2B5EF4-FFF2-40B4-BE49-F238E27FC236}">
                <a16:creationId xmlns:a16="http://schemas.microsoft.com/office/drawing/2014/main" id="{6B2E6814-A566-4570-B614-DBB5E400E9C0}"/>
              </a:ext>
            </a:extLst>
          </p:cNvPr>
          <p:cNvSpPr>
            <a:spLocks xmlns:a="http://schemas.openxmlformats.org/drawingml/2006/main" noGrp="1"/>
          </p:cNvSpPr>
          <p:nvPr/>
        </p:nvSpPr>
        <p:spPr>
          <a:xfrm xmlns:a="http://schemas.openxmlformats.org/drawingml/2006/main">
            <a:off x="566928" y="640080"/>
            <a:ext cx="96926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40C54"/>
                </a:solidFill>
                <a:latin typeface="Cambria"/>
                <a:ea typeface="Cambria"/>
                <a:cs typeface="Cambria"/>
              </a:rPr>
              <a:t>Entitlement is data, not scattered conditionals</a:t>
            </a:r>
            <a:endParaRPr sz="3000"/>
          </a:p>
        </p:txBody>
      </p:sp>
      <p:pic>
        <p:nvPicPr>
          <p:cNvPr id="22" name="Image 0"/>
          <p:cNvPicPr>
            <a:picLocks xmlns:a="http://schemas.openxmlformats.org/drawingml/2006/main" noChangeAspect="1"/>
          </p:cNvPicPr>
          <p:nvPr/>
        </p:nvPicPr>
        <p:blipFill>
          <a:blip xmlns:r="http://schemas.openxmlformats.org/officeDocument/2006/relationships" xmlns:a="http://schemas.openxmlformats.org/drawingml/2006/main" r:embed="Rffd5c95e35694460"/>
          <a:stretch xmlns:a="http://schemas.openxmlformats.org/drawingml/2006/main">
            <a:fillRect l="0" t="0" r="0" b="0"/>
          </a:stretch>
        </p:blipFill>
        <p:spPr>
          <a:xfrm xmlns:a="http://schemas.openxmlformats.org/drawingml/2006/main">
            <a:off x="11149279" y="365760"/>
            <a:ext cx="475488" cy="466344"/>
          </a:xfrm>
          <a:prstGeom xmlns:a="http://schemas.openxmlformats.org/drawingml/2006/main" prst="rect">
            <a:avLst/>
          </a:prstGeom>
        </p:spPr>
      </p:pic>
      <p:sp>
        <p:nvSpPr>
          <p:cNvPr id="5" name="Text 2">
            <a:extLst xmlns:a="http://schemas.openxmlformats.org/drawingml/2006/main">
              <a:ext uri="{FF2B5EF4-FFF2-40B4-BE49-F238E27FC236}">
                <a16:creationId xmlns:a16="http://schemas.microsoft.com/office/drawing/2014/main" id="{C761CBA8-DDD4-466D-B02E-1852ACFFB738}"/>
              </a:ext>
            </a:extLst>
          </p:cNvPr>
          <p:cNvSpPr>
            <a:spLocks xmlns:a="http://schemas.openxmlformats.org/drawingml/2006/main" noGrp="1"/>
          </p:cNvSpPr>
          <p:nvPr/>
        </p:nvSpPr>
        <p:spPr>
          <a:xfrm xmlns:a="http://schemas.openxmlformats.org/drawingml/2006/main">
            <a:off x="11149279" y="6382512"/>
            <a:ext cx="475488"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000">
                <a:solidFill>
                  <a:srgbClr val="5B5B6B"/>
                </a:solidFill>
                <a:latin typeface="Calibri"/>
                <a:ea typeface="Calibri"/>
                <a:cs typeface="Calibri"/>
              </a:rPr>
              <a:t>9</a:t>
            </a:r>
            <a:endParaRPr sz="1000"/>
          </a:p>
        </p:txBody>
      </p:sp>
      <p:sp>
        <p:nvSpPr>
          <p:cNvPr id="6" name="Shape 3">
            <a:extLst xmlns:a="http://schemas.openxmlformats.org/drawingml/2006/main">
              <a:ext uri="{FF2B5EF4-FFF2-40B4-BE49-F238E27FC236}">
                <a16:creationId xmlns:a16="http://schemas.microsoft.com/office/drawing/2014/main" id="{F9146CEA-80FB-48E3-B40E-0C73853020F0}"/>
              </a:ext>
            </a:extLst>
          </p:cNvPr>
          <p:cNvSpPr>
            <a:spLocks xmlns:a="http://schemas.openxmlformats.org/drawingml/2006/main" noGrp="1"/>
          </p:cNvSpPr>
          <p:nvPr/>
        </p:nvSpPr>
        <p:spPr>
          <a:xfrm xmlns:a="http://schemas.openxmlformats.org/drawingml/2006/main">
            <a:off x="566928" y="1316736"/>
            <a:ext cx="7004304" cy="4279392"/>
          </a:xfrm>
          <a:prstGeom xmlns:a="http://schemas.openxmlformats.org/drawingml/2006/main" prst="roundRect">
            <a:avLst>
              <a:gd name="adj" fmla="val 1282"/>
            </a:avLst>
          </a:prstGeom>
          <a:solidFill xmlns:a="http://schemas.openxmlformats.org/drawingml/2006/main">
            <a:srgbClr val="10131F"/>
          </a:solidFill>
          <a:ln xmlns:a="http://schemas.openxmlformats.org/drawingml/2006/main" w="12700">
            <a:solidFill>
              <a:srgbClr val="10131F"/>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7" name="Text 4">
            <a:extLst xmlns:a="http://schemas.openxmlformats.org/drawingml/2006/main">
              <a:ext uri="{FF2B5EF4-FFF2-40B4-BE49-F238E27FC236}">
                <a16:creationId xmlns:a16="http://schemas.microsoft.com/office/drawing/2014/main" id="{B2364871-89D7-4B87-8D94-5446D66DF4D9}"/>
              </a:ext>
            </a:extLst>
          </p:cNvPr>
          <p:cNvSpPr>
            <a:spLocks xmlns:a="http://schemas.openxmlformats.org/drawingml/2006/main" noGrp="1"/>
          </p:cNvSpPr>
          <p:nvPr/>
        </p:nvSpPr>
        <p:spPr>
          <a:xfrm xmlns:a="http://schemas.openxmlformats.org/drawingml/2006/main">
            <a:off x="749808" y="1463040"/>
            <a:ext cx="6638544" cy="39867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350"/>
              </a:lnSpc>
              <a:buNone/>
            </a:pPr>
            <a:r>
              <a:rPr sz="1000">
                <a:solidFill>
                  <a:srgbClr val="6F7C99"/>
                </a:solidFill>
                <a:latin typeface="Courier New"/>
                <a:ea typeface="Courier New"/>
                <a:cs typeface="Courier New"/>
              </a:rPr>
              <a:t>// What a category is allowed to do.</a:t>
            </a:r>
            <a:endParaRPr sz="1000"/>
          </a:p>
          <a:p xmlns:a="http://schemas.openxmlformats.org/drawingml/2006/main">
            <a:pPr marL="0" indent="0">
              <a:lnSpc>
                <a:spcPts val="1350"/>
              </a:lnSpc>
              <a:buNone/>
            </a:pPr>
            <a:r>
              <a:rPr sz="1000">
                <a:solidFill>
                  <a:srgbClr val="C792EA"/>
                </a:solidFill>
                <a:latin typeface="Courier New"/>
                <a:ea typeface="Courier New"/>
                <a:cs typeface="Courier New"/>
              </a:rPr>
              <a:t>const (</a:t>
            </a:r>
            <a:endParaRPr sz="1000"/>
          </a:p>
          <a:p xmlns:a="http://schemas.openxmlformats.org/drawingml/2006/main">
            <a:pPr marL="0" indent="0">
              <a:lnSpc>
                <a:spcPts val="1350"/>
              </a:lnSpc>
              <a:buNone/>
            </a:pPr>
            <a:r>
              <a:rPr sz="1000">
                <a:solidFill>
                  <a:srgbClr val="ECC48D"/>
                </a:solidFill>
                <a:latin typeface="Courier New"/>
                <a:ea typeface="Courier New"/>
                <a:cs typeface="Courier New"/>
              </a:rPr>
              <a:t>    Undergraduate MemberCategory = "undergraduate"</a:t>
            </a:r>
            <a:endParaRPr sz="1000"/>
          </a:p>
          <a:p xmlns:a="http://schemas.openxmlformats.org/drawingml/2006/main">
            <a:pPr marL="0" indent="0">
              <a:lnSpc>
                <a:spcPts val="1350"/>
              </a:lnSpc>
              <a:buNone/>
            </a:pPr>
            <a:r>
              <a:rPr sz="1000">
                <a:solidFill>
                  <a:srgbClr val="ECC48D"/>
                </a:solidFill>
                <a:latin typeface="Courier New"/>
                <a:ea typeface="Courier New"/>
                <a:cs typeface="Courier New"/>
              </a:rPr>
              <a:t>    Postgraduate  MemberCategory = "postgraduate"</a:t>
            </a:r>
            <a:endParaRPr sz="1000"/>
          </a:p>
          <a:p xmlns:a="http://schemas.openxmlformats.org/drawingml/2006/main">
            <a:pPr marL="0" indent="0">
              <a:lnSpc>
                <a:spcPts val="1350"/>
              </a:lnSpc>
              <a:buNone/>
            </a:pPr>
            <a:r>
              <a:rPr sz="1000">
                <a:solidFill>
                  <a:srgbClr val="ECC48D"/>
                </a:solidFill>
                <a:latin typeface="Courier New"/>
                <a:ea typeface="Courier New"/>
                <a:cs typeface="Courier New"/>
              </a:rPr>
              <a:t>    Staff         MemberCategory = "staff"</a:t>
            </a:r>
            <a:endParaRPr sz="1000"/>
          </a:p>
          <a:p xmlns:a="http://schemas.openxmlformats.org/drawingml/2006/main">
            <a:pPr marL="0" indent="0">
              <a:lnSpc>
                <a:spcPts val="1350"/>
              </a:lnSpc>
              <a:buNone/>
            </a:pPr>
            <a:r>
              <a:rPr sz="1000">
                <a:solidFill>
                  <a:srgbClr val="C792EA"/>
                </a:solidFill>
                <a:latin typeface="Courier New"/>
                <a:ea typeface="Courier New"/>
                <a:cs typeface="Courier New"/>
              </a:rPr>
              <a:t>)</a:t>
            </a:r>
            <a:endParaRPr sz="1000"/>
          </a:p>
          <a:p xmlns:a="http://schemas.openxmlformats.org/drawingml/2006/main">
            <a:pPr marL="0" indent="0">
              <a:lnSpc>
                <a:spcPts val="1350"/>
              </a:lnSpc>
              <a:buNone/>
            </a:pPr>
            <a:r>
              <a:rPr sz="1000">
                <a:solidFill>
                  <a:srgbClr val="D6DAE8"/>
                </a:solidFill>
                <a:latin typeface="Courier New"/>
                <a:ea typeface="Courier New"/>
                <a:cs typeface="Courier New"/>
              </a:rPr>
              <a:t> </a:t>
            </a:r>
            <a:endParaRPr sz="1000"/>
          </a:p>
          <a:p xmlns:a="http://schemas.openxmlformats.org/drawingml/2006/main">
            <a:pPr marL="0" indent="0">
              <a:lnSpc>
                <a:spcPts val="1350"/>
              </a:lnSpc>
              <a:buNone/>
            </a:pPr>
            <a:r>
              <a:rPr sz="1000">
                <a:solidFill>
                  <a:srgbClr val="6F7C99"/>
                </a:solidFill>
                <a:latin typeface="Courier New"/>
                <a:ea typeface="Courier New"/>
                <a:cs typeface="Courier New"/>
              </a:rPr>
              <a:t>// Limits live in one table, not in the handlers.</a:t>
            </a:r>
            <a:endParaRPr sz="1000"/>
          </a:p>
          <a:p xmlns:a="http://schemas.openxmlformats.org/drawingml/2006/main">
            <a:pPr marL="0" indent="0">
              <a:lnSpc>
                <a:spcPts val="1350"/>
              </a:lnSpc>
              <a:buNone/>
            </a:pPr>
            <a:r>
              <a:rPr sz="1000">
                <a:solidFill>
                  <a:srgbClr val="C792EA"/>
                </a:solidFill>
                <a:latin typeface="Courier New"/>
                <a:ea typeface="Courier New"/>
                <a:cs typeface="Courier New"/>
              </a:rPr>
              <a:t>var Terms = map[MemberCategory]LoanTerm{</a:t>
            </a:r>
            <a:endParaRPr sz="1000"/>
          </a:p>
          <a:p xmlns:a="http://schemas.openxmlformats.org/drawingml/2006/main">
            <a:pPr marL="0" indent="0">
              <a:lnSpc>
                <a:spcPts val="1350"/>
              </a:lnSpc>
              <a:buNone/>
            </a:pPr>
            <a:r>
              <a:rPr sz="1000">
                <a:solidFill>
                  <a:srgbClr val="82AAFF"/>
                </a:solidFill>
                <a:latin typeface="Courier New"/>
                <a:ea typeface="Courier New"/>
                <a:cs typeface="Courier New"/>
              </a:rPr>
              <a:t>    Undergraduate: {MaxLoans: 2, Days: 14},</a:t>
            </a:r>
            <a:endParaRPr sz="1000"/>
          </a:p>
          <a:p xmlns:a="http://schemas.openxmlformats.org/drawingml/2006/main">
            <a:pPr marL="0" indent="0">
              <a:lnSpc>
                <a:spcPts val="1350"/>
              </a:lnSpc>
              <a:buNone/>
            </a:pPr>
            <a:r>
              <a:rPr sz="1000">
                <a:solidFill>
                  <a:srgbClr val="82AAFF"/>
                </a:solidFill>
                <a:latin typeface="Courier New"/>
                <a:ea typeface="Courier New"/>
                <a:cs typeface="Courier New"/>
              </a:rPr>
              <a:t>    Postgraduate:  {MaxLoans: 4, Days: 21},</a:t>
            </a:r>
            <a:endParaRPr sz="1000"/>
          </a:p>
          <a:p xmlns:a="http://schemas.openxmlformats.org/drawingml/2006/main">
            <a:pPr marL="0" indent="0">
              <a:lnSpc>
                <a:spcPts val="1350"/>
              </a:lnSpc>
              <a:buNone/>
            </a:pPr>
            <a:r>
              <a:rPr sz="1000">
                <a:solidFill>
                  <a:srgbClr val="82AAFF"/>
                </a:solidFill>
                <a:latin typeface="Courier New"/>
                <a:ea typeface="Courier New"/>
                <a:cs typeface="Courier New"/>
              </a:rPr>
              <a:t>    Staff:         {MaxLoans: 6, Days: 28},</a:t>
            </a:r>
            <a:endParaRPr sz="1000"/>
          </a:p>
          <a:p xmlns:a="http://schemas.openxmlformats.org/drawingml/2006/main">
            <a:pPr marL="0" indent="0">
              <a:lnSpc>
                <a:spcPts val="1350"/>
              </a:lnSpc>
              <a:buNone/>
            </a:pPr>
            <a:r>
              <a:rPr sz="1000">
                <a:solidFill>
                  <a:srgbClr val="C792EA"/>
                </a:solidFill>
                <a:latin typeface="Courier New"/>
                <a:ea typeface="Courier New"/>
                <a:cs typeface="Courier New"/>
              </a:rPr>
              <a:t>}</a:t>
            </a:r>
            <a:endParaRPr sz="1000"/>
          </a:p>
          <a:p xmlns:a="http://schemas.openxmlformats.org/drawingml/2006/main">
            <a:pPr marL="0" indent="0">
              <a:lnSpc>
                <a:spcPts val="1350"/>
              </a:lnSpc>
              <a:buNone/>
            </a:pPr>
            <a:r>
              <a:rPr sz="1000">
                <a:solidFill>
                  <a:srgbClr val="D6DAE8"/>
                </a:solidFill>
                <a:latin typeface="Courier New"/>
                <a:ea typeface="Courier New"/>
                <a:cs typeface="Courier New"/>
              </a:rPr>
              <a:t> </a:t>
            </a:r>
            <a:endParaRPr sz="1000"/>
          </a:p>
          <a:p xmlns:a="http://schemas.openxmlformats.org/drawingml/2006/main">
            <a:pPr marL="0" indent="0">
              <a:lnSpc>
                <a:spcPts val="1350"/>
              </a:lnSpc>
              <a:buNone/>
            </a:pPr>
            <a:r>
              <a:rPr sz="1000">
                <a:solidFill>
                  <a:srgbClr val="C792EA"/>
                </a:solidFill>
                <a:latin typeface="Courier New"/>
                <a:ea typeface="Courier New"/>
                <a:cs typeface="Courier New"/>
              </a:rPr>
              <a:t>type Loan struct {</a:t>
            </a:r>
            <a:endParaRPr sz="1000"/>
          </a:p>
          <a:p xmlns:a="http://schemas.openxmlformats.org/drawingml/2006/main">
            <a:pPr marL="0" indent="0">
              <a:lnSpc>
                <a:spcPts val="1350"/>
              </a:lnSpc>
              <a:buNone/>
            </a:pPr>
            <a:r>
              <a:rPr sz="1000">
                <a:solidFill>
                  <a:srgbClr val="82AAFF"/>
                </a:solidFill>
                <a:latin typeface="Courier New"/>
                <a:ea typeface="Courier New"/>
                <a:cs typeface="Courier New"/>
              </a:rPr>
              <a:t>    CopyID, UserID string</a:t>
            </a:r>
            <a:endParaRPr sz="1000"/>
          </a:p>
          <a:p xmlns:a="http://schemas.openxmlformats.org/drawingml/2006/main">
            <a:pPr marL="0" indent="0">
              <a:lnSpc>
                <a:spcPts val="1350"/>
              </a:lnSpc>
              <a:buNone/>
            </a:pPr>
            <a:r>
              <a:rPr sz="1000">
                <a:solidFill>
                  <a:srgbClr val="82AAFF"/>
                </a:solidFill>
                <a:latin typeface="Courier New"/>
                <a:ea typeface="Courier New"/>
                <a:cs typeface="Courier New"/>
              </a:rPr>
              <a:t>    BorrowedAt, DueAt time.Time</a:t>
            </a:r>
            <a:endParaRPr sz="1000"/>
          </a:p>
          <a:p xmlns:a="http://schemas.openxmlformats.org/drawingml/2006/main">
            <a:pPr marL="0" indent="0">
              <a:lnSpc>
                <a:spcPts val="1350"/>
              </a:lnSpc>
              <a:buNone/>
            </a:pPr>
            <a:r>
              <a:rPr sz="1000">
                <a:solidFill>
                  <a:srgbClr val="82AAFF"/>
                </a:solidFill>
                <a:latin typeface="Courier New"/>
                <a:ea typeface="Courier New"/>
                <a:cs typeface="Courier New"/>
              </a:rPr>
              <a:t>    ReturnedAt *time.Time  // nil means still out</a:t>
            </a:r>
            <a:endParaRPr sz="1000"/>
          </a:p>
          <a:p xmlns:a="http://schemas.openxmlformats.org/drawingml/2006/main">
            <a:pPr marL="0" indent="0">
              <a:lnSpc>
                <a:spcPts val="1350"/>
              </a:lnSpc>
              <a:buNone/>
            </a:pPr>
            <a:r>
              <a:rPr sz="1000">
                <a:solidFill>
                  <a:srgbClr val="D6DAE8"/>
                </a:solidFill>
                <a:latin typeface="Courier New"/>
                <a:ea typeface="Courier New"/>
                <a:cs typeface="Courier New"/>
              </a:rPr>
              <a:t> </a:t>
            </a:r>
            <a:endParaRPr sz="1000"/>
          </a:p>
          <a:p xmlns:a="http://schemas.openxmlformats.org/drawingml/2006/main">
            <a:pPr marL="0" indent="0">
              <a:lnSpc>
                <a:spcPts val="1350"/>
              </a:lnSpc>
              <a:buNone/>
            </a:pPr>
            <a:r>
              <a:rPr sz="1000">
                <a:solidFill>
                  <a:srgbClr val="6F7C99"/>
                </a:solidFill>
                <a:latin typeface="Courier New"/>
                <a:ea typeface="Courier New"/>
                <a:cs typeface="Courier New"/>
              </a:rPr>
              <a:t>    // Note what is ABSENT: no IsOverdue flag.</a:t>
            </a:r>
            <a:endParaRPr sz="1000"/>
          </a:p>
          <a:p xmlns:a="http://schemas.openxmlformats.org/drawingml/2006/main">
            <a:pPr marL="0" indent="0">
              <a:lnSpc>
                <a:spcPts val="1350"/>
              </a:lnSpc>
              <a:buNone/>
            </a:pPr>
            <a:r>
              <a:rPr sz="1000">
                <a:solidFill>
                  <a:srgbClr val="6F7C99"/>
                </a:solidFill>
                <a:latin typeface="Courier New"/>
                <a:ea typeface="Courier New"/>
                <a:cs typeface="Courier New"/>
              </a:rPr>
              <a:t>    // Overdue is DueAt &lt; now, computed on read.</a:t>
            </a:r>
            <a:endParaRPr sz="1000"/>
          </a:p>
          <a:p xmlns:a="http://schemas.openxmlformats.org/drawingml/2006/main">
            <a:pPr marL="0" indent="0">
              <a:lnSpc>
                <a:spcPts val="1350"/>
              </a:lnSpc>
              <a:buNone/>
            </a:pPr>
            <a:r>
              <a:rPr sz="1000">
                <a:solidFill>
                  <a:srgbClr val="C792EA"/>
                </a:solidFill>
                <a:latin typeface="Courier New"/>
                <a:ea typeface="Courier New"/>
                <a:cs typeface="Courier New"/>
              </a:rPr>
              <a:t>}</a:t>
            </a:r>
            <a:endParaRPr sz="1000"/>
          </a:p>
        </p:txBody>
      </p:sp>
      <p:sp>
        <p:nvSpPr>
          <p:cNvPr id="8" name="Shape 5">
            <a:extLst xmlns:a="http://schemas.openxmlformats.org/drawingml/2006/main">
              <a:ext uri="{FF2B5EF4-FFF2-40B4-BE49-F238E27FC236}">
                <a16:creationId xmlns:a16="http://schemas.microsoft.com/office/drawing/2014/main" id="{A7210C31-1CF0-4B7F-9D13-8F1098D06CDF}"/>
              </a:ext>
            </a:extLst>
          </p:cNvPr>
          <p:cNvSpPr>
            <a:spLocks xmlns:a="http://schemas.openxmlformats.org/drawingml/2006/main" noGrp="1"/>
          </p:cNvSpPr>
          <p:nvPr/>
        </p:nvSpPr>
        <p:spPr>
          <a:xfrm xmlns:a="http://schemas.openxmlformats.org/drawingml/2006/main">
            <a:off x="7863840" y="1316736"/>
            <a:ext cx="3760927" cy="2395728"/>
          </a:xfrm>
          <a:prstGeom xmlns:a="http://schemas.openxmlformats.org/drawingml/2006/main" prst="roundRect">
            <a:avLst>
              <a:gd name="adj" fmla="val 2672"/>
            </a:avLst>
          </a:prstGeom>
          <a:solidFill xmlns:a="http://schemas.openxmlformats.org/drawingml/2006/main">
            <a:srgbClr val="F4F5F9"/>
          </a:solidFill>
          <a:ln xmlns:a="http://schemas.openxmlformats.org/drawingml/2006/main" w="9525">
            <a:solidFill>
              <a:srgbClr val="D8DAE5"/>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9" name="Text 6">
            <a:extLst xmlns:a="http://schemas.openxmlformats.org/drawingml/2006/main">
              <a:ext uri="{FF2B5EF4-FFF2-40B4-BE49-F238E27FC236}">
                <a16:creationId xmlns:a16="http://schemas.microsoft.com/office/drawing/2014/main" id="{C27963AE-AC9B-4694-8F25-A50B6DE50928}"/>
              </a:ext>
            </a:extLst>
          </p:cNvPr>
          <p:cNvSpPr>
            <a:spLocks xmlns:a="http://schemas.openxmlformats.org/drawingml/2006/main" noGrp="1"/>
          </p:cNvSpPr>
          <p:nvPr/>
        </p:nvSpPr>
        <p:spPr>
          <a:xfrm xmlns:a="http://schemas.openxmlformats.org/drawingml/2006/main">
            <a:off x="8083296" y="1490472"/>
            <a:ext cx="3322015"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50" b="1">
                <a:solidFill>
                  <a:srgbClr val="240C54"/>
                </a:solidFill>
                <a:latin typeface="Calibri"/>
                <a:ea typeface="Calibri"/>
                <a:cs typeface="Calibri"/>
              </a:rPr>
              <a:t>Loan entitlement</a:t>
            </a:r>
            <a:endParaRPr sz="1450"/>
          </a:p>
        </p:txBody>
      </p:sp>
      <p:sp>
        <p:nvSpPr>
          <p:cNvPr id="10" name="Text 7">
            <a:extLst xmlns:a="http://schemas.openxmlformats.org/drawingml/2006/main">
              <a:ext uri="{FF2B5EF4-FFF2-40B4-BE49-F238E27FC236}">
                <a16:creationId xmlns:a16="http://schemas.microsoft.com/office/drawing/2014/main" id="{6F0DDEDB-EC30-47CB-AAE8-7D4F261548B3}"/>
              </a:ext>
            </a:extLst>
          </p:cNvPr>
          <p:cNvSpPr>
            <a:spLocks xmlns:a="http://schemas.openxmlformats.org/drawingml/2006/main" noGrp="1"/>
          </p:cNvSpPr>
          <p:nvPr/>
        </p:nvSpPr>
        <p:spPr>
          <a:xfrm xmlns:a="http://schemas.openxmlformats.org/drawingml/2006/main">
            <a:off x="8083296" y="1883664"/>
            <a:ext cx="32918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1D4ED8"/>
                </a:solidFill>
                <a:latin typeface="Calibri"/>
                <a:ea typeface="Calibri"/>
                <a:cs typeface="Calibri"/>
              </a:rPr>
              <a:t>Undergraduate</a:t>
            </a:r>
            <a:endParaRPr sz="1250"/>
          </a:p>
        </p:txBody>
      </p:sp>
      <p:sp>
        <p:nvSpPr>
          <p:cNvPr id="11" name="Text 8">
            <a:extLst xmlns:a="http://schemas.openxmlformats.org/drawingml/2006/main">
              <a:ext uri="{FF2B5EF4-FFF2-40B4-BE49-F238E27FC236}">
                <a16:creationId xmlns:a16="http://schemas.microsoft.com/office/drawing/2014/main" id="{0F759891-516C-49F7-BE66-4431DFF3FECE}"/>
              </a:ext>
            </a:extLst>
          </p:cNvPr>
          <p:cNvSpPr>
            <a:spLocks xmlns:a="http://schemas.openxmlformats.org/drawingml/2006/main" noGrp="1"/>
          </p:cNvSpPr>
          <p:nvPr/>
        </p:nvSpPr>
        <p:spPr>
          <a:xfrm xmlns:a="http://schemas.openxmlformats.org/drawingml/2006/main">
            <a:off x="8083296" y="2112264"/>
            <a:ext cx="32918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1A1A2E"/>
                </a:solidFill>
                <a:latin typeface="Calibri"/>
                <a:ea typeface="Calibri"/>
                <a:cs typeface="Calibri"/>
              </a:rPr>
              <a:t>2 books  ·  14 days</a:t>
            </a:r>
            <a:endParaRPr sz="1200"/>
          </a:p>
        </p:txBody>
      </p:sp>
      <p:sp>
        <p:nvSpPr>
          <p:cNvPr id="12" name="Text 9">
            <a:extLst xmlns:a="http://schemas.openxmlformats.org/drawingml/2006/main">
              <a:ext uri="{FF2B5EF4-FFF2-40B4-BE49-F238E27FC236}">
                <a16:creationId xmlns:a16="http://schemas.microsoft.com/office/drawing/2014/main" id="{A419F18E-F76B-47EA-B220-BA4B35A6E361}"/>
              </a:ext>
            </a:extLst>
          </p:cNvPr>
          <p:cNvSpPr>
            <a:spLocks xmlns:a="http://schemas.openxmlformats.org/drawingml/2006/main" noGrp="1"/>
          </p:cNvSpPr>
          <p:nvPr/>
        </p:nvSpPr>
        <p:spPr>
          <a:xfrm xmlns:a="http://schemas.openxmlformats.org/drawingml/2006/main">
            <a:off x="8083296" y="2450592"/>
            <a:ext cx="32918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1D4ED8"/>
                </a:solidFill>
                <a:latin typeface="Calibri"/>
                <a:ea typeface="Calibri"/>
                <a:cs typeface="Calibri"/>
              </a:rPr>
              <a:t>Postgraduate</a:t>
            </a:r>
            <a:endParaRPr sz="1250"/>
          </a:p>
        </p:txBody>
      </p:sp>
      <p:sp>
        <p:nvSpPr>
          <p:cNvPr id="13" name="Text 10">
            <a:extLst xmlns:a="http://schemas.openxmlformats.org/drawingml/2006/main">
              <a:ext uri="{FF2B5EF4-FFF2-40B4-BE49-F238E27FC236}">
                <a16:creationId xmlns:a16="http://schemas.microsoft.com/office/drawing/2014/main" id="{13B6FDFA-863C-4A88-93B8-CAD85C1132C0}"/>
              </a:ext>
            </a:extLst>
          </p:cNvPr>
          <p:cNvSpPr>
            <a:spLocks xmlns:a="http://schemas.openxmlformats.org/drawingml/2006/main" noGrp="1"/>
          </p:cNvSpPr>
          <p:nvPr/>
        </p:nvSpPr>
        <p:spPr>
          <a:xfrm xmlns:a="http://schemas.openxmlformats.org/drawingml/2006/main">
            <a:off x="8083296" y="2679192"/>
            <a:ext cx="32918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1A1A2E"/>
                </a:solidFill>
                <a:latin typeface="Calibri"/>
                <a:ea typeface="Calibri"/>
                <a:cs typeface="Calibri"/>
              </a:rPr>
              <a:t>4 books  ·  21 days</a:t>
            </a:r>
            <a:endParaRPr sz="1200"/>
          </a:p>
        </p:txBody>
      </p:sp>
      <p:sp>
        <p:nvSpPr>
          <p:cNvPr id="14" name="Text 11">
            <a:extLst xmlns:a="http://schemas.openxmlformats.org/drawingml/2006/main">
              <a:ext uri="{FF2B5EF4-FFF2-40B4-BE49-F238E27FC236}">
                <a16:creationId xmlns:a16="http://schemas.microsoft.com/office/drawing/2014/main" id="{12C21CD0-AFFD-4C77-B360-E061AC4585F1}"/>
              </a:ext>
            </a:extLst>
          </p:cNvPr>
          <p:cNvSpPr>
            <a:spLocks xmlns:a="http://schemas.openxmlformats.org/drawingml/2006/main" noGrp="1"/>
          </p:cNvSpPr>
          <p:nvPr/>
        </p:nvSpPr>
        <p:spPr>
          <a:xfrm xmlns:a="http://schemas.openxmlformats.org/drawingml/2006/main">
            <a:off x="8083296" y="3017520"/>
            <a:ext cx="32918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1D4ED8"/>
                </a:solidFill>
                <a:latin typeface="Calibri"/>
                <a:ea typeface="Calibri"/>
                <a:cs typeface="Calibri"/>
              </a:rPr>
              <a:t>Staff</a:t>
            </a:r>
            <a:endParaRPr sz="1250"/>
          </a:p>
        </p:txBody>
      </p:sp>
      <p:sp>
        <p:nvSpPr>
          <p:cNvPr id="15" name="Text 12">
            <a:extLst xmlns:a="http://schemas.openxmlformats.org/drawingml/2006/main">
              <a:ext uri="{FF2B5EF4-FFF2-40B4-BE49-F238E27FC236}">
                <a16:creationId xmlns:a16="http://schemas.microsoft.com/office/drawing/2014/main" id="{C1ABF236-8D6D-4FAB-B8F8-82D63F87ACE9}"/>
              </a:ext>
            </a:extLst>
          </p:cNvPr>
          <p:cNvSpPr>
            <a:spLocks xmlns:a="http://schemas.openxmlformats.org/drawingml/2006/main" noGrp="1"/>
          </p:cNvSpPr>
          <p:nvPr/>
        </p:nvSpPr>
        <p:spPr>
          <a:xfrm xmlns:a="http://schemas.openxmlformats.org/drawingml/2006/main">
            <a:off x="8083296" y="3246120"/>
            <a:ext cx="32918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1A1A2E"/>
                </a:solidFill>
                <a:latin typeface="Calibri"/>
                <a:ea typeface="Calibri"/>
                <a:cs typeface="Calibri"/>
              </a:rPr>
              <a:t>6 books  ·  28 days</a:t>
            </a:r>
            <a:endParaRPr sz="1200"/>
          </a:p>
        </p:txBody>
      </p:sp>
      <p:sp>
        <p:nvSpPr>
          <p:cNvPr id="16" name="Shape 13">
            <a:extLst xmlns:a="http://schemas.openxmlformats.org/drawingml/2006/main">
              <a:ext uri="{FF2B5EF4-FFF2-40B4-BE49-F238E27FC236}">
                <a16:creationId xmlns:a16="http://schemas.microsoft.com/office/drawing/2014/main" id="{1C5F569A-7109-4418-8CF6-173B2956BFFB}"/>
              </a:ext>
            </a:extLst>
          </p:cNvPr>
          <p:cNvSpPr>
            <a:spLocks xmlns:a="http://schemas.openxmlformats.org/drawingml/2006/main" noGrp="1"/>
          </p:cNvSpPr>
          <p:nvPr/>
        </p:nvSpPr>
        <p:spPr>
          <a:xfrm xmlns:a="http://schemas.openxmlformats.org/drawingml/2006/main">
            <a:off x="7863840" y="3877056"/>
            <a:ext cx="3760927" cy="1719072"/>
          </a:xfrm>
          <a:prstGeom xmlns:a="http://schemas.openxmlformats.org/drawingml/2006/main" prst="roundRect">
            <a:avLst>
              <a:gd name="adj" fmla="val 3723"/>
            </a:avLst>
          </a:prstGeom>
          <a:solidFill xmlns:a="http://schemas.openxmlformats.org/drawingml/2006/main">
            <a:srgbClr val="FBF4E4"/>
          </a:solidFill>
          <a:ln xmlns:a="http://schemas.openxmlformats.org/drawingml/2006/main" w="9525">
            <a:solidFill>
              <a:srgbClr val="E8D9AE"/>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17" name="Text 14">
            <a:extLst xmlns:a="http://schemas.openxmlformats.org/drawingml/2006/main">
              <a:ext uri="{FF2B5EF4-FFF2-40B4-BE49-F238E27FC236}">
                <a16:creationId xmlns:a16="http://schemas.microsoft.com/office/drawing/2014/main" id="{EF66A9E2-3A9B-446B-995A-F0E803418189}"/>
              </a:ext>
            </a:extLst>
          </p:cNvPr>
          <p:cNvSpPr>
            <a:spLocks xmlns:a="http://schemas.openxmlformats.org/drawingml/2006/main" noGrp="1"/>
          </p:cNvSpPr>
          <p:nvPr/>
        </p:nvSpPr>
        <p:spPr>
          <a:xfrm xmlns:a="http://schemas.openxmlformats.org/drawingml/2006/main">
            <a:off x="8083296" y="4050792"/>
            <a:ext cx="3322015"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240C54"/>
                </a:solidFill>
                <a:latin typeface="Calibri"/>
                <a:ea typeface="Calibri"/>
                <a:cs typeface="Calibri"/>
              </a:rPr>
              <a:t>No IsOverdue column</a:t>
            </a:r>
            <a:endParaRPr sz="1400"/>
          </a:p>
        </p:txBody>
      </p:sp>
      <p:sp>
        <p:nvSpPr>
          <p:cNvPr id="18" name="Text 15">
            <a:extLst xmlns:a="http://schemas.openxmlformats.org/drawingml/2006/main">
              <a:ext uri="{FF2B5EF4-FFF2-40B4-BE49-F238E27FC236}">
                <a16:creationId xmlns:a16="http://schemas.microsoft.com/office/drawing/2014/main" id="{228B57A9-FFD9-45F8-B519-4639D611D142}"/>
              </a:ext>
            </a:extLst>
          </p:cNvPr>
          <p:cNvSpPr>
            <a:spLocks xmlns:a="http://schemas.openxmlformats.org/drawingml/2006/main" noGrp="1"/>
          </p:cNvSpPr>
          <p:nvPr/>
        </p:nvSpPr>
        <p:spPr>
          <a:xfrm xmlns:a="http://schemas.openxmlformats.org/drawingml/2006/main">
            <a:off x="8083296" y="4443984"/>
            <a:ext cx="3322015"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650"/>
              </a:lnSpc>
              <a:buNone/>
            </a:pPr>
            <a:r>
              <a:rPr sz="1200">
                <a:solidFill>
                  <a:srgbClr val="1A1A2E"/>
                </a:solidFill>
                <a:latin typeface="Calibri"/>
                <a:ea typeface="Calibri"/>
                <a:cs typeface="Calibri"/>
              </a:rPr>
              <a:t>A stored flag is only true until the clock moves past it. Overdue is derived on every read, so it can never be stale.</a:t>
            </a:r>
            <a:endParaRPr sz="1200"/>
          </a:p>
        </p:txBody>
      </p:sp>
    </p:spTree>
    <p:extLst>
      <p:ext uri="{BB962C8B-B14F-4D97-AF65-F5344CB8AC3E}">
        <p14:creationId xmlns:p14="http://schemas.microsoft.com/office/powerpoint/2010/main" val="100868894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73463953-DB78-45CD-AF24-9D3F2ED03A1E}"/>
              </a:ext>
            </a:extLst>
          </p:cNvPr>
          <p:cNvSpPr>
            <a:spLocks xmlns:a="http://schemas.openxmlformats.org/drawingml/2006/main" noGrp="1"/>
          </p:cNvSpPr>
          <p:nvPr/>
        </p:nvSpPr>
        <p:spPr>
          <a:xfrm xmlns:a="http://schemas.openxmlformats.org/drawingml/2006/main">
            <a:off x="566928" y="384048"/>
            <a:ext cx="82296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20">
                <a:solidFill>
                  <a:srgbClr val="E4B454"/>
                </a:solidFill>
                <a:latin typeface="Calibri"/>
                <a:ea typeface="Calibri"/>
                <a:cs typeface="Calibri"/>
              </a:rPr>
              <a:t>BOOK AND COPY</a:t>
            </a:r>
            <a:endParaRPr sz="1100"/>
          </a:p>
        </p:txBody>
      </p:sp>
      <p:sp>
        <p:nvSpPr>
          <p:cNvPr id="3" name="Text 1">
            <a:extLst xmlns:a="http://schemas.openxmlformats.org/drawingml/2006/main">
              <a:ext uri="{FF2B5EF4-FFF2-40B4-BE49-F238E27FC236}">
                <a16:creationId xmlns:a16="http://schemas.microsoft.com/office/drawing/2014/main" id="{DD7E2DFC-5F97-48E9-B97B-4537C8868166}"/>
              </a:ext>
            </a:extLst>
          </p:cNvPr>
          <p:cNvSpPr>
            <a:spLocks xmlns:a="http://schemas.openxmlformats.org/drawingml/2006/main" noGrp="1"/>
          </p:cNvSpPr>
          <p:nvPr/>
        </p:nvSpPr>
        <p:spPr>
          <a:xfrm xmlns:a="http://schemas.openxmlformats.org/drawingml/2006/main">
            <a:off x="566928" y="640080"/>
            <a:ext cx="96926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40C54"/>
                </a:solidFill>
                <a:latin typeface="Cambria"/>
                <a:ea typeface="Cambria"/>
                <a:cs typeface="Cambria"/>
              </a:rPr>
              <a:t>A book is a title. A copy is an object on a shelf.</a:t>
            </a:r>
            <a:endParaRPr sz="3000"/>
          </a:p>
        </p:txBody>
      </p:sp>
      <p:pic>
        <p:nvPicPr>
          <p:cNvPr id="27" name="Image 0"/>
          <p:cNvPicPr>
            <a:picLocks xmlns:a="http://schemas.openxmlformats.org/drawingml/2006/main" noChangeAspect="1"/>
          </p:cNvPicPr>
          <p:nvPr/>
        </p:nvPicPr>
        <p:blipFill>
          <a:blip xmlns:r="http://schemas.openxmlformats.org/officeDocument/2006/relationships" xmlns:a="http://schemas.openxmlformats.org/drawingml/2006/main" r:embed="R7728ccef3848468d"/>
          <a:stretch xmlns:a="http://schemas.openxmlformats.org/drawingml/2006/main">
            <a:fillRect l="0" t="0" r="0" b="0"/>
          </a:stretch>
        </p:blipFill>
        <p:spPr>
          <a:xfrm xmlns:a="http://schemas.openxmlformats.org/drawingml/2006/main">
            <a:off x="11149279" y="365760"/>
            <a:ext cx="475488" cy="466344"/>
          </a:xfrm>
          <a:prstGeom xmlns:a="http://schemas.openxmlformats.org/drawingml/2006/main" prst="rect">
            <a:avLst/>
          </a:prstGeom>
        </p:spPr>
      </p:pic>
      <p:sp>
        <p:nvSpPr>
          <p:cNvPr id="5" name="Text 2">
            <a:extLst xmlns:a="http://schemas.openxmlformats.org/drawingml/2006/main">
              <a:ext uri="{FF2B5EF4-FFF2-40B4-BE49-F238E27FC236}">
                <a16:creationId xmlns:a16="http://schemas.microsoft.com/office/drawing/2014/main" id="{8414AC3C-CBBA-44FB-B5C5-722D236BA273}"/>
              </a:ext>
            </a:extLst>
          </p:cNvPr>
          <p:cNvSpPr>
            <a:spLocks xmlns:a="http://schemas.openxmlformats.org/drawingml/2006/main" noGrp="1"/>
          </p:cNvSpPr>
          <p:nvPr/>
        </p:nvSpPr>
        <p:spPr>
          <a:xfrm xmlns:a="http://schemas.openxmlformats.org/drawingml/2006/main">
            <a:off x="11149279" y="6382512"/>
            <a:ext cx="475488"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000">
                <a:solidFill>
                  <a:srgbClr val="5B5B6B"/>
                </a:solidFill>
                <a:latin typeface="Calibri"/>
                <a:ea typeface="Calibri"/>
                <a:cs typeface="Calibri"/>
              </a:rPr>
              <a:t>10</a:t>
            </a:r>
            <a:endParaRPr sz="1000"/>
          </a:p>
        </p:txBody>
      </p:sp>
      <p:sp>
        <p:nvSpPr>
          <p:cNvPr id="6" name="Text 3">
            <a:extLst xmlns:a="http://schemas.openxmlformats.org/drawingml/2006/main">
              <a:ext uri="{FF2B5EF4-FFF2-40B4-BE49-F238E27FC236}">
                <a16:creationId xmlns:a16="http://schemas.microsoft.com/office/drawing/2014/main" id="{78F69559-5C26-448F-815F-C3333B918C12}"/>
              </a:ext>
            </a:extLst>
          </p:cNvPr>
          <p:cNvSpPr>
            <a:spLocks xmlns:a="http://schemas.openxmlformats.org/drawingml/2006/main" noGrp="1"/>
          </p:cNvSpPr>
          <p:nvPr/>
        </p:nvSpPr>
        <p:spPr>
          <a:xfrm xmlns:a="http://schemas.openxmlformats.org/drawingml/2006/main">
            <a:off x="566928" y="1353312"/>
            <a:ext cx="1005840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2000"/>
              </a:lnSpc>
              <a:buNone/>
            </a:pPr>
            <a:r>
              <a:rPr sz="1400">
                <a:solidFill>
                  <a:srgbClr val="1A1A2E"/>
                </a:solidFill>
                <a:latin typeface="Calibri"/>
                <a:ea typeface="Calibri"/>
                <a:cs typeface="Calibri"/>
              </a:rPr>
              <a:t>This distinction runs through the whole system. You cannot borrow a book, you borrow one numbered copy of it, and that copy is the thing that has a location and a state.</a:t>
            </a:r>
            <a:endParaRPr sz="1400"/>
          </a:p>
        </p:txBody>
      </p:sp>
      <p:sp>
        <p:nvSpPr>
          <p:cNvPr id="7" name="Shape 4">
            <a:extLst xmlns:a="http://schemas.openxmlformats.org/drawingml/2006/main">
              <a:ext uri="{FF2B5EF4-FFF2-40B4-BE49-F238E27FC236}">
                <a16:creationId xmlns:a16="http://schemas.microsoft.com/office/drawing/2014/main" id="{DCD938EA-4ACD-441A-8C76-3447BFD6FF96}"/>
              </a:ext>
            </a:extLst>
          </p:cNvPr>
          <p:cNvSpPr>
            <a:spLocks xmlns:a="http://schemas.openxmlformats.org/drawingml/2006/main" noGrp="1"/>
          </p:cNvSpPr>
          <p:nvPr/>
        </p:nvSpPr>
        <p:spPr>
          <a:xfrm xmlns:a="http://schemas.openxmlformats.org/drawingml/2006/main">
            <a:off x="566928" y="1975104"/>
            <a:ext cx="5303520" cy="1700784"/>
          </a:xfrm>
          <a:prstGeom xmlns:a="http://schemas.openxmlformats.org/drawingml/2006/main" prst="roundRect">
            <a:avLst>
              <a:gd name="adj" fmla="val 3763"/>
            </a:avLst>
          </a:prstGeom>
          <a:solidFill xmlns:a="http://schemas.openxmlformats.org/drawingml/2006/main">
            <a:srgbClr val="F4F5F9"/>
          </a:solidFill>
          <a:ln xmlns:a="http://schemas.openxmlformats.org/drawingml/2006/main" w="9525">
            <a:solidFill>
              <a:srgbClr val="D8DAE5"/>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8" name="Text 5">
            <a:extLst xmlns:a="http://schemas.openxmlformats.org/drawingml/2006/main">
              <a:ext uri="{FF2B5EF4-FFF2-40B4-BE49-F238E27FC236}">
                <a16:creationId xmlns:a16="http://schemas.microsoft.com/office/drawing/2014/main" id="{E03BAA3A-ABDA-4D95-B375-A34A9A1694A3}"/>
              </a:ext>
            </a:extLst>
          </p:cNvPr>
          <p:cNvSpPr>
            <a:spLocks xmlns:a="http://schemas.openxmlformats.org/drawingml/2006/main" noGrp="1"/>
          </p:cNvSpPr>
          <p:nvPr/>
        </p:nvSpPr>
        <p:spPr>
          <a:xfrm xmlns:a="http://schemas.openxmlformats.org/drawingml/2006/main">
            <a:off x="786384" y="2148840"/>
            <a:ext cx="4864608"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240C54"/>
                </a:solidFill>
                <a:latin typeface="Calibri"/>
                <a:ea typeface="Calibri"/>
                <a:cs typeface="Calibri"/>
              </a:rPr>
              <a:t>Book, the title</a:t>
            </a:r>
            <a:endParaRPr sz="1500"/>
          </a:p>
        </p:txBody>
      </p:sp>
      <p:sp>
        <p:nvSpPr>
          <p:cNvPr id="9" name="Text 6">
            <a:extLst xmlns:a="http://schemas.openxmlformats.org/drawingml/2006/main">
              <a:ext uri="{FF2B5EF4-FFF2-40B4-BE49-F238E27FC236}">
                <a16:creationId xmlns:a16="http://schemas.microsoft.com/office/drawing/2014/main" id="{320295A8-E370-4081-86A6-D3E11B02AFF3}"/>
              </a:ext>
            </a:extLst>
          </p:cNvPr>
          <p:cNvSpPr>
            <a:spLocks xmlns:a="http://schemas.openxmlformats.org/drawingml/2006/main" noGrp="1"/>
          </p:cNvSpPr>
          <p:nvPr/>
        </p:nvSpPr>
        <p:spPr>
          <a:xfrm xmlns:a="http://schemas.openxmlformats.org/drawingml/2006/main">
            <a:off x="786384" y="2542032"/>
            <a:ext cx="4864608" cy="98755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50">
                <a:solidFill>
                  <a:srgbClr val="1A1A2E"/>
                </a:solidFill>
                <a:latin typeface="Calibri"/>
                <a:ea typeface="Calibri"/>
                <a:cs typeface="Calibri"/>
              </a:rPr>
              <a:t>Shares one call number, LIB 001. Holds the ISBN, the author and the subject. It is a description, and it is never on a shelf.</a:t>
            </a:r>
            <a:endParaRPr sz="1250"/>
          </a:p>
        </p:txBody>
      </p:sp>
      <p:sp>
        <p:nvSpPr>
          <p:cNvPr id="10" name="Shape 7">
            <a:extLst xmlns:a="http://schemas.openxmlformats.org/drawingml/2006/main">
              <a:ext uri="{FF2B5EF4-FFF2-40B4-BE49-F238E27FC236}">
                <a16:creationId xmlns:a16="http://schemas.microsoft.com/office/drawing/2014/main" id="{CA0FA85D-1131-4992-ABA8-C7ECAA4D528F}"/>
              </a:ext>
            </a:extLst>
          </p:cNvPr>
          <p:cNvSpPr>
            <a:spLocks xmlns:a="http://schemas.openxmlformats.org/drawingml/2006/main" noGrp="1"/>
          </p:cNvSpPr>
          <p:nvPr/>
        </p:nvSpPr>
        <p:spPr>
          <a:xfrm xmlns:a="http://schemas.openxmlformats.org/drawingml/2006/main">
            <a:off x="6309360" y="1975104"/>
            <a:ext cx="5312664" cy="1700784"/>
          </a:xfrm>
          <a:prstGeom xmlns:a="http://schemas.openxmlformats.org/drawingml/2006/main" prst="roundRect">
            <a:avLst>
              <a:gd name="adj" fmla="val 3763"/>
            </a:avLst>
          </a:prstGeom>
          <a:solidFill xmlns:a="http://schemas.openxmlformats.org/drawingml/2006/main">
            <a:srgbClr val="F4F5F9"/>
          </a:solidFill>
          <a:ln xmlns:a="http://schemas.openxmlformats.org/drawingml/2006/main" w="9525">
            <a:solidFill>
              <a:srgbClr val="D8DAE5"/>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11" name="Text 8">
            <a:extLst xmlns:a="http://schemas.openxmlformats.org/drawingml/2006/main">
              <a:ext uri="{FF2B5EF4-FFF2-40B4-BE49-F238E27FC236}">
                <a16:creationId xmlns:a16="http://schemas.microsoft.com/office/drawing/2014/main" id="{BAB0229F-2A8F-4DAD-B5B7-5685F052DE5A}"/>
              </a:ext>
            </a:extLst>
          </p:cNvPr>
          <p:cNvSpPr>
            <a:spLocks xmlns:a="http://schemas.openxmlformats.org/drawingml/2006/main" noGrp="1"/>
          </p:cNvSpPr>
          <p:nvPr/>
        </p:nvSpPr>
        <p:spPr>
          <a:xfrm xmlns:a="http://schemas.openxmlformats.org/drawingml/2006/main">
            <a:off x="6528816" y="2148840"/>
            <a:ext cx="4873752"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240C54"/>
                </a:solidFill>
                <a:latin typeface="Calibri"/>
                <a:ea typeface="Calibri"/>
                <a:cs typeface="Calibri"/>
              </a:rPr>
              <a:t>Copy, the physical object</a:t>
            </a:r>
            <a:endParaRPr sz="1500"/>
          </a:p>
        </p:txBody>
      </p:sp>
      <p:sp>
        <p:nvSpPr>
          <p:cNvPr id="12" name="Text 9">
            <a:extLst xmlns:a="http://schemas.openxmlformats.org/drawingml/2006/main">
              <a:ext uri="{FF2B5EF4-FFF2-40B4-BE49-F238E27FC236}">
                <a16:creationId xmlns:a16="http://schemas.microsoft.com/office/drawing/2014/main" id="{CB61001C-9CB2-4D03-A09D-23052C0FD70D}"/>
              </a:ext>
            </a:extLst>
          </p:cNvPr>
          <p:cNvSpPr>
            <a:spLocks xmlns:a="http://schemas.openxmlformats.org/drawingml/2006/main" noGrp="1"/>
          </p:cNvSpPr>
          <p:nvPr/>
        </p:nvSpPr>
        <p:spPr>
          <a:xfrm xmlns:a="http://schemas.openxmlformats.org/drawingml/2006/main">
            <a:off x="6528816" y="2542032"/>
            <a:ext cx="4873752" cy="98755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50">
                <a:solidFill>
                  <a:srgbClr val="1A1A2E"/>
                </a:solidFill>
                <a:latin typeface="Calibri"/>
                <a:ea typeface="Calibri"/>
                <a:cs typeface="Calibri"/>
              </a:rPr>
              <a:t>Has its own accession number, unique across the whole library. It has a state: available, on loan, reserved, lost or withdrawn.</a:t>
            </a:r>
            <a:endParaRPr sz="1250"/>
          </a:p>
        </p:txBody>
      </p:sp>
      <p:sp>
        <p:nvSpPr>
          <p:cNvPr id="13" name="Shape 10">
            <a:extLst xmlns:a="http://schemas.openxmlformats.org/drawingml/2006/main">
              <a:ext uri="{FF2B5EF4-FFF2-40B4-BE49-F238E27FC236}">
                <a16:creationId xmlns:a16="http://schemas.microsoft.com/office/drawing/2014/main" id="{76378D85-9608-401F-8262-A26CA9F783A9}"/>
              </a:ext>
            </a:extLst>
          </p:cNvPr>
          <p:cNvSpPr>
            <a:spLocks xmlns:a="http://schemas.openxmlformats.org/drawingml/2006/main" noGrp="1"/>
          </p:cNvSpPr>
          <p:nvPr/>
        </p:nvSpPr>
        <p:spPr>
          <a:xfrm xmlns:a="http://schemas.openxmlformats.org/drawingml/2006/main">
            <a:off x="566928" y="3895344"/>
            <a:ext cx="11055096" cy="1719072"/>
          </a:xfrm>
          <a:prstGeom xmlns:a="http://schemas.openxmlformats.org/drawingml/2006/main" prst="roundRect">
            <a:avLst>
              <a:gd name="adj" fmla="val 3723"/>
            </a:avLst>
          </a:prstGeom>
          <a:solidFill xmlns:a="http://schemas.openxmlformats.org/drawingml/2006/main">
            <a:srgbClr val="240C54"/>
          </a:solidFill>
          <a:ln xmlns:a="http://schemas.openxmlformats.org/drawingml/2006/main" w="9525">
            <a:solidFill>
              <a:srgbClr val="240C54"/>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14" name="Text 11">
            <a:extLst xmlns:a="http://schemas.openxmlformats.org/drawingml/2006/main">
              <a:ext uri="{FF2B5EF4-FFF2-40B4-BE49-F238E27FC236}">
                <a16:creationId xmlns:a16="http://schemas.microsoft.com/office/drawing/2014/main" id="{9F073911-251F-4CBD-9B01-8F1755BA6947}"/>
              </a:ext>
            </a:extLst>
          </p:cNvPr>
          <p:cNvSpPr>
            <a:spLocks xmlns:a="http://schemas.openxmlformats.org/drawingml/2006/main" noGrp="1"/>
          </p:cNvSpPr>
          <p:nvPr/>
        </p:nvSpPr>
        <p:spPr>
          <a:xfrm xmlns:a="http://schemas.openxmlformats.org/drawingml/2006/main">
            <a:off x="786384" y="4069080"/>
            <a:ext cx="10616184"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E4B454"/>
                </a:solidFill>
                <a:latin typeface="Calibri"/>
                <a:ea typeface="Calibri"/>
                <a:cs typeface="Calibri"/>
              </a:rPr>
              <a:t>Last-copy retention: the final copy stays in the building</a:t>
            </a:r>
            <a:endParaRPr sz="1500"/>
          </a:p>
        </p:txBody>
      </p:sp>
      <p:sp>
        <p:nvSpPr>
          <p:cNvPr id="15" name="Text 12">
            <a:extLst xmlns:a="http://schemas.openxmlformats.org/drawingml/2006/main">
              <a:ext uri="{FF2B5EF4-FFF2-40B4-BE49-F238E27FC236}">
                <a16:creationId xmlns:a16="http://schemas.microsoft.com/office/drawing/2014/main" id="{C9DA4DC5-7163-4CFA-837E-5587599A5E1E}"/>
              </a:ext>
            </a:extLst>
          </p:cNvPr>
          <p:cNvSpPr>
            <a:spLocks xmlns:a="http://schemas.openxmlformats.org/drawingml/2006/main" noGrp="1"/>
          </p:cNvSpPr>
          <p:nvPr/>
        </p:nvSpPr>
        <p:spPr>
          <a:xfrm xmlns:a="http://schemas.openxmlformats.org/drawingml/2006/main">
            <a:off x="822960" y="4590288"/>
            <a:ext cx="3383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AFA4D8"/>
                </a:solidFill>
                <a:latin typeface="Courier New"/>
                <a:ea typeface="Courier New"/>
                <a:cs typeface="Courier New"/>
              </a:rPr>
              <a:t>5 copies, 3 free</a:t>
            </a:r>
            <a:endParaRPr sz="1200"/>
          </a:p>
        </p:txBody>
      </p:sp>
      <p:sp>
        <p:nvSpPr>
          <p:cNvPr id="16" name="Text 13">
            <a:extLst xmlns:a="http://schemas.openxmlformats.org/drawingml/2006/main">
              <a:ext uri="{FF2B5EF4-FFF2-40B4-BE49-F238E27FC236}">
                <a16:creationId xmlns:a16="http://schemas.microsoft.com/office/drawing/2014/main" id="{89C002DE-B8A0-4F19-B251-CEF562C49DF5}"/>
              </a:ext>
            </a:extLst>
          </p:cNvPr>
          <p:cNvSpPr>
            <a:spLocks xmlns:a="http://schemas.openxmlformats.org/drawingml/2006/main" noGrp="1"/>
          </p:cNvSpPr>
          <p:nvPr/>
        </p:nvSpPr>
        <p:spPr>
          <a:xfrm xmlns:a="http://schemas.openxmlformats.org/drawingml/2006/main">
            <a:off x="822960" y="4828032"/>
            <a:ext cx="33832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9FD9BC"/>
                </a:solidFill>
                <a:latin typeface="Calibri"/>
                <a:ea typeface="Calibri"/>
                <a:cs typeface="Calibri"/>
              </a:rPr>
              <a:t>2 borrowable</a:t>
            </a:r>
            <a:endParaRPr sz="1400"/>
          </a:p>
        </p:txBody>
      </p:sp>
      <p:sp>
        <p:nvSpPr>
          <p:cNvPr id="17" name="Text 14">
            <a:extLst xmlns:a="http://schemas.openxmlformats.org/drawingml/2006/main">
              <a:ext uri="{FF2B5EF4-FFF2-40B4-BE49-F238E27FC236}">
                <a16:creationId xmlns:a16="http://schemas.microsoft.com/office/drawing/2014/main" id="{E6A77EF9-59D8-4DC0-8223-2484C910DE02}"/>
              </a:ext>
            </a:extLst>
          </p:cNvPr>
          <p:cNvSpPr>
            <a:spLocks xmlns:a="http://schemas.openxmlformats.org/drawingml/2006/main" noGrp="1"/>
          </p:cNvSpPr>
          <p:nvPr/>
        </p:nvSpPr>
        <p:spPr>
          <a:xfrm xmlns:a="http://schemas.openxmlformats.org/drawingml/2006/main">
            <a:off x="822960" y="5102352"/>
            <a:ext cx="3383280"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500"/>
              </a:lnSpc>
              <a:buNone/>
            </a:pPr>
            <a:r>
              <a:rPr sz="1150">
                <a:solidFill>
                  <a:srgbClr val="D3CDE9"/>
                </a:solidFill>
                <a:latin typeface="Calibri"/>
                <a:ea typeface="Calibri"/>
                <a:cs typeface="Calibri"/>
              </a:rPr>
              <a:t>One is held back for reading inside the library.</a:t>
            </a:r>
            <a:endParaRPr sz="1150"/>
          </a:p>
        </p:txBody>
      </p:sp>
      <p:sp>
        <p:nvSpPr>
          <p:cNvPr id="18" name="Text 15">
            <a:extLst xmlns:a="http://schemas.openxmlformats.org/drawingml/2006/main">
              <a:ext uri="{FF2B5EF4-FFF2-40B4-BE49-F238E27FC236}">
                <a16:creationId xmlns:a16="http://schemas.microsoft.com/office/drawing/2014/main" id="{185C9875-D1D1-46A7-9127-196324BAEFBC}"/>
              </a:ext>
            </a:extLst>
          </p:cNvPr>
          <p:cNvSpPr>
            <a:spLocks xmlns:a="http://schemas.openxmlformats.org/drawingml/2006/main" noGrp="1"/>
          </p:cNvSpPr>
          <p:nvPr/>
        </p:nvSpPr>
        <p:spPr>
          <a:xfrm xmlns:a="http://schemas.openxmlformats.org/drawingml/2006/main">
            <a:off x="4443984" y="4590288"/>
            <a:ext cx="3383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AFA4D8"/>
                </a:solidFill>
                <a:latin typeface="Courier New"/>
                <a:ea typeface="Courier New"/>
                <a:cs typeface="Courier New"/>
              </a:rPr>
              <a:t>2 copies, 1 free</a:t>
            </a:r>
            <a:endParaRPr sz="1200"/>
          </a:p>
        </p:txBody>
      </p:sp>
      <p:sp>
        <p:nvSpPr>
          <p:cNvPr id="19" name="Text 16">
            <a:extLst xmlns:a="http://schemas.openxmlformats.org/drawingml/2006/main">
              <a:ext uri="{FF2B5EF4-FFF2-40B4-BE49-F238E27FC236}">
                <a16:creationId xmlns:a16="http://schemas.microsoft.com/office/drawing/2014/main" id="{FCB6A572-0603-4AD5-983C-32D1E464CAD2}"/>
              </a:ext>
            </a:extLst>
          </p:cNvPr>
          <p:cNvSpPr>
            <a:spLocks xmlns:a="http://schemas.openxmlformats.org/drawingml/2006/main" noGrp="1"/>
          </p:cNvSpPr>
          <p:nvPr/>
        </p:nvSpPr>
        <p:spPr>
          <a:xfrm xmlns:a="http://schemas.openxmlformats.org/drawingml/2006/main">
            <a:off x="4443984" y="4828032"/>
            <a:ext cx="33832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F0C0C0"/>
                </a:solidFill>
                <a:latin typeface="Calibri"/>
                <a:ea typeface="Calibri"/>
                <a:cs typeface="Calibri"/>
              </a:rPr>
              <a:t>0 borrowable</a:t>
            </a:r>
            <a:endParaRPr sz="1400"/>
          </a:p>
        </p:txBody>
      </p:sp>
      <p:sp>
        <p:nvSpPr>
          <p:cNvPr id="20" name="Text 17">
            <a:extLst xmlns:a="http://schemas.openxmlformats.org/drawingml/2006/main">
              <a:ext uri="{FF2B5EF4-FFF2-40B4-BE49-F238E27FC236}">
                <a16:creationId xmlns:a16="http://schemas.microsoft.com/office/drawing/2014/main" id="{F90816D8-D162-408C-8933-69464DE1CAFA}"/>
              </a:ext>
            </a:extLst>
          </p:cNvPr>
          <p:cNvSpPr>
            <a:spLocks xmlns:a="http://schemas.openxmlformats.org/drawingml/2006/main" noGrp="1"/>
          </p:cNvSpPr>
          <p:nvPr/>
        </p:nvSpPr>
        <p:spPr>
          <a:xfrm xmlns:a="http://schemas.openxmlformats.org/drawingml/2006/main">
            <a:off x="4443984" y="5102352"/>
            <a:ext cx="3383280"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500"/>
              </a:lnSpc>
              <a:buNone/>
            </a:pPr>
            <a:r>
              <a:rPr sz="1150">
                <a:solidFill>
                  <a:srgbClr val="D3CDE9"/>
                </a:solidFill>
                <a:latin typeface="Calibri"/>
                <a:ea typeface="Calibri"/>
                <a:cs typeface="Calibri"/>
              </a:rPr>
              <a:t>That free copy is the last one. It stays.</a:t>
            </a:r>
            <a:endParaRPr sz="1150"/>
          </a:p>
        </p:txBody>
      </p:sp>
      <p:sp>
        <p:nvSpPr>
          <p:cNvPr id="21" name="Text 18">
            <a:extLst xmlns:a="http://schemas.openxmlformats.org/drawingml/2006/main">
              <a:ext uri="{FF2B5EF4-FFF2-40B4-BE49-F238E27FC236}">
                <a16:creationId xmlns:a16="http://schemas.microsoft.com/office/drawing/2014/main" id="{08B66FDD-151B-418B-892B-8B11AAC4ED3E}"/>
              </a:ext>
            </a:extLst>
          </p:cNvPr>
          <p:cNvSpPr>
            <a:spLocks xmlns:a="http://schemas.openxmlformats.org/drawingml/2006/main" noGrp="1"/>
          </p:cNvSpPr>
          <p:nvPr/>
        </p:nvSpPr>
        <p:spPr>
          <a:xfrm xmlns:a="http://schemas.openxmlformats.org/drawingml/2006/main">
            <a:off x="8065008" y="4590288"/>
            <a:ext cx="3383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AFA4D8"/>
                </a:solidFill>
                <a:latin typeface="Courier New"/>
                <a:ea typeface="Courier New"/>
                <a:cs typeface="Courier New"/>
              </a:rPr>
              <a:t>1 copy, 1 free</a:t>
            </a:r>
            <a:endParaRPr sz="1200"/>
          </a:p>
        </p:txBody>
      </p:sp>
      <p:sp>
        <p:nvSpPr>
          <p:cNvPr id="22" name="Text 19">
            <a:extLst xmlns:a="http://schemas.openxmlformats.org/drawingml/2006/main">
              <a:ext uri="{FF2B5EF4-FFF2-40B4-BE49-F238E27FC236}">
                <a16:creationId xmlns:a16="http://schemas.microsoft.com/office/drawing/2014/main" id="{DCAC2B7A-2484-47D2-92FD-4E8AF7E7D515}"/>
              </a:ext>
            </a:extLst>
          </p:cNvPr>
          <p:cNvSpPr>
            <a:spLocks xmlns:a="http://schemas.openxmlformats.org/drawingml/2006/main" noGrp="1"/>
          </p:cNvSpPr>
          <p:nvPr/>
        </p:nvSpPr>
        <p:spPr>
          <a:xfrm xmlns:a="http://schemas.openxmlformats.org/drawingml/2006/main">
            <a:off x="8065008" y="4828032"/>
            <a:ext cx="33832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9FD9BC"/>
                </a:solidFill>
                <a:latin typeface="Calibri"/>
                <a:ea typeface="Calibri"/>
                <a:cs typeface="Calibri"/>
              </a:rPr>
              <a:t>1 borrowable</a:t>
            </a:r>
            <a:endParaRPr sz="1400"/>
          </a:p>
        </p:txBody>
      </p:sp>
      <p:sp>
        <p:nvSpPr>
          <p:cNvPr id="23" name="Text 20">
            <a:extLst xmlns:a="http://schemas.openxmlformats.org/drawingml/2006/main">
              <a:ext uri="{FF2B5EF4-FFF2-40B4-BE49-F238E27FC236}">
                <a16:creationId xmlns:a16="http://schemas.microsoft.com/office/drawing/2014/main" id="{DAA3901C-408A-496D-BBF4-18413CFE6A1A}"/>
              </a:ext>
            </a:extLst>
          </p:cNvPr>
          <p:cNvSpPr>
            <a:spLocks xmlns:a="http://schemas.openxmlformats.org/drawingml/2006/main" noGrp="1"/>
          </p:cNvSpPr>
          <p:nvPr/>
        </p:nvSpPr>
        <p:spPr>
          <a:xfrm xmlns:a="http://schemas.openxmlformats.org/drawingml/2006/main">
            <a:off x="8065008" y="5102352"/>
            <a:ext cx="3383280"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500"/>
              </a:lnSpc>
              <a:buNone/>
            </a:pPr>
            <a:r>
              <a:rPr sz="1150">
                <a:solidFill>
                  <a:srgbClr val="D3CDE9"/>
                </a:solidFill>
                <a:latin typeface="Calibri"/>
                <a:ea typeface="Calibri"/>
                <a:cs typeface="Calibri"/>
              </a:rPr>
              <a:t>A single circulating copy is lent, or nobody could read it.</a:t>
            </a:r>
            <a:endParaRPr sz="1150"/>
          </a:p>
        </p:txBody>
      </p:sp>
    </p:spTree>
    <p:extLst>
      <p:ext uri="{BB962C8B-B14F-4D97-AF65-F5344CB8AC3E}">
        <p14:creationId xmlns:p14="http://schemas.microsoft.com/office/powerpoint/2010/main" val="1720245579"/>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0BFAE587-8BC7-4718-BEFE-01331CE036F1}"/>
              </a:ext>
            </a:extLst>
          </p:cNvPr>
          <p:cNvSpPr>
            <a:spLocks xmlns:a="http://schemas.openxmlformats.org/drawingml/2006/main" noGrp="1"/>
          </p:cNvSpPr>
          <p:nvPr/>
        </p:nvSpPr>
        <p:spPr>
          <a:xfrm xmlns:a="http://schemas.openxmlformats.org/drawingml/2006/main">
            <a:off x="566928" y="384048"/>
            <a:ext cx="82296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20">
                <a:solidFill>
                  <a:srgbClr val="E4B454"/>
                </a:solidFill>
                <a:latin typeface="Calibri"/>
                <a:ea typeface="Calibri"/>
                <a:cs typeface="Calibri"/>
              </a:rPr>
              <a:t>CONCURRENCY AND IDEMPOTENCY</a:t>
            </a:r>
            <a:endParaRPr sz="1100"/>
          </a:p>
        </p:txBody>
      </p:sp>
      <p:sp>
        <p:nvSpPr>
          <p:cNvPr id="3" name="Text 1">
            <a:extLst xmlns:a="http://schemas.openxmlformats.org/drawingml/2006/main">
              <a:ext uri="{FF2B5EF4-FFF2-40B4-BE49-F238E27FC236}">
                <a16:creationId xmlns:a16="http://schemas.microsoft.com/office/drawing/2014/main" id="{DBBA9B89-C221-4568-8320-F40067012388}"/>
              </a:ext>
            </a:extLst>
          </p:cNvPr>
          <p:cNvSpPr>
            <a:spLocks xmlns:a="http://schemas.openxmlformats.org/drawingml/2006/main" noGrp="1"/>
          </p:cNvSpPr>
          <p:nvPr/>
        </p:nvSpPr>
        <p:spPr>
          <a:xfrm xmlns:a="http://schemas.openxmlformats.org/drawingml/2006/main">
            <a:off x="566928" y="640080"/>
            <a:ext cx="96926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40C54"/>
                </a:solidFill>
                <a:latin typeface="Cambria"/>
                <a:ea typeface="Cambria"/>
                <a:cs typeface="Cambria"/>
              </a:rPr>
              <a:t>What happens when the same request arrives twice</a:t>
            </a:r>
            <a:endParaRPr sz="3000"/>
          </a:p>
        </p:txBody>
      </p:sp>
      <p:pic>
        <p:nvPicPr>
          <p:cNvPr id="52" name="Image 0"/>
          <p:cNvPicPr>
            <a:picLocks xmlns:a="http://schemas.openxmlformats.org/drawingml/2006/main" noChangeAspect="1"/>
          </p:cNvPicPr>
          <p:nvPr/>
        </p:nvPicPr>
        <p:blipFill>
          <a:blip xmlns:r="http://schemas.openxmlformats.org/officeDocument/2006/relationships" xmlns:a="http://schemas.openxmlformats.org/drawingml/2006/main" r:embed="R2f7212a26b074992"/>
          <a:stretch xmlns:a="http://schemas.openxmlformats.org/drawingml/2006/main">
            <a:fillRect l="0" t="0" r="0" b="0"/>
          </a:stretch>
        </p:blipFill>
        <p:spPr>
          <a:xfrm xmlns:a="http://schemas.openxmlformats.org/drawingml/2006/main">
            <a:off x="11149279" y="365760"/>
            <a:ext cx="475488" cy="466344"/>
          </a:xfrm>
          <a:prstGeom xmlns:a="http://schemas.openxmlformats.org/drawingml/2006/main" prst="rect">
            <a:avLst/>
          </a:prstGeom>
        </p:spPr>
      </p:pic>
      <p:sp>
        <p:nvSpPr>
          <p:cNvPr id="5" name="Text 2">
            <a:extLst xmlns:a="http://schemas.openxmlformats.org/drawingml/2006/main">
              <a:ext uri="{FF2B5EF4-FFF2-40B4-BE49-F238E27FC236}">
                <a16:creationId xmlns:a16="http://schemas.microsoft.com/office/drawing/2014/main" id="{5B734F0E-3118-4FBE-A568-ED57F64ED73A}"/>
              </a:ext>
            </a:extLst>
          </p:cNvPr>
          <p:cNvSpPr>
            <a:spLocks xmlns:a="http://schemas.openxmlformats.org/drawingml/2006/main" noGrp="1"/>
          </p:cNvSpPr>
          <p:nvPr/>
        </p:nvSpPr>
        <p:spPr>
          <a:xfrm xmlns:a="http://schemas.openxmlformats.org/drawingml/2006/main">
            <a:off x="11149279" y="6382512"/>
            <a:ext cx="475488"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000">
                <a:solidFill>
                  <a:srgbClr val="5B5B6B"/>
                </a:solidFill>
                <a:latin typeface="Calibri"/>
                <a:ea typeface="Calibri"/>
                <a:cs typeface="Calibri"/>
              </a:rPr>
              <a:t>11</a:t>
            </a:r>
            <a:endParaRPr sz="1000"/>
          </a:p>
        </p:txBody>
      </p:sp>
      <p:sp>
        <p:nvSpPr>
          <p:cNvPr id="6" name="Text 3">
            <a:extLst xmlns:a="http://schemas.openxmlformats.org/drawingml/2006/main">
              <a:ext uri="{FF2B5EF4-FFF2-40B4-BE49-F238E27FC236}">
                <a16:creationId xmlns:a16="http://schemas.microsoft.com/office/drawing/2014/main" id="{17260F2B-4A17-44B2-ACA8-E5B8AB1AF6A7}"/>
              </a:ext>
            </a:extLst>
          </p:cNvPr>
          <p:cNvSpPr>
            <a:spLocks xmlns:a="http://schemas.openxmlformats.org/drawingml/2006/main" noGrp="1"/>
          </p:cNvSpPr>
          <p:nvPr/>
        </p:nvSpPr>
        <p:spPr>
          <a:xfrm xmlns:a="http://schemas.openxmlformats.org/drawingml/2006/main">
            <a:off x="566928" y="1298448"/>
            <a:ext cx="11055096"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800"/>
              </a:lnSpc>
              <a:buNone/>
            </a:pPr>
            <a:r>
              <a:rPr sz="1300">
                <a:solidFill>
                  <a:srgbClr val="1A1A2E"/>
                </a:solidFill>
                <a:latin typeface="Calibri"/>
                <a:ea typeface="Calibri"/>
                <a:cs typeface="Calibri"/>
              </a:rPr>
              <a:t>Two students pressing Borrow at once, and one student pressing Save five times because the network is slow, are the same problem wearing different clothes. Both are answered in the database, never in the application.</a:t>
            </a:r>
            <a:endParaRPr sz="1300"/>
          </a:p>
        </p:txBody>
      </p:sp>
      <p:sp>
        <p:nvSpPr>
          <p:cNvPr id="7" name="Shape 4">
            <a:extLst xmlns:a="http://schemas.openxmlformats.org/drawingml/2006/main">
              <a:ext uri="{FF2B5EF4-FFF2-40B4-BE49-F238E27FC236}">
                <a16:creationId xmlns:a16="http://schemas.microsoft.com/office/drawing/2014/main" id="{DE273A0E-411E-4957-86EC-EB1231738277}"/>
              </a:ext>
            </a:extLst>
          </p:cNvPr>
          <p:cNvSpPr>
            <a:spLocks xmlns:a="http://schemas.openxmlformats.org/drawingml/2006/main" noGrp="1"/>
          </p:cNvSpPr>
          <p:nvPr/>
        </p:nvSpPr>
        <p:spPr>
          <a:xfrm xmlns:a="http://schemas.openxmlformats.org/drawingml/2006/main">
            <a:off x="566928" y="1865376"/>
            <a:ext cx="5413248" cy="1938528"/>
          </a:xfrm>
          <a:prstGeom xmlns:a="http://schemas.openxmlformats.org/drawingml/2006/main" prst="roundRect">
            <a:avLst>
              <a:gd name="adj" fmla="val 3302"/>
            </a:avLst>
          </a:prstGeom>
          <a:solidFill xmlns:a="http://schemas.openxmlformats.org/drawingml/2006/main">
            <a:srgbClr val="240C54"/>
          </a:solidFill>
          <a:ln xmlns:a="http://schemas.openxmlformats.org/drawingml/2006/main" w="9525">
            <a:solidFill>
              <a:srgbClr val="240C54"/>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8" name="Text 5">
            <a:extLst xmlns:a="http://schemas.openxmlformats.org/drawingml/2006/main">
              <a:ext uri="{FF2B5EF4-FFF2-40B4-BE49-F238E27FC236}">
                <a16:creationId xmlns:a16="http://schemas.microsoft.com/office/drawing/2014/main" id="{47634206-1520-44E0-95A9-ED14AB64504E}"/>
              </a:ext>
            </a:extLst>
          </p:cNvPr>
          <p:cNvSpPr>
            <a:spLocks xmlns:a="http://schemas.openxmlformats.org/drawingml/2006/main" noGrp="1"/>
          </p:cNvSpPr>
          <p:nvPr/>
        </p:nvSpPr>
        <p:spPr>
          <a:xfrm xmlns:a="http://schemas.openxmlformats.org/drawingml/2006/main">
            <a:off x="786384" y="2039112"/>
            <a:ext cx="4974336"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E4B454"/>
                </a:solidFill>
                <a:latin typeface="Calibri"/>
                <a:ea typeface="Calibri"/>
                <a:cs typeface="Calibri"/>
              </a:rPr>
              <a:t>Borrowing must happen at most once</a:t>
            </a:r>
            <a:endParaRPr sz="1350"/>
          </a:p>
        </p:txBody>
      </p:sp>
      <p:sp>
        <p:nvSpPr>
          <p:cNvPr id="9" name="Text 6">
            <a:extLst xmlns:a="http://schemas.openxmlformats.org/drawingml/2006/main">
              <a:ext uri="{FF2B5EF4-FFF2-40B4-BE49-F238E27FC236}">
                <a16:creationId xmlns:a16="http://schemas.microsoft.com/office/drawing/2014/main" id="{36B125A5-9DA2-433C-A15B-4453E0A9A4E0}"/>
              </a:ext>
            </a:extLst>
          </p:cNvPr>
          <p:cNvSpPr>
            <a:spLocks xmlns:a="http://schemas.openxmlformats.org/drawingml/2006/main" noGrp="1"/>
          </p:cNvSpPr>
          <p:nvPr/>
        </p:nvSpPr>
        <p:spPr>
          <a:xfrm xmlns:a="http://schemas.openxmlformats.org/drawingml/2006/main">
            <a:off x="786384" y="2359152"/>
            <a:ext cx="4974336"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D6D0EC"/>
                </a:solidFill>
                <a:latin typeface="Calibri"/>
                <a:ea typeface="Calibri"/>
                <a:cs typeface="Calibri"/>
              </a:rPr>
              <a:t>Twenty simultaneous requests for one available copy:</a:t>
            </a:r>
            <a:endParaRPr sz="1100"/>
          </a:p>
        </p:txBody>
      </p:sp>
      <p:sp>
        <p:nvSpPr>
          <p:cNvPr id="10" name="Text 7">
            <a:extLst xmlns:a="http://schemas.openxmlformats.org/drawingml/2006/main">
              <a:ext uri="{FF2B5EF4-FFF2-40B4-BE49-F238E27FC236}">
                <a16:creationId xmlns:a16="http://schemas.microsoft.com/office/drawing/2014/main" id="{BFB913AC-75FB-45B3-87F8-A0210DF616E8}"/>
              </a:ext>
            </a:extLst>
          </p:cNvPr>
          <p:cNvSpPr>
            <a:spLocks xmlns:a="http://schemas.openxmlformats.org/drawingml/2006/main" noGrp="1"/>
          </p:cNvSpPr>
          <p:nvPr/>
        </p:nvSpPr>
        <p:spPr>
          <a:xfrm xmlns:a="http://schemas.openxmlformats.org/drawingml/2006/main">
            <a:off x="841248" y="2633472"/>
            <a:ext cx="15544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AFA4D8"/>
                </a:solidFill>
                <a:latin typeface="Cambria"/>
                <a:ea typeface="Cambria"/>
                <a:cs typeface="Cambria"/>
              </a:rPr>
              <a:t>20</a:t>
            </a:r>
            <a:endParaRPr sz="3000"/>
          </a:p>
        </p:txBody>
      </p:sp>
      <p:sp>
        <p:nvSpPr>
          <p:cNvPr id="11" name="Text 8">
            <a:extLst xmlns:a="http://schemas.openxmlformats.org/drawingml/2006/main">
              <a:ext uri="{FF2B5EF4-FFF2-40B4-BE49-F238E27FC236}">
                <a16:creationId xmlns:a16="http://schemas.microsoft.com/office/drawing/2014/main" id="{B25A2213-D371-4E39-AD31-3E4E1696973E}"/>
              </a:ext>
            </a:extLst>
          </p:cNvPr>
          <p:cNvSpPr>
            <a:spLocks xmlns:a="http://schemas.openxmlformats.org/drawingml/2006/main" noGrp="1"/>
          </p:cNvSpPr>
          <p:nvPr/>
        </p:nvSpPr>
        <p:spPr>
          <a:xfrm xmlns:a="http://schemas.openxmlformats.org/drawingml/2006/main">
            <a:off x="841248" y="3145536"/>
            <a:ext cx="1609344"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BBB2DC"/>
                </a:solidFill>
                <a:latin typeface="Calibri"/>
                <a:ea typeface="Calibri"/>
                <a:cs typeface="Calibri"/>
              </a:rPr>
              <a:t>sent</a:t>
            </a:r>
            <a:endParaRPr sz="1000"/>
          </a:p>
        </p:txBody>
      </p:sp>
      <p:sp>
        <p:nvSpPr>
          <p:cNvPr id="12" name="Text 9">
            <a:extLst xmlns:a="http://schemas.openxmlformats.org/drawingml/2006/main">
              <a:ext uri="{FF2B5EF4-FFF2-40B4-BE49-F238E27FC236}">
                <a16:creationId xmlns:a16="http://schemas.microsoft.com/office/drawing/2014/main" id="{D042C8E1-B3C0-448C-9B77-DFE4FFDADD4C}"/>
              </a:ext>
            </a:extLst>
          </p:cNvPr>
          <p:cNvSpPr>
            <a:spLocks xmlns:a="http://schemas.openxmlformats.org/drawingml/2006/main" noGrp="1"/>
          </p:cNvSpPr>
          <p:nvPr/>
        </p:nvSpPr>
        <p:spPr>
          <a:xfrm xmlns:a="http://schemas.openxmlformats.org/drawingml/2006/main">
            <a:off x="2542032" y="2633472"/>
            <a:ext cx="15544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9FD9BC"/>
                </a:solidFill>
                <a:latin typeface="Cambria"/>
                <a:ea typeface="Cambria"/>
                <a:cs typeface="Cambria"/>
              </a:rPr>
              <a:t>1</a:t>
            </a:r>
            <a:endParaRPr sz="3000"/>
          </a:p>
        </p:txBody>
      </p:sp>
      <p:sp>
        <p:nvSpPr>
          <p:cNvPr id="13" name="Text 10">
            <a:extLst xmlns:a="http://schemas.openxmlformats.org/drawingml/2006/main">
              <a:ext uri="{FF2B5EF4-FFF2-40B4-BE49-F238E27FC236}">
                <a16:creationId xmlns:a16="http://schemas.microsoft.com/office/drawing/2014/main" id="{DEAD88CD-EE8D-464C-88BA-B8889E2C5C8B}"/>
              </a:ext>
            </a:extLst>
          </p:cNvPr>
          <p:cNvSpPr>
            <a:spLocks xmlns:a="http://schemas.openxmlformats.org/drawingml/2006/main" noGrp="1"/>
          </p:cNvSpPr>
          <p:nvPr/>
        </p:nvSpPr>
        <p:spPr>
          <a:xfrm xmlns:a="http://schemas.openxmlformats.org/drawingml/2006/main">
            <a:off x="2542032" y="3145536"/>
            <a:ext cx="1609344"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BBB2DC"/>
                </a:solidFill>
                <a:latin typeface="Calibri"/>
                <a:ea typeface="Calibri"/>
                <a:cs typeface="Calibri"/>
              </a:rPr>
              <a:t>created, 201</a:t>
            </a:r>
            <a:endParaRPr sz="1000"/>
          </a:p>
        </p:txBody>
      </p:sp>
      <p:sp>
        <p:nvSpPr>
          <p:cNvPr id="14" name="Text 11">
            <a:extLst xmlns:a="http://schemas.openxmlformats.org/drawingml/2006/main">
              <a:ext uri="{FF2B5EF4-FFF2-40B4-BE49-F238E27FC236}">
                <a16:creationId xmlns:a16="http://schemas.microsoft.com/office/drawing/2014/main" id="{C79A1E34-F534-4B00-AFBF-55F2D9FD421E}"/>
              </a:ext>
            </a:extLst>
          </p:cNvPr>
          <p:cNvSpPr>
            <a:spLocks xmlns:a="http://schemas.openxmlformats.org/drawingml/2006/main" noGrp="1"/>
          </p:cNvSpPr>
          <p:nvPr/>
        </p:nvSpPr>
        <p:spPr>
          <a:xfrm xmlns:a="http://schemas.openxmlformats.org/drawingml/2006/main">
            <a:off x="4242816" y="2633472"/>
            <a:ext cx="15544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F0BFBF"/>
                </a:solidFill>
                <a:latin typeface="Cambria"/>
                <a:ea typeface="Cambria"/>
                <a:cs typeface="Cambria"/>
              </a:rPr>
              <a:t>19</a:t>
            </a:r>
            <a:endParaRPr sz="3000"/>
          </a:p>
        </p:txBody>
      </p:sp>
      <p:sp>
        <p:nvSpPr>
          <p:cNvPr id="15" name="Text 12">
            <a:extLst xmlns:a="http://schemas.openxmlformats.org/drawingml/2006/main">
              <a:ext uri="{FF2B5EF4-FFF2-40B4-BE49-F238E27FC236}">
                <a16:creationId xmlns:a16="http://schemas.microsoft.com/office/drawing/2014/main" id="{90C6C3D5-D4E1-4256-8E94-209111D4CB5E}"/>
              </a:ext>
            </a:extLst>
          </p:cNvPr>
          <p:cNvSpPr>
            <a:spLocks xmlns:a="http://schemas.openxmlformats.org/drawingml/2006/main" noGrp="1"/>
          </p:cNvSpPr>
          <p:nvPr/>
        </p:nvSpPr>
        <p:spPr>
          <a:xfrm xmlns:a="http://schemas.openxmlformats.org/drawingml/2006/main">
            <a:off x="4242816" y="3145536"/>
            <a:ext cx="1609344"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BBB2DC"/>
                </a:solidFill>
                <a:latin typeface="Calibri"/>
                <a:ea typeface="Calibri"/>
                <a:cs typeface="Calibri"/>
              </a:rPr>
              <a:t>refused, 409</a:t>
            </a:r>
            <a:endParaRPr sz="1000"/>
          </a:p>
        </p:txBody>
      </p:sp>
      <p:sp>
        <p:nvSpPr>
          <p:cNvPr id="16" name="Text 13">
            <a:extLst xmlns:a="http://schemas.openxmlformats.org/drawingml/2006/main">
              <a:ext uri="{FF2B5EF4-FFF2-40B4-BE49-F238E27FC236}">
                <a16:creationId xmlns:a16="http://schemas.microsoft.com/office/drawing/2014/main" id="{2ED129B3-0E7F-4D29-95FB-B0EEDE155EE2}"/>
              </a:ext>
            </a:extLst>
          </p:cNvPr>
          <p:cNvSpPr>
            <a:spLocks xmlns:a="http://schemas.openxmlformats.org/drawingml/2006/main" noGrp="1"/>
          </p:cNvSpPr>
          <p:nvPr/>
        </p:nvSpPr>
        <p:spPr>
          <a:xfrm xmlns:a="http://schemas.openxmlformats.org/drawingml/2006/main">
            <a:off x="786384" y="3438144"/>
            <a:ext cx="497433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i="1">
                <a:solidFill>
                  <a:srgbClr val="AFA4D8"/>
                </a:solidFill>
                <a:latin typeface="Calibri"/>
                <a:ea typeface="Calibri"/>
                <a:cs typeface="Calibri"/>
              </a:rPr>
              <a:t>A partial unique index refuses the second one. Not a check, which could be raced.</a:t>
            </a:r>
            <a:endParaRPr sz="1000"/>
          </a:p>
        </p:txBody>
      </p:sp>
      <p:sp>
        <p:nvSpPr>
          <p:cNvPr id="17" name="Shape 14">
            <a:extLst xmlns:a="http://schemas.openxmlformats.org/drawingml/2006/main">
              <a:ext uri="{FF2B5EF4-FFF2-40B4-BE49-F238E27FC236}">
                <a16:creationId xmlns:a16="http://schemas.microsoft.com/office/drawing/2014/main" id="{A9CC9516-C4AB-4EB8-86FA-A9DCDDB0F115}"/>
              </a:ext>
            </a:extLst>
          </p:cNvPr>
          <p:cNvSpPr>
            <a:spLocks xmlns:a="http://schemas.openxmlformats.org/drawingml/2006/main" noGrp="1"/>
          </p:cNvSpPr>
          <p:nvPr/>
        </p:nvSpPr>
        <p:spPr>
          <a:xfrm xmlns:a="http://schemas.openxmlformats.org/drawingml/2006/main">
            <a:off x="6199632" y="1865376"/>
            <a:ext cx="5422392" cy="1938528"/>
          </a:xfrm>
          <a:prstGeom xmlns:a="http://schemas.openxmlformats.org/drawingml/2006/main" prst="roundRect">
            <a:avLst>
              <a:gd name="adj" fmla="val 3302"/>
            </a:avLst>
          </a:prstGeom>
          <a:solidFill xmlns:a="http://schemas.openxmlformats.org/drawingml/2006/main">
            <a:srgbClr val="1F5F42"/>
          </a:solidFill>
          <a:ln xmlns:a="http://schemas.openxmlformats.org/drawingml/2006/main" w="9525">
            <a:solidFill>
              <a:srgbClr val="1F5F42"/>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18" name="Text 15">
            <a:extLst xmlns:a="http://schemas.openxmlformats.org/drawingml/2006/main">
              <a:ext uri="{FF2B5EF4-FFF2-40B4-BE49-F238E27FC236}">
                <a16:creationId xmlns:a16="http://schemas.microsoft.com/office/drawing/2014/main" id="{A98B5F05-C321-4BF1-9C3D-5F507400CC4F}"/>
              </a:ext>
            </a:extLst>
          </p:cNvPr>
          <p:cNvSpPr>
            <a:spLocks xmlns:a="http://schemas.openxmlformats.org/drawingml/2006/main" noGrp="1"/>
          </p:cNvSpPr>
          <p:nvPr/>
        </p:nvSpPr>
        <p:spPr>
          <a:xfrm xmlns:a="http://schemas.openxmlformats.org/drawingml/2006/main">
            <a:off x="6419088" y="2039112"/>
            <a:ext cx="498348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BFE8D0"/>
                </a:solidFill>
                <a:latin typeface="Calibri"/>
                <a:ea typeface="Calibri"/>
                <a:cs typeface="Calibri"/>
              </a:rPr>
              <a:t>Saving may happen any number of times</a:t>
            </a:r>
            <a:endParaRPr sz="1350"/>
          </a:p>
        </p:txBody>
      </p:sp>
      <p:sp>
        <p:nvSpPr>
          <p:cNvPr id="19" name="Text 16">
            <a:extLst xmlns:a="http://schemas.openxmlformats.org/drawingml/2006/main">
              <a:ext uri="{FF2B5EF4-FFF2-40B4-BE49-F238E27FC236}">
                <a16:creationId xmlns:a16="http://schemas.microsoft.com/office/drawing/2014/main" id="{4C31F43E-173F-4470-8176-E82B3425A058}"/>
              </a:ext>
            </a:extLst>
          </p:cNvPr>
          <p:cNvSpPr>
            <a:spLocks xmlns:a="http://schemas.openxmlformats.org/drawingml/2006/main" noGrp="1"/>
          </p:cNvSpPr>
          <p:nvPr/>
        </p:nvSpPr>
        <p:spPr>
          <a:xfrm xmlns:a="http://schemas.openxmlformats.org/drawingml/2006/main">
            <a:off x="6419088" y="2359152"/>
            <a:ext cx="498348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CDE8DA"/>
                </a:solidFill>
                <a:latin typeface="Calibri"/>
                <a:ea typeface="Calibri"/>
                <a:cs typeface="Calibri"/>
              </a:rPr>
              <a:t>Twenty simultaneous saves of one title by one member:</a:t>
            </a:r>
            <a:endParaRPr sz="1100"/>
          </a:p>
        </p:txBody>
      </p:sp>
      <p:sp>
        <p:nvSpPr>
          <p:cNvPr id="20" name="Text 17">
            <a:extLst xmlns:a="http://schemas.openxmlformats.org/drawingml/2006/main">
              <a:ext uri="{FF2B5EF4-FFF2-40B4-BE49-F238E27FC236}">
                <a16:creationId xmlns:a16="http://schemas.microsoft.com/office/drawing/2014/main" id="{015C2953-DBC4-42E0-8E0B-A6E45045B31C}"/>
              </a:ext>
            </a:extLst>
          </p:cNvPr>
          <p:cNvSpPr>
            <a:spLocks xmlns:a="http://schemas.openxmlformats.org/drawingml/2006/main" noGrp="1"/>
          </p:cNvSpPr>
          <p:nvPr/>
        </p:nvSpPr>
        <p:spPr>
          <a:xfrm xmlns:a="http://schemas.openxmlformats.org/drawingml/2006/main">
            <a:off x="6473952" y="2633472"/>
            <a:ext cx="15544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9FD3B8"/>
                </a:solidFill>
                <a:latin typeface="Cambria"/>
                <a:ea typeface="Cambria"/>
                <a:cs typeface="Cambria"/>
              </a:rPr>
              <a:t>20</a:t>
            </a:r>
            <a:endParaRPr sz="3000"/>
          </a:p>
        </p:txBody>
      </p:sp>
      <p:sp>
        <p:nvSpPr>
          <p:cNvPr id="21" name="Text 18">
            <a:extLst xmlns:a="http://schemas.openxmlformats.org/drawingml/2006/main">
              <a:ext uri="{FF2B5EF4-FFF2-40B4-BE49-F238E27FC236}">
                <a16:creationId xmlns:a16="http://schemas.microsoft.com/office/drawing/2014/main" id="{F22AB22F-C51E-4FE5-8E2B-7164194D2D27}"/>
              </a:ext>
            </a:extLst>
          </p:cNvPr>
          <p:cNvSpPr>
            <a:spLocks xmlns:a="http://schemas.openxmlformats.org/drawingml/2006/main" noGrp="1"/>
          </p:cNvSpPr>
          <p:nvPr/>
        </p:nvSpPr>
        <p:spPr>
          <a:xfrm xmlns:a="http://schemas.openxmlformats.org/drawingml/2006/main">
            <a:off x="6473952" y="3145536"/>
            <a:ext cx="1609344"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A9CFBB"/>
                </a:solidFill>
                <a:latin typeface="Calibri"/>
                <a:ea typeface="Calibri"/>
                <a:cs typeface="Calibri"/>
              </a:rPr>
              <a:t>sent</a:t>
            </a:r>
            <a:endParaRPr sz="1000"/>
          </a:p>
        </p:txBody>
      </p:sp>
      <p:sp>
        <p:nvSpPr>
          <p:cNvPr id="22" name="Text 19">
            <a:extLst xmlns:a="http://schemas.openxmlformats.org/drawingml/2006/main">
              <a:ext uri="{FF2B5EF4-FFF2-40B4-BE49-F238E27FC236}">
                <a16:creationId xmlns:a16="http://schemas.microsoft.com/office/drawing/2014/main" id="{0D1BAA05-3837-4776-99A1-C5F33482D236}"/>
              </a:ext>
            </a:extLst>
          </p:cNvPr>
          <p:cNvSpPr>
            <a:spLocks xmlns:a="http://schemas.openxmlformats.org/drawingml/2006/main" noGrp="1"/>
          </p:cNvSpPr>
          <p:nvPr/>
        </p:nvSpPr>
        <p:spPr>
          <a:xfrm xmlns:a="http://schemas.openxmlformats.org/drawingml/2006/main">
            <a:off x="8174736" y="2633472"/>
            <a:ext cx="15544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DFF3E7"/>
                </a:solidFill>
                <a:latin typeface="Cambria"/>
                <a:ea typeface="Cambria"/>
                <a:cs typeface="Cambria"/>
              </a:rPr>
              <a:t>0</a:t>
            </a:r>
            <a:endParaRPr sz="3000"/>
          </a:p>
        </p:txBody>
      </p:sp>
      <p:sp>
        <p:nvSpPr>
          <p:cNvPr id="23" name="Text 20">
            <a:extLst xmlns:a="http://schemas.openxmlformats.org/drawingml/2006/main">
              <a:ext uri="{FF2B5EF4-FFF2-40B4-BE49-F238E27FC236}">
                <a16:creationId xmlns:a16="http://schemas.microsoft.com/office/drawing/2014/main" id="{D4DC7FA3-F981-46FF-BC0E-FEDC933DE8D7}"/>
              </a:ext>
            </a:extLst>
          </p:cNvPr>
          <p:cNvSpPr>
            <a:spLocks xmlns:a="http://schemas.openxmlformats.org/drawingml/2006/main" noGrp="1"/>
          </p:cNvSpPr>
          <p:nvPr/>
        </p:nvSpPr>
        <p:spPr>
          <a:xfrm xmlns:a="http://schemas.openxmlformats.org/drawingml/2006/main">
            <a:off x="8174736" y="3145536"/>
            <a:ext cx="1609344"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A9CFBB"/>
                </a:solidFill>
                <a:latin typeface="Calibri"/>
                <a:ea typeface="Calibri"/>
                <a:cs typeface="Calibri"/>
              </a:rPr>
              <a:t>errors</a:t>
            </a:r>
            <a:endParaRPr sz="1000"/>
          </a:p>
        </p:txBody>
      </p:sp>
      <p:sp>
        <p:nvSpPr>
          <p:cNvPr id="24" name="Text 21">
            <a:extLst xmlns:a="http://schemas.openxmlformats.org/drawingml/2006/main">
              <a:ext uri="{FF2B5EF4-FFF2-40B4-BE49-F238E27FC236}">
                <a16:creationId xmlns:a16="http://schemas.microsoft.com/office/drawing/2014/main" id="{19A6CA16-E702-4DD2-87E1-9277D97AF759}"/>
              </a:ext>
            </a:extLst>
          </p:cNvPr>
          <p:cNvSpPr>
            <a:spLocks xmlns:a="http://schemas.openxmlformats.org/drawingml/2006/main" noGrp="1"/>
          </p:cNvSpPr>
          <p:nvPr/>
        </p:nvSpPr>
        <p:spPr>
          <a:xfrm xmlns:a="http://schemas.openxmlformats.org/drawingml/2006/main">
            <a:off x="9875520" y="2633472"/>
            <a:ext cx="15544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DFF3E7"/>
                </a:solidFill>
                <a:latin typeface="Cambria"/>
                <a:ea typeface="Cambria"/>
                <a:cs typeface="Cambria"/>
              </a:rPr>
              <a:t>1</a:t>
            </a:r>
            <a:endParaRPr sz="3000"/>
          </a:p>
        </p:txBody>
      </p:sp>
      <p:sp>
        <p:nvSpPr>
          <p:cNvPr id="25" name="Text 22">
            <a:extLst xmlns:a="http://schemas.openxmlformats.org/drawingml/2006/main">
              <a:ext uri="{FF2B5EF4-FFF2-40B4-BE49-F238E27FC236}">
                <a16:creationId xmlns:a16="http://schemas.microsoft.com/office/drawing/2014/main" id="{63B355BD-4216-4EA9-82F4-023EEF9D018C}"/>
              </a:ext>
            </a:extLst>
          </p:cNvPr>
          <p:cNvSpPr>
            <a:spLocks xmlns:a="http://schemas.openxmlformats.org/drawingml/2006/main" noGrp="1"/>
          </p:cNvSpPr>
          <p:nvPr/>
        </p:nvSpPr>
        <p:spPr>
          <a:xfrm xmlns:a="http://schemas.openxmlformats.org/drawingml/2006/main">
            <a:off x="9875520" y="3145536"/>
            <a:ext cx="1609344"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A9CFBB"/>
                </a:solidFill>
                <a:latin typeface="Calibri"/>
                <a:ea typeface="Calibri"/>
                <a:cs typeface="Calibri"/>
              </a:rPr>
              <a:t>row stored</a:t>
            </a:r>
            <a:endParaRPr sz="1000"/>
          </a:p>
        </p:txBody>
      </p:sp>
      <p:sp>
        <p:nvSpPr>
          <p:cNvPr id="26" name="Text 23">
            <a:extLst xmlns:a="http://schemas.openxmlformats.org/drawingml/2006/main">
              <a:ext uri="{FF2B5EF4-FFF2-40B4-BE49-F238E27FC236}">
                <a16:creationId xmlns:a16="http://schemas.microsoft.com/office/drawing/2014/main" id="{1E714902-AF22-42A9-A366-30CA2BA23176}"/>
              </a:ext>
            </a:extLst>
          </p:cNvPr>
          <p:cNvSpPr>
            <a:spLocks xmlns:a="http://schemas.openxmlformats.org/drawingml/2006/main" noGrp="1"/>
          </p:cNvSpPr>
          <p:nvPr/>
        </p:nvSpPr>
        <p:spPr>
          <a:xfrm xmlns:a="http://schemas.openxmlformats.org/drawingml/2006/main">
            <a:off x="6419088" y="3438144"/>
            <a:ext cx="49834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i="1">
                <a:solidFill>
                  <a:srgbClr val="A9CFBB"/>
                </a:solidFill>
                <a:latin typeface="Calibri"/>
                <a:ea typeface="Calibri"/>
                <a:cs typeface="Calibri"/>
              </a:rPr>
              <a:t>ON CONFLICT absorbs the repeat, so the client never has to ask first.</a:t>
            </a:r>
            <a:endParaRPr sz="1000"/>
          </a:p>
        </p:txBody>
      </p:sp>
      <p:sp>
        <p:nvSpPr>
          <p:cNvPr id="27" name="Text 24">
            <a:extLst xmlns:a="http://schemas.openxmlformats.org/drawingml/2006/main">
              <a:ext uri="{FF2B5EF4-FFF2-40B4-BE49-F238E27FC236}">
                <a16:creationId xmlns:a16="http://schemas.microsoft.com/office/drawing/2014/main" id="{3AE74CA9-6AC7-4644-B497-3C10F6F48855}"/>
              </a:ext>
            </a:extLst>
          </p:cNvPr>
          <p:cNvSpPr>
            <a:spLocks xmlns:a="http://schemas.openxmlformats.org/drawingml/2006/main" noGrp="1"/>
          </p:cNvSpPr>
          <p:nvPr/>
        </p:nvSpPr>
        <p:spPr>
          <a:xfrm xmlns:a="http://schemas.openxmlformats.org/drawingml/2006/main">
            <a:off x="566928" y="3950208"/>
            <a:ext cx="1105509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240C54"/>
                </a:solidFill>
                <a:latin typeface="Calibri"/>
                <a:ea typeface="Calibri"/>
                <a:cs typeface="Calibri"/>
              </a:rPr>
              <a:t>Idempotency is not applied everywhere. It is a question asked of each action: if this arrives twice, should the second one change anything?</a:t>
            </a:r>
            <a:endParaRPr sz="1150"/>
          </a:p>
        </p:txBody>
      </p:sp>
      <p:sp>
        <p:nvSpPr>
          <p:cNvPr id="28" name="Shape 25">
            <a:extLst xmlns:a="http://schemas.openxmlformats.org/drawingml/2006/main">
              <a:ext uri="{FF2B5EF4-FFF2-40B4-BE49-F238E27FC236}">
                <a16:creationId xmlns:a16="http://schemas.microsoft.com/office/drawing/2014/main" id="{8707FD79-C839-4B06-82BD-4BBD53403E99}"/>
              </a:ext>
            </a:extLst>
          </p:cNvPr>
          <p:cNvSpPr>
            <a:spLocks xmlns:a="http://schemas.openxmlformats.org/drawingml/2006/main" noGrp="1"/>
          </p:cNvSpPr>
          <p:nvPr/>
        </p:nvSpPr>
        <p:spPr>
          <a:xfrm xmlns:a="http://schemas.openxmlformats.org/drawingml/2006/main">
            <a:off x="566928" y="4279392"/>
            <a:ext cx="11055096" cy="310896"/>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6350">
            <a:solidFill>
              <a:srgbClr val="D8DAE5"/>
            </a:solidFill>
            <a:prstDash val="solid"/>
          </a:ln>
        </p:spPr>
      </p:sp>
      <p:sp>
        <p:nvSpPr>
          <p:cNvPr id="29" name="Text 26">
            <a:extLst xmlns:a="http://schemas.openxmlformats.org/drawingml/2006/main">
              <a:ext uri="{FF2B5EF4-FFF2-40B4-BE49-F238E27FC236}">
                <a16:creationId xmlns:a16="http://schemas.microsoft.com/office/drawing/2014/main" id="{4C9F2B9E-A59D-42E9-B299-BF36168D2F58}"/>
              </a:ext>
            </a:extLst>
          </p:cNvPr>
          <p:cNvSpPr>
            <a:spLocks xmlns:a="http://schemas.openxmlformats.org/drawingml/2006/main" noGrp="1"/>
          </p:cNvSpPr>
          <p:nvPr/>
        </p:nvSpPr>
        <p:spPr>
          <a:xfrm xmlns:a="http://schemas.openxmlformats.org/drawingml/2006/main">
            <a:off x="731520" y="4279392"/>
            <a:ext cx="23317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40C54"/>
                </a:solidFill>
                <a:latin typeface="Calibri"/>
                <a:ea typeface="Calibri"/>
                <a:cs typeface="Calibri"/>
              </a:rPr>
              <a:t>Borrow a copy</a:t>
            </a:r>
            <a:endParaRPr sz="1050"/>
          </a:p>
        </p:txBody>
      </p:sp>
      <p:sp>
        <p:nvSpPr>
          <p:cNvPr id="30" name="Text 27">
            <a:extLst xmlns:a="http://schemas.openxmlformats.org/drawingml/2006/main">
              <a:ext uri="{FF2B5EF4-FFF2-40B4-BE49-F238E27FC236}">
                <a16:creationId xmlns:a16="http://schemas.microsoft.com/office/drawing/2014/main" id="{8C971FD6-8A0C-44F1-BC4D-56E16EF7D75C}"/>
              </a:ext>
            </a:extLst>
          </p:cNvPr>
          <p:cNvSpPr>
            <a:spLocks xmlns:a="http://schemas.openxmlformats.org/drawingml/2006/main" noGrp="1"/>
          </p:cNvSpPr>
          <p:nvPr/>
        </p:nvSpPr>
        <p:spPr>
          <a:xfrm xmlns:a="http://schemas.openxmlformats.org/drawingml/2006/main">
            <a:off x="3127248" y="4279392"/>
            <a:ext cx="169164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A32020"/>
                </a:solidFill>
                <a:latin typeface="Calibri"/>
                <a:ea typeface="Calibri"/>
                <a:cs typeface="Calibri"/>
              </a:rPr>
              <a:t>No, at most once</a:t>
            </a:r>
            <a:endParaRPr sz="1050"/>
          </a:p>
        </p:txBody>
      </p:sp>
      <p:sp>
        <p:nvSpPr>
          <p:cNvPr id="31" name="Text 28">
            <a:extLst xmlns:a="http://schemas.openxmlformats.org/drawingml/2006/main">
              <a:ext uri="{FF2B5EF4-FFF2-40B4-BE49-F238E27FC236}">
                <a16:creationId xmlns:a16="http://schemas.microsoft.com/office/drawing/2014/main" id="{5281B1C7-B63F-47A4-B985-10D85CEEC197}"/>
              </a:ext>
            </a:extLst>
          </p:cNvPr>
          <p:cNvSpPr>
            <a:spLocks xmlns:a="http://schemas.openxmlformats.org/drawingml/2006/main" noGrp="1"/>
          </p:cNvSpPr>
          <p:nvPr/>
        </p:nvSpPr>
        <p:spPr>
          <a:xfrm xmlns:a="http://schemas.openxmlformats.org/drawingml/2006/main">
            <a:off x="4882896" y="4279392"/>
            <a:ext cx="65379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1A1A2E"/>
                </a:solidFill>
                <a:latin typeface="Calibri"/>
                <a:ea typeface="Calibri"/>
                <a:cs typeface="Calibri"/>
              </a:rPr>
              <a:t>A second loan on one copy is impossible. Refused with 409.</a:t>
            </a:r>
            <a:endParaRPr sz="1050"/>
          </a:p>
        </p:txBody>
      </p:sp>
      <p:sp>
        <p:nvSpPr>
          <p:cNvPr id="32" name="Shape 29">
            <a:extLst xmlns:a="http://schemas.openxmlformats.org/drawingml/2006/main">
              <a:ext uri="{FF2B5EF4-FFF2-40B4-BE49-F238E27FC236}">
                <a16:creationId xmlns:a16="http://schemas.microsoft.com/office/drawing/2014/main" id="{232EA110-7D76-4521-8D39-97FB547B8014}"/>
              </a:ext>
            </a:extLst>
          </p:cNvPr>
          <p:cNvSpPr>
            <a:spLocks xmlns:a="http://schemas.openxmlformats.org/drawingml/2006/main" noGrp="1"/>
          </p:cNvSpPr>
          <p:nvPr/>
        </p:nvSpPr>
        <p:spPr>
          <a:xfrm xmlns:a="http://schemas.openxmlformats.org/drawingml/2006/main">
            <a:off x="566928" y="4645152"/>
            <a:ext cx="11055096" cy="310896"/>
          </a:xfrm>
          <a:prstGeom xmlns:a="http://schemas.openxmlformats.org/drawingml/2006/main" prst="roundRect">
            <a:avLst>
              <a:gd name="adj" fmla="val 11765"/>
            </a:avLst>
          </a:prstGeom>
          <a:solidFill xmlns:a="http://schemas.openxmlformats.org/drawingml/2006/main">
            <a:srgbClr val="F4F5F9"/>
          </a:solidFill>
          <a:ln xmlns:a="http://schemas.openxmlformats.org/drawingml/2006/main" w="6350">
            <a:solidFill>
              <a:srgbClr val="D8DAE5"/>
            </a:solidFill>
            <a:prstDash val="solid"/>
          </a:ln>
        </p:spPr>
      </p:sp>
      <p:sp>
        <p:nvSpPr>
          <p:cNvPr id="33" name="Text 30">
            <a:extLst xmlns:a="http://schemas.openxmlformats.org/drawingml/2006/main">
              <a:ext uri="{FF2B5EF4-FFF2-40B4-BE49-F238E27FC236}">
                <a16:creationId xmlns:a16="http://schemas.microsoft.com/office/drawing/2014/main" id="{A83EB08C-8F4C-426F-88E7-08CE2E8E90B6}"/>
              </a:ext>
            </a:extLst>
          </p:cNvPr>
          <p:cNvSpPr>
            <a:spLocks xmlns:a="http://schemas.openxmlformats.org/drawingml/2006/main" noGrp="1"/>
          </p:cNvSpPr>
          <p:nvPr/>
        </p:nvSpPr>
        <p:spPr>
          <a:xfrm xmlns:a="http://schemas.openxmlformats.org/drawingml/2006/main">
            <a:off x="731520" y="4645152"/>
            <a:ext cx="23317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40C54"/>
                </a:solidFill>
                <a:latin typeface="Calibri"/>
                <a:ea typeface="Calibri"/>
                <a:cs typeface="Calibri"/>
              </a:rPr>
              <a:t>Return a copy</a:t>
            </a:r>
            <a:endParaRPr sz="1050"/>
          </a:p>
        </p:txBody>
      </p:sp>
      <p:sp>
        <p:nvSpPr>
          <p:cNvPr id="34" name="Text 31">
            <a:extLst xmlns:a="http://schemas.openxmlformats.org/drawingml/2006/main">
              <a:ext uri="{FF2B5EF4-FFF2-40B4-BE49-F238E27FC236}">
                <a16:creationId xmlns:a16="http://schemas.microsoft.com/office/drawing/2014/main" id="{93BAD670-6C20-4DCB-B2D0-C4998F373CF3}"/>
              </a:ext>
            </a:extLst>
          </p:cNvPr>
          <p:cNvSpPr>
            <a:spLocks xmlns:a="http://schemas.openxmlformats.org/drawingml/2006/main" noGrp="1"/>
          </p:cNvSpPr>
          <p:nvPr/>
        </p:nvSpPr>
        <p:spPr>
          <a:xfrm xmlns:a="http://schemas.openxmlformats.org/drawingml/2006/main">
            <a:off x="3127248" y="4645152"/>
            <a:ext cx="169164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1E7A46"/>
                </a:solidFill>
                <a:latin typeface="Calibri"/>
                <a:ea typeface="Calibri"/>
                <a:cs typeface="Calibri"/>
              </a:rPr>
              <a:t>Yes</a:t>
            </a:r>
            <a:endParaRPr sz="1050"/>
          </a:p>
        </p:txBody>
      </p:sp>
      <p:sp>
        <p:nvSpPr>
          <p:cNvPr id="35" name="Text 32">
            <a:extLst xmlns:a="http://schemas.openxmlformats.org/drawingml/2006/main">
              <a:ext uri="{FF2B5EF4-FFF2-40B4-BE49-F238E27FC236}">
                <a16:creationId xmlns:a16="http://schemas.microsoft.com/office/drawing/2014/main" id="{AF0E0CB8-6577-4039-B990-21AC464D3C4E}"/>
              </a:ext>
            </a:extLst>
          </p:cNvPr>
          <p:cNvSpPr>
            <a:spLocks xmlns:a="http://schemas.openxmlformats.org/drawingml/2006/main" noGrp="1"/>
          </p:cNvSpPr>
          <p:nvPr/>
        </p:nvSpPr>
        <p:spPr>
          <a:xfrm xmlns:a="http://schemas.openxmlformats.org/drawingml/2006/main">
            <a:off x="4882896" y="4645152"/>
            <a:ext cx="65379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1A1A2E"/>
                </a:solidFill>
                <a:latin typeface="Calibri"/>
                <a:ea typeface="Calibri"/>
                <a:cs typeface="Calibri"/>
              </a:rPr>
              <a:t>The loan is already closed. Saying so again changes nothing.</a:t>
            </a:r>
            <a:endParaRPr sz="1050"/>
          </a:p>
        </p:txBody>
      </p:sp>
      <p:sp>
        <p:nvSpPr>
          <p:cNvPr id="36" name="Shape 33">
            <a:extLst xmlns:a="http://schemas.openxmlformats.org/drawingml/2006/main">
              <a:ext uri="{FF2B5EF4-FFF2-40B4-BE49-F238E27FC236}">
                <a16:creationId xmlns:a16="http://schemas.microsoft.com/office/drawing/2014/main" id="{E5683C96-CDAC-4B25-BC47-68EE4F8F37CA}"/>
              </a:ext>
            </a:extLst>
          </p:cNvPr>
          <p:cNvSpPr>
            <a:spLocks xmlns:a="http://schemas.openxmlformats.org/drawingml/2006/main" noGrp="1"/>
          </p:cNvSpPr>
          <p:nvPr/>
        </p:nvSpPr>
        <p:spPr>
          <a:xfrm xmlns:a="http://schemas.openxmlformats.org/drawingml/2006/main">
            <a:off x="566928" y="5010912"/>
            <a:ext cx="11055096" cy="310896"/>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6350">
            <a:solidFill>
              <a:srgbClr val="D8DAE5"/>
            </a:solidFill>
            <a:prstDash val="solid"/>
          </a:ln>
        </p:spPr>
      </p:sp>
      <p:sp>
        <p:nvSpPr>
          <p:cNvPr id="37" name="Text 34">
            <a:extLst xmlns:a="http://schemas.openxmlformats.org/drawingml/2006/main">
              <a:ext uri="{FF2B5EF4-FFF2-40B4-BE49-F238E27FC236}">
                <a16:creationId xmlns:a16="http://schemas.microsoft.com/office/drawing/2014/main" id="{81EB51C8-7135-440A-87EC-F92CEC40EC33}"/>
              </a:ext>
            </a:extLst>
          </p:cNvPr>
          <p:cNvSpPr>
            <a:spLocks xmlns:a="http://schemas.openxmlformats.org/drawingml/2006/main" noGrp="1"/>
          </p:cNvSpPr>
          <p:nvPr/>
        </p:nvSpPr>
        <p:spPr>
          <a:xfrm xmlns:a="http://schemas.openxmlformats.org/drawingml/2006/main">
            <a:off x="731520" y="5010912"/>
            <a:ext cx="23317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40C54"/>
                </a:solidFill>
                <a:latin typeface="Calibri"/>
                <a:ea typeface="Calibri"/>
                <a:cs typeface="Calibri"/>
              </a:rPr>
              <a:t>Save or unsave a title</a:t>
            </a:r>
            <a:endParaRPr sz="1050"/>
          </a:p>
        </p:txBody>
      </p:sp>
      <p:sp>
        <p:nvSpPr>
          <p:cNvPr id="38" name="Text 35">
            <a:extLst xmlns:a="http://schemas.openxmlformats.org/drawingml/2006/main">
              <a:ext uri="{FF2B5EF4-FFF2-40B4-BE49-F238E27FC236}">
                <a16:creationId xmlns:a16="http://schemas.microsoft.com/office/drawing/2014/main" id="{78C92FA0-9AC9-473D-8929-03655C9CE5D5}"/>
              </a:ext>
            </a:extLst>
          </p:cNvPr>
          <p:cNvSpPr>
            <a:spLocks xmlns:a="http://schemas.openxmlformats.org/drawingml/2006/main" noGrp="1"/>
          </p:cNvSpPr>
          <p:nvPr/>
        </p:nvSpPr>
        <p:spPr>
          <a:xfrm xmlns:a="http://schemas.openxmlformats.org/drawingml/2006/main">
            <a:off x="3127248" y="5010912"/>
            <a:ext cx="169164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1E7A46"/>
                </a:solidFill>
                <a:latin typeface="Calibri"/>
                <a:ea typeface="Calibri"/>
                <a:cs typeface="Calibri"/>
              </a:rPr>
              <a:t>Yes</a:t>
            </a:r>
            <a:endParaRPr sz="1050"/>
          </a:p>
        </p:txBody>
      </p:sp>
      <p:sp>
        <p:nvSpPr>
          <p:cNvPr id="39" name="Text 36">
            <a:extLst xmlns:a="http://schemas.openxmlformats.org/drawingml/2006/main">
              <a:ext uri="{FF2B5EF4-FFF2-40B4-BE49-F238E27FC236}">
                <a16:creationId xmlns:a16="http://schemas.microsoft.com/office/drawing/2014/main" id="{241200A3-6F83-4408-B426-B2CDBD359AA9}"/>
              </a:ext>
            </a:extLst>
          </p:cNvPr>
          <p:cNvSpPr>
            <a:spLocks xmlns:a="http://schemas.openxmlformats.org/drawingml/2006/main" noGrp="1"/>
          </p:cNvSpPr>
          <p:nvPr/>
        </p:nvSpPr>
        <p:spPr>
          <a:xfrm xmlns:a="http://schemas.openxmlformats.org/drawingml/2006/main">
            <a:off x="4882896" y="5010912"/>
            <a:ext cx="65379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1A1A2E"/>
                </a:solidFill>
                <a:latin typeface="Calibri"/>
                <a:ea typeface="Calibri"/>
                <a:cs typeface="Calibri"/>
              </a:rPr>
              <a:t>A second tap means what the first meant. One row either way.</a:t>
            </a:r>
            <a:endParaRPr sz="1050"/>
          </a:p>
        </p:txBody>
      </p:sp>
      <p:sp>
        <p:nvSpPr>
          <p:cNvPr id="40" name="Shape 37">
            <a:extLst xmlns:a="http://schemas.openxmlformats.org/drawingml/2006/main">
              <a:ext uri="{FF2B5EF4-FFF2-40B4-BE49-F238E27FC236}">
                <a16:creationId xmlns:a16="http://schemas.microsoft.com/office/drawing/2014/main" id="{2B065178-6EC6-492A-8F58-F8AF8A39B62C}"/>
              </a:ext>
            </a:extLst>
          </p:cNvPr>
          <p:cNvSpPr>
            <a:spLocks xmlns:a="http://schemas.openxmlformats.org/drawingml/2006/main" noGrp="1"/>
          </p:cNvSpPr>
          <p:nvPr/>
        </p:nvSpPr>
        <p:spPr>
          <a:xfrm xmlns:a="http://schemas.openxmlformats.org/drawingml/2006/main">
            <a:off x="566928" y="5376672"/>
            <a:ext cx="11055096" cy="310896"/>
          </a:xfrm>
          <a:prstGeom xmlns:a="http://schemas.openxmlformats.org/drawingml/2006/main" prst="roundRect">
            <a:avLst>
              <a:gd name="adj" fmla="val 11765"/>
            </a:avLst>
          </a:prstGeom>
          <a:solidFill xmlns:a="http://schemas.openxmlformats.org/drawingml/2006/main">
            <a:srgbClr val="F4F5F9"/>
          </a:solidFill>
          <a:ln xmlns:a="http://schemas.openxmlformats.org/drawingml/2006/main" w="6350">
            <a:solidFill>
              <a:srgbClr val="D8DAE5"/>
            </a:solidFill>
            <a:prstDash val="solid"/>
          </a:ln>
        </p:spPr>
      </p:sp>
      <p:sp>
        <p:nvSpPr>
          <p:cNvPr id="41" name="Text 38">
            <a:extLst xmlns:a="http://schemas.openxmlformats.org/drawingml/2006/main">
              <a:ext uri="{FF2B5EF4-FFF2-40B4-BE49-F238E27FC236}">
                <a16:creationId xmlns:a16="http://schemas.microsoft.com/office/drawing/2014/main" id="{6F4EEB65-0BF1-4586-B159-BF2DFB3D8E42}"/>
              </a:ext>
            </a:extLst>
          </p:cNvPr>
          <p:cNvSpPr>
            <a:spLocks xmlns:a="http://schemas.openxmlformats.org/drawingml/2006/main" noGrp="1"/>
          </p:cNvSpPr>
          <p:nvPr/>
        </p:nvSpPr>
        <p:spPr>
          <a:xfrm xmlns:a="http://schemas.openxmlformats.org/drawingml/2006/main">
            <a:off x="731520" y="5376672"/>
            <a:ext cx="23317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40C54"/>
                </a:solidFill>
                <a:latin typeface="Calibri"/>
                <a:ea typeface="Calibri"/>
                <a:cs typeface="Calibri"/>
              </a:rPr>
              <a:t>Send a notification</a:t>
            </a:r>
            <a:endParaRPr sz="1050"/>
          </a:p>
        </p:txBody>
      </p:sp>
      <p:sp>
        <p:nvSpPr>
          <p:cNvPr id="42" name="Text 39">
            <a:extLst xmlns:a="http://schemas.openxmlformats.org/drawingml/2006/main">
              <a:ext uri="{FF2B5EF4-FFF2-40B4-BE49-F238E27FC236}">
                <a16:creationId xmlns:a16="http://schemas.microsoft.com/office/drawing/2014/main" id="{6663AA8C-4E7D-4E01-8E2A-451CDDD45161}"/>
              </a:ext>
            </a:extLst>
          </p:cNvPr>
          <p:cNvSpPr>
            <a:spLocks xmlns:a="http://schemas.openxmlformats.org/drawingml/2006/main" noGrp="1"/>
          </p:cNvSpPr>
          <p:nvPr/>
        </p:nvSpPr>
        <p:spPr>
          <a:xfrm xmlns:a="http://schemas.openxmlformats.org/drawingml/2006/main">
            <a:off x="3127248" y="5376672"/>
            <a:ext cx="169164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1E7A46"/>
                </a:solidFill>
                <a:latin typeface="Calibri"/>
                <a:ea typeface="Calibri"/>
                <a:cs typeface="Calibri"/>
              </a:rPr>
              <a:t>Yes</a:t>
            </a:r>
            <a:endParaRPr sz="1050"/>
          </a:p>
        </p:txBody>
      </p:sp>
      <p:sp>
        <p:nvSpPr>
          <p:cNvPr id="43" name="Text 40">
            <a:extLst xmlns:a="http://schemas.openxmlformats.org/drawingml/2006/main">
              <a:ext uri="{FF2B5EF4-FFF2-40B4-BE49-F238E27FC236}">
                <a16:creationId xmlns:a16="http://schemas.microsoft.com/office/drawing/2014/main" id="{F1080B27-6626-4B1D-9846-B07CC241DFE4}"/>
              </a:ext>
            </a:extLst>
          </p:cNvPr>
          <p:cNvSpPr>
            <a:spLocks xmlns:a="http://schemas.openxmlformats.org/drawingml/2006/main" noGrp="1"/>
          </p:cNvSpPr>
          <p:nvPr/>
        </p:nvSpPr>
        <p:spPr>
          <a:xfrm xmlns:a="http://schemas.openxmlformats.org/drawingml/2006/main">
            <a:off x="4882896" y="5376672"/>
            <a:ext cx="65379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1A1A2E"/>
                </a:solidFill>
                <a:latin typeface="Calibri"/>
                <a:ea typeface="Calibri"/>
                <a:cs typeface="Calibri"/>
              </a:rPr>
              <a:t>The worker re-reads the database, so a stale intention is superseded.</a:t>
            </a:r>
            <a:endParaRPr sz="1050"/>
          </a:p>
        </p:txBody>
      </p:sp>
      <p:sp>
        <p:nvSpPr>
          <p:cNvPr id="44" name="Shape 41">
            <a:extLst xmlns:a="http://schemas.openxmlformats.org/drawingml/2006/main">
              <a:ext uri="{FF2B5EF4-FFF2-40B4-BE49-F238E27FC236}">
                <a16:creationId xmlns:a16="http://schemas.microsoft.com/office/drawing/2014/main" id="{65CB8149-A6EB-4B02-85CD-9CF579DC3294}"/>
              </a:ext>
            </a:extLst>
          </p:cNvPr>
          <p:cNvSpPr>
            <a:spLocks xmlns:a="http://schemas.openxmlformats.org/drawingml/2006/main" noGrp="1"/>
          </p:cNvSpPr>
          <p:nvPr/>
        </p:nvSpPr>
        <p:spPr>
          <a:xfrm xmlns:a="http://schemas.openxmlformats.org/drawingml/2006/main">
            <a:off x="566928" y="5742432"/>
            <a:ext cx="11055096" cy="310896"/>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6350">
            <a:solidFill>
              <a:srgbClr val="D8DAE5"/>
            </a:solidFill>
            <a:prstDash val="solid"/>
          </a:ln>
        </p:spPr>
      </p:sp>
      <p:sp>
        <p:nvSpPr>
          <p:cNvPr id="45" name="Text 42">
            <a:extLst xmlns:a="http://schemas.openxmlformats.org/drawingml/2006/main">
              <a:ext uri="{FF2B5EF4-FFF2-40B4-BE49-F238E27FC236}">
                <a16:creationId xmlns:a16="http://schemas.microsoft.com/office/drawing/2014/main" id="{5E515AE1-CF70-45D7-920C-CCA20CB1F3DC}"/>
              </a:ext>
            </a:extLst>
          </p:cNvPr>
          <p:cNvSpPr>
            <a:spLocks xmlns:a="http://schemas.openxmlformats.org/drawingml/2006/main" noGrp="1"/>
          </p:cNvSpPr>
          <p:nvPr/>
        </p:nvSpPr>
        <p:spPr>
          <a:xfrm xmlns:a="http://schemas.openxmlformats.org/drawingml/2006/main">
            <a:off x="731520" y="5742432"/>
            <a:ext cx="23317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40C54"/>
                </a:solidFill>
                <a:latin typeface="Calibri"/>
                <a:ea typeface="Calibri"/>
                <a:cs typeface="Calibri"/>
              </a:rPr>
              <a:t>Apply a migration</a:t>
            </a:r>
            <a:endParaRPr sz="1050"/>
          </a:p>
        </p:txBody>
      </p:sp>
      <p:sp>
        <p:nvSpPr>
          <p:cNvPr id="46" name="Text 43">
            <a:extLst xmlns:a="http://schemas.openxmlformats.org/drawingml/2006/main">
              <a:ext uri="{FF2B5EF4-FFF2-40B4-BE49-F238E27FC236}">
                <a16:creationId xmlns:a16="http://schemas.microsoft.com/office/drawing/2014/main" id="{E3728506-BDD1-4DF5-A02C-50F4F2029E5D}"/>
              </a:ext>
            </a:extLst>
          </p:cNvPr>
          <p:cNvSpPr>
            <a:spLocks xmlns:a="http://schemas.openxmlformats.org/drawingml/2006/main" noGrp="1"/>
          </p:cNvSpPr>
          <p:nvPr/>
        </p:nvSpPr>
        <p:spPr>
          <a:xfrm xmlns:a="http://schemas.openxmlformats.org/drawingml/2006/main">
            <a:off x="3127248" y="5742432"/>
            <a:ext cx="169164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1E7A46"/>
                </a:solidFill>
                <a:latin typeface="Calibri"/>
                <a:ea typeface="Calibri"/>
                <a:cs typeface="Calibri"/>
              </a:rPr>
              <a:t>Yes</a:t>
            </a:r>
            <a:endParaRPr sz="1050"/>
          </a:p>
        </p:txBody>
      </p:sp>
      <p:sp>
        <p:nvSpPr>
          <p:cNvPr id="47" name="Text 44">
            <a:extLst xmlns:a="http://schemas.openxmlformats.org/drawingml/2006/main">
              <a:ext uri="{FF2B5EF4-FFF2-40B4-BE49-F238E27FC236}">
                <a16:creationId xmlns:a16="http://schemas.microsoft.com/office/drawing/2014/main" id="{644104D7-83F3-4F59-B15C-5A7170551416}"/>
              </a:ext>
            </a:extLst>
          </p:cNvPr>
          <p:cNvSpPr>
            <a:spLocks xmlns:a="http://schemas.openxmlformats.org/drawingml/2006/main" noGrp="1"/>
          </p:cNvSpPr>
          <p:nvPr/>
        </p:nvSpPr>
        <p:spPr>
          <a:xfrm xmlns:a="http://schemas.openxmlformats.org/drawingml/2006/main">
            <a:off x="4882896" y="5742432"/>
            <a:ext cx="65379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1A1A2E"/>
                </a:solidFill>
                <a:latin typeface="Calibri"/>
                <a:ea typeface="Calibri"/>
                <a:cs typeface="Calibri"/>
              </a:rPr>
              <a:t>Recorded once, and CI refuses a commit that edits an applied one.</a:t>
            </a:r>
            <a:endParaRPr sz="1050"/>
          </a:p>
        </p:txBody>
      </p:sp>
      <p:sp>
        <p:nvSpPr>
          <p:cNvPr id="48" name="Text 45">
            <a:extLst xmlns:a="http://schemas.openxmlformats.org/drawingml/2006/main">
              <a:ext uri="{FF2B5EF4-FFF2-40B4-BE49-F238E27FC236}">
                <a16:creationId xmlns:a16="http://schemas.microsoft.com/office/drawing/2014/main" id="{5C9F99A2-2176-4713-8F32-945A5D7ADE1C}"/>
              </a:ext>
            </a:extLst>
          </p:cNvPr>
          <p:cNvSpPr>
            <a:spLocks xmlns:a="http://schemas.openxmlformats.org/drawingml/2006/main" noGrp="1"/>
          </p:cNvSpPr>
          <p:nvPr/>
        </p:nvSpPr>
        <p:spPr>
          <a:xfrm xmlns:a="http://schemas.openxmlformats.org/drawingml/2006/main">
            <a:off x="566928" y="6163056"/>
            <a:ext cx="11055096"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i="1">
                <a:solidFill>
                  <a:srgbClr val="5B5B6B"/>
                </a:solidFill>
                <a:latin typeface="Calibri"/>
                <a:ea typeface="Calibri"/>
                <a:cs typeface="Calibri"/>
              </a:rPr>
              <a:t>Every figure and every row above was exercised against the production database before this slide was written.</a:t>
            </a:r>
            <a:endParaRPr sz="1000"/>
          </a:p>
        </p:txBody>
      </p:sp>
    </p:spTree>
    <p:extLst>
      <p:ext uri="{BB962C8B-B14F-4D97-AF65-F5344CB8AC3E}">
        <p14:creationId xmlns:p14="http://schemas.microsoft.com/office/powerpoint/2010/main" val="1928051792"/>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B3D7AF7-01A2-44EE-9288-1F1994F35D61}"/>
              </a:ext>
            </a:extLst>
          </p:cNvPr>
          <p:cNvSpPr>
            <a:spLocks xmlns:a="http://schemas.openxmlformats.org/drawingml/2006/main" noGrp="1"/>
          </p:cNvSpPr>
          <p:nvPr/>
        </p:nvSpPr>
        <p:spPr>
          <a:xfrm xmlns:a="http://schemas.openxmlformats.org/drawingml/2006/main">
            <a:off x="566928" y="384048"/>
            <a:ext cx="82296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20">
                <a:solidFill>
                  <a:srgbClr val="E4B454"/>
                </a:solidFill>
                <a:latin typeface="Calibri"/>
                <a:ea typeface="Calibri"/>
                <a:cs typeface="Calibri"/>
              </a:rPr>
              <a:t>SECURITY</a:t>
            </a:r>
            <a:endParaRPr sz="1100"/>
          </a:p>
        </p:txBody>
      </p:sp>
      <p:sp>
        <p:nvSpPr>
          <p:cNvPr id="3" name="Text 1">
            <a:extLst xmlns:a="http://schemas.openxmlformats.org/drawingml/2006/main">
              <a:ext uri="{FF2B5EF4-FFF2-40B4-BE49-F238E27FC236}">
                <a16:creationId xmlns:a16="http://schemas.microsoft.com/office/drawing/2014/main" id="{907ACBBE-5F59-4134-B07C-7DEE852247CA}"/>
              </a:ext>
            </a:extLst>
          </p:cNvPr>
          <p:cNvSpPr>
            <a:spLocks xmlns:a="http://schemas.openxmlformats.org/drawingml/2006/main" noGrp="1"/>
          </p:cNvSpPr>
          <p:nvPr/>
        </p:nvSpPr>
        <p:spPr>
          <a:xfrm xmlns:a="http://schemas.openxmlformats.org/drawingml/2006/main">
            <a:off x="566928" y="640080"/>
            <a:ext cx="96926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40C54"/>
                </a:solidFill>
                <a:latin typeface="Cambria"/>
                <a:ea typeface="Cambria"/>
                <a:cs typeface="Cambria"/>
              </a:rPr>
              <a:t>Security decisions we can defend</a:t>
            </a:r>
            <a:endParaRPr sz="3000"/>
          </a:p>
        </p:txBody>
      </p:sp>
      <p:pic>
        <p:nvPicPr>
          <p:cNvPr id="39" name="Image 0"/>
          <p:cNvPicPr>
            <a:picLocks xmlns:a="http://schemas.openxmlformats.org/drawingml/2006/main" noChangeAspect="1"/>
          </p:cNvPicPr>
          <p:nvPr/>
        </p:nvPicPr>
        <p:blipFill>
          <a:blip xmlns:r="http://schemas.openxmlformats.org/officeDocument/2006/relationships" xmlns:a="http://schemas.openxmlformats.org/drawingml/2006/main" r:embed="R06ca665baaf54e42"/>
          <a:stretch xmlns:a="http://schemas.openxmlformats.org/drawingml/2006/main">
            <a:fillRect l="0" t="0" r="0" b="0"/>
          </a:stretch>
        </p:blipFill>
        <p:spPr>
          <a:xfrm xmlns:a="http://schemas.openxmlformats.org/drawingml/2006/main">
            <a:off x="11149279" y="365760"/>
            <a:ext cx="475488" cy="466344"/>
          </a:xfrm>
          <a:prstGeom xmlns:a="http://schemas.openxmlformats.org/drawingml/2006/main" prst="rect">
            <a:avLst/>
          </a:prstGeom>
        </p:spPr>
      </p:pic>
      <p:sp>
        <p:nvSpPr>
          <p:cNvPr id="5" name="Text 2">
            <a:extLst xmlns:a="http://schemas.openxmlformats.org/drawingml/2006/main">
              <a:ext uri="{FF2B5EF4-FFF2-40B4-BE49-F238E27FC236}">
                <a16:creationId xmlns:a16="http://schemas.microsoft.com/office/drawing/2014/main" id="{EBF50761-C650-452C-AA0D-D8BE8777570D}"/>
              </a:ext>
            </a:extLst>
          </p:cNvPr>
          <p:cNvSpPr>
            <a:spLocks xmlns:a="http://schemas.openxmlformats.org/drawingml/2006/main" noGrp="1"/>
          </p:cNvSpPr>
          <p:nvPr/>
        </p:nvSpPr>
        <p:spPr>
          <a:xfrm xmlns:a="http://schemas.openxmlformats.org/drawingml/2006/main">
            <a:off x="11149279" y="6382512"/>
            <a:ext cx="475488"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000">
                <a:solidFill>
                  <a:srgbClr val="5B5B6B"/>
                </a:solidFill>
                <a:latin typeface="Calibri"/>
                <a:ea typeface="Calibri"/>
                <a:cs typeface="Calibri"/>
              </a:rPr>
              <a:t>12</a:t>
            </a:r>
            <a:endParaRPr sz="1000"/>
          </a:p>
        </p:txBody>
      </p:sp>
      <p:sp>
        <p:nvSpPr>
          <p:cNvPr id="6" name="Shape 3">
            <a:extLst xmlns:a="http://schemas.openxmlformats.org/drawingml/2006/main">
              <a:ext uri="{FF2B5EF4-FFF2-40B4-BE49-F238E27FC236}">
                <a16:creationId xmlns:a16="http://schemas.microsoft.com/office/drawing/2014/main" id="{61137C6D-0F5A-4622-BFD6-D3F0EB11028D}"/>
              </a:ext>
            </a:extLst>
          </p:cNvPr>
          <p:cNvSpPr>
            <a:spLocks xmlns:a="http://schemas.openxmlformats.org/drawingml/2006/main" noGrp="1"/>
          </p:cNvSpPr>
          <p:nvPr/>
        </p:nvSpPr>
        <p:spPr>
          <a:xfrm xmlns:a="http://schemas.openxmlformats.org/drawingml/2006/main">
            <a:off x="566928" y="1335024"/>
            <a:ext cx="5413248" cy="1298448"/>
          </a:xfrm>
          <a:prstGeom xmlns:a="http://schemas.openxmlformats.org/drawingml/2006/main" prst="roundRect">
            <a:avLst>
              <a:gd name="adj" fmla="val 4930"/>
            </a:avLst>
          </a:prstGeom>
          <a:solidFill xmlns:a="http://schemas.openxmlformats.org/drawingml/2006/main">
            <a:srgbClr val="F4F5F9"/>
          </a:solidFill>
          <a:ln xmlns:a="http://schemas.openxmlformats.org/drawingml/2006/main" w="9525">
            <a:solidFill>
              <a:srgbClr val="D8DAE5"/>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7" name="Shape 4">
            <a:extLst xmlns:a="http://schemas.openxmlformats.org/drawingml/2006/main">
              <a:ext uri="{FF2B5EF4-FFF2-40B4-BE49-F238E27FC236}">
                <a16:creationId xmlns:a16="http://schemas.microsoft.com/office/drawing/2014/main" id="{6F0D1203-41E2-4FE7-8497-9DC415EFD459}"/>
              </a:ext>
            </a:extLst>
          </p:cNvPr>
          <p:cNvSpPr>
            <a:spLocks xmlns:a="http://schemas.openxmlformats.org/drawingml/2006/main" noGrp="1"/>
          </p:cNvSpPr>
          <p:nvPr/>
        </p:nvSpPr>
        <p:spPr>
          <a:xfrm xmlns:a="http://schemas.openxmlformats.org/drawingml/2006/main">
            <a:off x="768096" y="1517904"/>
            <a:ext cx="310896" cy="310896"/>
          </a:xfrm>
          <a:prstGeom xmlns:a="http://schemas.openxmlformats.org/drawingml/2006/main" prst="ellipse">
            <a:avLst/>
          </a:prstGeom>
          <a:solidFill xmlns:a="http://schemas.openxmlformats.org/drawingml/2006/main">
            <a:srgbClr val="240C54"/>
          </a:solidFill>
          <a:ln xmlns:a="http://schemas.openxmlformats.org/drawingml/2006/main" w="12700">
            <a:solidFill>
              <a:srgbClr val="240C54"/>
            </a:solidFill>
            <a:prstDash val="solid"/>
          </a:ln>
        </p:spPr>
      </p:sp>
      <p:sp>
        <p:nvSpPr>
          <p:cNvPr id="8" name="Text 5">
            <a:extLst xmlns:a="http://schemas.openxmlformats.org/drawingml/2006/main">
              <a:ext uri="{FF2B5EF4-FFF2-40B4-BE49-F238E27FC236}">
                <a16:creationId xmlns:a16="http://schemas.microsoft.com/office/drawing/2014/main" id="{315E443A-F1EF-4501-A105-A4F3DCE2EDC8}"/>
              </a:ext>
            </a:extLst>
          </p:cNvPr>
          <p:cNvSpPr>
            <a:spLocks xmlns:a="http://schemas.openxmlformats.org/drawingml/2006/main" noGrp="1"/>
          </p:cNvSpPr>
          <p:nvPr/>
        </p:nvSpPr>
        <p:spPr>
          <a:xfrm xmlns:a="http://schemas.openxmlformats.org/drawingml/2006/main">
            <a:off x="768096" y="1517904"/>
            <a:ext cx="310896"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E4B454"/>
                </a:solidFill>
                <a:latin typeface="Calibri"/>
                <a:ea typeface="Calibri"/>
                <a:cs typeface="Calibri"/>
              </a:rPr>
              <a:t>1</a:t>
            </a:r>
            <a:endParaRPr sz="1300"/>
          </a:p>
        </p:txBody>
      </p:sp>
      <p:sp>
        <p:nvSpPr>
          <p:cNvPr id="9" name="Text 6">
            <a:extLst xmlns:a="http://schemas.openxmlformats.org/drawingml/2006/main">
              <a:ext uri="{FF2B5EF4-FFF2-40B4-BE49-F238E27FC236}">
                <a16:creationId xmlns:a16="http://schemas.microsoft.com/office/drawing/2014/main" id="{A2535253-0E54-4D13-A5FC-AC8A92DAD401}"/>
              </a:ext>
            </a:extLst>
          </p:cNvPr>
          <p:cNvSpPr>
            <a:spLocks xmlns:a="http://schemas.openxmlformats.org/drawingml/2006/main" noGrp="1"/>
          </p:cNvSpPr>
          <p:nvPr/>
        </p:nvSpPr>
        <p:spPr>
          <a:xfrm xmlns:a="http://schemas.openxmlformats.org/drawingml/2006/main">
            <a:off x="1170432" y="1508760"/>
            <a:ext cx="4590288"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40C54"/>
                </a:solidFill>
                <a:latin typeface="Calibri"/>
                <a:ea typeface="Calibri"/>
                <a:cs typeface="Calibri"/>
              </a:rPr>
              <a:t>Argon2id password hashing</a:t>
            </a:r>
            <a:endParaRPr sz="1350"/>
          </a:p>
        </p:txBody>
      </p:sp>
      <p:sp>
        <p:nvSpPr>
          <p:cNvPr id="10" name="Text 7">
            <a:extLst xmlns:a="http://schemas.openxmlformats.org/drawingml/2006/main">
              <a:ext uri="{FF2B5EF4-FFF2-40B4-BE49-F238E27FC236}">
                <a16:creationId xmlns:a16="http://schemas.microsoft.com/office/drawing/2014/main" id="{AC4AF347-1156-4581-997E-1AF0B1E233A8}"/>
              </a:ext>
            </a:extLst>
          </p:cNvPr>
          <p:cNvSpPr>
            <a:spLocks xmlns:a="http://schemas.openxmlformats.org/drawingml/2006/main" noGrp="1"/>
          </p:cNvSpPr>
          <p:nvPr/>
        </p:nvSpPr>
        <p:spPr>
          <a:xfrm xmlns:a="http://schemas.openxmlformats.org/drawingml/2006/main">
            <a:off x="786384" y="1901952"/>
            <a:ext cx="4974336" cy="58521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550"/>
              </a:lnSpc>
              <a:buNone/>
            </a:pPr>
            <a:r>
              <a:rPr sz="1150">
                <a:solidFill>
                  <a:srgbClr val="1A1A2E"/>
                </a:solidFill>
                <a:latin typeface="Calibri"/>
                <a:ea typeface="Calibri"/>
                <a:cs typeface="Calibri"/>
              </a:rPr>
              <a:t>Memory-hard at 64 MB with a fresh salt per password. Chosen over bcrypt because a GPU cannot parallelise it cheaply.</a:t>
            </a:r>
            <a:endParaRPr sz="1150"/>
          </a:p>
        </p:txBody>
      </p:sp>
      <p:sp>
        <p:nvSpPr>
          <p:cNvPr id="11" name="Shape 8">
            <a:extLst xmlns:a="http://schemas.openxmlformats.org/drawingml/2006/main">
              <a:ext uri="{FF2B5EF4-FFF2-40B4-BE49-F238E27FC236}">
                <a16:creationId xmlns:a16="http://schemas.microsoft.com/office/drawing/2014/main" id="{E4F30CD7-4D57-42BA-A772-3F35EBE86C4C}"/>
              </a:ext>
            </a:extLst>
          </p:cNvPr>
          <p:cNvSpPr>
            <a:spLocks xmlns:a="http://schemas.openxmlformats.org/drawingml/2006/main" noGrp="1"/>
          </p:cNvSpPr>
          <p:nvPr/>
        </p:nvSpPr>
        <p:spPr>
          <a:xfrm xmlns:a="http://schemas.openxmlformats.org/drawingml/2006/main">
            <a:off x="6199632" y="1335024"/>
            <a:ext cx="5413248" cy="1298448"/>
          </a:xfrm>
          <a:prstGeom xmlns:a="http://schemas.openxmlformats.org/drawingml/2006/main" prst="roundRect">
            <a:avLst>
              <a:gd name="adj" fmla="val 4930"/>
            </a:avLst>
          </a:prstGeom>
          <a:solidFill xmlns:a="http://schemas.openxmlformats.org/drawingml/2006/main">
            <a:srgbClr val="F4F5F9"/>
          </a:solidFill>
          <a:ln xmlns:a="http://schemas.openxmlformats.org/drawingml/2006/main" w="9525">
            <a:solidFill>
              <a:srgbClr val="D8DAE5"/>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12" name="Shape 9">
            <a:extLst xmlns:a="http://schemas.openxmlformats.org/drawingml/2006/main">
              <a:ext uri="{FF2B5EF4-FFF2-40B4-BE49-F238E27FC236}">
                <a16:creationId xmlns:a16="http://schemas.microsoft.com/office/drawing/2014/main" id="{F7761102-94F9-44A0-A113-7446AD819E71}"/>
              </a:ext>
            </a:extLst>
          </p:cNvPr>
          <p:cNvSpPr>
            <a:spLocks xmlns:a="http://schemas.openxmlformats.org/drawingml/2006/main" noGrp="1"/>
          </p:cNvSpPr>
          <p:nvPr/>
        </p:nvSpPr>
        <p:spPr>
          <a:xfrm xmlns:a="http://schemas.openxmlformats.org/drawingml/2006/main">
            <a:off x="6400800" y="1517904"/>
            <a:ext cx="310896" cy="310896"/>
          </a:xfrm>
          <a:prstGeom xmlns:a="http://schemas.openxmlformats.org/drawingml/2006/main" prst="ellipse">
            <a:avLst/>
          </a:prstGeom>
          <a:solidFill xmlns:a="http://schemas.openxmlformats.org/drawingml/2006/main">
            <a:srgbClr val="240C54"/>
          </a:solidFill>
          <a:ln xmlns:a="http://schemas.openxmlformats.org/drawingml/2006/main" w="12700">
            <a:solidFill>
              <a:srgbClr val="240C54"/>
            </a:solidFill>
            <a:prstDash val="solid"/>
          </a:ln>
        </p:spPr>
      </p:sp>
      <p:sp>
        <p:nvSpPr>
          <p:cNvPr id="13" name="Text 10">
            <a:extLst xmlns:a="http://schemas.openxmlformats.org/drawingml/2006/main">
              <a:ext uri="{FF2B5EF4-FFF2-40B4-BE49-F238E27FC236}">
                <a16:creationId xmlns:a16="http://schemas.microsoft.com/office/drawing/2014/main" id="{88749A7D-ABF9-48B6-8138-4134196AE10B}"/>
              </a:ext>
            </a:extLst>
          </p:cNvPr>
          <p:cNvSpPr>
            <a:spLocks xmlns:a="http://schemas.openxmlformats.org/drawingml/2006/main" noGrp="1"/>
          </p:cNvSpPr>
          <p:nvPr/>
        </p:nvSpPr>
        <p:spPr>
          <a:xfrm xmlns:a="http://schemas.openxmlformats.org/drawingml/2006/main">
            <a:off x="6400800" y="1517904"/>
            <a:ext cx="310896"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E4B454"/>
                </a:solidFill>
                <a:latin typeface="Calibri"/>
                <a:ea typeface="Calibri"/>
                <a:cs typeface="Calibri"/>
              </a:rPr>
              <a:t>2</a:t>
            </a:r>
            <a:endParaRPr sz="1300"/>
          </a:p>
        </p:txBody>
      </p:sp>
      <p:sp>
        <p:nvSpPr>
          <p:cNvPr id="14" name="Text 11">
            <a:extLst xmlns:a="http://schemas.openxmlformats.org/drawingml/2006/main">
              <a:ext uri="{FF2B5EF4-FFF2-40B4-BE49-F238E27FC236}">
                <a16:creationId xmlns:a16="http://schemas.microsoft.com/office/drawing/2014/main" id="{D81F645D-0434-4415-B2CC-EF052B92D7EA}"/>
              </a:ext>
            </a:extLst>
          </p:cNvPr>
          <p:cNvSpPr>
            <a:spLocks xmlns:a="http://schemas.openxmlformats.org/drawingml/2006/main" noGrp="1"/>
          </p:cNvSpPr>
          <p:nvPr/>
        </p:nvSpPr>
        <p:spPr>
          <a:xfrm xmlns:a="http://schemas.openxmlformats.org/drawingml/2006/main">
            <a:off x="6803136" y="1508760"/>
            <a:ext cx="4590288"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40C54"/>
                </a:solidFill>
                <a:latin typeface="Calibri"/>
                <a:ea typeface="Calibri"/>
                <a:cs typeface="Calibri"/>
              </a:rPr>
              <a:t>Roles checked on the server</a:t>
            </a:r>
            <a:endParaRPr sz="1350"/>
          </a:p>
        </p:txBody>
      </p:sp>
      <p:sp>
        <p:nvSpPr>
          <p:cNvPr id="15" name="Text 12">
            <a:extLst xmlns:a="http://schemas.openxmlformats.org/drawingml/2006/main">
              <a:ext uri="{FF2B5EF4-FFF2-40B4-BE49-F238E27FC236}">
                <a16:creationId xmlns:a16="http://schemas.microsoft.com/office/drawing/2014/main" id="{44C77A9C-D0F9-49BC-A65F-09FC43108E73}"/>
              </a:ext>
            </a:extLst>
          </p:cNvPr>
          <p:cNvSpPr>
            <a:spLocks xmlns:a="http://schemas.openxmlformats.org/drawingml/2006/main" noGrp="1"/>
          </p:cNvSpPr>
          <p:nvPr/>
        </p:nvSpPr>
        <p:spPr>
          <a:xfrm xmlns:a="http://schemas.openxmlformats.org/drawingml/2006/main">
            <a:off x="6419088" y="1901952"/>
            <a:ext cx="4974336" cy="58521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550"/>
              </a:lnSpc>
              <a:buNone/>
            </a:pPr>
            <a:r>
              <a:rPr sz="1150">
                <a:solidFill>
                  <a:srgbClr val="1A1A2E"/>
                </a:solidFill>
                <a:latin typeface="Calibri"/>
                <a:ea typeface="Calibri"/>
                <a:cs typeface="Calibri"/>
              </a:rPr>
              <a:t>The browser hides buttons for convenience only. Every request re-checks the role, so a crafted request gains nothing.</a:t>
            </a:r>
            <a:endParaRPr sz="1150"/>
          </a:p>
        </p:txBody>
      </p:sp>
      <p:sp>
        <p:nvSpPr>
          <p:cNvPr id="16" name="Shape 13">
            <a:extLst xmlns:a="http://schemas.openxmlformats.org/drawingml/2006/main">
              <a:ext uri="{FF2B5EF4-FFF2-40B4-BE49-F238E27FC236}">
                <a16:creationId xmlns:a16="http://schemas.microsoft.com/office/drawing/2014/main" id="{2EAD59A5-32FF-437B-8AE7-A20CC082528F}"/>
              </a:ext>
            </a:extLst>
          </p:cNvPr>
          <p:cNvSpPr>
            <a:spLocks xmlns:a="http://schemas.openxmlformats.org/drawingml/2006/main" noGrp="1"/>
          </p:cNvSpPr>
          <p:nvPr/>
        </p:nvSpPr>
        <p:spPr>
          <a:xfrm xmlns:a="http://schemas.openxmlformats.org/drawingml/2006/main">
            <a:off x="566928" y="2798064"/>
            <a:ext cx="5413248" cy="1298448"/>
          </a:xfrm>
          <a:prstGeom xmlns:a="http://schemas.openxmlformats.org/drawingml/2006/main" prst="roundRect">
            <a:avLst>
              <a:gd name="adj" fmla="val 4930"/>
            </a:avLst>
          </a:prstGeom>
          <a:solidFill xmlns:a="http://schemas.openxmlformats.org/drawingml/2006/main">
            <a:srgbClr val="F4F5F9"/>
          </a:solidFill>
          <a:ln xmlns:a="http://schemas.openxmlformats.org/drawingml/2006/main" w="9525">
            <a:solidFill>
              <a:srgbClr val="D8DAE5"/>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17" name="Shape 14">
            <a:extLst xmlns:a="http://schemas.openxmlformats.org/drawingml/2006/main">
              <a:ext uri="{FF2B5EF4-FFF2-40B4-BE49-F238E27FC236}">
                <a16:creationId xmlns:a16="http://schemas.microsoft.com/office/drawing/2014/main" id="{5E493A7D-4ADE-43DC-83AD-F00620C50EE7}"/>
              </a:ext>
            </a:extLst>
          </p:cNvPr>
          <p:cNvSpPr>
            <a:spLocks xmlns:a="http://schemas.openxmlformats.org/drawingml/2006/main" noGrp="1"/>
          </p:cNvSpPr>
          <p:nvPr/>
        </p:nvSpPr>
        <p:spPr>
          <a:xfrm xmlns:a="http://schemas.openxmlformats.org/drawingml/2006/main">
            <a:off x="768096" y="2980944"/>
            <a:ext cx="310896" cy="310896"/>
          </a:xfrm>
          <a:prstGeom xmlns:a="http://schemas.openxmlformats.org/drawingml/2006/main" prst="ellipse">
            <a:avLst/>
          </a:prstGeom>
          <a:solidFill xmlns:a="http://schemas.openxmlformats.org/drawingml/2006/main">
            <a:srgbClr val="240C54"/>
          </a:solidFill>
          <a:ln xmlns:a="http://schemas.openxmlformats.org/drawingml/2006/main" w="12700">
            <a:solidFill>
              <a:srgbClr val="240C54"/>
            </a:solidFill>
            <a:prstDash val="solid"/>
          </a:ln>
        </p:spPr>
      </p:sp>
      <p:sp>
        <p:nvSpPr>
          <p:cNvPr id="18" name="Text 15">
            <a:extLst xmlns:a="http://schemas.openxmlformats.org/drawingml/2006/main">
              <a:ext uri="{FF2B5EF4-FFF2-40B4-BE49-F238E27FC236}">
                <a16:creationId xmlns:a16="http://schemas.microsoft.com/office/drawing/2014/main" id="{7072C3E1-D5FE-4D8A-990A-93A8F6985620}"/>
              </a:ext>
            </a:extLst>
          </p:cNvPr>
          <p:cNvSpPr>
            <a:spLocks xmlns:a="http://schemas.openxmlformats.org/drawingml/2006/main" noGrp="1"/>
          </p:cNvSpPr>
          <p:nvPr/>
        </p:nvSpPr>
        <p:spPr>
          <a:xfrm xmlns:a="http://schemas.openxmlformats.org/drawingml/2006/main">
            <a:off x="768096" y="2980944"/>
            <a:ext cx="310896"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E4B454"/>
                </a:solidFill>
                <a:latin typeface="Calibri"/>
                <a:ea typeface="Calibri"/>
                <a:cs typeface="Calibri"/>
              </a:rPr>
              <a:t>3</a:t>
            </a:r>
            <a:endParaRPr sz="1300"/>
          </a:p>
        </p:txBody>
      </p:sp>
      <p:sp>
        <p:nvSpPr>
          <p:cNvPr id="19" name="Text 16">
            <a:extLst xmlns:a="http://schemas.openxmlformats.org/drawingml/2006/main">
              <a:ext uri="{FF2B5EF4-FFF2-40B4-BE49-F238E27FC236}">
                <a16:creationId xmlns:a16="http://schemas.microsoft.com/office/drawing/2014/main" id="{26C9A340-0306-4065-BA2B-DE543BD510D8}"/>
              </a:ext>
            </a:extLst>
          </p:cNvPr>
          <p:cNvSpPr>
            <a:spLocks xmlns:a="http://schemas.openxmlformats.org/drawingml/2006/main" noGrp="1"/>
          </p:cNvSpPr>
          <p:nvPr/>
        </p:nvSpPr>
        <p:spPr>
          <a:xfrm xmlns:a="http://schemas.openxmlformats.org/drawingml/2006/main">
            <a:off x="1170432" y="2971800"/>
            <a:ext cx="4590288"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40C54"/>
                </a:solidFill>
                <a:latin typeface="Calibri"/>
                <a:ea typeface="Calibri"/>
                <a:cs typeface="Calibri"/>
              </a:rPr>
              <a:t>Rate limiting on sign-in</a:t>
            </a:r>
            <a:endParaRPr sz="1350"/>
          </a:p>
        </p:txBody>
      </p:sp>
      <p:sp>
        <p:nvSpPr>
          <p:cNvPr id="20" name="Text 17">
            <a:extLst xmlns:a="http://schemas.openxmlformats.org/drawingml/2006/main">
              <a:ext uri="{FF2B5EF4-FFF2-40B4-BE49-F238E27FC236}">
                <a16:creationId xmlns:a16="http://schemas.microsoft.com/office/drawing/2014/main" id="{8FA45365-D65D-4A97-B8C8-4DD16B507729}"/>
              </a:ext>
            </a:extLst>
          </p:cNvPr>
          <p:cNvSpPr>
            <a:spLocks xmlns:a="http://schemas.openxmlformats.org/drawingml/2006/main" noGrp="1"/>
          </p:cNvSpPr>
          <p:nvPr/>
        </p:nvSpPr>
        <p:spPr>
          <a:xfrm xmlns:a="http://schemas.openxmlformats.org/drawingml/2006/main">
            <a:off x="786384" y="3364992"/>
            <a:ext cx="4974336" cy="58521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550"/>
              </a:lnSpc>
              <a:buNone/>
            </a:pPr>
            <a:r>
              <a:rPr sz="1150">
                <a:solidFill>
                  <a:srgbClr val="1A1A2E"/>
                </a:solidFill>
                <a:latin typeface="Calibri"/>
                <a:ea typeface="Calibri"/>
                <a:cs typeface="Calibri"/>
              </a:rPr>
              <a:t>Five attempts per account per minute and 120 per IP. Per-account, so one attacker cannot lock a whole faculty out.</a:t>
            </a:r>
            <a:endParaRPr sz="1150"/>
          </a:p>
        </p:txBody>
      </p:sp>
      <p:sp>
        <p:nvSpPr>
          <p:cNvPr id="21" name="Shape 18">
            <a:extLst xmlns:a="http://schemas.openxmlformats.org/drawingml/2006/main">
              <a:ext uri="{FF2B5EF4-FFF2-40B4-BE49-F238E27FC236}">
                <a16:creationId xmlns:a16="http://schemas.microsoft.com/office/drawing/2014/main" id="{12622635-460E-453D-A0D1-B3867490E050}"/>
              </a:ext>
            </a:extLst>
          </p:cNvPr>
          <p:cNvSpPr>
            <a:spLocks xmlns:a="http://schemas.openxmlformats.org/drawingml/2006/main" noGrp="1"/>
          </p:cNvSpPr>
          <p:nvPr/>
        </p:nvSpPr>
        <p:spPr>
          <a:xfrm xmlns:a="http://schemas.openxmlformats.org/drawingml/2006/main">
            <a:off x="6199632" y="2798064"/>
            <a:ext cx="5413248" cy="1298448"/>
          </a:xfrm>
          <a:prstGeom xmlns:a="http://schemas.openxmlformats.org/drawingml/2006/main" prst="roundRect">
            <a:avLst>
              <a:gd name="adj" fmla="val 4930"/>
            </a:avLst>
          </a:prstGeom>
          <a:solidFill xmlns:a="http://schemas.openxmlformats.org/drawingml/2006/main">
            <a:srgbClr val="F4F5F9"/>
          </a:solidFill>
          <a:ln xmlns:a="http://schemas.openxmlformats.org/drawingml/2006/main" w="9525">
            <a:solidFill>
              <a:srgbClr val="D8DAE5"/>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22" name="Shape 19">
            <a:extLst xmlns:a="http://schemas.openxmlformats.org/drawingml/2006/main">
              <a:ext uri="{FF2B5EF4-FFF2-40B4-BE49-F238E27FC236}">
                <a16:creationId xmlns:a16="http://schemas.microsoft.com/office/drawing/2014/main" id="{969CC377-5E68-4DD9-8409-AA7CFB4913B8}"/>
              </a:ext>
            </a:extLst>
          </p:cNvPr>
          <p:cNvSpPr>
            <a:spLocks xmlns:a="http://schemas.openxmlformats.org/drawingml/2006/main" noGrp="1"/>
          </p:cNvSpPr>
          <p:nvPr/>
        </p:nvSpPr>
        <p:spPr>
          <a:xfrm xmlns:a="http://schemas.openxmlformats.org/drawingml/2006/main">
            <a:off x="6400800" y="2980944"/>
            <a:ext cx="310896" cy="310896"/>
          </a:xfrm>
          <a:prstGeom xmlns:a="http://schemas.openxmlformats.org/drawingml/2006/main" prst="ellipse">
            <a:avLst/>
          </a:prstGeom>
          <a:solidFill xmlns:a="http://schemas.openxmlformats.org/drawingml/2006/main">
            <a:srgbClr val="240C54"/>
          </a:solidFill>
          <a:ln xmlns:a="http://schemas.openxmlformats.org/drawingml/2006/main" w="12700">
            <a:solidFill>
              <a:srgbClr val="240C54"/>
            </a:solidFill>
            <a:prstDash val="solid"/>
          </a:ln>
        </p:spPr>
      </p:sp>
      <p:sp>
        <p:nvSpPr>
          <p:cNvPr id="23" name="Text 20">
            <a:extLst xmlns:a="http://schemas.openxmlformats.org/drawingml/2006/main">
              <a:ext uri="{FF2B5EF4-FFF2-40B4-BE49-F238E27FC236}">
                <a16:creationId xmlns:a16="http://schemas.microsoft.com/office/drawing/2014/main" id="{8B69CC7A-818C-46E0-94A8-9BD839C37F47}"/>
              </a:ext>
            </a:extLst>
          </p:cNvPr>
          <p:cNvSpPr>
            <a:spLocks xmlns:a="http://schemas.openxmlformats.org/drawingml/2006/main" noGrp="1"/>
          </p:cNvSpPr>
          <p:nvPr/>
        </p:nvSpPr>
        <p:spPr>
          <a:xfrm xmlns:a="http://schemas.openxmlformats.org/drawingml/2006/main">
            <a:off x="6400800" y="2980944"/>
            <a:ext cx="310896"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E4B454"/>
                </a:solidFill>
                <a:latin typeface="Calibri"/>
                <a:ea typeface="Calibri"/>
                <a:cs typeface="Calibri"/>
              </a:rPr>
              <a:t>4</a:t>
            </a:r>
            <a:endParaRPr sz="1300"/>
          </a:p>
        </p:txBody>
      </p:sp>
      <p:sp>
        <p:nvSpPr>
          <p:cNvPr id="24" name="Text 21">
            <a:extLst xmlns:a="http://schemas.openxmlformats.org/drawingml/2006/main">
              <a:ext uri="{FF2B5EF4-FFF2-40B4-BE49-F238E27FC236}">
                <a16:creationId xmlns:a16="http://schemas.microsoft.com/office/drawing/2014/main" id="{7498D3E1-5F45-453C-888D-E58712A7A43D}"/>
              </a:ext>
            </a:extLst>
          </p:cNvPr>
          <p:cNvSpPr>
            <a:spLocks xmlns:a="http://schemas.openxmlformats.org/drawingml/2006/main" noGrp="1"/>
          </p:cNvSpPr>
          <p:nvPr/>
        </p:nvSpPr>
        <p:spPr>
          <a:xfrm xmlns:a="http://schemas.openxmlformats.org/drawingml/2006/main">
            <a:off x="6803136" y="2971800"/>
            <a:ext cx="4590288"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40C54"/>
                </a:solidFill>
                <a:latin typeface="Calibri"/>
                <a:ea typeface="Calibri"/>
                <a:cs typeface="Calibri"/>
              </a:rPr>
              <a:t>Sessions that can be revoked</a:t>
            </a:r>
            <a:endParaRPr sz="1350"/>
          </a:p>
        </p:txBody>
      </p:sp>
      <p:sp>
        <p:nvSpPr>
          <p:cNvPr id="25" name="Text 22">
            <a:extLst xmlns:a="http://schemas.openxmlformats.org/drawingml/2006/main">
              <a:ext uri="{FF2B5EF4-FFF2-40B4-BE49-F238E27FC236}">
                <a16:creationId xmlns:a16="http://schemas.microsoft.com/office/drawing/2014/main" id="{EDEFF301-E994-470D-BE9B-416C4C6154CC}"/>
              </a:ext>
            </a:extLst>
          </p:cNvPr>
          <p:cNvSpPr>
            <a:spLocks xmlns:a="http://schemas.openxmlformats.org/drawingml/2006/main" noGrp="1"/>
          </p:cNvSpPr>
          <p:nvPr/>
        </p:nvSpPr>
        <p:spPr>
          <a:xfrm xmlns:a="http://schemas.openxmlformats.org/drawingml/2006/main">
            <a:off x="6419088" y="3364992"/>
            <a:ext cx="4974336" cy="58521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550"/>
              </a:lnSpc>
              <a:buNone/>
            </a:pPr>
            <a:r>
              <a:rPr sz="1150">
                <a:solidFill>
                  <a:srgbClr val="1A1A2E"/>
                </a:solidFill>
                <a:latin typeface="Calibri"/>
                <a:ea typeface="Calibri"/>
                <a:cs typeface="Calibri"/>
              </a:rPr>
              <a:t>Refresh tokens are stored hashed and rotated on use. A password change voids every session issued before it.</a:t>
            </a:r>
            <a:endParaRPr sz="1150"/>
          </a:p>
        </p:txBody>
      </p:sp>
      <p:sp>
        <p:nvSpPr>
          <p:cNvPr id="26" name="Shape 23">
            <a:extLst xmlns:a="http://schemas.openxmlformats.org/drawingml/2006/main">
              <a:ext uri="{FF2B5EF4-FFF2-40B4-BE49-F238E27FC236}">
                <a16:creationId xmlns:a16="http://schemas.microsoft.com/office/drawing/2014/main" id="{7155E501-92F8-4ABA-B6BF-B3A5F103A88E}"/>
              </a:ext>
            </a:extLst>
          </p:cNvPr>
          <p:cNvSpPr>
            <a:spLocks xmlns:a="http://schemas.openxmlformats.org/drawingml/2006/main" noGrp="1"/>
          </p:cNvSpPr>
          <p:nvPr/>
        </p:nvSpPr>
        <p:spPr>
          <a:xfrm xmlns:a="http://schemas.openxmlformats.org/drawingml/2006/main">
            <a:off x="566928" y="4261104"/>
            <a:ext cx="5413248" cy="1298448"/>
          </a:xfrm>
          <a:prstGeom xmlns:a="http://schemas.openxmlformats.org/drawingml/2006/main" prst="roundRect">
            <a:avLst>
              <a:gd name="adj" fmla="val 4930"/>
            </a:avLst>
          </a:prstGeom>
          <a:solidFill xmlns:a="http://schemas.openxmlformats.org/drawingml/2006/main">
            <a:srgbClr val="F4F5F9"/>
          </a:solidFill>
          <a:ln xmlns:a="http://schemas.openxmlformats.org/drawingml/2006/main" w="9525">
            <a:solidFill>
              <a:srgbClr val="D8DAE5"/>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27" name="Shape 24">
            <a:extLst xmlns:a="http://schemas.openxmlformats.org/drawingml/2006/main">
              <a:ext uri="{FF2B5EF4-FFF2-40B4-BE49-F238E27FC236}">
                <a16:creationId xmlns:a16="http://schemas.microsoft.com/office/drawing/2014/main" id="{67B833C8-AE6A-4251-890A-968672048045}"/>
              </a:ext>
            </a:extLst>
          </p:cNvPr>
          <p:cNvSpPr>
            <a:spLocks xmlns:a="http://schemas.openxmlformats.org/drawingml/2006/main" noGrp="1"/>
          </p:cNvSpPr>
          <p:nvPr/>
        </p:nvSpPr>
        <p:spPr>
          <a:xfrm xmlns:a="http://schemas.openxmlformats.org/drawingml/2006/main">
            <a:off x="768096" y="4443984"/>
            <a:ext cx="310896" cy="310896"/>
          </a:xfrm>
          <a:prstGeom xmlns:a="http://schemas.openxmlformats.org/drawingml/2006/main" prst="ellipse">
            <a:avLst/>
          </a:prstGeom>
          <a:solidFill xmlns:a="http://schemas.openxmlformats.org/drawingml/2006/main">
            <a:srgbClr val="240C54"/>
          </a:solidFill>
          <a:ln xmlns:a="http://schemas.openxmlformats.org/drawingml/2006/main" w="12700">
            <a:solidFill>
              <a:srgbClr val="240C54"/>
            </a:solidFill>
            <a:prstDash val="solid"/>
          </a:ln>
        </p:spPr>
      </p:sp>
      <p:sp>
        <p:nvSpPr>
          <p:cNvPr id="28" name="Text 25">
            <a:extLst xmlns:a="http://schemas.openxmlformats.org/drawingml/2006/main">
              <a:ext uri="{FF2B5EF4-FFF2-40B4-BE49-F238E27FC236}">
                <a16:creationId xmlns:a16="http://schemas.microsoft.com/office/drawing/2014/main" id="{8C894BDC-FE75-4470-9634-972807453CB0}"/>
              </a:ext>
            </a:extLst>
          </p:cNvPr>
          <p:cNvSpPr>
            <a:spLocks xmlns:a="http://schemas.openxmlformats.org/drawingml/2006/main" noGrp="1"/>
          </p:cNvSpPr>
          <p:nvPr/>
        </p:nvSpPr>
        <p:spPr>
          <a:xfrm xmlns:a="http://schemas.openxmlformats.org/drawingml/2006/main">
            <a:off x="768096" y="4443984"/>
            <a:ext cx="310896"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E4B454"/>
                </a:solidFill>
                <a:latin typeface="Calibri"/>
                <a:ea typeface="Calibri"/>
                <a:cs typeface="Calibri"/>
              </a:rPr>
              <a:t>5</a:t>
            </a:r>
            <a:endParaRPr sz="1300"/>
          </a:p>
        </p:txBody>
      </p:sp>
      <p:sp>
        <p:nvSpPr>
          <p:cNvPr id="29" name="Text 26">
            <a:extLst xmlns:a="http://schemas.openxmlformats.org/drawingml/2006/main">
              <a:ext uri="{FF2B5EF4-FFF2-40B4-BE49-F238E27FC236}">
                <a16:creationId xmlns:a16="http://schemas.microsoft.com/office/drawing/2014/main" id="{4AB88A3C-3114-4DC0-A165-23F8C9AE64D9}"/>
              </a:ext>
            </a:extLst>
          </p:cNvPr>
          <p:cNvSpPr>
            <a:spLocks xmlns:a="http://schemas.openxmlformats.org/drawingml/2006/main" noGrp="1"/>
          </p:cNvSpPr>
          <p:nvPr/>
        </p:nvSpPr>
        <p:spPr>
          <a:xfrm xmlns:a="http://schemas.openxmlformats.org/drawingml/2006/main">
            <a:off x="1170432" y="4434840"/>
            <a:ext cx="4590288"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40C54"/>
                </a:solidFill>
                <a:latin typeface="Calibri"/>
                <a:ea typeface="Calibri"/>
                <a:cs typeface="Calibri"/>
              </a:rPr>
              <a:t>Parameterised SQL throughout</a:t>
            </a:r>
            <a:endParaRPr sz="1350"/>
          </a:p>
        </p:txBody>
      </p:sp>
      <p:sp>
        <p:nvSpPr>
          <p:cNvPr id="30" name="Text 27">
            <a:extLst xmlns:a="http://schemas.openxmlformats.org/drawingml/2006/main">
              <a:ext uri="{FF2B5EF4-FFF2-40B4-BE49-F238E27FC236}">
                <a16:creationId xmlns:a16="http://schemas.microsoft.com/office/drawing/2014/main" id="{36EE6743-60E6-4F38-A668-4D5E4D0B72F1}"/>
              </a:ext>
            </a:extLst>
          </p:cNvPr>
          <p:cNvSpPr>
            <a:spLocks xmlns:a="http://schemas.openxmlformats.org/drawingml/2006/main" noGrp="1"/>
          </p:cNvSpPr>
          <p:nvPr/>
        </p:nvSpPr>
        <p:spPr>
          <a:xfrm xmlns:a="http://schemas.openxmlformats.org/drawingml/2006/main">
            <a:off x="786384" y="4828032"/>
            <a:ext cx="4974336" cy="58521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550"/>
              </a:lnSpc>
              <a:buNone/>
            </a:pPr>
            <a:r>
              <a:rPr sz="1150">
                <a:solidFill>
                  <a:srgbClr val="1A1A2E"/>
                </a:solidFill>
                <a:latin typeface="Calibri"/>
                <a:ea typeface="Calibri"/>
                <a:cs typeface="Calibri"/>
              </a:rPr>
              <a:t>No query is built by joining strings, so a title containing a quote is data and never becomes syntax.</a:t>
            </a:r>
            <a:endParaRPr sz="1150"/>
          </a:p>
        </p:txBody>
      </p:sp>
      <p:sp>
        <p:nvSpPr>
          <p:cNvPr id="31" name="Shape 28">
            <a:extLst xmlns:a="http://schemas.openxmlformats.org/drawingml/2006/main">
              <a:ext uri="{FF2B5EF4-FFF2-40B4-BE49-F238E27FC236}">
                <a16:creationId xmlns:a16="http://schemas.microsoft.com/office/drawing/2014/main" id="{895F8ED0-208D-4175-93DB-E5BB430E3CD9}"/>
              </a:ext>
            </a:extLst>
          </p:cNvPr>
          <p:cNvSpPr>
            <a:spLocks xmlns:a="http://schemas.openxmlformats.org/drawingml/2006/main" noGrp="1"/>
          </p:cNvSpPr>
          <p:nvPr/>
        </p:nvSpPr>
        <p:spPr>
          <a:xfrm xmlns:a="http://schemas.openxmlformats.org/drawingml/2006/main">
            <a:off x="6199632" y="4261104"/>
            <a:ext cx="5413248" cy="1298448"/>
          </a:xfrm>
          <a:prstGeom xmlns:a="http://schemas.openxmlformats.org/drawingml/2006/main" prst="roundRect">
            <a:avLst>
              <a:gd name="adj" fmla="val 4930"/>
            </a:avLst>
          </a:prstGeom>
          <a:solidFill xmlns:a="http://schemas.openxmlformats.org/drawingml/2006/main">
            <a:srgbClr val="F4F5F9"/>
          </a:solidFill>
          <a:ln xmlns:a="http://schemas.openxmlformats.org/drawingml/2006/main" w="9525">
            <a:solidFill>
              <a:srgbClr val="D8DAE5"/>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32" name="Shape 29">
            <a:extLst xmlns:a="http://schemas.openxmlformats.org/drawingml/2006/main">
              <a:ext uri="{FF2B5EF4-FFF2-40B4-BE49-F238E27FC236}">
                <a16:creationId xmlns:a16="http://schemas.microsoft.com/office/drawing/2014/main" id="{75BE1240-CF4F-4D83-87E3-9D04128A1687}"/>
              </a:ext>
            </a:extLst>
          </p:cNvPr>
          <p:cNvSpPr>
            <a:spLocks xmlns:a="http://schemas.openxmlformats.org/drawingml/2006/main" noGrp="1"/>
          </p:cNvSpPr>
          <p:nvPr/>
        </p:nvSpPr>
        <p:spPr>
          <a:xfrm xmlns:a="http://schemas.openxmlformats.org/drawingml/2006/main">
            <a:off x="6400800" y="4443984"/>
            <a:ext cx="310896" cy="310896"/>
          </a:xfrm>
          <a:prstGeom xmlns:a="http://schemas.openxmlformats.org/drawingml/2006/main" prst="ellipse">
            <a:avLst/>
          </a:prstGeom>
          <a:solidFill xmlns:a="http://schemas.openxmlformats.org/drawingml/2006/main">
            <a:srgbClr val="240C54"/>
          </a:solidFill>
          <a:ln xmlns:a="http://schemas.openxmlformats.org/drawingml/2006/main" w="12700">
            <a:solidFill>
              <a:srgbClr val="240C54"/>
            </a:solidFill>
            <a:prstDash val="solid"/>
          </a:ln>
        </p:spPr>
      </p:sp>
      <p:sp>
        <p:nvSpPr>
          <p:cNvPr id="33" name="Text 30">
            <a:extLst xmlns:a="http://schemas.openxmlformats.org/drawingml/2006/main">
              <a:ext uri="{FF2B5EF4-FFF2-40B4-BE49-F238E27FC236}">
                <a16:creationId xmlns:a16="http://schemas.microsoft.com/office/drawing/2014/main" id="{AB529589-5957-400D-AD8C-D84187431A33}"/>
              </a:ext>
            </a:extLst>
          </p:cNvPr>
          <p:cNvSpPr>
            <a:spLocks xmlns:a="http://schemas.openxmlformats.org/drawingml/2006/main" noGrp="1"/>
          </p:cNvSpPr>
          <p:nvPr/>
        </p:nvSpPr>
        <p:spPr>
          <a:xfrm xmlns:a="http://schemas.openxmlformats.org/drawingml/2006/main">
            <a:off x="6400800" y="4443984"/>
            <a:ext cx="310896"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E4B454"/>
                </a:solidFill>
                <a:latin typeface="Calibri"/>
                <a:ea typeface="Calibri"/>
                <a:cs typeface="Calibri"/>
              </a:rPr>
              <a:t>6</a:t>
            </a:r>
            <a:endParaRPr sz="1300"/>
          </a:p>
        </p:txBody>
      </p:sp>
      <p:sp>
        <p:nvSpPr>
          <p:cNvPr id="34" name="Text 31">
            <a:extLst xmlns:a="http://schemas.openxmlformats.org/drawingml/2006/main">
              <a:ext uri="{FF2B5EF4-FFF2-40B4-BE49-F238E27FC236}">
                <a16:creationId xmlns:a16="http://schemas.microsoft.com/office/drawing/2014/main" id="{BC2F0C0D-0C23-4858-9C43-04073B2DD2C0}"/>
              </a:ext>
            </a:extLst>
          </p:cNvPr>
          <p:cNvSpPr>
            <a:spLocks xmlns:a="http://schemas.openxmlformats.org/drawingml/2006/main" noGrp="1"/>
          </p:cNvSpPr>
          <p:nvPr/>
        </p:nvSpPr>
        <p:spPr>
          <a:xfrm xmlns:a="http://schemas.openxmlformats.org/drawingml/2006/main">
            <a:off x="6803136" y="4434840"/>
            <a:ext cx="4590288"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40C54"/>
                </a:solidFill>
                <a:latin typeface="Calibri"/>
                <a:ea typeface="Calibri"/>
                <a:cs typeface="Calibri"/>
              </a:rPr>
              <a:t>Secrets never in the repository</a:t>
            </a:r>
            <a:endParaRPr sz="1350"/>
          </a:p>
        </p:txBody>
      </p:sp>
      <p:sp>
        <p:nvSpPr>
          <p:cNvPr id="35" name="Text 32">
            <a:extLst xmlns:a="http://schemas.openxmlformats.org/drawingml/2006/main">
              <a:ext uri="{FF2B5EF4-FFF2-40B4-BE49-F238E27FC236}">
                <a16:creationId xmlns:a16="http://schemas.microsoft.com/office/drawing/2014/main" id="{5322A51E-7500-4DFC-914F-DF34730B4AC7}"/>
              </a:ext>
            </a:extLst>
          </p:cNvPr>
          <p:cNvSpPr>
            <a:spLocks xmlns:a="http://schemas.openxmlformats.org/drawingml/2006/main" noGrp="1"/>
          </p:cNvSpPr>
          <p:nvPr/>
        </p:nvSpPr>
        <p:spPr>
          <a:xfrm xmlns:a="http://schemas.openxmlformats.org/drawingml/2006/main">
            <a:off x="6419088" y="4828032"/>
            <a:ext cx="4974336" cy="58521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550"/>
              </a:lnSpc>
              <a:buNone/>
            </a:pPr>
            <a:r>
              <a:rPr sz="1150">
                <a:solidFill>
                  <a:srgbClr val="1A1A2E"/>
                </a:solidFill>
                <a:latin typeface="Calibri"/>
                <a:ea typeface="Calibri"/>
                <a:cs typeface="Calibri"/>
              </a:rPr>
              <a:t>Configuration comes from the environment. The repository has been checked, and holds no key.</a:t>
            </a:r>
            <a:endParaRPr sz="1150"/>
          </a:p>
        </p:txBody>
      </p:sp>
    </p:spTree>
    <p:extLst>
      <p:ext uri="{BB962C8B-B14F-4D97-AF65-F5344CB8AC3E}">
        <p14:creationId xmlns:p14="http://schemas.microsoft.com/office/powerpoint/2010/main" val="2123965396"/>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F5228AFD-F3C4-4B30-ABD8-F40D8DEB5211}"/>
              </a:ext>
            </a:extLst>
          </p:cNvPr>
          <p:cNvSpPr>
            <a:spLocks xmlns:a="http://schemas.openxmlformats.org/drawingml/2006/main" noGrp="1"/>
          </p:cNvSpPr>
          <p:nvPr/>
        </p:nvSpPr>
        <p:spPr>
          <a:xfrm xmlns:a="http://schemas.openxmlformats.org/drawingml/2006/main">
            <a:off x="566928" y="384048"/>
            <a:ext cx="82296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20">
                <a:solidFill>
                  <a:srgbClr val="E4B454"/>
                </a:solidFill>
                <a:latin typeface="Calibri"/>
                <a:ea typeface="Calibri"/>
                <a:cs typeface="Calibri"/>
              </a:rPr>
              <a:t>TIME AND PERFORMANCE</a:t>
            </a:r>
            <a:endParaRPr sz="1100"/>
          </a:p>
        </p:txBody>
      </p:sp>
      <p:sp>
        <p:nvSpPr>
          <p:cNvPr id="3" name="Text 1">
            <a:extLst xmlns:a="http://schemas.openxmlformats.org/drawingml/2006/main">
              <a:ext uri="{FF2B5EF4-FFF2-40B4-BE49-F238E27FC236}">
                <a16:creationId xmlns:a16="http://schemas.microsoft.com/office/drawing/2014/main" id="{AC9A8101-2DC7-4A43-90D1-4F3739EAA278}"/>
              </a:ext>
            </a:extLst>
          </p:cNvPr>
          <p:cNvSpPr>
            <a:spLocks xmlns:a="http://schemas.openxmlformats.org/drawingml/2006/main" noGrp="1"/>
          </p:cNvSpPr>
          <p:nvPr/>
        </p:nvSpPr>
        <p:spPr>
          <a:xfrm xmlns:a="http://schemas.openxmlformats.org/drawingml/2006/main">
            <a:off x="566928" y="640080"/>
            <a:ext cx="96926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40C54"/>
                </a:solidFill>
                <a:latin typeface="Cambria"/>
                <a:ea typeface="Cambria"/>
                <a:cs typeface="Cambria"/>
              </a:rPr>
              <a:t>Two problems that only appear at scale</a:t>
            </a:r>
            <a:endParaRPr sz="3000"/>
          </a:p>
        </p:txBody>
      </p:sp>
      <p:pic>
        <p:nvPicPr>
          <p:cNvPr id="29" name="Image 0"/>
          <p:cNvPicPr>
            <a:picLocks xmlns:a="http://schemas.openxmlformats.org/drawingml/2006/main" noChangeAspect="1"/>
          </p:cNvPicPr>
          <p:nvPr/>
        </p:nvPicPr>
        <p:blipFill>
          <a:blip xmlns:r="http://schemas.openxmlformats.org/officeDocument/2006/relationships" xmlns:a="http://schemas.openxmlformats.org/drawingml/2006/main" r:embed="Rafe0c187309b43fa"/>
          <a:stretch xmlns:a="http://schemas.openxmlformats.org/drawingml/2006/main">
            <a:fillRect l="0" t="0" r="0" b="0"/>
          </a:stretch>
        </p:blipFill>
        <p:spPr>
          <a:xfrm xmlns:a="http://schemas.openxmlformats.org/drawingml/2006/main">
            <a:off x="11149279" y="365760"/>
            <a:ext cx="475488" cy="466344"/>
          </a:xfrm>
          <a:prstGeom xmlns:a="http://schemas.openxmlformats.org/drawingml/2006/main" prst="rect">
            <a:avLst/>
          </a:prstGeom>
        </p:spPr>
      </p:pic>
      <p:sp>
        <p:nvSpPr>
          <p:cNvPr id="5" name="Text 2">
            <a:extLst xmlns:a="http://schemas.openxmlformats.org/drawingml/2006/main">
              <a:ext uri="{FF2B5EF4-FFF2-40B4-BE49-F238E27FC236}">
                <a16:creationId xmlns:a16="http://schemas.microsoft.com/office/drawing/2014/main" id="{D46344D8-8753-4725-B0CE-A6D87E5C791C}"/>
              </a:ext>
            </a:extLst>
          </p:cNvPr>
          <p:cNvSpPr>
            <a:spLocks xmlns:a="http://schemas.openxmlformats.org/drawingml/2006/main" noGrp="1"/>
          </p:cNvSpPr>
          <p:nvPr/>
        </p:nvSpPr>
        <p:spPr>
          <a:xfrm xmlns:a="http://schemas.openxmlformats.org/drawingml/2006/main">
            <a:off x="11149279" y="6382512"/>
            <a:ext cx="475488"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000">
                <a:solidFill>
                  <a:srgbClr val="5B5B6B"/>
                </a:solidFill>
                <a:latin typeface="Calibri"/>
                <a:ea typeface="Calibri"/>
                <a:cs typeface="Calibri"/>
              </a:rPr>
              <a:t>13</a:t>
            </a:r>
            <a:endParaRPr sz="1000"/>
          </a:p>
        </p:txBody>
      </p:sp>
      <p:sp>
        <p:nvSpPr>
          <p:cNvPr id="6" name="Shape 3">
            <a:extLst xmlns:a="http://schemas.openxmlformats.org/drawingml/2006/main">
              <a:ext uri="{FF2B5EF4-FFF2-40B4-BE49-F238E27FC236}">
                <a16:creationId xmlns:a16="http://schemas.microsoft.com/office/drawing/2014/main" id="{FC94A6CB-D42C-470B-AD81-D39C3D74721A}"/>
              </a:ext>
            </a:extLst>
          </p:cNvPr>
          <p:cNvSpPr>
            <a:spLocks xmlns:a="http://schemas.openxmlformats.org/drawingml/2006/main" noGrp="1"/>
          </p:cNvSpPr>
          <p:nvPr/>
        </p:nvSpPr>
        <p:spPr>
          <a:xfrm xmlns:a="http://schemas.openxmlformats.org/drawingml/2006/main">
            <a:off x="566928" y="1335024"/>
            <a:ext cx="5413248" cy="2048256"/>
          </a:xfrm>
          <a:prstGeom xmlns:a="http://schemas.openxmlformats.org/drawingml/2006/main" prst="roundRect">
            <a:avLst>
              <a:gd name="adj" fmla="val 3125"/>
            </a:avLst>
          </a:prstGeom>
          <a:solidFill xmlns:a="http://schemas.openxmlformats.org/drawingml/2006/main">
            <a:srgbClr val="240C54"/>
          </a:solidFill>
          <a:ln xmlns:a="http://schemas.openxmlformats.org/drawingml/2006/main" w="9525">
            <a:solidFill>
              <a:srgbClr val="240C54"/>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7" name="Text 4">
            <a:extLst xmlns:a="http://schemas.openxmlformats.org/drawingml/2006/main">
              <a:ext uri="{FF2B5EF4-FFF2-40B4-BE49-F238E27FC236}">
                <a16:creationId xmlns:a16="http://schemas.microsoft.com/office/drawing/2014/main" id="{9CC998E2-FEEB-403D-8A65-CB8377801969}"/>
              </a:ext>
            </a:extLst>
          </p:cNvPr>
          <p:cNvSpPr>
            <a:spLocks xmlns:a="http://schemas.openxmlformats.org/drawingml/2006/main" noGrp="1"/>
          </p:cNvSpPr>
          <p:nvPr/>
        </p:nvSpPr>
        <p:spPr>
          <a:xfrm xmlns:a="http://schemas.openxmlformats.org/drawingml/2006/main">
            <a:off x="786384" y="1508760"/>
            <a:ext cx="4974336"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50" b="1">
                <a:solidFill>
                  <a:srgbClr val="E4B454"/>
                </a:solidFill>
                <a:latin typeface="Calibri"/>
                <a:ea typeface="Calibri"/>
                <a:cs typeface="Calibri"/>
              </a:rPr>
              <a:t>Time: stored in UTC, shown in Lagos</a:t>
            </a:r>
            <a:endParaRPr sz="1450"/>
          </a:p>
        </p:txBody>
      </p:sp>
      <p:sp>
        <p:nvSpPr>
          <p:cNvPr id="8" name="Text 5">
            <a:extLst xmlns:a="http://schemas.openxmlformats.org/drawingml/2006/main">
              <a:ext uri="{FF2B5EF4-FFF2-40B4-BE49-F238E27FC236}">
                <a16:creationId xmlns:a16="http://schemas.microsoft.com/office/drawing/2014/main" id="{25EFA4CD-7A42-4294-94B9-82BAF9492237}"/>
              </a:ext>
            </a:extLst>
          </p:cNvPr>
          <p:cNvSpPr>
            <a:spLocks xmlns:a="http://schemas.openxmlformats.org/drawingml/2006/main" noGrp="1"/>
          </p:cNvSpPr>
          <p:nvPr/>
        </p:nvSpPr>
        <p:spPr>
          <a:xfrm xmlns:a="http://schemas.openxmlformats.org/drawingml/2006/main">
            <a:off x="786384" y="1901952"/>
            <a:ext cx="4974336" cy="13350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650"/>
              </a:lnSpc>
              <a:buNone/>
            </a:pPr>
            <a:r>
              <a:rPr sz="1200">
                <a:solidFill>
                  <a:srgbClr val="E2DEF1"/>
                </a:solidFill>
                <a:latin typeface="Calibri"/>
                <a:ea typeface="Calibri"/>
                <a:cs typeface="Calibri"/>
              </a:rPr>
              <a:t>Every instant is stored as TIMESTAMPTZ in UTC and rendered in Africa/Lagos for the reader. A due date is an instant, not a wall-clock reading, so it means the same thing whatever machine computes it.</a:t>
            </a:r>
            <a:endParaRPr sz="1200"/>
          </a:p>
        </p:txBody>
      </p:sp>
      <p:sp>
        <p:nvSpPr>
          <p:cNvPr id="9" name="Shape 6">
            <a:extLst xmlns:a="http://schemas.openxmlformats.org/drawingml/2006/main">
              <a:ext uri="{FF2B5EF4-FFF2-40B4-BE49-F238E27FC236}">
                <a16:creationId xmlns:a16="http://schemas.microsoft.com/office/drawing/2014/main" id="{63BFEBC5-976F-4144-87FD-7A5CFA8786FB}"/>
              </a:ext>
            </a:extLst>
          </p:cNvPr>
          <p:cNvSpPr>
            <a:spLocks xmlns:a="http://schemas.openxmlformats.org/drawingml/2006/main" noGrp="1"/>
          </p:cNvSpPr>
          <p:nvPr/>
        </p:nvSpPr>
        <p:spPr>
          <a:xfrm xmlns:a="http://schemas.openxmlformats.org/drawingml/2006/main">
            <a:off x="566928" y="3547872"/>
            <a:ext cx="5413248" cy="2322576"/>
          </a:xfrm>
          <a:prstGeom xmlns:a="http://schemas.openxmlformats.org/drawingml/2006/main" prst="roundRect">
            <a:avLst>
              <a:gd name="adj" fmla="val 2756"/>
            </a:avLst>
          </a:prstGeom>
          <a:solidFill xmlns:a="http://schemas.openxmlformats.org/drawingml/2006/main">
            <a:srgbClr val="FBF4E4"/>
          </a:solidFill>
          <a:ln xmlns:a="http://schemas.openxmlformats.org/drawingml/2006/main" w="9525">
            <a:solidFill>
              <a:srgbClr val="E8D9AE"/>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10" name="Text 7">
            <a:extLst xmlns:a="http://schemas.openxmlformats.org/drawingml/2006/main">
              <a:ext uri="{FF2B5EF4-FFF2-40B4-BE49-F238E27FC236}">
                <a16:creationId xmlns:a16="http://schemas.microsoft.com/office/drawing/2014/main" id="{ACCC4813-B07E-4DA5-9730-8B5B8364199F}"/>
              </a:ext>
            </a:extLst>
          </p:cNvPr>
          <p:cNvSpPr>
            <a:spLocks xmlns:a="http://schemas.openxmlformats.org/drawingml/2006/main" noGrp="1"/>
          </p:cNvSpPr>
          <p:nvPr/>
        </p:nvSpPr>
        <p:spPr>
          <a:xfrm xmlns:a="http://schemas.openxmlformats.org/drawingml/2006/main">
            <a:off x="786384" y="3721608"/>
            <a:ext cx="4974336"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240C54"/>
                </a:solidFill>
                <a:latin typeface="Calibri"/>
                <a:ea typeface="Calibri"/>
                <a:cs typeface="Calibri"/>
              </a:rPr>
              <a:t>The trap this closed</a:t>
            </a:r>
            <a:endParaRPr sz="1400"/>
          </a:p>
        </p:txBody>
      </p:sp>
      <p:sp>
        <p:nvSpPr>
          <p:cNvPr id="11" name="Text 8">
            <a:extLst xmlns:a="http://schemas.openxmlformats.org/drawingml/2006/main">
              <a:ext uri="{FF2B5EF4-FFF2-40B4-BE49-F238E27FC236}">
                <a16:creationId xmlns:a16="http://schemas.microsoft.com/office/drawing/2014/main" id="{9B024442-9BAA-4336-82CB-B44CA85F1B0E}"/>
              </a:ext>
            </a:extLst>
          </p:cNvPr>
          <p:cNvSpPr>
            <a:spLocks xmlns:a="http://schemas.openxmlformats.org/drawingml/2006/main" noGrp="1"/>
          </p:cNvSpPr>
          <p:nvPr/>
        </p:nvSpPr>
        <p:spPr>
          <a:xfrm xmlns:a="http://schemas.openxmlformats.org/drawingml/2006/main">
            <a:off x="786384" y="4114800"/>
            <a:ext cx="4974336" cy="16093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650"/>
              </a:lnSpc>
              <a:buNone/>
            </a:pPr>
            <a:r>
              <a:rPr sz="1200">
                <a:solidFill>
                  <a:srgbClr val="1A1A2E"/>
                </a:solidFill>
                <a:latin typeface="Calibri"/>
                <a:ea typeface="Calibri"/>
                <a:cs typeface="Calibri"/>
              </a:rPr>
              <a:t>Our container ships without timezone data. Loading Africa/Lagos failed silently and every displayed time fell back to UTC, one hour early. We compile the timezone database into the binary.</a:t>
            </a:r>
            <a:endParaRPr sz="1200"/>
          </a:p>
        </p:txBody>
      </p:sp>
      <p:sp>
        <p:nvSpPr>
          <p:cNvPr id="12" name="Shape 9">
            <a:extLst xmlns:a="http://schemas.openxmlformats.org/drawingml/2006/main">
              <a:ext uri="{FF2B5EF4-FFF2-40B4-BE49-F238E27FC236}">
                <a16:creationId xmlns:a16="http://schemas.microsoft.com/office/drawing/2014/main" id="{2DD9FAA4-3EC4-482F-8C67-6B27DCDB5A9B}"/>
              </a:ext>
            </a:extLst>
          </p:cNvPr>
          <p:cNvSpPr>
            <a:spLocks xmlns:a="http://schemas.openxmlformats.org/drawingml/2006/main" noGrp="1"/>
          </p:cNvSpPr>
          <p:nvPr/>
        </p:nvSpPr>
        <p:spPr>
          <a:xfrm xmlns:a="http://schemas.openxmlformats.org/drawingml/2006/main">
            <a:off x="6199632" y="1335024"/>
            <a:ext cx="5422392" cy="4535424"/>
          </a:xfrm>
          <a:prstGeom xmlns:a="http://schemas.openxmlformats.org/drawingml/2006/main" prst="roundRect">
            <a:avLst>
              <a:gd name="adj" fmla="val 1411"/>
            </a:avLst>
          </a:prstGeom>
          <a:solidFill xmlns:a="http://schemas.openxmlformats.org/drawingml/2006/main">
            <a:srgbClr val="F4F5F9"/>
          </a:solidFill>
          <a:ln xmlns:a="http://schemas.openxmlformats.org/drawingml/2006/main" w="9525">
            <a:solidFill>
              <a:srgbClr val="D8DAE5"/>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13" name="Text 10">
            <a:extLst xmlns:a="http://schemas.openxmlformats.org/drawingml/2006/main">
              <a:ext uri="{FF2B5EF4-FFF2-40B4-BE49-F238E27FC236}">
                <a16:creationId xmlns:a16="http://schemas.microsoft.com/office/drawing/2014/main" id="{FF4E3B9B-67C1-43E9-9B38-13DB45106AB1}"/>
              </a:ext>
            </a:extLst>
          </p:cNvPr>
          <p:cNvSpPr>
            <a:spLocks xmlns:a="http://schemas.openxmlformats.org/drawingml/2006/main" noGrp="1"/>
          </p:cNvSpPr>
          <p:nvPr/>
        </p:nvSpPr>
        <p:spPr>
          <a:xfrm xmlns:a="http://schemas.openxmlformats.org/drawingml/2006/main">
            <a:off x="6419088" y="1508760"/>
            <a:ext cx="498348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50" b="1">
                <a:solidFill>
                  <a:srgbClr val="240C54"/>
                </a:solidFill>
                <a:latin typeface="Calibri"/>
                <a:ea typeface="Calibri"/>
                <a:cs typeface="Calibri"/>
              </a:rPr>
              <a:t>Indexing, measured with EXPLAIN ANALYZE</a:t>
            </a:r>
            <a:endParaRPr sz="1450"/>
          </a:p>
        </p:txBody>
      </p:sp>
      <p:sp>
        <p:nvSpPr>
          <p:cNvPr id="14" name="Text 11">
            <a:extLst xmlns:a="http://schemas.openxmlformats.org/drawingml/2006/main">
              <a:ext uri="{FF2B5EF4-FFF2-40B4-BE49-F238E27FC236}">
                <a16:creationId xmlns:a16="http://schemas.microsoft.com/office/drawing/2014/main" id="{F1A4B1F2-089A-42EB-8A29-13AEE6AE5994}"/>
              </a:ext>
            </a:extLst>
          </p:cNvPr>
          <p:cNvSpPr>
            <a:spLocks xmlns:a="http://schemas.openxmlformats.org/drawingml/2006/main" noGrp="1"/>
          </p:cNvSpPr>
          <p:nvPr/>
        </p:nvSpPr>
        <p:spPr>
          <a:xfrm xmlns:a="http://schemas.openxmlformats.org/drawingml/2006/main">
            <a:off x="6419088" y="1773936"/>
            <a:ext cx="498348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600"/>
              </a:lnSpc>
              <a:buNone/>
            </a:pPr>
            <a:r>
              <a:rPr sz="1200">
                <a:solidFill>
                  <a:srgbClr val="5B5B6B"/>
                </a:solidFill>
                <a:latin typeface="Calibri"/>
                <a:ea typeface="Calibri"/>
                <a:cs typeface="Calibri"/>
              </a:rPr>
              <a:t>Search performance was measured before and after, on real data, not guessed at.</a:t>
            </a:r>
            <a:endParaRPr sz="1200"/>
          </a:p>
        </p:txBody>
      </p:sp>
      <p:sp>
        <p:nvSpPr>
          <p:cNvPr id="15" name="Text 12">
            <a:extLst xmlns:a="http://schemas.openxmlformats.org/drawingml/2006/main">
              <a:ext uri="{FF2B5EF4-FFF2-40B4-BE49-F238E27FC236}">
                <a16:creationId xmlns:a16="http://schemas.microsoft.com/office/drawing/2014/main" id="{3917957D-4AAA-4C00-8E27-9EBD1DB34B8D}"/>
              </a:ext>
            </a:extLst>
          </p:cNvPr>
          <p:cNvSpPr>
            <a:spLocks xmlns:a="http://schemas.openxmlformats.org/drawingml/2006/main" noGrp="1"/>
          </p:cNvSpPr>
          <p:nvPr/>
        </p:nvSpPr>
        <p:spPr>
          <a:xfrm xmlns:a="http://schemas.openxmlformats.org/drawingml/2006/main">
            <a:off x="6419088" y="2359152"/>
            <a:ext cx="49834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240C54"/>
                </a:solidFill>
                <a:latin typeface="Calibri"/>
                <a:ea typeface="Calibri"/>
                <a:cs typeface="Calibri"/>
              </a:rPr>
              <a:t>Title search</a:t>
            </a:r>
            <a:endParaRPr sz="1300"/>
          </a:p>
        </p:txBody>
      </p:sp>
      <p:sp>
        <p:nvSpPr>
          <p:cNvPr id="16" name="Shape 13">
            <a:extLst xmlns:a="http://schemas.openxmlformats.org/drawingml/2006/main">
              <a:ext uri="{FF2B5EF4-FFF2-40B4-BE49-F238E27FC236}">
                <a16:creationId xmlns:a16="http://schemas.microsoft.com/office/drawing/2014/main" id="{C63AB28A-9FCE-48D0-A280-56D140B5D22E}"/>
              </a:ext>
            </a:extLst>
          </p:cNvPr>
          <p:cNvSpPr>
            <a:spLocks xmlns:a="http://schemas.openxmlformats.org/drawingml/2006/main" noGrp="1"/>
          </p:cNvSpPr>
          <p:nvPr/>
        </p:nvSpPr>
        <p:spPr>
          <a:xfrm xmlns:a="http://schemas.openxmlformats.org/drawingml/2006/main">
            <a:off x="6419088" y="2688336"/>
            <a:ext cx="4983480" cy="365760"/>
          </a:xfrm>
          <a:prstGeom xmlns:a="http://schemas.openxmlformats.org/drawingml/2006/main" prst="roundRect">
            <a:avLst>
              <a:gd name="adj" fmla="val 12500"/>
            </a:avLst>
          </a:prstGeom>
          <a:solidFill xmlns:a="http://schemas.openxmlformats.org/drawingml/2006/main">
            <a:srgbClr val="C6CBDD"/>
          </a:solidFill>
          <a:ln xmlns:a="http://schemas.openxmlformats.org/drawingml/2006/main" w="12700">
            <a:solidFill>
              <a:srgbClr val="C6CBDD"/>
            </a:solidFill>
            <a:prstDash val="solid"/>
          </a:ln>
        </p:spPr>
      </p:sp>
      <p:sp>
        <p:nvSpPr>
          <p:cNvPr id="17" name="Text 14">
            <a:extLst xmlns:a="http://schemas.openxmlformats.org/drawingml/2006/main">
              <a:ext uri="{FF2B5EF4-FFF2-40B4-BE49-F238E27FC236}">
                <a16:creationId xmlns:a16="http://schemas.microsoft.com/office/drawing/2014/main" id="{A1EF14A7-3EC2-4E40-9F5F-0E85BE0A6480}"/>
              </a:ext>
            </a:extLst>
          </p:cNvPr>
          <p:cNvSpPr>
            <a:spLocks xmlns:a="http://schemas.openxmlformats.org/drawingml/2006/main" noGrp="1"/>
          </p:cNvSpPr>
          <p:nvPr/>
        </p:nvSpPr>
        <p:spPr>
          <a:xfrm xmlns:a="http://schemas.openxmlformats.org/drawingml/2006/main">
            <a:off x="6528816" y="2688336"/>
            <a:ext cx="21945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2B3040"/>
                </a:solidFill>
                <a:latin typeface="Calibri"/>
                <a:ea typeface="Calibri"/>
                <a:cs typeface="Calibri"/>
              </a:rPr>
              <a:t>51.5 ms before</a:t>
            </a:r>
            <a:endParaRPr sz="1150"/>
          </a:p>
        </p:txBody>
      </p:sp>
      <p:sp>
        <p:nvSpPr>
          <p:cNvPr id="18" name="Shape 15">
            <a:extLst xmlns:a="http://schemas.openxmlformats.org/drawingml/2006/main">
              <a:ext uri="{FF2B5EF4-FFF2-40B4-BE49-F238E27FC236}">
                <a16:creationId xmlns:a16="http://schemas.microsoft.com/office/drawing/2014/main" id="{7F2DE08C-336B-43A1-8D97-48A68F39C0E7}"/>
              </a:ext>
            </a:extLst>
          </p:cNvPr>
          <p:cNvSpPr>
            <a:spLocks xmlns:a="http://schemas.openxmlformats.org/drawingml/2006/main" noGrp="1"/>
          </p:cNvSpPr>
          <p:nvPr/>
        </p:nvSpPr>
        <p:spPr>
          <a:xfrm xmlns:a="http://schemas.openxmlformats.org/drawingml/2006/main">
            <a:off x="6419088" y="3127248"/>
            <a:ext cx="2119189" cy="365760"/>
          </a:xfrm>
          <a:prstGeom xmlns:a="http://schemas.openxmlformats.org/drawingml/2006/main" prst="roundRect">
            <a:avLst>
              <a:gd name="adj" fmla="val 12500"/>
            </a:avLst>
          </a:prstGeom>
          <a:solidFill xmlns:a="http://schemas.openxmlformats.org/drawingml/2006/main">
            <a:srgbClr val="1E7A46"/>
          </a:solidFill>
          <a:ln xmlns:a="http://schemas.openxmlformats.org/drawingml/2006/main" w="12700">
            <a:solidFill>
              <a:srgbClr val="1E7A46"/>
            </a:solidFill>
            <a:prstDash val="solid"/>
          </a:ln>
        </p:spPr>
      </p:sp>
      <p:sp>
        <p:nvSpPr>
          <p:cNvPr id="19" name="Text 16">
            <a:extLst xmlns:a="http://schemas.openxmlformats.org/drawingml/2006/main">
              <a:ext uri="{FF2B5EF4-FFF2-40B4-BE49-F238E27FC236}">
                <a16:creationId xmlns:a16="http://schemas.microsoft.com/office/drawing/2014/main" id="{4E324394-D4AA-485A-9CA6-1423CDBA4D6B}"/>
              </a:ext>
            </a:extLst>
          </p:cNvPr>
          <p:cNvSpPr>
            <a:spLocks xmlns:a="http://schemas.openxmlformats.org/drawingml/2006/main" noGrp="1"/>
          </p:cNvSpPr>
          <p:nvPr/>
        </p:nvSpPr>
        <p:spPr>
          <a:xfrm xmlns:a="http://schemas.openxmlformats.org/drawingml/2006/main">
            <a:off x="6528816" y="3127248"/>
            <a:ext cx="21945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FFFFFF"/>
                </a:solidFill>
                <a:latin typeface="Calibri"/>
                <a:ea typeface="Calibri"/>
                <a:cs typeface="Calibri"/>
              </a:rPr>
              <a:t>21.9 ms after</a:t>
            </a:r>
            <a:endParaRPr sz="1150"/>
          </a:p>
        </p:txBody>
      </p:sp>
      <p:sp>
        <p:nvSpPr>
          <p:cNvPr id="20" name="Text 17">
            <a:extLst xmlns:a="http://schemas.openxmlformats.org/drawingml/2006/main">
              <a:ext uri="{FF2B5EF4-FFF2-40B4-BE49-F238E27FC236}">
                <a16:creationId xmlns:a16="http://schemas.microsoft.com/office/drawing/2014/main" id="{5FC918EA-2817-4408-956B-BC20EA1FAC45}"/>
              </a:ext>
            </a:extLst>
          </p:cNvPr>
          <p:cNvSpPr>
            <a:spLocks xmlns:a="http://schemas.openxmlformats.org/drawingml/2006/main" noGrp="1"/>
          </p:cNvSpPr>
          <p:nvPr/>
        </p:nvSpPr>
        <p:spPr>
          <a:xfrm xmlns:a="http://schemas.openxmlformats.org/drawingml/2006/main">
            <a:off x="6419088" y="3986784"/>
            <a:ext cx="49834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240C54"/>
                </a:solidFill>
                <a:latin typeface="Calibri"/>
                <a:ea typeface="Calibri"/>
                <a:cs typeface="Calibri"/>
              </a:rPr>
              <a:t>Member lookup</a:t>
            </a:r>
            <a:endParaRPr sz="1300"/>
          </a:p>
        </p:txBody>
      </p:sp>
      <p:sp>
        <p:nvSpPr>
          <p:cNvPr id="21" name="Shape 18">
            <a:extLst xmlns:a="http://schemas.openxmlformats.org/drawingml/2006/main">
              <a:ext uri="{FF2B5EF4-FFF2-40B4-BE49-F238E27FC236}">
                <a16:creationId xmlns:a16="http://schemas.microsoft.com/office/drawing/2014/main" id="{8D24254C-6E31-4BFD-978D-0A09AFA53602}"/>
              </a:ext>
            </a:extLst>
          </p:cNvPr>
          <p:cNvSpPr>
            <a:spLocks xmlns:a="http://schemas.openxmlformats.org/drawingml/2006/main" noGrp="1"/>
          </p:cNvSpPr>
          <p:nvPr/>
        </p:nvSpPr>
        <p:spPr>
          <a:xfrm xmlns:a="http://schemas.openxmlformats.org/drawingml/2006/main">
            <a:off x="6419088" y="4315968"/>
            <a:ext cx="2177249" cy="365760"/>
          </a:xfrm>
          <a:prstGeom xmlns:a="http://schemas.openxmlformats.org/drawingml/2006/main" prst="roundRect">
            <a:avLst>
              <a:gd name="adj" fmla="val 12500"/>
            </a:avLst>
          </a:prstGeom>
          <a:solidFill xmlns:a="http://schemas.openxmlformats.org/drawingml/2006/main">
            <a:srgbClr val="C6CBDD"/>
          </a:solidFill>
          <a:ln xmlns:a="http://schemas.openxmlformats.org/drawingml/2006/main" w="12700">
            <a:solidFill>
              <a:srgbClr val="C6CBDD"/>
            </a:solidFill>
            <a:prstDash val="solid"/>
          </a:ln>
        </p:spPr>
      </p:sp>
      <p:sp>
        <p:nvSpPr>
          <p:cNvPr id="22" name="Text 19">
            <a:extLst xmlns:a="http://schemas.openxmlformats.org/drawingml/2006/main">
              <a:ext uri="{FF2B5EF4-FFF2-40B4-BE49-F238E27FC236}">
                <a16:creationId xmlns:a16="http://schemas.microsoft.com/office/drawing/2014/main" id="{2F63A285-802B-4AE3-904E-85F66737A324}"/>
              </a:ext>
            </a:extLst>
          </p:cNvPr>
          <p:cNvSpPr>
            <a:spLocks xmlns:a="http://schemas.openxmlformats.org/drawingml/2006/main" noGrp="1"/>
          </p:cNvSpPr>
          <p:nvPr/>
        </p:nvSpPr>
        <p:spPr>
          <a:xfrm xmlns:a="http://schemas.openxmlformats.org/drawingml/2006/main">
            <a:off x="6528816" y="4315968"/>
            <a:ext cx="21945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2B3040"/>
                </a:solidFill>
                <a:latin typeface="Calibri"/>
                <a:ea typeface="Calibri"/>
                <a:cs typeface="Calibri"/>
              </a:rPr>
              <a:t>22.5 ms before</a:t>
            </a:r>
            <a:endParaRPr sz="1150"/>
          </a:p>
        </p:txBody>
      </p:sp>
      <p:sp>
        <p:nvSpPr>
          <p:cNvPr id="23" name="Shape 20">
            <a:extLst xmlns:a="http://schemas.openxmlformats.org/drawingml/2006/main">
              <a:ext uri="{FF2B5EF4-FFF2-40B4-BE49-F238E27FC236}">
                <a16:creationId xmlns:a16="http://schemas.microsoft.com/office/drawing/2014/main" id="{72FE300C-7D68-4B7C-9492-80B279116041}"/>
              </a:ext>
            </a:extLst>
          </p:cNvPr>
          <p:cNvSpPr>
            <a:spLocks xmlns:a="http://schemas.openxmlformats.org/drawingml/2006/main" noGrp="1"/>
          </p:cNvSpPr>
          <p:nvPr/>
        </p:nvSpPr>
        <p:spPr>
          <a:xfrm xmlns:a="http://schemas.openxmlformats.org/drawingml/2006/main">
            <a:off x="6419088" y="4754880"/>
            <a:ext cx="299976" cy="365760"/>
          </a:xfrm>
          <a:prstGeom xmlns:a="http://schemas.openxmlformats.org/drawingml/2006/main" prst="roundRect">
            <a:avLst>
              <a:gd name="adj" fmla="val 15241"/>
            </a:avLst>
          </a:prstGeom>
          <a:solidFill xmlns:a="http://schemas.openxmlformats.org/drawingml/2006/main">
            <a:srgbClr val="1E7A46"/>
          </a:solidFill>
          <a:ln xmlns:a="http://schemas.openxmlformats.org/drawingml/2006/main" w="12700">
            <a:solidFill>
              <a:srgbClr val="1E7A46"/>
            </a:solidFill>
            <a:prstDash val="solid"/>
          </a:ln>
        </p:spPr>
      </p:sp>
      <p:sp>
        <p:nvSpPr>
          <p:cNvPr id="24" name="Text 21">
            <a:extLst xmlns:a="http://schemas.openxmlformats.org/drawingml/2006/main">
              <a:ext uri="{FF2B5EF4-FFF2-40B4-BE49-F238E27FC236}">
                <a16:creationId xmlns:a16="http://schemas.microsoft.com/office/drawing/2014/main" id="{0BD7D015-6D68-4DAE-84A4-3587562E0479}"/>
              </a:ext>
            </a:extLst>
          </p:cNvPr>
          <p:cNvSpPr>
            <a:spLocks xmlns:a="http://schemas.openxmlformats.org/drawingml/2006/main" noGrp="1"/>
          </p:cNvSpPr>
          <p:nvPr/>
        </p:nvSpPr>
        <p:spPr>
          <a:xfrm xmlns:a="http://schemas.openxmlformats.org/drawingml/2006/main">
            <a:off x="6828792" y="4754880"/>
            <a:ext cx="21945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2B3040"/>
                </a:solidFill>
                <a:latin typeface="Calibri"/>
                <a:ea typeface="Calibri"/>
                <a:cs typeface="Calibri"/>
              </a:rPr>
              <a:t>3.1 ms after</a:t>
            </a:r>
            <a:endParaRPr sz="1150"/>
          </a:p>
        </p:txBody>
      </p:sp>
      <p:sp>
        <p:nvSpPr>
          <p:cNvPr id="25" name="Text 22">
            <a:extLst xmlns:a="http://schemas.openxmlformats.org/drawingml/2006/main">
              <a:ext uri="{FF2B5EF4-FFF2-40B4-BE49-F238E27FC236}">
                <a16:creationId xmlns:a16="http://schemas.microsoft.com/office/drawing/2014/main" id="{AB798055-5454-4B0B-B82F-FCC3224C69CF}"/>
              </a:ext>
            </a:extLst>
          </p:cNvPr>
          <p:cNvSpPr>
            <a:spLocks xmlns:a="http://schemas.openxmlformats.org/drawingml/2006/main" noGrp="1"/>
          </p:cNvSpPr>
          <p:nvPr/>
        </p:nvSpPr>
        <p:spPr>
          <a:xfrm xmlns:a="http://schemas.openxmlformats.org/drawingml/2006/main">
            <a:off x="6419088" y="5266944"/>
            <a:ext cx="49834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400"/>
              </a:lnSpc>
              <a:buNone/>
            </a:pPr>
            <a:r>
              <a:rPr sz="1100">
                <a:solidFill>
                  <a:srgbClr val="5B5B6B"/>
                </a:solidFill>
                <a:latin typeface="Calibri"/>
                <a:ea typeface="Calibri"/>
                <a:cs typeface="Calibri"/>
              </a:rPr>
              <a:t>Trigram indexes for fuzzy title search; a partial index for open loans, which is the only slice ever queried.</a:t>
            </a:r>
            <a:endParaRPr sz="1100"/>
          </a:p>
        </p:txBody>
      </p:sp>
    </p:spTree>
    <p:extLst>
      <p:ext uri="{BB962C8B-B14F-4D97-AF65-F5344CB8AC3E}">
        <p14:creationId xmlns:p14="http://schemas.microsoft.com/office/powerpoint/2010/main" val="1351814841"/>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8E5618F-7C10-4543-8066-46220E0F05D8}"/>
              </a:ext>
            </a:extLst>
          </p:cNvPr>
          <p:cNvSpPr>
            <a:spLocks xmlns:a="http://schemas.openxmlformats.org/drawingml/2006/main" noGrp="1"/>
          </p:cNvSpPr>
          <p:nvPr/>
        </p:nvSpPr>
        <p:spPr>
          <a:xfrm xmlns:a="http://schemas.openxmlformats.org/drawingml/2006/main">
            <a:off x="566928" y="384048"/>
            <a:ext cx="82296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20">
                <a:solidFill>
                  <a:srgbClr val="E4B454"/>
                </a:solidFill>
                <a:latin typeface="Calibri"/>
                <a:ea typeface="Calibri"/>
                <a:cs typeface="Calibri"/>
              </a:rPr>
              <a:t>THE SIMULATOR</a:t>
            </a:r>
            <a:endParaRPr sz="1100"/>
          </a:p>
        </p:txBody>
      </p:sp>
      <p:sp>
        <p:nvSpPr>
          <p:cNvPr id="3" name="Text 1">
            <a:extLst xmlns:a="http://schemas.openxmlformats.org/drawingml/2006/main">
              <a:ext uri="{FF2B5EF4-FFF2-40B4-BE49-F238E27FC236}">
                <a16:creationId xmlns:a16="http://schemas.microsoft.com/office/drawing/2014/main" id="{5ECB35D5-5DB9-4402-8EE7-D9F775CB9826}"/>
              </a:ext>
            </a:extLst>
          </p:cNvPr>
          <p:cNvSpPr>
            <a:spLocks xmlns:a="http://schemas.openxmlformats.org/drawingml/2006/main" noGrp="1"/>
          </p:cNvSpPr>
          <p:nvPr/>
        </p:nvSpPr>
        <p:spPr>
          <a:xfrm xmlns:a="http://schemas.openxmlformats.org/drawingml/2006/main">
            <a:off x="566928" y="640080"/>
            <a:ext cx="96926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40C54"/>
                </a:solidFill>
                <a:latin typeface="Cambria"/>
                <a:ea typeface="Cambria"/>
                <a:cs typeface="Cambria"/>
              </a:rPr>
              <a:t>Proving the system works when nobody is watching</a:t>
            </a:r>
            <a:endParaRPr sz="3000"/>
          </a:p>
        </p:txBody>
      </p:sp>
      <p:pic>
        <p:nvPicPr>
          <p:cNvPr id="30" name="Image 0"/>
          <p:cNvPicPr>
            <a:picLocks xmlns:a="http://schemas.openxmlformats.org/drawingml/2006/main" noChangeAspect="1"/>
          </p:cNvPicPr>
          <p:nvPr/>
        </p:nvPicPr>
        <p:blipFill>
          <a:blip xmlns:r="http://schemas.openxmlformats.org/officeDocument/2006/relationships" xmlns:a="http://schemas.openxmlformats.org/drawingml/2006/main" r:embed="R4471d1a1dc54419b"/>
          <a:stretch xmlns:a="http://schemas.openxmlformats.org/drawingml/2006/main">
            <a:fillRect l="0" t="0" r="0" b="0"/>
          </a:stretch>
        </p:blipFill>
        <p:spPr>
          <a:xfrm xmlns:a="http://schemas.openxmlformats.org/drawingml/2006/main">
            <a:off x="11149279" y="365760"/>
            <a:ext cx="475488" cy="466344"/>
          </a:xfrm>
          <a:prstGeom xmlns:a="http://schemas.openxmlformats.org/drawingml/2006/main" prst="rect">
            <a:avLst/>
          </a:prstGeom>
        </p:spPr>
      </p:pic>
      <p:sp>
        <p:nvSpPr>
          <p:cNvPr id="5" name="Text 2">
            <a:extLst xmlns:a="http://schemas.openxmlformats.org/drawingml/2006/main">
              <a:ext uri="{FF2B5EF4-FFF2-40B4-BE49-F238E27FC236}">
                <a16:creationId xmlns:a16="http://schemas.microsoft.com/office/drawing/2014/main" id="{44F2A849-F466-4301-85C3-3162E76F107F}"/>
              </a:ext>
            </a:extLst>
          </p:cNvPr>
          <p:cNvSpPr>
            <a:spLocks xmlns:a="http://schemas.openxmlformats.org/drawingml/2006/main" noGrp="1"/>
          </p:cNvSpPr>
          <p:nvPr/>
        </p:nvSpPr>
        <p:spPr>
          <a:xfrm xmlns:a="http://schemas.openxmlformats.org/drawingml/2006/main">
            <a:off x="11149279" y="6382512"/>
            <a:ext cx="475488"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000">
                <a:solidFill>
                  <a:srgbClr val="5B5B6B"/>
                </a:solidFill>
                <a:latin typeface="Calibri"/>
                <a:ea typeface="Calibri"/>
                <a:cs typeface="Calibri"/>
              </a:rPr>
              <a:t>14</a:t>
            </a:r>
            <a:endParaRPr sz="1000"/>
          </a:p>
        </p:txBody>
      </p:sp>
      <p:sp>
        <p:nvSpPr>
          <p:cNvPr id="6" name="Text 3">
            <a:extLst xmlns:a="http://schemas.openxmlformats.org/drawingml/2006/main">
              <a:ext uri="{FF2B5EF4-FFF2-40B4-BE49-F238E27FC236}">
                <a16:creationId xmlns:a16="http://schemas.microsoft.com/office/drawing/2014/main" id="{90775B25-5F87-4506-AAD3-D0EB25BD7433}"/>
              </a:ext>
            </a:extLst>
          </p:cNvPr>
          <p:cNvSpPr>
            <a:spLocks xmlns:a="http://schemas.openxmlformats.org/drawingml/2006/main" noGrp="1"/>
          </p:cNvSpPr>
          <p:nvPr/>
        </p:nvSpPr>
        <p:spPr>
          <a:xfrm xmlns:a="http://schemas.openxmlformats.org/drawingml/2006/main">
            <a:off x="566928" y="1335024"/>
            <a:ext cx="10058400" cy="4937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2000"/>
              </a:lnSpc>
              <a:buNone/>
            </a:pPr>
            <a:r>
              <a:rPr sz="1400">
                <a:solidFill>
                  <a:srgbClr val="1A1A2E"/>
                </a:solidFill>
                <a:latin typeface="Calibri"/>
                <a:ea typeface="Calibri"/>
                <a:cs typeface="Calibri"/>
              </a:rPr>
              <a:t>An empty database proves nothing. We built a simulator that behaves like a library day: members register, borrow, return late, and reserve titles that are out.</a:t>
            </a:r>
            <a:endParaRPr sz="1400"/>
          </a:p>
        </p:txBody>
      </p:sp>
      <p:sp>
        <p:nvSpPr>
          <p:cNvPr id="7" name="Shape 4">
            <a:extLst xmlns:a="http://schemas.openxmlformats.org/drawingml/2006/main">
              <a:ext uri="{FF2B5EF4-FFF2-40B4-BE49-F238E27FC236}">
                <a16:creationId xmlns:a16="http://schemas.microsoft.com/office/drawing/2014/main" id="{35B5D39A-942C-47B6-8A43-645E54C06BFC}"/>
              </a:ext>
            </a:extLst>
          </p:cNvPr>
          <p:cNvSpPr>
            <a:spLocks xmlns:a="http://schemas.openxmlformats.org/drawingml/2006/main" noGrp="1"/>
          </p:cNvSpPr>
          <p:nvPr/>
        </p:nvSpPr>
        <p:spPr>
          <a:xfrm xmlns:a="http://schemas.openxmlformats.org/drawingml/2006/main">
            <a:off x="566928" y="1956816"/>
            <a:ext cx="5413248" cy="1883664"/>
          </a:xfrm>
          <a:prstGeom xmlns:a="http://schemas.openxmlformats.org/drawingml/2006/main" prst="roundRect">
            <a:avLst>
              <a:gd name="adj" fmla="val 3398"/>
            </a:avLst>
          </a:prstGeom>
          <a:solidFill xmlns:a="http://schemas.openxmlformats.org/drawingml/2006/main">
            <a:srgbClr val="F4F5F9"/>
          </a:solidFill>
          <a:ln xmlns:a="http://schemas.openxmlformats.org/drawingml/2006/main" w="9525">
            <a:solidFill>
              <a:srgbClr val="D8DAE5"/>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8" name="Text 5">
            <a:extLst xmlns:a="http://schemas.openxmlformats.org/drawingml/2006/main">
              <a:ext uri="{FF2B5EF4-FFF2-40B4-BE49-F238E27FC236}">
                <a16:creationId xmlns:a16="http://schemas.microsoft.com/office/drawing/2014/main" id="{78486DC6-7729-4E90-A549-442D38DDC9AE}"/>
              </a:ext>
            </a:extLst>
          </p:cNvPr>
          <p:cNvSpPr>
            <a:spLocks xmlns:a="http://schemas.openxmlformats.org/drawingml/2006/main" noGrp="1"/>
          </p:cNvSpPr>
          <p:nvPr/>
        </p:nvSpPr>
        <p:spPr>
          <a:xfrm xmlns:a="http://schemas.openxmlformats.org/drawingml/2006/main">
            <a:off x="786384" y="2130552"/>
            <a:ext cx="4974336"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50" b="1">
                <a:solidFill>
                  <a:srgbClr val="240C54"/>
                </a:solidFill>
                <a:latin typeface="Calibri"/>
                <a:ea typeface="Calibri"/>
                <a:cs typeface="Calibri"/>
              </a:rPr>
              <a:t>What it is</a:t>
            </a:r>
            <a:endParaRPr sz="1450"/>
          </a:p>
        </p:txBody>
      </p:sp>
      <p:sp>
        <p:nvSpPr>
          <p:cNvPr id="9" name="Text 6">
            <a:extLst xmlns:a="http://schemas.openxmlformats.org/drawingml/2006/main">
              <a:ext uri="{FF2B5EF4-FFF2-40B4-BE49-F238E27FC236}">
                <a16:creationId xmlns:a16="http://schemas.microsoft.com/office/drawing/2014/main" id="{5EDCFD4D-3BD2-4418-981B-F197E6B7008C}"/>
              </a:ext>
            </a:extLst>
          </p:cNvPr>
          <p:cNvSpPr>
            <a:spLocks xmlns:a="http://schemas.openxmlformats.org/drawingml/2006/main" noGrp="1"/>
          </p:cNvSpPr>
          <p:nvPr/>
        </p:nvSpPr>
        <p:spPr>
          <a:xfrm xmlns:a="http://schemas.openxmlformats.org/drawingml/2006/main">
            <a:off x="786384" y="2523744"/>
            <a:ext cx="4974336" cy="11704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650"/>
              </a:lnSpc>
              <a:buNone/>
            </a:pPr>
            <a:r>
              <a:rPr sz="1200">
                <a:solidFill>
                  <a:srgbClr val="1A1A2E"/>
                </a:solidFill>
                <a:latin typeface="Calibri"/>
                <a:ea typeface="Calibri"/>
                <a:cs typeface="Calibri"/>
              </a:rPr>
              <a:t>A client that calls the public API exactly as a browser would. It has no special access, so anything it does, a student could do, which is what makes its results evidence.</a:t>
            </a:r>
            <a:endParaRPr sz="1200"/>
          </a:p>
        </p:txBody>
      </p:sp>
      <p:sp>
        <p:nvSpPr>
          <p:cNvPr id="10" name="Shape 7">
            <a:extLst xmlns:a="http://schemas.openxmlformats.org/drawingml/2006/main">
              <a:ext uri="{FF2B5EF4-FFF2-40B4-BE49-F238E27FC236}">
                <a16:creationId xmlns:a16="http://schemas.microsoft.com/office/drawing/2014/main" id="{38311D45-AD99-4802-87E5-0833A5715AD1}"/>
              </a:ext>
            </a:extLst>
          </p:cNvPr>
          <p:cNvSpPr>
            <a:spLocks xmlns:a="http://schemas.openxmlformats.org/drawingml/2006/main" noGrp="1"/>
          </p:cNvSpPr>
          <p:nvPr/>
        </p:nvSpPr>
        <p:spPr>
          <a:xfrm xmlns:a="http://schemas.openxmlformats.org/drawingml/2006/main">
            <a:off x="6199632" y="1956816"/>
            <a:ext cx="5422392" cy="1883664"/>
          </a:xfrm>
          <a:prstGeom xmlns:a="http://schemas.openxmlformats.org/drawingml/2006/main" prst="roundRect">
            <a:avLst>
              <a:gd name="adj" fmla="val 3398"/>
            </a:avLst>
          </a:prstGeom>
          <a:solidFill xmlns:a="http://schemas.openxmlformats.org/drawingml/2006/main">
            <a:srgbClr val="FBF4E4"/>
          </a:solidFill>
          <a:ln xmlns:a="http://schemas.openxmlformats.org/drawingml/2006/main" w="9525">
            <a:solidFill>
              <a:srgbClr val="E8D9AE"/>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11" name="Text 8">
            <a:extLst xmlns:a="http://schemas.openxmlformats.org/drawingml/2006/main">
              <a:ext uri="{FF2B5EF4-FFF2-40B4-BE49-F238E27FC236}">
                <a16:creationId xmlns:a16="http://schemas.microsoft.com/office/drawing/2014/main" id="{83BAE73F-DB2F-4799-AEBE-A90669049535}"/>
              </a:ext>
            </a:extLst>
          </p:cNvPr>
          <p:cNvSpPr>
            <a:spLocks xmlns:a="http://schemas.openxmlformats.org/drawingml/2006/main" noGrp="1"/>
          </p:cNvSpPr>
          <p:nvPr/>
        </p:nvSpPr>
        <p:spPr>
          <a:xfrm xmlns:a="http://schemas.openxmlformats.org/drawingml/2006/main">
            <a:off x="6419088" y="2130552"/>
            <a:ext cx="498348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50" b="1">
                <a:solidFill>
                  <a:srgbClr val="240C54"/>
                </a:solidFill>
                <a:latin typeface="Calibri"/>
                <a:ea typeface="Calibri"/>
                <a:cs typeface="Calibri"/>
              </a:rPr>
              <a:t>What it is not</a:t>
            </a:r>
            <a:endParaRPr sz="1450"/>
          </a:p>
        </p:txBody>
      </p:sp>
      <p:sp>
        <p:nvSpPr>
          <p:cNvPr id="12" name="Text 9">
            <a:extLst xmlns:a="http://schemas.openxmlformats.org/drawingml/2006/main">
              <a:ext uri="{FF2B5EF4-FFF2-40B4-BE49-F238E27FC236}">
                <a16:creationId xmlns:a16="http://schemas.microsoft.com/office/drawing/2014/main" id="{27E9896E-38CB-4B6E-BEBC-9298ED5E02AC}"/>
              </a:ext>
            </a:extLst>
          </p:cNvPr>
          <p:cNvSpPr>
            <a:spLocks xmlns:a="http://schemas.openxmlformats.org/drawingml/2006/main" noGrp="1"/>
          </p:cNvSpPr>
          <p:nvPr/>
        </p:nvSpPr>
        <p:spPr>
          <a:xfrm xmlns:a="http://schemas.openxmlformats.org/drawingml/2006/main">
            <a:off x="6419088" y="2523744"/>
            <a:ext cx="4983480" cy="11704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650"/>
              </a:lnSpc>
              <a:buNone/>
            </a:pPr>
            <a:r>
              <a:rPr sz="1200">
                <a:solidFill>
                  <a:srgbClr val="1A1A2E"/>
                </a:solidFill>
                <a:latin typeface="Calibri"/>
                <a:ea typeface="Calibri"/>
                <a:cs typeface="Calibri"/>
              </a:rPr>
              <a:t>It is not a seeding script writing rows into the database. Every record it makes is flagged synthetic, and it refuses to touch a real borrower's loan.</a:t>
            </a:r>
            <a:endParaRPr sz="1200"/>
          </a:p>
        </p:txBody>
      </p:sp>
      <p:sp>
        <p:nvSpPr>
          <p:cNvPr id="13" name="Shape 10">
            <a:extLst xmlns:a="http://schemas.openxmlformats.org/drawingml/2006/main">
              <a:ext uri="{FF2B5EF4-FFF2-40B4-BE49-F238E27FC236}">
                <a16:creationId xmlns:a16="http://schemas.microsoft.com/office/drawing/2014/main" id="{86008295-8316-49BE-853C-E82BBB869AF7}"/>
              </a:ext>
            </a:extLst>
          </p:cNvPr>
          <p:cNvSpPr>
            <a:spLocks xmlns:a="http://schemas.openxmlformats.org/drawingml/2006/main" noGrp="1"/>
          </p:cNvSpPr>
          <p:nvPr/>
        </p:nvSpPr>
        <p:spPr>
          <a:xfrm xmlns:a="http://schemas.openxmlformats.org/drawingml/2006/main">
            <a:off x="566928" y="4005072"/>
            <a:ext cx="11055096" cy="1591056"/>
          </a:xfrm>
          <a:prstGeom xmlns:a="http://schemas.openxmlformats.org/drawingml/2006/main" prst="roundRect">
            <a:avLst>
              <a:gd name="adj" fmla="val 4023"/>
            </a:avLst>
          </a:prstGeom>
          <a:solidFill xmlns:a="http://schemas.openxmlformats.org/drawingml/2006/main">
            <a:srgbClr val="240C54"/>
          </a:solidFill>
          <a:ln xmlns:a="http://schemas.openxmlformats.org/drawingml/2006/main" w="9525">
            <a:solidFill>
              <a:srgbClr val="240C54"/>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14" name="Text 11">
            <a:extLst xmlns:a="http://schemas.openxmlformats.org/drawingml/2006/main">
              <a:ext uri="{FF2B5EF4-FFF2-40B4-BE49-F238E27FC236}">
                <a16:creationId xmlns:a16="http://schemas.microsoft.com/office/drawing/2014/main" id="{2B47ACD2-C0F4-4739-81F5-7B51607E19B8}"/>
              </a:ext>
            </a:extLst>
          </p:cNvPr>
          <p:cNvSpPr>
            <a:spLocks xmlns:a="http://schemas.openxmlformats.org/drawingml/2006/main" noGrp="1"/>
          </p:cNvSpPr>
          <p:nvPr/>
        </p:nvSpPr>
        <p:spPr>
          <a:xfrm xmlns:a="http://schemas.openxmlformats.org/drawingml/2006/main">
            <a:off x="786384" y="4178808"/>
            <a:ext cx="10616184"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50" b="1">
                <a:solidFill>
                  <a:srgbClr val="E4B454"/>
                </a:solidFill>
                <a:latin typeface="Calibri"/>
                <a:ea typeface="Calibri"/>
                <a:cs typeface="Calibri"/>
              </a:rPr>
              <a:t>Live in production now</a:t>
            </a:r>
            <a:endParaRPr sz="1450"/>
          </a:p>
        </p:txBody>
      </p:sp>
      <p:sp>
        <p:nvSpPr>
          <p:cNvPr id="15" name="Text 12">
            <a:extLst xmlns:a="http://schemas.openxmlformats.org/drawingml/2006/main">
              <a:ext uri="{FF2B5EF4-FFF2-40B4-BE49-F238E27FC236}">
                <a16:creationId xmlns:a16="http://schemas.microsoft.com/office/drawing/2014/main" id="{F72E96A3-4236-48FB-A58D-321EA14E80EA}"/>
              </a:ext>
            </a:extLst>
          </p:cNvPr>
          <p:cNvSpPr>
            <a:spLocks xmlns:a="http://schemas.openxmlformats.org/drawingml/2006/main" noGrp="1"/>
          </p:cNvSpPr>
          <p:nvPr/>
        </p:nvSpPr>
        <p:spPr>
          <a:xfrm xmlns:a="http://schemas.openxmlformats.org/drawingml/2006/main">
            <a:off x="841248" y="4572000"/>
            <a:ext cx="164592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700" b="1">
                <a:solidFill>
                  <a:srgbClr val="FFFFFF"/>
                </a:solidFill>
                <a:latin typeface="Cambria"/>
                <a:ea typeface="Cambria"/>
                <a:cs typeface="Cambria"/>
              </a:rPr>
              <a:t>223</a:t>
            </a:r>
            <a:endParaRPr sz="2700"/>
          </a:p>
        </p:txBody>
      </p:sp>
      <p:sp>
        <p:nvSpPr>
          <p:cNvPr id="16" name="Text 13">
            <a:extLst xmlns:a="http://schemas.openxmlformats.org/drawingml/2006/main">
              <a:ext uri="{FF2B5EF4-FFF2-40B4-BE49-F238E27FC236}">
                <a16:creationId xmlns:a16="http://schemas.microsoft.com/office/drawing/2014/main" id="{A9542520-D8D6-4E6F-B6C3-FE871A141029}"/>
              </a:ext>
            </a:extLst>
          </p:cNvPr>
          <p:cNvSpPr>
            <a:spLocks xmlns:a="http://schemas.openxmlformats.org/drawingml/2006/main" noGrp="1"/>
          </p:cNvSpPr>
          <p:nvPr/>
        </p:nvSpPr>
        <p:spPr>
          <a:xfrm xmlns:a="http://schemas.openxmlformats.org/drawingml/2006/main">
            <a:off x="841248" y="5047488"/>
            <a:ext cx="164592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B9AEDD"/>
                </a:solidFill>
                <a:latin typeface="Calibri"/>
                <a:ea typeface="Calibri"/>
                <a:cs typeface="Calibri"/>
              </a:rPr>
              <a:t>titles</a:t>
            </a:r>
            <a:endParaRPr sz="1150"/>
          </a:p>
        </p:txBody>
      </p:sp>
      <p:sp>
        <p:nvSpPr>
          <p:cNvPr id="17" name="Text 14">
            <a:extLst xmlns:a="http://schemas.openxmlformats.org/drawingml/2006/main">
              <a:ext uri="{FF2B5EF4-FFF2-40B4-BE49-F238E27FC236}">
                <a16:creationId xmlns:a16="http://schemas.microsoft.com/office/drawing/2014/main" id="{1E346965-79FB-407B-A6D7-275F438B5520}"/>
              </a:ext>
            </a:extLst>
          </p:cNvPr>
          <p:cNvSpPr>
            <a:spLocks xmlns:a="http://schemas.openxmlformats.org/drawingml/2006/main" noGrp="1"/>
          </p:cNvSpPr>
          <p:nvPr/>
        </p:nvSpPr>
        <p:spPr>
          <a:xfrm xmlns:a="http://schemas.openxmlformats.org/drawingml/2006/main">
            <a:off x="2642616" y="4572000"/>
            <a:ext cx="164592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700" b="1">
                <a:solidFill>
                  <a:srgbClr val="FFFFFF"/>
                </a:solidFill>
                <a:latin typeface="Cambria"/>
                <a:ea typeface="Cambria"/>
                <a:cs typeface="Cambria"/>
              </a:rPr>
              <a:t>892</a:t>
            </a:r>
            <a:endParaRPr sz="2700"/>
          </a:p>
        </p:txBody>
      </p:sp>
      <p:sp>
        <p:nvSpPr>
          <p:cNvPr id="18" name="Text 15">
            <a:extLst xmlns:a="http://schemas.openxmlformats.org/drawingml/2006/main">
              <a:ext uri="{FF2B5EF4-FFF2-40B4-BE49-F238E27FC236}">
                <a16:creationId xmlns:a16="http://schemas.microsoft.com/office/drawing/2014/main" id="{9E4DEE25-F690-4700-9483-3D41D371EA13}"/>
              </a:ext>
            </a:extLst>
          </p:cNvPr>
          <p:cNvSpPr>
            <a:spLocks xmlns:a="http://schemas.openxmlformats.org/drawingml/2006/main" noGrp="1"/>
          </p:cNvSpPr>
          <p:nvPr/>
        </p:nvSpPr>
        <p:spPr>
          <a:xfrm xmlns:a="http://schemas.openxmlformats.org/drawingml/2006/main">
            <a:off x="2642616" y="5047488"/>
            <a:ext cx="164592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B9AEDD"/>
                </a:solidFill>
                <a:latin typeface="Calibri"/>
                <a:ea typeface="Calibri"/>
                <a:cs typeface="Calibri"/>
              </a:rPr>
              <a:t>copies</a:t>
            </a:r>
            <a:endParaRPr sz="1150"/>
          </a:p>
        </p:txBody>
      </p:sp>
      <p:sp>
        <p:nvSpPr>
          <p:cNvPr id="19" name="Text 16">
            <a:extLst xmlns:a="http://schemas.openxmlformats.org/drawingml/2006/main">
              <a:ext uri="{FF2B5EF4-FFF2-40B4-BE49-F238E27FC236}">
                <a16:creationId xmlns:a16="http://schemas.microsoft.com/office/drawing/2014/main" id="{6C221B24-D2DD-4259-AA6D-22F28CDF0510}"/>
              </a:ext>
            </a:extLst>
          </p:cNvPr>
          <p:cNvSpPr>
            <a:spLocks xmlns:a="http://schemas.openxmlformats.org/drawingml/2006/main" noGrp="1"/>
          </p:cNvSpPr>
          <p:nvPr/>
        </p:nvSpPr>
        <p:spPr>
          <a:xfrm xmlns:a="http://schemas.openxmlformats.org/drawingml/2006/main">
            <a:off x="4443984" y="4572000"/>
            <a:ext cx="164592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700" b="1">
                <a:solidFill>
                  <a:srgbClr val="FFFFFF"/>
                </a:solidFill>
                <a:latin typeface="Cambria"/>
                <a:ea typeface="Cambria"/>
                <a:cs typeface="Cambria"/>
              </a:rPr>
              <a:t>99</a:t>
            </a:r>
            <a:endParaRPr sz="2700"/>
          </a:p>
        </p:txBody>
      </p:sp>
      <p:sp>
        <p:nvSpPr>
          <p:cNvPr id="20" name="Text 17">
            <a:extLst xmlns:a="http://schemas.openxmlformats.org/drawingml/2006/main">
              <a:ext uri="{FF2B5EF4-FFF2-40B4-BE49-F238E27FC236}">
                <a16:creationId xmlns:a16="http://schemas.microsoft.com/office/drawing/2014/main" id="{3717AB0C-2CA3-4A16-92C3-3C375F291907}"/>
              </a:ext>
            </a:extLst>
          </p:cNvPr>
          <p:cNvSpPr>
            <a:spLocks xmlns:a="http://schemas.openxmlformats.org/drawingml/2006/main" noGrp="1"/>
          </p:cNvSpPr>
          <p:nvPr/>
        </p:nvSpPr>
        <p:spPr>
          <a:xfrm xmlns:a="http://schemas.openxmlformats.org/drawingml/2006/main">
            <a:off x="4443984" y="5047488"/>
            <a:ext cx="164592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B9AEDD"/>
                </a:solidFill>
                <a:latin typeface="Calibri"/>
                <a:ea typeface="Calibri"/>
                <a:cs typeface="Calibri"/>
              </a:rPr>
              <a:t>members</a:t>
            </a:r>
            <a:endParaRPr sz="1150"/>
          </a:p>
        </p:txBody>
      </p:sp>
      <p:sp>
        <p:nvSpPr>
          <p:cNvPr id="21" name="Text 18">
            <a:extLst xmlns:a="http://schemas.openxmlformats.org/drawingml/2006/main">
              <a:ext uri="{FF2B5EF4-FFF2-40B4-BE49-F238E27FC236}">
                <a16:creationId xmlns:a16="http://schemas.microsoft.com/office/drawing/2014/main" id="{17E9B3E4-B29D-4881-986D-ECBDB8312098}"/>
              </a:ext>
            </a:extLst>
          </p:cNvPr>
          <p:cNvSpPr>
            <a:spLocks xmlns:a="http://schemas.openxmlformats.org/drawingml/2006/main" noGrp="1"/>
          </p:cNvSpPr>
          <p:nvPr/>
        </p:nvSpPr>
        <p:spPr>
          <a:xfrm xmlns:a="http://schemas.openxmlformats.org/drawingml/2006/main">
            <a:off x="6245352" y="4572000"/>
            <a:ext cx="164592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700" b="1">
                <a:solidFill>
                  <a:srgbClr val="FFFFFF"/>
                </a:solidFill>
                <a:latin typeface="Cambria"/>
                <a:ea typeface="Cambria"/>
                <a:cs typeface="Cambria"/>
              </a:rPr>
              <a:t>86</a:t>
            </a:r>
            <a:endParaRPr sz="2700"/>
          </a:p>
        </p:txBody>
      </p:sp>
      <p:sp>
        <p:nvSpPr>
          <p:cNvPr id="22" name="Text 19">
            <a:extLst xmlns:a="http://schemas.openxmlformats.org/drawingml/2006/main">
              <a:ext uri="{FF2B5EF4-FFF2-40B4-BE49-F238E27FC236}">
                <a16:creationId xmlns:a16="http://schemas.microsoft.com/office/drawing/2014/main" id="{C53C42B6-237E-453D-AAE3-E99E7DC227FD}"/>
              </a:ext>
            </a:extLst>
          </p:cNvPr>
          <p:cNvSpPr>
            <a:spLocks xmlns:a="http://schemas.openxmlformats.org/drawingml/2006/main" noGrp="1"/>
          </p:cNvSpPr>
          <p:nvPr/>
        </p:nvSpPr>
        <p:spPr>
          <a:xfrm xmlns:a="http://schemas.openxmlformats.org/drawingml/2006/main">
            <a:off x="6245352" y="5047488"/>
            <a:ext cx="164592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B9AEDD"/>
                </a:solidFill>
                <a:latin typeface="Calibri"/>
                <a:ea typeface="Calibri"/>
                <a:cs typeface="Calibri"/>
              </a:rPr>
              <a:t>loans</a:t>
            </a:r>
            <a:endParaRPr sz="1150"/>
          </a:p>
        </p:txBody>
      </p:sp>
      <p:sp>
        <p:nvSpPr>
          <p:cNvPr id="23" name="Text 20">
            <a:extLst xmlns:a="http://schemas.openxmlformats.org/drawingml/2006/main">
              <a:ext uri="{FF2B5EF4-FFF2-40B4-BE49-F238E27FC236}">
                <a16:creationId xmlns:a16="http://schemas.microsoft.com/office/drawing/2014/main" id="{770B0A72-8449-497C-B12C-F4E7F55A99D3}"/>
              </a:ext>
            </a:extLst>
          </p:cNvPr>
          <p:cNvSpPr>
            <a:spLocks xmlns:a="http://schemas.openxmlformats.org/drawingml/2006/main" noGrp="1"/>
          </p:cNvSpPr>
          <p:nvPr/>
        </p:nvSpPr>
        <p:spPr>
          <a:xfrm xmlns:a="http://schemas.openxmlformats.org/drawingml/2006/main">
            <a:off x="8046720" y="4572000"/>
            <a:ext cx="164592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700" b="1">
                <a:solidFill>
                  <a:srgbClr val="FFFFFF"/>
                </a:solidFill>
                <a:latin typeface="Cambria"/>
                <a:ea typeface="Cambria"/>
                <a:cs typeface="Cambria"/>
              </a:rPr>
              <a:t>252</a:t>
            </a:r>
            <a:endParaRPr sz="2700"/>
          </a:p>
        </p:txBody>
      </p:sp>
      <p:sp>
        <p:nvSpPr>
          <p:cNvPr id="24" name="Text 21">
            <a:extLst xmlns:a="http://schemas.openxmlformats.org/drawingml/2006/main">
              <a:ext uri="{FF2B5EF4-FFF2-40B4-BE49-F238E27FC236}">
                <a16:creationId xmlns:a16="http://schemas.microsoft.com/office/drawing/2014/main" id="{1709E692-4F2F-4E42-9C8D-39F5D20C9717}"/>
              </a:ext>
            </a:extLst>
          </p:cNvPr>
          <p:cNvSpPr>
            <a:spLocks xmlns:a="http://schemas.openxmlformats.org/drawingml/2006/main" noGrp="1"/>
          </p:cNvSpPr>
          <p:nvPr/>
        </p:nvSpPr>
        <p:spPr>
          <a:xfrm xmlns:a="http://schemas.openxmlformats.org/drawingml/2006/main">
            <a:off x="8046720" y="5047488"/>
            <a:ext cx="164592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B9AEDD"/>
                </a:solidFill>
                <a:latin typeface="Calibri"/>
                <a:ea typeface="Calibri"/>
                <a:cs typeface="Calibri"/>
              </a:rPr>
              <a:t>authors</a:t>
            </a:r>
            <a:endParaRPr sz="1150"/>
          </a:p>
        </p:txBody>
      </p:sp>
      <p:sp>
        <p:nvSpPr>
          <p:cNvPr id="25" name="Text 22">
            <a:extLst xmlns:a="http://schemas.openxmlformats.org/drawingml/2006/main">
              <a:ext uri="{FF2B5EF4-FFF2-40B4-BE49-F238E27FC236}">
                <a16:creationId xmlns:a16="http://schemas.microsoft.com/office/drawing/2014/main" id="{4BA80995-FAAB-49AF-AFF7-50BC2B6001E1}"/>
              </a:ext>
            </a:extLst>
          </p:cNvPr>
          <p:cNvSpPr>
            <a:spLocks xmlns:a="http://schemas.openxmlformats.org/drawingml/2006/main" noGrp="1"/>
          </p:cNvSpPr>
          <p:nvPr/>
        </p:nvSpPr>
        <p:spPr>
          <a:xfrm xmlns:a="http://schemas.openxmlformats.org/drawingml/2006/main">
            <a:off x="9848088" y="4572000"/>
            <a:ext cx="164592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700" b="1">
                <a:solidFill>
                  <a:srgbClr val="FFFFFF"/>
                </a:solidFill>
                <a:latin typeface="Cambria"/>
                <a:ea typeface="Cambria"/>
                <a:cs typeface="Cambria"/>
              </a:rPr>
              <a:t>332</a:t>
            </a:r>
            <a:endParaRPr sz="2700"/>
          </a:p>
        </p:txBody>
      </p:sp>
      <p:sp>
        <p:nvSpPr>
          <p:cNvPr id="26" name="Text 23">
            <a:extLst xmlns:a="http://schemas.openxmlformats.org/drawingml/2006/main">
              <a:ext uri="{FF2B5EF4-FFF2-40B4-BE49-F238E27FC236}">
                <a16:creationId xmlns:a16="http://schemas.microsoft.com/office/drawing/2014/main" id="{D3C93E2B-6447-4DA7-8B80-0A3D6A289F25}"/>
              </a:ext>
            </a:extLst>
          </p:cNvPr>
          <p:cNvSpPr>
            <a:spLocks xmlns:a="http://schemas.openxmlformats.org/drawingml/2006/main" noGrp="1"/>
          </p:cNvSpPr>
          <p:nvPr/>
        </p:nvSpPr>
        <p:spPr>
          <a:xfrm xmlns:a="http://schemas.openxmlformats.org/drawingml/2006/main">
            <a:off x="9848088" y="5047488"/>
            <a:ext cx="164592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B9AEDD"/>
                </a:solidFill>
                <a:latin typeface="Calibri"/>
                <a:ea typeface="Calibri"/>
                <a:cs typeface="Calibri"/>
              </a:rPr>
              <a:t>subjects</a:t>
            </a:r>
            <a:endParaRPr sz="1150"/>
          </a:p>
        </p:txBody>
      </p:sp>
    </p:spTree>
    <p:extLst>
      <p:ext uri="{BB962C8B-B14F-4D97-AF65-F5344CB8AC3E}">
        <p14:creationId xmlns:p14="http://schemas.microsoft.com/office/powerpoint/2010/main" val="630446870"/>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0195ADC-1B8D-4357-BD9E-4B25B2AE254A}"/>
              </a:ext>
            </a:extLst>
          </p:cNvPr>
          <p:cNvSpPr>
            <a:spLocks xmlns:a="http://schemas.openxmlformats.org/drawingml/2006/main" noGrp="1"/>
          </p:cNvSpPr>
          <p:nvPr/>
        </p:nvSpPr>
        <p:spPr>
          <a:xfrm xmlns:a="http://schemas.openxmlformats.org/drawingml/2006/main">
            <a:off x="566928" y="384048"/>
            <a:ext cx="82296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20">
                <a:solidFill>
                  <a:srgbClr val="E4B454"/>
                </a:solidFill>
                <a:latin typeface="Calibri"/>
                <a:ea typeface="Calibri"/>
                <a:cs typeface="Calibri"/>
              </a:rPr>
              <a:t>VERSION CONTROL AND DELIVERY</a:t>
            </a:r>
            <a:endParaRPr sz="1100"/>
          </a:p>
        </p:txBody>
      </p:sp>
      <p:sp>
        <p:nvSpPr>
          <p:cNvPr id="3" name="Text 1">
            <a:extLst xmlns:a="http://schemas.openxmlformats.org/drawingml/2006/main">
              <a:ext uri="{FF2B5EF4-FFF2-40B4-BE49-F238E27FC236}">
                <a16:creationId xmlns:a16="http://schemas.microsoft.com/office/drawing/2014/main" id="{D6AEB3B5-10E1-4BC9-B809-8304ABA97EF1}"/>
              </a:ext>
            </a:extLst>
          </p:cNvPr>
          <p:cNvSpPr>
            <a:spLocks xmlns:a="http://schemas.openxmlformats.org/drawingml/2006/main" noGrp="1"/>
          </p:cNvSpPr>
          <p:nvPr/>
        </p:nvSpPr>
        <p:spPr>
          <a:xfrm xmlns:a="http://schemas.openxmlformats.org/drawingml/2006/main">
            <a:off x="566928" y="640080"/>
            <a:ext cx="96926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40C54"/>
                </a:solidFill>
                <a:latin typeface="Cambria"/>
                <a:ea typeface="Cambria"/>
                <a:cs typeface="Cambria"/>
              </a:rPr>
              <a:t>Nothing reaches production by hand</a:t>
            </a:r>
            <a:endParaRPr sz="3000"/>
          </a:p>
        </p:txBody>
      </p:sp>
      <p:pic>
        <p:nvPicPr>
          <p:cNvPr id="42" name="Image 0"/>
          <p:cNvPicPr>
            <a:picLocks xmlns:a="http://schemas.openxmlformats.org/drawingml/2006/main" noChangeAspect="1"/>
          </p:cNvPicPr>
          <p:nvPr/>
        </p:nvPicPr>
        <p:blipFill>
          <a:blip xmlns:r="http://schemas.openxmlformats.org/officeDocument/2006/relationships" xmlns:a="http://schemas.openxmlformats.org/drawingml/2006/main" r:embed="Recc8fd92397b4b82"/>
          <a:stretch xmlns:a="http://schemas.openxmlformats.org/drawingml/2006/main">
            <a:fillRect l="0" t="0" r="0" b="0"/>
          </a:stretch>
        </p:blipFill>
        <p:spPr>
          <a:xfrm xmlns:a="http://schemas.openxmlformats.org/drawingml/2006/main">
            <a:off x="11149279" y="365760"/>
            <a:ext cx="475488" cy="466344"/>
          </a:xfrm>
          <a:prstGeom xmlns:a="http://schemas.openxmlformats.org/drawingml/2006/main" prst="rect">
            <a:avLst/>
          </a:prstGeom>
        </p:spPr>
      </p:pic>
      <p:sp>
        <p:nvSpPr>
          <p:cNvPr id="5" name="Text 2">
            <a:extLst xmlns:a="http://schemas.openxmlformats.org/drawingml/2006/main">
              <a:ext uri="{FF2B5EF4-FFF2-40B4-BE49-F238E27FC236}">
                <a16:creationId xmlns:a16="http://schemas.microsoft.com/office/drawing/2014/main" id="{A9810048-0DC3-4C92-A654-0B76F0853E07}"/>
              </a:ext>
            </a:extLst>
          </p:cNvPr>
          <p:cNvSpPr>
            <a:spLocks xmlns:a="http://schemas.openxmlformats.org/drawingml/2006/main" noGrp="1"/>
          </p:cNvSpPr>
          <p:nvPr/>
        </p:nvSpPr>
        <p:spPr>
          <a:xfrm xmlns:a="http://schemas.openxmlformats.org/drawingml/2006/main">
            <a:off x="11149279" y="6382512"/>
            <a:ext cx="475488"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000">
                <a:solidFill>
                  <a:srgbClr val="5B5B6B"/>
                </a:solidFill>
                <a:latin typeface="Calibri"/>
                <a:ea typeface="Calibri"/>
                <a:cs typeface="Calibri"/>
              </a:rPr>
              <a:t>15</a:t>
            </a:r>
            <a:endParaRPr sz="1000"/>
          </a:p>
        </p:txBody>
      </p:sp>
      <p:sp>
        <p:nvSpPr>
          <p:cNvPr id="6" name="Text 3">
            <a:extLst xmlns:a="http://schemas.openxmlformats.org/drawingml/2006/main">
              <a:ext uri="{FF2B5EF4-FFF2-40B4-BE49-F238E27FC236}">
                <a16:creationId xmlns:a16="http://schemas.microsoft.com/office/drawing/2014/main" id="{B28ED607-246A-487D-BE98-00FB2EA9584B}"/>
              </a:ext>
            </a:extLst>
          </p:cNvPr>
          <p:cNvSpPr>
            <a:spLocks xmlns:a="http://schemas.openxmlformats.org/drawingml/2006/main" noGrp="1"/>
          </p:cNvSpPr>
          <p:nvPr/>
        </p:nvSpPr>
        <p:spPr>
          <a:xfrm xmlns:a="http://schemas.openxmlformats.org/drawingml/2006/main">
            <a:off x="566928" y="1335024"/>
            <a:ext cx="1005840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2000"/>
              </a:lnSpc>
              <a:buNone/>
            </a:pPr>
            <a:r>
              <a:rPr sz="1400">
                <a:solidFill>
                  <a:srgbClr val="1A1A2E"/>
                </a:solidFill>
                <a:latin typeface="Calibri"/>
                <a:ea typeface="Calibri"/>
                <a:cs typeface="Calibri"/>
              </a:rPr>
              <a:t>Work is tracked in Git on GitHub. Every push runs the same pipeline, and a failure at any stage stops the deployment.</a:t>
            </a:r>
            <a:endParaRPr sz="1400"/>
          </a:p>
        </p:txBody>
      </p:sp>
      <p:sp>
        <p:nvSpPr>
          <p:cNvPr id="7" name="Shape 4">
            <a:extLst xmlns:a="http://schemas.openxmlformats.org/drawingml/2006/main">
              <a:ext uri="{FF2B5EF4-FFF2-40B4-BE49-F238E27FC236}">
                <a16:creationId xmlns:a16="http://schemas.microsoft.com/office/drawing/2014/main" id="{0A5968FA-AD47-4EDE-99AE-DDFA289542D1}"/>
              </a:ext>
            </a:extLst>
          </p:cNvPr>
          <p:cNvSpPr>
            <a:spLocks xmlns:a="http://schemas.openxmlformats.org/drawingml/2006/main" noGrp="1"/>
          </p:cNvSpPr>
          <p:nvPr/>
        </p:nvSpPr>
        <p:spPr>
          <a:xfrm xmlns:a="http://schemas.openxmlformats.org/drawingml/2006/main">
            <a:off x="566928" y="2011680"/>
            <a:ext cx="1627632" cy="1481328"/>
          </a:xfrm>
          <a:prstGeom xmlns:a="http://schemas.openxmlformats.org/drawingml/2006/main" prst="roundRect">
            <a:avLst>
              <a:gd name="adj" fmla="val 4321"/>
            </a:avLst>
          </a:prstGeom>
          <a:solidFill xmlns:a="http://schemas.openxmlformats.org/drawingml/2006/main">
            <a:srgbClr val="240C54"/>
          </a:solidFill>
          <a:ln xmlns:a="http://schemas.openxmlformats.org/drawingml/2006/main" w="12700">
            <a:solidFill>
              <a:srgbClr val="240C54"/>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8" name="Text 5">
            <a:extLst xmlns:a="http://schemas.openxmlformats.org/drawingml/2006/main">
              <a:ext uri="{FF2B5EF4-FFF2-40B4-BE49-F238E27FC236}">
                <a16:creationId xmlns:a16="http://schemas.microsoft.com/office/drawing/2014/main" id="{88670E0B-8131-4166-B201-B346807C0B54}"/>
              </a:ext>
            </a:extLst>
          </p:cNvPr>
          <p:cNvSpPr>
            <a:spLocks xmlns:a="http://schemas.openxmlformats.org/drawingml/2006/main" noGrp="1"/>
          </p:cNvSpPr>
          <p:nvPr/>
        </p:nvSpPr>
        <p:spPr>
          <a:xfrm xmlns:a="http://schemas.openxmlformats.org/drawingml/2006/main">
            <a:off x="694944" y="2176272"/>
            <a:ext cx="13716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E4B454"/>
                </a:solidFill>
                <a:latin typeface="Calibri"/>
                <a:ea typeface="Calibri"/>
                <a:cs typeface="Calibri"/>
              </a:rPr>
              <a:t>Test</a:t>
            </a:r>
            <a:endParaRPr sz="1400"/>
          </a:p>
        </p:txBody>
      </p:sp>
      <p:sp>
        <p:nvSpPr>
          <p:cNvPr id="9" name="Text 6">
            <a:extLst xmlns:a="http://schemas.openxmlformats.org/drawingml/2006/main">
              <a:ext uri="{FF2B5EF4-FFF2-40B4-BE49-F238E27FC236}">
                <a16:creationId xmlns:a16="http://schemas.microsoft.com/office/drawing/2014/main" id="{CB9230AF-BB70-4DD9-9660-244D15DB23A7}"/>
              </a:ext>
            </a:extLst>
          </p:cNvPr>
          <p:cNvSpPr>
            <a:spLocks xmlns:a="http://schemas.openxmlformats.org/drawingml/2006/main" noGrp="1"/>
          </p:cNvSpPr>
          <p:nvPr/>
        </p:nvSpPr>
        <p:spPr>
          <a:xfrm xmlns:a="http://schemas.openxmlformats.org/drawingml/2006/main">
            <a:off x="658368" y="2505456"/>
            <a:ext cx="1444752" cy="8412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ts val="1450"/>
              </a:lnSpc>
              <a:buNone/>
            </a:pPr>
            <a:r>
              <a:rPr sz="1100">
                <a:solidFill>
                  <a:srgbClr val="DAD5EC"/>
                </a:solidFill>
                <a:latin typeface="Calibri"/>
                <a:ea typeface="Calibri"/>
                <a:cs typeface="Calibri"/>
              </a:rPr>
              <a:t>101 tests</a:t>
            </a:r>
            <a:endParaRPr sz="1100"/>
          </a:p>
          <a:p xmlns:a="http://schemas.openxmlformats.org/drawingml/2006/main">
            <a:pPr marL="0" indent="0" algn="ctr">
              <a:lnSpc>
                <a:spcPts val="1450"/>
              </a:lnSpc>
              <a:buNone/>
            </a:pPr>
            <a:r>
              <a:rPr sz="1100">
                <a:solidFill>
                  <a:srgbClr val="DAD5EC"/>
                </a:solidFill>
                <a:latin typeface="Calibri"/>
                <a:ea typeface="Calibri"/>
                <a:cs typeface="Calibri"/>
              </a:rPr>
              <a:t>across 4 levels</a:t>
            </a:r>
            <a:endParaRPr sz="1100"/>
          </a:p>
        </p:txBody>
      </p:sp>
      <p:sp>
        <p:nvSpPr>
          <p:cNvPr id="10" name="Shape 7">
            <a:extLst xmlns:a="http://schemas.openxmlformats.org/drawingml/2006/main">
              <a:ext uri="{FF2B5EF4-FFF2-40B4-BE49-F238E27FC236}">
                <a16:creationId xmlns:a16="http://schemas.microsoft.com/office/drawing/2014/main" id="{7AAAFD64-12D0-4521-AE26-73AEAE3B528A}"/>
              </a:ext>
            </a:extLst>
          </p:cNvPr>
          <p:cNvSpPr>
            <a:spLocks xmlns:a="http://schemas.openxmlformats.org/drawingml/2006/main" noGrp="1"/>
          </p:cNvSpPr>
          <p:nvPr/>
        </p:nvSpPr>
        <p:spPr>
          <a:xfrm xmlns:a="http://schemas.openxmlformats.org/drawingml/2006/main">
            <a:off x="2240280" y="2679192"/>
            <a:ext cx="155448" cy="155448"/>
          </a:xfrm>
          <a:prstGeom xmlns:a="http://schemas.openxmlformats.org/drawingml/2006/main" prst="chevron">
            <a:avLst/>
          </a:prstGeom>
          <a:solidFill xmlns:a="http://schemas.openxmlformats.org/drawingml/2006/main">
            <a:srgbClr val="D8DAE5"/>
          </a:solidFill>
          <a:ln xmlns:a="http://schemas.openxmlformats.org/drawingml/2006/main" w="12700">
            <a:solidFill>
              <a:srgbClr val="D8DAE5"/>
            </a:solidFill>
            <a:prstDash val="solid"/>
          </a:ln>
        </p:spPr>
      </p:sp>
      <p:sp>
        <p:nvSpPr>
          <p:cNvPr id="11" name="Shape 8">
            <a:extLst xmlns:a="http://schemas.openxmlformats.org/drawingml/2006/main">
              <a:ext uri="{FF2B5EF4-FFF2-40B4-BE49-F238E27FC236}">
                <a16:creationId xmlns:a16="http://schemas.microsoft.com/office/drawing/2014/main" id="{9B6D2BC9-E168-470A-9CEA-BEF5C6E60596}"/>
              </a:ext>
            </a:extLst>
          </p:cNvPr>
          <p:cNvSpPr>
            <a:spLocks xmlns:a="http://schemas.openxmlformats.org/drawingml/2006/main" noGrp="1"/>
          </p:cNvSpPr>
          <p:nvPr/>
        </p:nvSpPr>
        <p:spPr>
          <a:xfrm xmlns:a="http://schemas.openxmlformats.org/drawingml/2006/main">
            <a:off x="2441448" y="2011680"/>
            <a:ext cx="1627632" cy="1481328"/>
          </a:xfrm>
          <a:prstGeom xmlns:a="http://schemas.openxmlformats.org/drawingml/2006/main" prst="roundRect">
            <a:avLst>
              <a:gd name="adj" fmla="val 4321"/>
            </a:avLst>
          </a:prstGeom>
          <a:solidFill xmlns:a="http://schemas.openxmlformats.org/drawingml/2006/main">
            <a:srgbClr val="240C54"/>
          </a:solidFill>
          <a:ln xmlns:a="http://schemas.openxmlformats.org/drawingml/2006/main" w="12700">
            <a:solidFill>
              <a:srgbClr val="240C54"/>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12" name="Text 9">
            <a:extLst xmlns:a="http://schemas.openxmlformats.org/drawingml/2006/main">
              <a:ext uri="{FF2B5EF4-FFF2-40B4-BE49-F238E27FC236}">
                <a16:creationId xmlns:a16="http://schemas.microsoft.com/office/drawing/2014/main" id="{0C4AA2B6-5E0E-4BDF-8A14-EB9D472EE337}"/>
              </a:ext>
            </a:extLst>
          </p:cNvPr>
          <p:cNvSpPr>
            <a:spLocks xmlns:a="http://schemas.openxmlformats.org/drawingml/2006/main" noGrp="1"/>
          </p:cNvSpPr>
          <p:nvPr/>
        </p:nvSpPr>
        <p:spPr>
          <a:xfrm xmlns:a="http://schemas.openxmlformats.org/drawingml/2006/main">
            <a:off x="2569464" y="2176272"/>
            <a:ext cx="13716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E4B454"/>
                </a:solidFill>
                <a:latin typeface="Calibri"/>
                <a:ea typeface="Calibri"/>
                <a:cs typeface="Calibri"/>
              </a:rPr>
              <a:t>Scan</a:t>
            </a:r>
            <a:endParaRPr sz="1400"/>
          </a:p>
        </p:txBody>
      </p:sp>
      <p:sp>
        <p:nvSpPr>
          <p:cNvPr id="13" name="Text 10">
            <a:extLst xmlns:a="http://schemas.openxmlformats.org/drawingml/2006/main">
              <a:ext uri="{FF2B5EF4-FFF2-40B4-BE49-F238E27FC236}">
                <a16:creationId xmlns:a16="http://schemas.microsoft.com/office/drawing/2014/main" id="{84F3F582-7AD2-40D6-9378-8BB7ECB022BE}"/>
              </a:ext>
            </a:extLst>
          </p:cNvPr>
          <p:cNvSpPr>
            <a:spLocks xmlns:a="http://schemas.openxmlformats.org/drawingml/2006/main" noGrp="1"/>
          </p:cNvSpPr>
          <p:nvPr/>
        </p:nvSpPr>
        <p:spPr>
          <a:xfrm xmlns:a="http://schemas.openxmlformats.org/drawingml/2006/main">
            <a:off x="2532888" y="2505456"/>
            <a:ext cx="1444752" cy="8412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ts val="1450"/>
              </a:lnSpc>
              <a:buNone/>
            </a:pPr>
            <a:r>
              <a:rPr sz="1100">
                <a:solidFill>
                  <a:srgbClr val="DAD5EC"/>
                </a:solidFill>
                <a:latin typeface="Calibri"/>
                <a:ea typeface="Calibri"/>
                <a:cs typeface="Calibri"/>
              </a:rPr>
              <a:t>Dependency</a:t>
            </a:r>
            <a:endParaRPr sz="1100"/>
          </a:p>
          <a:p xmlns:a="http://schemas.openxmlformats.org/drawingml/2006/main">
            <a:pPr marL="0" indent="0" algn="ctr">
              <a:lnSpc>
                <a:spcPts val="1450"/>
              </a:lnSpc>
              <a:buNone/>
            </a:pPr>
            <a:r>
              <a:rPr sz="1100">
                <a:solidFill>
                  <a:srgbClr val="DAD5EC"/>
                </a:solidFill>
                <a:latin typeface="Calibri"/>
                <a:ea typeface="Calibri"/>
                <a:cs typeface="Calibri"/>
              </a:rPr>
              <a:t>vulnerabilities</a:t>
            </a:r>
            <a:endParaRPr sz="1100"/>
          </a:p>
        </p:txBody>
      </p:sp>
      <p:sp>
        <p:nvSpPr>
          <p:cNvPr id="14" name="Shape 11">
            <a:extLst xmlns:a="http://schemas.openxmlformats.org/drawingml/2006/main">
              <a:ext uri="{FF2B5EF4-FFF2-40B4-BE49-F238E27FC236}">
                <a16:creationId xmlns:a16="http://schemas.microsoft.com/office/drawing/2014/main" id="{4450343A-AA24-48E0-8B45-13CCD20EC3EE}"/>
              </a:ext>
            </a:extLst>
          </p:cNvPr>
          <p:cNvSpPr>
            <a:spLocks xmlns:a="http://schemas.openxmlformats.org/drawingml/2006/main" noGrp="1"/>
          </p:cNvSpPr>
          <p:nvPr/>
        </p:nvSpPr>
        <p:spPr>
          <a:xfrm xmlns:a="http://schemas.openxmlformats.org/drawingml/2006/main">
            <a:off x="4114800" y="2679192"/>
            <a:ext cx="155448" cy="155448"/>
          </a:xfrm>
          <a:prstGeom xmlns:a="http://schemas.openxmlformats.org/drawingml/2006/main" prst="chevron">
            <a:avLst/>
          </a:prstGeom>
          <a:solidFill xmlns:a="http://schemas.openxmlformats.org/drawingml/2006/main">
            <a:srgbClr val="D8DAE5"/>
          </a:solidFill>
          <a:ln xmlns:a="http://schemas.openxmlformats.org/drawingml/2006/main" w="12700">
            <a:solidFill>
              <a:srgbClr val="D8DAE5"/>
            </a:solidFill>
            <a:prstDash val="solid"/>
          </a:ln>
        </p:spPr>
      </p:sp>
      <p:sp>
        <p:nvSpPr>
          <p:cNvPr id="15" name="Shape 12">
            <a:extLst xmlns:a="http://schemas.openxmlformats.org/drawingml/2006/main">
              <a:ext uri="{FF2B5EF4-FFF2-40B4-BE49-F238E27FC236}">
                <a16:creationId xmlns:a16="http://schemas.microsoft.com/office/drawing/2014/main" id="{718C705D-6283-487E-95C5-A324A5C87690}"/>
              </a:ext>
            </a:extLst>
          </p:cNvPr>
          <p:cNvSpPr>
            <a:spLocks xmlns:a="http://schemas.openxmlformats.org/drawingml/2006/main" noGrp="1"/>
          </p:cNvSpPr>
          <p:nvPr/>
        </p:nvSpPr>
        <p:spPr>
          <a:xfrm xmlns:a="http://schemas.openxmlformats.org/drawingml/2006/main">
            <a:off x="4315968" y="2011680"/>
            <a:ext cx="1627632" cy="1481328"/>
          </a:xfrm>
          <a:prstGeom xmlns:a="http://schemas.openxmlformats.org/drawingml/2006/main" prst="roundRect">
            <a:avLst>
              <a:gd name="adj" fmla="val 4321"/>
            </a:avLst>
          </a:prstGeom>
          <a:solidFill xmlns:a="http://schemas.openxmlformats.org/drawingml/2006/main">
            <a:srgbClr val="240C54"/>
          </a:solidFill>
          <a:ln xmlns:a="http://schemas.openxmlformats.org/drawingml/2006/main" w="12700">
            <a:solidFill>
              <a:srgbClr val="240C54"/>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16" name="Text 13">
            <a:extLst xmlns:a="http://schemas.openxmlformats.org/drawingml/2006/main">
              <a:ext uri="{FF2B5EF4-FFF2-40B4-BE49-F238E27FC236}">
                <a16:creationId xmlns:a16="http://schemas.microsoft.com/office/drawing/2014/main" id="{998B330B-A6AF-4BDE-AE9F-C2A1932AB710}"/>
              </a:ext>
            </a:extLst>
          </p:cNvPr>
          <p:cNvSpPr>
            <a:spLocks xmlns:a="http://schemas.openxmlformats.org/drawingml/2006/main" noGrp="1"/>
          </p:cNvSpPr>
          <p:nvPr/>
        </p:nvSpPr>
        <p:spPr>
          <a:xfrm xmlns:a="http://schemas.openxmlformats.org/drawingml/2006/main">
            <a:off x="4443984" y="2176272"/>
            <a:ext cx="13716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E4B454"/>
                </a:solidFill>
                <a:latin typeface="Calibri"/>
                <a:ea typeface="Calibri"/>
                <a:cs typeface="Calibri"/>
              </a:rPr>
              <a:t>Migrate</a:t>
            </a:r>
            <a:endParaRPr sz="1400"/>
          </a:p>
        </p:txBody>
      </p:sp>
      <p:sp>
        <p:nvSpPr>
          <p:cNvPr id="17" name="Text 14">
            <a:extLst xmlns:a="http://schemas.openxmlformats.org/drawingml/2006/main">
              <a:ext uri="{FF2B5EF4-FFF2-40B4-BE49-F238E27FC236}">
                <a16:creationId xmlns:a16="http://schemas.microsoft.com/office/drawing/2014/main" id="{7B0A8F6C-44E5-4A1B-8AD9-EBC1B64B7C55}"/>
              </a:ext>
            </a:extLst>
          </p:cNvPr>
          <p:cNvSpPr>
            <a:spLocks xmlns:a="http://schemas.openxmlformats.org/drawingml/2006/main" noGrp="1"/>
          </p:cNvSpPr>
          <p:nvPr/>
        </p:nvSpPr>
        <p:spPr>
          <a:xfrm xmlns:a="http://schemas.openxmlformats.org/drawingml/2006/main">
            <a:off x="4407408" y="2505456"/>
            <a:ext cx="1444752" cy="8412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ts val="1450"/>
              </a:lnSpc>
              <a:buNone/>
            </a:pPr>
            <a:r>
              <a:rPr sz="1100">
                <a:solidFill>
                  <a:srgbClr val="DAD5EC"/>
                </a:solidFill>
                <a:latin typeface="Calibri"/>
                <a:ea typeface="Calibri"/>
                <a:cs typeface="Calibri"/>
              </a:rPr>
              <a:t>Applied files</a:t>
            </a:r>
            <a:endParaRPr sz="1100"/>
          </a:p>
          <a:p xmlns:a="http://schemas.openxmlformats.org/drawingml/2006/main">
            <a:pPr marL="0" indent="0" algn="ctr">
              <a:lnSpc>
                <a:spcPts val="1450"/>
              </a:lnSpc>
              <a:buNone/>
            </a:pPr>
            <a:r>
              <a:rPr sz="1100">
                <a:solidFill>
                  <a:srgbClr val="DAD5EC"/>
                </a:solidFill>
                <a:latin typeface="Calibri"/>
                <a:ea typeface="Calibri"/>
                <a:cs typeface="Calibri"/>
              </a:rPr>
              <a:t>cannot change</a:t>
            </a:r>
            <a:endParaRPr sz="1100"/>
          </a:p>
        </p:txBody>
      </p:sp>
      <p:sp>
        <p:nvSpPr>
          <p:cNvPr id="18" name="Shape 15">
            <a:extLst xmlns:a="http://schemas.openxmlformats.org/drawingml/2006/main">
              <a:ext uri="{FF2B5EF4-FFF2-40B4-BE49-F238E27FC236}">
                <a16:creationId xmlns:a16="http://schemas.microsoft.com/office/drawing/2014/main" id="{E587E2D6-2E35-44B5-A295-B4F6FAD62D3C}"/>
              </a:ext>
            </a:extLst>
          </p:cNvPr>
          <p:cNvSpPr>
            <a:spLocks xmlns:a="http://schemas.openxmlformats.org/drawingml/2006/main" noGrp="1"/>
          </p:cNvSpPr>
          <p:nvPr/>
        </p:nvSpPr>
        <p:spPr>
          <a:xfrm xmlns:a="http://schemas.openxmlformats.org/drawingml/2006/main">
            <a:off x="5989320" y="2679192"/>
            <a:ext cx="155448" cy="155448"/>
          </a:xfrm>
          <a:prstGeom xmlns:a="http://schemas.openxmlformats.org/drawingml/2006/main" prst="chevron">
            <a:avLst/>
          </a:prstGeom>
          <a:solidFill xmlns:a="http://schemas.openxmlformats.org/drawingml/2006/main">
            <a:srgbClr val="D8DAE5"/>
          </a:solidFill>
          <a:ln xmlns:a="http://schemas.openxmlformats.org/drawingml/2006/main" w="12700">
            <a:solidFill>
              <a:srgbClr val="D8DAE5"/>
            </a:solidFill>
            <a:prstDash val="solid"/>
          </a:ln>
        </p:spPr>
      </p:sp>
      <p:sp>
        <p:nvSpPr>
          <p:cNvPr id="19" name="Shape 16">
            <a:extLst xmlns:a="http://schemas.openxmlformats.org/drawingml/2006/main">
              <a:ext uri="{FF2B5EF4-FFF2-40B4-BE49-F238E27FC236}">
                <a16:creationId xmlns:a16="http://schemas.microsoft.com/office/drawing/2014/main" id="{7A6FB519-4348-41D0-B618-EF849AA513F9}"/>
              </a:ext>
            </a:extLst>
          </p:cNvPr>
          <p:cNvSpPr>
            <a:spLocks xmlns:a="http://schemas.openxmlformats.org/drawingml/2006/main" noGrp="1"/>
          </p:cNvSpPr>
          <p:nvPr/>
        </p:nvSpPr>
        <p:spPr>
          <a:xfrm xmlns:a="http://schemas.openxmlformats.org/drawingml/2006/main">
            <a:off x="6190488" y="2011680"/>
            <a:ext cx="1627632" cy="1481328"/>
          </a:xfrm>
          <a:prstGeom xmlns:a="http://schemas.openxmlformats.org/drawingml/2006/main" prst="roundRect">
            <a:avLst>
              <a:gd name="adj" fmla="val 4321"/>
            </a:avLst>
          </a:prstGeom>
          <a:solidFill xmlns:a="http://schemas.openxmlformats.org/drawingml/2006/main">
            <a:srgbClr val="240C54"/>
          </a:solidFill>
          <a:ln xmlns:a="http://schemas.openxmlformats.org/drawingml/2006/main" w="12700">
            <a:solidFill>
              <a:srgbClr val="240C54"/>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20" name="Text 17">
            <a:extLst xmlns:a="http://schemas.openxmlformats.org/drawingml/2006/main">
              <a:ext uri="{FF2B5EF4-FFF2-40B4-BE49-F238E27FC236}">
                <a16:creationId xmlns:a16="http://schemas.microsoft.com/office/drawing/2014/main" id="{7DFC4ADF-9E87-4B9B-A291-A4628E1A6034}"/>
              </a:ext>
            </a:extLst>
          </p:cNvPr>
          <p:cNvSpPr>
            <a:spLocks xmlns:a="http://schemas.openxmlformats.org/drawingml/2006/main" noGrp="1"/>
          </p:cNvSpPr>
          <p:nvPr/>
        </p:nvSpPr>
        <p:spPr>
          <a:xfrm xmlns:a="http://schemas.openxmlformats.org/drawingml/2006/main">
            <a:off x="6318504" y="2176272"/>
            <a:ext cx="13716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E4B454"/>
                </a:solidFill>
                <a:latin typeface="Calibri"/>
                <a:ea typeface="Calibri"/>
                <a:cs typeface="Calibri"/>
              </a:rPr>
              <a:t>Build</a:t>
            </a:r>
            <a:endParaRPr sz="1400"/>
          </a:p>
        </p:txBody>
      </p:sp>
      <p:sp>
        <p:nvSpPr>
          <p:cNvPr id="21" name="Text 18">
            <a:extLst xmlns:a="http://schemas.openxmlformats.org/drawingml/2006/main">
              <a:ext uri="{FF2B5EF4-FFF2-40B4-BE49-F238E27FC236}">
                <a16:creationId xmlns:a16="http://schemas.microsoft.com/office/drawing/2014/main" id="{C90F7AE8-3E3E-4361-B47E-1ECD3EC8C4B8}"/>
              </a:ext>
            </a:extLst>
          </p:cNvPr>
          <p:cNvSpPr>
            <a:spLocks xmlns:a="http://schemas.openxmlformats.org/drawingml/2006/main" noGrp="1"/>
          </p:cNvSpPr>
          <p:nvPr/>
        </p:nvSpPr>
        <p:spPr>
          <a:xfrm xmlns:a="http://schemas.openxmlformats.org/drawingml/2006/main">
            <a:off x="6281928" y="2505456"/>
            <a:ext cx="1444752" cy="8412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ts val="1450"/>
              </a:lnSpc>
              <a:buNone/>
            </a:pPr>
            <a:r>
              <a:rPr sz="1100">
                <a:solidFill>
                  <a:srgbClr val="DAD5EC"/>
                </a:solidFill>
                <a:latin typeface="Calibri"/>
                <a:ea typeface="Calibri"/>
                <a:cs typeface="Calibri"/>
              </a:rPr>
              <a:t>Docker image,</a:t>
            </a:r>
            <a:endParaRPr sz="1100"/>
          </a:p>
          <a:p xmlns:a="http://schemas.openxmlformats.org/drawingml/2006/main">
            <a:pPr marL="0" indent="0" algn="ctr">
              <a:lnSpc>
                <a:spcPts val="1450"/>
              </a:lnSpc>
              <a:buNone/>
            </a:pPr>
            <a:r>
              <a:rPr sz="1100">
                <a:solidFill>
                  <a:srgbClr val="DAD5EC"/>
                </a:solidFill>
                <a:latin typeface="Calibri"/>
                <a:ea typeface="Calibri"/>
                <a:cs typeface="Calibri"/>
              </a:rPr>
              <a:t>15.5 MB</a:t>
            </a:r>
            <a:endParaRPr sz="1100"/>
          </a:p>
        </p:txBody>
      </p:sp>
      <p:sp>
        <p:nvSpPr>
          <p:cNvPr id="22" name="Shape 19">
            <a:extLst xmlns:a="http://schemas.openxmlformats.org/drawingml/2006/main">
              <a:ext uri="{FF2B5EF4-FFF2-40B4-BE49-F238E27FC236}">
                <a16:creationId xmlns:a16="http://schemas.microsoft.com/office/drawing/2014/main" id="{61EA3522-1EF6-4F78-8AA9-9089B1EAD7BE}"/>
              </a:ext>
            </a:extLst>
          </p:cNvPr>
          <p:cNvSpPr>
            <a:spLocks xmlns:a="http://schemas.openxmlformats.org/drawingml/2006/main" noGrp="1"/>
          </p:cNvSpPr>
          <p:nvPr/>
        </p:nvSpPr>
        <p:spPr>
          <a:xfrm xmlns:a="http://schemas.openxmlformats.org/drawingml/2006/main">
            <a:off x="7863840" y="2679192"/>
            <a:ext cx="155448" cy="155448"/>
          </a:xfrm>
          <a:prstGeom xmlns:a="http://schemas.openxmlformats.org/drawingml/2006/main" prst="chevron">
            <a:avLst/>
          </a:prstGeom>
          <a:solidFill xmlns:a="http://schemas.openxmlformats.org/drawingml/2006/main">
            <a:srgbClr val="D8DAE5"/>
          </a:solidFill>
          <a:ln xmlns:a="http://schemas.openxmlformats.org/drawingml/2006/main" w="12700">
            <a:solidFill>
              <a:srgbClr val="D8DAE5"/>
            </a:solidFill>
            <a:prstDash val="solid"/>
          </a:ln>
        </p:spPr>
      </p:sp>
      <p:sp>
        <p:nvSpPr>
          <p:cNvPr id="23" name="Shape 20">
            <a:extLst xmlns:a="http://schemas.openxmlformats.org/drawingml/2006/main">
              <a:ext uri="{FF2B5EF4-FFF2-40B4-BE49-F238E27FC236}">
                <a16:creationId xmlns:a16="http://schemas.microsoft.com/office/drawing/2014/main" id="{4BA88027-6E8F-4252-B9D2-EE8F15ACC775}"/>
              </a:ext>
            </a:extLst>
          </p:cNvPr>
          <p:cNvSpPr>
            <a:spLocks xmlns:a="http://schemas.openxmlformats.org/drawingml/2006/main" noGrp="1"/>
          </p:cNvSpPr>
          <p:nvPr/>
        </p:nvSpPr>
        <p:spPr>
          <a:xfrm xmlns:a="http://schemas.openxmlformats.org/drawingml/2006/main">
            <a:off x="8065008" y="2011680"/>
            <a:ext cx="1627632" cy="1481328"/>
          </a:xfrm>
          <a:prstGeom xmlns:a="http://schemas.openxmlformats.org/drawingml/2006/main" prst="roundRect">
            <a:avLst>
              <a:gd name="adj" fmla="val 4321"/>
            </a:avLst>
          </a:prstGeom>
          <a:solidFill xmlns:a="http://schemas.openxmlformats.org/drawingml/2006/main">
            <a:srgbClr val="240C54"/>
          </a:solidFill>
          <a:ln xmlns:a="http://schemas.openxmlformats.org/drawingml/2006/main" w="12700">
            <a:solidFill>
              <a:srgbClr val="240C54"/>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24" name="Text 21">
            <a:extLst xmlns:a="http://schemas.openxmlformats.org/drawingml/2006/main">
              <a:ext uri="{FF2B5EF4-FFF2-40B4-BE49-F238E27FC236}">
                <a16:creationId xmlns:a16="http://schemas.microsoft.com/office/drawing/2014/main" id="{AE94EF12-E286-4406-88CB-C6A80341233B}"/>
              </a:ext>
            </a:extLst>
          </p:cNvPr>
          <p:cNvSpPr>
            <a:spLocks xmlns:a="http://schemas.openxmlformats.org/drawingml/2006/main" noGrp="1"/>
          </p:cNvSpPr>
          <p:nvPr/>
        </p:nvSpPr>
        <p:spPr>
          <a:xfrm xmlns:a="http://schemas.openxmlformats.org/drawingml/2006/main">
            <a:off x="8193024" y="2176272"/>
            <a:ext cx="13716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E4B454"/>
                </a:solidFill>
                <a:latin typeface="Calibri"/>
                <a:ea typeface="Calibri"/>
                <a:cs typeface="Calibri"/>
              </a:rPr>
              <a:t>Deploy</a:t>
            </a:r>
            <a:endParaRPr sz="1400"/>
          </a:p>
        </p:txBody>
      </p:sp>
      <p:sp>
        <p:nvSpPr>
          <p:cNvPr id="25" name="Text 22">
            <a:extLst xmlns:a="http://schemas.openxmlformats.org/drawingml/2006/main">
              <a:ext uri="{FF2B5EF4-FFF2-40B4-BE49-F238E27FC236}">
                <a16:creationId xmlns:a16="http://schemas.microsoft.com/office/drawing/2014/main" id="{A95361FD-24A2-4D11-A015-34BDF4165D7D}"/>
              </a:ext>
            </a:extLst>
          </p:cNvPr>
          <p:cNvSpPr>
            <a:spLocks xmlns:a="http://schemas.openxmlformats.org/drawingml/2006/main" noGrp="1"/>
          </p:cNvSpPr>
          <p:nvPr/>
        </p:nvSpPr>
        <p:spPr>
          <a:xfrm xmlns:a="http://schemas.openxmlformats.org/drawingml/2006/main">
            <a:off x="8156448" y="2505456"/>
            <a:ext cx="1444752" cy="8412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ts val="1450"/>
              </a:lnSpc>
              <a:buNone/>
            </a:pPr>
            <a:r>
              <a:rPr sz="1100">
                <a:solidFill>
                  <a:srgbClr val="DAD5EC"/>
                </a:solidFill>
                <a:latin typeface="Calibri"/>
                <a:ea typeface="Calibri"/>
                <a:cs typeface="Calibri"/>
              </a:rPr>
              <a:t>Render, only</a:t>
            </a:r>
            <a:endParaRPr sz="1100"/>
          </a:p>
          <a:p xmlns:a="http://schemas.openxmlformats.org/drawingml/2006/main">
            <a:pPr marL="0" indent="0" algn="ctr">
              <a:lnSpc>
                <a:spcPts val="1450"/>
              </a:lnSpc>
              <a:buNone/>
            </a:pPr>
            <a:r>
              <a:rPr sz="1100">
                <a:solidFill>
                  <a:srgbClr val="DAD5EC"/>
                </a:solidFill>
                <a:latin typeface="Calibri"/>
                <a:ea typeface="Calibri"/>
                <a:cs typeface="Calibri"/>
              </a:rPr>
              <a:t>if all passed</a:t>
            </a:r>
            <a:endParaRPr sz="1100"/>
          </a:p>
        </p:txBody>
      </p:sp>
      <p:sp>
        <p:nvSpPr>
          <p:cNvPr id="26" name="Shape 23">
            <a:extLst xmlns:a="http://schemas.openxmlformats.org/drawingml/2006/main">
              <a:ext uri="{FF2B5EF4-FFF2-40B4-BE49-F238E27FC236}">
                <a16:creationId xmlns:a16="http://schemas.microsoft.com/office/drawing/2014/main" id="{D02467FA-AAC6-4831-9549-C71E9A88EF00}"/>
              </a:ext>
            </a:extLst>
          </p:cNvPr>
          <p:cNvSpPr>
            <a:spLocks xmlns:a="http://schemas.openxmlformats.org/drawingml/2006/main" noGrp="1"/>
          </p:cNvSpPr>
          <p:nvPr/>
        </p:nvSpPr>
        <p:spPr>
          <a:xfrm xmlns:a="http://schemas.openxmlformats.org/drawingml/2006/main">
            <a:off x="9738360" y="2679192"/>
            <a:ext cx="155448" cy="155448"/>
          </a:xfrm>
          <a:prstGeom xmlns:a="http://schemas.openxmlformats.org/drawingml/2006/main" prst="chevron">
            <a:avLst/>
          </a:prstGeom>
          <a:solidFill xmlns:a="http://schemas.openxmlformats.org/drawingml/2006/main">
            <a:srgbClr val="D8DAE5"/>
          </a:solidFill>
          <a:ln xmlns:a="http://schemas.openxmlformats.org/drawingml/2006/main" w="12700">
            <a:solidFill>
              <a:srgbClr val="D8DAE5"/>
            </a:solidFill>
            <a:prstDash val="solid"/>
          </a:ln>
        </p:spPr>
      </p:sp>
      <p:sp>
        <p:nvSpPr>
          <p:cNvPr id="27" name="Shape 24">
            <a:extLst xmlns:a="http://schemas.openxmlformats.org/drawingml/2006/main">
              <a:ext uri="{FF2B5EF4-FFF2-40B4-BE49-F238E27FC236}">
                <a16:creationId xmlns:a16="http://schemas.microsoft.com/office/drawing/2014/main" id="{CA73466E-F23E-47BA-914A-10C2255782CD}"/>
              </a:ext>
            </a:extLst>
          </p:cNvPr>
          <p:cNvSpPr>
            <a:spLocks xmlns:a="http://schemas.openxmlformats.org/drawingml/2006/main" noGrp="1"/>
          </p:cNvSpPr>
          <p:nvPr/>
        </p:nvSpPr>
        <p:spPr>
          <a:xfrm xmlns:a="http://schemas.openxmlformats.org/drawingml/2006/main">
            <a:off x="9939528" y="2011680"/>
            <a:ext cx="1627632" cy="1481328"/>
          </a:xfrm>
          <a:prstGeom xmlns:a="http://schemas.openxmlformats.org/drawingml/2006/main" prst="roundRect">
            <a:avLst>
              <a:gd name="adj" fmla="val 4321"/>
            </a:avLst>
          </a:prstGeom>
          <a:solidFill xmlns:a="http://schemas.openxmlformats.org/drawingml/2006/main">
            <a:srgbClr val="1E7A46"/>
          </a:solidFill>
          <a:ln xmlns:a="http://schemas.openxmlformats.org/drawingml/2006/main" w="12700">
            <a:solidFill>
              <a:srgbClr val="1E7A46"/>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28" name="Text 25">
            <a:extLst xmlns:a="http://schemas.openxmlformats.org/drawingml/2006/main">
              <a:ext uri="{FF2B5EF4-FFF2-40B4-BE49-F238E27FC236}">
                <a16:creationId xmlns:a16="http://schemas.microsoft.com/office/drawing/2014/main" id="{C381A7B4-4706-4C95-9A11-8498202A1CDB}"/>
              </a:ext>
            </a:extLst>
          </p:cNvPr>
          <p:cNvSpPr>
            <a:spLocks xmlns:a="http://schemas.openxmlformats.org/drawingml/2006/main" noGrp="1"/>
          </p:cNvSpPr>
          <p:nvPr/>
        </p:nvSpPr>
        <p:spPr>
          <a:xfrm xmlns:a="http://schemas.openxmlformats.org/drawingml/2006/main">
            <a:off x="10067544" y="2176272"/>
            <a:ext cx="13716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E4B454"/>
                </a:solidFill>
                <a:latin typeface="Calibri"/>
                <a:ea typeface="Calibri"/>
                <a:cs typeface="Calibri"/>
              </a:rPr>
              <a:t>Smoke</a:t>
            </a:r>
            <a:endParaRPr sz="1400"/>
          </a:p>
        </p:txBody>
      </p:sp>
      <p:sp>
        <p:nvSpPr>
          <p:cNvPr id="29" name="Text 26">
            <a:extLst xmlns:a="http://schemas.openxmlformats.org/drawingml/2006/main">
              <a:ext uri="{FF2B5EF4-FFF2-40B4-BE49-F238E27FC236}">
                <a16:creationId xmlns:a16="http://schemas.microsoft.com/office/drawing/2014/main" id="{0C8540AF-5735-4C32-AB04-01B90A408838}"/>
              </a:ext>
            </a:extLst>
          </p:cNvPr>
          <p:cNvSpPr>
            <a:spLocks xmlns:a="http://schemas.openxmlformats.org/drawingml/2006/main" noGrp="1"/>
          </p:cNvSpPr>
          <p:nvPr/>
        </p:nvSpPr>
        <p:spPr>
          <a:xfrm xmlns:a="http://schemas.openxmlformats.org/drawingml/2006/main">
            <a:off x="10030968" y="2505456"/>
            <a:ext cx="1444752" cy="8412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ts val="1450"/>
              </a:lnSpc>
              <a:buNone/>
            </a:pPr>
            <a:r>
              <a:rPr sz="1100">
                <a:solidFill>
                  <a:srgbClr val="DAD5EC"/>
                </a:solidFill>
                <a:latin typeface="Calibri"/>
                <a:ea typeface="Calibri"/>
                <a:cs typeface="Calibri"/>
              </a:rPr>
              <a:t>Health, docs</a:t>
            </a:r>
            <a:endParaRPr sz="1100"/>
          </a:p>
          <a:p xmlns:a="http://schemas.openxmlformats.org/drawingml/2006/main">
            <a:pPr marL="0" indent="0" algn="ctr">
              <a:lnSpc>
                <a:spcPts val="1450"/>
              </a:lnSpc>
              <a:buNone/>
            </a:pPr>
            <a:r>
              <a:rPr sz="1100">
                <a:solidFill>
                  <a:srgbClr val="DAD5EC"/>
                </a:solidFill>
                <a:latin typeface="Calibri"/>
                <a:ea typeface="Calibri"/>
                <a:cs typeface="Calibri"/>
              </a:rPr>
              <a:t>and CORS live</a:t>
            </a:r>
            <a:endParaRPr sz="1100"/>
          </a:p>
        </p:txBody>
      </p:sp>
      <p:sp>
        <p:nvSpPr>
          <p:cNvPr id="30" name="Shape 27">
            <a:extLst xmlns:a="http://schemas.openxmlformats.org/drawingml/2006/main">
              <a:ext uri="{FF2B5EF4-FFF2-40B4-BE49-F238E27FC236}">
                <a16:creationId xmlns:a16="http://schemas.microsoft.com/office/drawing/2014/main" id="{387F7CD6-BDA2-4A37-8D3D-C20DBD1C0884}"/>
              </a:ext>
            </a:extLst>
          </p:cNvPr>
          <p:cNvSpPr>
            <a:spLocks xmlns:a="http://schemas.openxmlformats.org/drawingml/2006/main" noGrp="1"/>
          </p:cNvSpPr>
          <p:nvPr/>
        </p:nvSpPr>
        <p:spPr>
          <a:xfrm xmlns:a="http://schemas.openxmlformats.org/drawingml/2006/main">
            <a:off x="566928" y="3785616"/>
            <a:ext cx="3566160" cy="1810512"/>
          </a:xfrm>
          <a:prstGeom xmlns:a="http://schemas.openxmlformats.org/drawingml/2006/main" prst="roundRect">
            <a:avLst>
              <a:gd name="adj" fmla="val 3535"/>
            </a:avLst>
          </a:prstGeom>
          <a:solidFill xmlns:a="http://schemas.openxmlformats.org/drawingml/2006/main">
            <a:srgbClr val="F4F5F9"/>
          </a:solidFill>
          <a:ln xmlns:a="http://schemas.openxmlformats.org/drawingml/2006/main" w="9525">
            <a:solidFill>
              <a:srgbClr val="D8DAE5"/>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31" name="Text 28">
            <a:extLst xmlns:a="http://schemas.openxmlformats.org/drawingml/2006/main">
              <a:ext uri="{FF2B5EF4-FFF2-40B4-BE49-F238E27FC236}">
                <a16:creationId xmlns:a16="http://schemas.microsoft.com/office/drawing/2014/main" id="{0CE3E99B-3E20-4403-A847-B7F8FC2CF1DD}"/>
              </a:ext>
            </a:extLst>
          </p:cNvPr>
          <p:cNvSpPr>
            <a:spLocks xmlns:a="http://schemas.openxmlformats.org/drawingml/2006/main" noGrp="1"/>
          </p:cNvSpPr>
          <p:nvPr/>
        </p:nvSpPr>
        <p:spPr>
          <a:xfrm xmlns:a="http://schemas.openxmlformats.org/drawingml/2006/main">
            <a:off x="786384" y="3959352"/>
            <a:ext cx="3127248"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240C54"/>
                </a:solidFill>
                <a:latin typeface="Calibri"/>
                <a:ea typeface="Calibri"/>
                <a:cs typeface="Calibri"/>
              </a:rPr>
              <a:t>Git discipline</a:t>
            </a:r>
            <a:endParaRPr sz="1400"/>
          </a:p>
        </p:txBody>
      </p:sp>
      <p:sp>
        <p:nvSpPr>
          <p:cNvPr id="32" name="Text 29">
            <a:extLst xmlns:a="http://schemas.openxmlformats.org/drawingml/2006/main">
              <a:ext uri="{FF2B5EF4-FFF2-40B4-BE49-F238E27FC236}">
                <a16:creationId xmlns:a16="http://schemas.microsoft.com/office/drawing/2014/main" id="{58232676-5C61-4B69-8BB2-91C747EED8DF}"/>
              </a:ext>
            </a:extLst>
          </p:cNvPr>
          <p:cNvSpPr>
            <a:spLocks xmlns:a="http://schemas.openxmlformats.org/drawingml/2006/main" noGrp="1"/>
          </p:cNvSpPr>
          <p:nvPr/>
        </p:nvSpPr>
        <p:spPr>
          <a:xfrm xmlns:a="http://schemas.openxmlformats.org/drawingml/2006/main">
            <a:off x="786384" y="4352544"/>
            <a:ext cx="3127248"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650"/>
              </a:lnSpc>
              <a:buNone/>
            </a:pPr>
            <a:r>
              <a:rPr sz="1200">
                <a:solidFill>
                  <a:srgbClr val="1A1A2E"/>
                </a:solidFill>
                <a:latin typeface="Calibri"/>
                <a:ea typeface="Calibri"/>
                <a:cs typeface="Calibri"/>
              </a:rPr>
              <a:t>33 commits, each one message describing why the change was made, not what the diff shows.</a:t>
            </a:r>
            <a:endParaRPr sz="1200"/>
          </a:p>
        </p:txBody>
      </p:sp>
      <p:sp>
        <p:nvSpPr>
          <p:cNvPr id="33" name="Shape 30">
            <a:extLst xmlns:a="http://schemas.openxmlformats.org/drawingml/2006/main">
              <a:ext uri="{FF2B5EF4-FFF2-40B4-BE49-F238E27FC236}">
                <a16:creationId xmlns:a16="http://schemas.microsoft.com/office/drawing/2014/main" id="{4C5BDA9E-E30D-4798-A467-CB7FAE4C1CF0}"/>
              </a:ext>
            </a:extLst>
          </p:cNvPr>
          <p:cNvSpPr>
            <a:spLocks xmlns:a="http://schemas.openxmlformats.org/drawingml/2006/main" noGrp="1"/>
          </p:cNvSpPr>
          <p:nvPr/>
        </p:nvSpPr>
        <p:spPr>
          <a:xfrm xmlns:a="http://schemas.openxmlformats.org/drawingml/2006/main">
            <a:off x="4315968" y="3785616"/>
            <a:ext cx="3566160" cy="1810512"/>
          </a:xfrm>
          <a:prstGeom xmlns:a="http://schemas.openxmlformats.org/drawingml/2006/main" prst="roundRect">
            <a:avLst>
              <a:gd name="adj" fmla="val 3535"/>
            </a:avLst>
          </a:prstGeom>
          <a:solidFill xmlns:a="http://schemas.openxmlformats.org/drawingml/2006/main">
            <a:srgbClr val="F4F5F9"/>
          </a:solidFill>
          <a:ln xmlns:a="http://schemas.openxmlformats.org/drawingml/2006/main" w="9525">
            <a:solidFill>
              <a:srgbClr val="D8DAE5"/>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34" name="Text 31">
            <a:extLst xmlns:a="http://schemas.openxmlformats.org/drawingml/2006/main">
              <a:ext uri="{FF2B5EF4-FFF2-40B4-BE49-F238E27FC236}">
                <a16:creationId xmlns:a16="http://schemas.microsoft.com/office/drawing/2014/main" id="{92FADC4C-C9A8-40F3-BD61-A42B12A2AD8D}"/>
              </a:ext>
            </a:extLst>
          </p:cNvPr>
          <p:cNvSpPr>
            <a:spLocks xmlns:a="http://schemas.openxmlformats.org/drawingml/2006/main" noGrp="1"/>
          </p:cNvSpPr>
          <p:nvPr/>
        </p:nvSpPr>
        <p:spPr>
          <a:xfrm xmlns:a="http://schemas.openxmlformats.org/drawingml/2006/main">
            <a:off x="4535424" y="3959352"/>
            <a:ext cx="3127248"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240C54"/>
                </a:solidFill>
                <a:latin typeface="Calibri"/>
                <a:ea typeface="Calibri"/>
                <a:cs typeface="Calibri"/>
              </a:rPr>
              <a:t>Migrations are immutable</a:t>
            </a:r>
            <a:endParaRPr sz="1400"/>
          </a:p>
        </p:txBody>
      </p:sp>
      <p:sp>
        <p:nvSpPr>
          <p:cNvPr id="35" name="Text 32">
            <a:extLst xmlns:a="http://schemas.openxmlformats.org/drawingml/2006/main">
              <a:ext uri="{FF2B5EF4-FFF2-40B4-BE49-F238E27FC236}">
                <a16:creationId xmlns:a16="http://schemas.microsoft.com/office/drawing/2014/main" id="{848F3436-C894-4F7C-A81D-A850AF5B66EF}"/>
              </a:ext>
            </a:extLst>
          </p:cNvPr>
          <p:cNvSpPr>
            <a:spLocks xmlns:a="http://schemas.openxmlformats.org/drawingml/2006/main" noGrp="1"/>
          </p:cNvSpPr>
          <p:nvPr/>
        </p:nvSpPr>
        <p:spPr>
          <a:xfrm xmlns:a="http://schemas.openxmlformats.org/drawingml/2006/main">
            <a:off x="4535424" y="4352544"/>
            <a:ext cx="3127248"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650"/>
              </a:lnSpc>
              <a:buNone/>
            </a:pPr>
            <a:r>
              <a:rPr sz="1200">
                <a:solidFill>
                  <a:srgbClr val="1A1A2E"/>
                </a:solidFill>
                <a:latin typeface="Calibri"/>
                <a:ea typeface="Calibri"/>
                <a:cs typeface="Calibri"/>
              </a:rPr>
              <a:t>The pipeline refuses a commit that edits an already-applied migration, because production has already run it.</a:t>
            </a:r>
            <a:endParaRPr sz="1200"/>
          </a:p>
        </p:txBody>
      </p:sp>
      <p:sp>
        <p:nvSpPr>
          <p:cNvPr id="36" name="Shape 33">
            <a:extLst xmlns:a="http://schemas.openxmlformats.org/drawingml/2006/main">
              <a:ext uri="{FF2B5EF4-FFF2-40B4-BE49-F238E27FC236}">
                <a16:creationId xmlns:a16="http://schemas.microsoft.com/office/drawing/2014/main" id="{9A329D08-631B-4711-8744-184AF5AF53C1}"/>
              </a:ext>
            </a:extLst>
          </p:cNvPr>
          <p:cNvSpPr>
            <a:spLocks xmlns:a="http://schemas.openxmlformats.org/drawingml/2006/main" noGrp="1"/>
          </p:cNvSpPr>
          <p:nvPr/>
        </p:nvSpPr>
        <p:spPr>
          <a:xfrm xmlns:a="http://schemas.openxmlformats.org/drawingml/2006/main">
            <a:off x="8065008" y="3785616"/>
            <a:ext cx="3557016" cy="1810512"/>
          </a:xfrm>
          <a:prstGeom xmlns:a="http://schemas.openxmlformats.org/drawingml/2006/main" prst="roundRect">
            <a:avLst>
              <a:gd name="adj" fmla="val 3535"/>
            </a:avLst>
          </a:prstGeom>
          <a:solidFill xmlns:a="http://schemas.openxmlformats.org/drawingml/2006/main">
            <a:srgbClr val="FBF4E4"/>
          </a:solidFill>
          <a:ln xmlns:a="http://schemas.openxmlformats.org/drawingml/2006/main" w="9525">
            <a:solidFill>
              <a:srgbClr val="E8D9AE"/>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37" name="Text 34">
            <a:extLst xmlns:a="http://schemas.openxmlformats.org/drawingml/2006/main">
              <a:ext uri="{FF2B5EF4-FFF2-40B4-BE49-F238E27FC236}">
                <a16:creationId xmlns:a16="http://schemas.microsoft.com/office/drawing/2014/main" id="{C74D7F78-911B-4DD7-A234-4EF7CE7A3D31}"/>
              </a:ext>
            </a:extLst>
          </p:cNvPr>
          <p:cNvSpPr>
            <a:spLocks xmlns:a="http://schemas.openxmlformats.org/drawingml/2006/main" noGrp="1"/>
          </p:cNvSpPr>
          <p:nvPr/>
        </p:nvSpPr>
        <p:spPr>
          <a:xfrm xmlns:a="http://schemas.openxmlformats.org/drawingml/2006/main">
            <a:off x="8284464" y="3959352"/>
            <a:ext cx="3118104"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240C54"/>
                </a:solidFill>
                <a:latin typeface="Calibri"/>
                <a:ea typeface="Calibri"/>
                <a:cs typeface="Calibri"/>
              </a:rPr>
              <a:t>Why smoke tests</a:t>
            </a:r>
            <a:endParaRPr sz="1400"/>
          </a:p>
        </p:txBody>
      </p:sp>
      <p:sp>
        <p:nvSpPr>
          <p:cNvPr id="38" name="Text 35">
            <a:extLst xmlns:a="http://schemas.openxmlformats.org/drawingml/2006/main">
              <a:ext uri="{FF2B5EF4-FFF2-40B4-BE49-F238E27FC236}">
                <a16:creationId xmlns:a16="http://schemas.microsoft.com/office/drawing/2014/main" id="{53175644-D2F8-40BC-9BC0-06AA9709E813}"/>
              </a:ext>
            </a:extLst>
          </p:cNvPr>
          <p:cNvSpPr>
            <a:spLocks xmlns:a="http://schemas.openxmlformats.org/drawingml/2006/main" noGrp="1"/>
          </p:cNvSpPr>
          <p:nvPr/>
        </p:nvSpPr>
        <p:spPr>
          <a:xfrm xmlns:a="http://schemas.openxmlformats.org/drawingml/2006/main">
            <a:off x="8284464" y="4352544"/>
            <a:ext cx="3118104"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650"/>
              </a:lnSpc>
              <a:buNone/>
            </a:pPr>
            <a:r>
              <a:rPr sz="1200">
                <a:solidFill>
                  <a:srgbClr val="1A1A2E"/>
                </a:solidFill>
                <a:latin typeface="Calibri"/>
                <a:ea typeface="Calibri"/>
                <a:cs typeface="Calibri"/>
              </a:rPr>
              <a:t>A green test suite proves the code compiled. Only a request to the live URL proves the system is actually serving.</a:t>
            </a:r>
            <a:endParaRPr sz="1200"/>
          </a:p>
        </p:txBody>
      </p:sp>
    </p:spTree>
    <p:extLst>
      <p:ext uri="{BB962C8B-B14F-4D97-AF65-F5344CB8AC3E}">
        <p14:creationId xmlns:p14="http://schemas.microsoft.com/office/powerpoint/2010/main" val="335506381"/>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D125567D-65D9-4C92-808A-86092920B967}"/>
              </a:ext>
            </a:extLst>
          </p:cNvPr>
          <p:cNvSpPr>
            <a:spLocks xmlns:a="http://schemas.openxmlformats.org/drawingml/2006/main" noGrp="1"/>
          </p:cNvSpPr>
          <p:nvPr/>
        </p:nvSpPr>
        <p:spPr>
          <a:xfrm xmlns:a="http://schemas.openxmlformats.org/drawingml/2006/main">
            <a:off x="566928" y="384048"/>
            <a:ext cx="82296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20">
                <a:solidFill>
                  <a:srgbClr val="E4B454"/>
                </a:solidFill>
                <a:latin typeface="Calibri"/>
                <a:ea typeface="Calibri"/>
                <a:cs typeface="Calibri"/>
              </a:rPr>
              <a:t>DEPLOYMENT</a:t>
            </a:r>
            <a:endParaRPr sz="1100"/>
          </a:p>
        </p:txBody>
      </p:sp>
      <p:sp>
        <p:nvSpPr>
          <p:cNvPr id="3" name="Text 1">
            <a:extLst xmlns:a="http://schemas.openxmlformats.org/drawingml/2006/main">
              <a:ext uri="{FF2B5EF4-FFF2-40B4-BE49-F238E27FC236}">
                <a16:creationId xmlns:a16="http://schemas.microsoft.com/office/drawing/2014/main" id="{3746B014-7FD9-4FE2-B17C-E70976780720}"/>
              </a:ext>
            </a:extLst>
          </p:cNvPr>
          <p:cNvSpPr>
            <a:spLocks xmlns:a="http://schemas.openxmlformats.org/drawingml/2006/main" noGrp="1"/>
          </p:cNvSpPr>
          <p:nvPr/>
        </p:nvSpPr>
        <p:spPr>
          <a:xfrm xmlns:a="http://schemas.openxmlformats.org/drawingml/2006/main">
            <a:off x="566928" y="640080"/>
            <a:ext cx="96926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40C54"/>
                </a:solidFill>
                <a:latin typeface="Cambria"/>
                <a:ea typeface="Cambria"/>
                <a:cs typeface="Cambria"/>
              </a:rPr>
              <a:t>Live, on a custom domain, with documentation</a:t>
            </a:r>
            <a:endParaRPr sz="3000"/>
          </a:p>
        </p:txBody>
      </p:sp>
      <p:pic>
        <p:nvPicPr>
          <p:cNvPr id="38" name="Image 0"/>
          <p:cNvPicPr>
            <a:picLocks xmlns:a="http://schemas.openxmlformats.org/drawingml/2006/main" noChangeAspect="1"/>
          </p:cNvPicPr>
          <p:nvPr/>
        </p:nvPicPr>
        <p:blipFill>
          <a:blip xmlns:r="http://schemas.openxmlformats.org/officeDocument/2006/relationships" xmlns:a="http://schemas.openxmlformats.org/drawingml/2006/main" r:embed="R2625ae9c08884ddc"/>
          <a:stretch xmlns:a="http://schemas.openxmlformats.org/drawingml/2006/main">
            <a:fillRect l="0" t="0" r="0" b="0"/>
          </a:stretch>
        </p:blipFill>
        <p:spPr>
          <a:xfrm xmlns:a="http://schemas.openxmlformats.org/drawingml/2006/main">
            <a:off x="11149279" y="365760"/>
            <a:ext cx="475488" cy="466344"/>
          </a:xfrm>
          <a:prstGeom xmlns:a="http://schemas.openxmlformats.org/drawingml/2006/main" prst="rect">
            <a:avLst/>
          </a:prstGeom>
        </p:spPr>
      </p:pic>
      <p:sp>
        <p:nvSpPr>
          <p:cNvPr id="5" name="Text 2">
            <a:extLst xmlns:a="http://schemas.openxmlformats.org/drawingml/2006/main">
              <a:ext uri="{FF2B5EF4-FFF2-40B4-BE49-F238E27FC236}">
                <a16:creationId xmlns:a16="http://schemas.microsoft.com/office/drawing/2014/main" id="{6FC262EE-F770-46F4-B424-D10F0CACEC69}"/>
              </a:ext>
            </a:extLst>
          </p:cNvPr>
          <p:cNvSpPr>
            <a:spLocks xmlns:a="http://schemas.openxmlformats.org/drawingml/2006/main" noGrp="1"/>
          </p:cNvSpPr>
          <p:nvPr/>
        </p:nvSpPr>
        <p:spPr>
          <a:xfrm xmlns:a="http://schemas.openxmlformats.org/drawingml/2006/main">
            <a:off x="11149279" y="6382512"/>
            <a:ext cx="475488"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000">
                <a:solidFill>
                  <a:srgbClr val="5B5B6B"/>
                </a:solidFill>
                <a:latin typeface="Calibri"/>
                <a:ea typeface="Calibri"/>
                <a:cs typeface="Calibri"/>
              </a:rPr>
              <a:t>16</a:t>
            </a:r>
            <a:endParaRPr sz="1000"/>
          </a:p>
        </p:txBody>
      </p:sp>
      <p:sp>
        <p:nvSpPr>
          <p:cNvPr id="6" name="Shape 3">
            <a:extLst xmlns:a="http://schemas.openxmlformats.org/drawingml/2006/main">
              <a:ext uri="{FF2B5EF4-FFF2-40B4-BE49-F238E27FC236}">
                <a16:creationId xmlns:a16="http://schemas.microsoft.com/office/drawing/2014/main" id="{5DB8470E-FDE0-4712-87B2-117BA0E17B0E}"/>
              </a:ext>
            </a:extLst>
          </p:cNvPr>
          <p:cNvSpPr>
            <a:spLocks xmlns:a="http://schemas.openxmlformats.org/drawingml/2006/main" noGrp="1"/>
          </p:cNvSpPr>
          <p:nvPr/>
        </p:nvSpPr>
        <p:spPr>
          <a:xfrm xmlns:a="http://schemas.openxmlformats.org/drawingml/2006/main">
            <a:off x="566928" y="1316736"/>
            <a:ext cx="5806440" cy="2212848"/>
          </a:xfrm>
          <a:prstGeom xmlns:a="http://schemas.openxmlformats.org/drawingml/2006/main" prst="roundRect">
            <a:avLst>
              <a:gd name="adj" fmla="val 2893"/>
            </a:avLst>
          </a:prstGeom>
          <a:solidFill xmlns:a="http://schemas.openxmlformats.org/drawingml/2006/main">
            <a:srgbClr val="240C54"/>
          </a:solidFill>
          <a:ln xmlns:a="http://schemas.openxmlformats.org/drawingml/2006/main" w="9525">
            <a:solidFill>
              <a:srgbClr val="240C54"/>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7" name="Text 4">
            <a:extLst xmlns:a="http://schemas.openxmlformats.org/drawingml/2006/main">
              <a:ext uri="{FF2B5EF4-FFF2-40B4-BE49-F238E27FC236}">
                <a16:creationId xmlns:a16="http://schemas.microsoft.com/office/drawing/2014/main" id="{FC6389C1-7670-4E74-ADE4-D688CAC4017B}"/>
              </a:ext>
            </a:extLst>
          </p:cNvPr>
          <p:cNvSpPr>
            <a:spLocks xmlns:a="http://schemas.openxmlformats.org/drawingml/2006/main" noGrp="1"/>
          </p:cNvSpPr>
          <p:nvPr/>
        </p:nvSpPr>
        <p:spPr>
          <a:xfrm xmlns:a="http://schemas.openxmlformats.org/drawingml/2006/main">
            <a:off x="786384" y="1490472"/>
            <a:ext cx="5367528"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E4B454"/>
                </a:solidFill>
                <a:latin typeface="Calibri"/>
                <a:ea typeface="Calibri"/>
                <a:cs typeface="Calibri"/>
              </a:rPr>
              <a:t>Addresses</a:t>
            </a:r>
            <a:endParaRPr sz="1500"/>
          </a:p>
        </p:txBody>
      </p:sp>
      <p:sp>
        <p:nvSpPr>
          <p:cNvPr id="8" name="Text 5">
            <a:extLst xmlns:a="http://schemas.openxmlformats.org/drawingml/2006/main">
              <a:ext uri="{FF2B5EF4-FFF2-40B4-BE49-F238E27FC236}">
                <a16:creationId xmlns:a16="http://schemas.microsoft.com/office/drawing/2014/main" id="{CC44E226-566E-48D9-A0D2-1BE49506DAF1}"/>
              </a:ext>
            </a:extLst>
          </p:cNvPr>
          <p:cNvSpPr>
            <a:spLocks xmlns:a="http://schemas.openxmlformats.org/drawingml/2006/main" noGrp="1"/>
          </p:cNvSpPr>
          <p:nvPr/>
        </p:nvSpPr>
        <p:spPr>
          <a:xfrm xmlns:a="http://schemas.openxmlformats.org/drawingml/2006/main">
            <a:off x="804672" y="1847088"/>
            <a:ext cx="148132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A99CD6"/>
                </a:solidFill>
                <a:latin typeface="Calibri"/>
                <a:ea typeface="Calibri"/>
                <a:cs typeface="Calibri"/>
              </a:rPr>
              <a:t>API</a:t>
            </a:r>
            <a:endParaRPr sz="1150"/>
          </a:p>
        </p:txBody>
      </p:sp>
      <p:sp>
        <p:nvSpPr>
          <p:cNvPr id="9" name="Text 6">
            <a:extLst xmlns:a="http://schemas.openxmlformats.org/drawingml/2006/main">
              <a:ext uri="{FF2B5EF4-FFF2-40B4-BE49-F238E27FC236}">
                <a16:creationId xmlns:a16="http://schemas.microsoft.com/office/drawing/2014/main" id="{6DF711EF-8527-4BA2-BABE-107AE3BF340F}"/>
              </a:ext>
            </a:extLst>
          </p:cNvPr>
          <p:cNvSpPr>
            <a:spLocks xmlns:a="http://schemas.openxmlformats.org/drawingml/2006/main" noGrp="1"/>
          </p:cNvSpPr>
          <p:nvPr/>
        </p:nvSpPr>
        <p:spPr>
          <a:xfrm xmlns:a="http://schemas.openxmlformats.org/drawingml/2006/main">
            <a:off x="2322576" y="1847088"/>
            <a:ext cx="39319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FFFFFF"/>
                </a:solidFill>
                <a:latin typeface="Courier New"/>
                <a:ea typeface="Courier New"/>
                <a:cs typeface="Courier New"/>
              </a:rPr>
              <a:t>api.library.appmd.dev</a:t>
            </a:r>
            <a:endParaRPr sz="1150"/>
          </a:p>
        </p:txBody>
      </p:sp>
      <p:sp>
        <p:nvSpPr>
          <p:cNvPr id="10" name="Text 7">
            <a:extLst xmlns:a="http://schemas.openxmlformats.org/drawingml/2006/main">
              <a:ext uri="{FF2B5EF4-FFF2-40B4-BE49-F238E27FC236}">
                <a16:creationId xmlns:a16="http://schemas.microsoft.com/office/drawing/2014/main" id="{784A38D1-E818-4F9F-A163-E844B1DBD50B}"/>
              </a:ext>
            </a:extLst>
          </p:cNvPr>
          <p:cNvSpPr>
            <a:spLocks xmlns:a="http://schemas.openxmlformats.org/drawingml/2006/main" noGrp="1"/>
          </p:cNvSpPr>
          <p:nvPr/>
        </p:nvSpPr>
        <p:spPr>
          <a:xfrm xmlns:a="http://schemas.openxmlformats.org/drawingml/2006/main">
            <a:off x="804672" y="2267712"/>
            <a:ext cx="148132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A99CD6"/>
                </a:solidFill>
                <a:latin typeface="Calibri"/>
                <a:ea typeface="Calibri"/>
                <a:cs typeface="Calibri"/>
              </a:rPr>
              <a:t>Swagger docs</a:t>
            </a:r>
            <a:endParaRPr sz="1150"/>
          </a:p>
        </p:txBody>
      </p:sp>
      <p:sp>
        <p:nvSpPr>
          <p:cNvPr id="11" name="Text 8">
            <a:extLst xmlns:a="http://schemas.openxmlformats.org/drawingml/2006/main">
              <a:ext uri="{FF2B5EF4-FFF2-40B4-BE49-F238E27FC236}">
                <a16:creationId xmlns:a16="http://schemas.microsoft.com/office/drawing/2014/main" id="{C220F328-3882-4DD2-A7DD-911AD21DC929}"/>
              </a:ext>
            </a:extLst>
          </p:cNvPr>
          <p:cNvSpPr>
            <a:spLocks xmlns:a="http://schemas.openxmlformats.org/drawingml/2006/main" noGrp="1"/>
          </p:cNvSpPr>
          <p:nvPr/>
        </p:nvSpPr>
        <p:spPr>
          <a:xfrm xmlns:a="http://schemas.openxmlformats.org/drawingml/2006/main">
            <a:off x="2322576" y="2267712"/>
            <a:ext cx="39319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FFFFFF"/>
                </a:solidFill>
                <a:latin typeface="Courier New"/>
                <a:ea typeface="Courier New"/>
                <a:cs typeface="Courier New"/>
              </a:rPr>
              <a:t>api.library.appmd.dev/docs</a:t>
            </a:r>
            <a:endParaRPr sz="1150"/>
          </a:p>
        </p:txBody>
      </p:sp>
      <p:sp>
        <p:nvSpPr>
          <p:cNvPr id="12" name="Text 9">
            <a:extLst xmlns:a="http://schemas.openxmlformats.org/drawingml/2006/main">
              <a:ext uri="{FF2B5EF4-FFF2-40B4-BE49-F238E27FC236}">
                <a16:creationId xmlns:a16="http://schemas.microsoft.com/office/drawing/2014/main" id="{CDD51F43-2099-4F32-B713-8D37730F60DD}"/>
              </a:ext>
            </a:extLst>
          </p:cNvPr>
          <p:cNvSpPr>
            <a:spLocks xmlns:a="http://schemas.openxmlformats.org/drawingml/2006/main" noGrp="1"/>
          </p:cNvSpPr>
          <p:nvPr/>
        </p:nvSpPr>
        <p:spPr>
          <a:xfrm xmlns:a="http://schemas.openxmlformats.org/drawingml/2006/main">
            <a:off x="804672" y="2688336"/>
            <a:ext cx="148132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A99CD6"/>
                </a:solidFill>
                <a:latin typeface="Calibri"/>
                <a:ea typeface="Calibri"/>
                <a:cs typeface="Calibri"/>
              </a:rPr>
              <a:t>OpenAPI spec</a:t>
            </a:r>
            <a:endParaRPr sz="1150"/>
          </a:p>
        </p:txBody>
      </p:sp>
      <p:sp>
        <p:nvSpPr>
          <p:cNvPr id="13" name="Text 10">
            <a:extLst xmlns:a="http://schemas.openxmlformats.org/drawingml/2006/main">
              <a:ext uri="{FF2B5EF4-FFF2-40B4-BE49-F238E27FC236}">
                <a16:creationId xmlns:a16="http://schemas.microsoft.com/office/drawing/2014/main" id="{4E897DF3-C775-4A69-8F13-7524B65F94B5}"/>
              </a:ext>
            </a:extLst>
          </p:cNvPr>
          <p:cNvSpPr>
            <a:spLocks xmlns:a="http://schemas.openxmlformats.org/drawingml/2006/main" noGrp="1"/>
          </p:cNvSpPr>
          <p:nvPr/>
        </p:nvSpPr>
        <p:spPr>
          <a:xfrm xmlns:a="http://schemas.openxmlformats.org/drawingml/2006/main">
            <a:off x="2322576" y="2688336"/>
            <a:ext cx="39319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FFFFFF"/>
                </a:solidFill>
                <a:latin typeface="Courier New"/>
                <a:ea typeface="Courier New"/>
                <a:cs typeface="Courier New"/>
              </a:rPr>
              <a:t>api.library.appmd.dev/openapi.yaml</a:t>
            </a:r>
            <a:endParaRPr sz="1150"/>
          </a:p>
        </p:txBody>
      </p:sp>
      <p:sp>
        <p:nvSpPr>
          <p:cNvPr id="14" name="Text 11">
            <a:extLst xmlns:a="http://schemas.openxmlformats.org/drawingml/2006/main">
              <a:ext uri="{FF2B5EF4-FFF2-40B4-BE49-F238E27FC236}">
                <a16:creationId xmlns:a16="http://schemas.microsoft.com/office/drawing/2014/main" id="{8E9CC902-8356-4CDF-9F7D-ABC2F56C94B6}"/>
              </a:ext>
            </a:extLst>
          </p:cNvPr>
          <p:cNvSpPr>
            <a:spLocks xmlns:a="http://schemas.openxmlformats.org/drawingml/2006/main" noGrp="1"/>
          </p:cNvSpPr>
          <p:nvPr/>
        </p:nvSpPr>
        <p:spPr>
          <a:xfrm xmlns:a="http://schemas.openxmlformats.org/drawingml/2006/main">
            <a:off x="804672" y="3108960"/>
            <a:ext cx="148132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A99CD6"/>
                </a:solidFill>
                <a:latin typeface="Calibri"/>
                <a:ea typeface="Calibri"/>
                <a:cs typeface="Calibri"/>
              </a:rPr>
              <a:t>Front end</a:t>
            </a:r>
            <a:endParaRPr sz="1150"/>
          </a:p>
        </p:txBody>
      </p:sp>
      <p:sp>
        <p:nvSpPr>
          <p:cNvPr id="15" name="Text 12">
            <a:extLst xmlns:a="http://schemas.openxmlformats.org/drawingml/2006/main">
              <a:ext uri="{FF2B5EF4-FFF2-40B4-BE49-F238E27FC236}">
                <a16:creationId xmlns:a16="http://schemas.microsoft.com/office/drawing/2014/main" id="{00A43E08-84F9-4442-BA99-BF4FCA1A4ACE}"/>
              </a:ext>
            </a:extLst>
          </p:cNvPr>
          <p:cNvSpPr>
            <a:spLocks xmlns:a="http://schemas.openxmlformats.org/drawingml/2006/main" noGrp="1"/>
          </p:cNvSpPr>
          <p:nvPr/>
        </p:nvSpPr>
        <p:spPr>
          <a:xfrm xmlns:a="http://schemas.openxmlformats.org/drawingml/2006/main">
            <a:off x="2322576" y="3108960"/>
            <a:ext cx="39319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FFFFFF"/>
                </a:solidFill>
                <a:latin typeface="Courier New"/>
                <a:ea typeface="Courier New"/>
                <a:cs typeface="Courier New"/>
              </a:rPr>
              <a:t>library.appmd.dev</a:t>
            </a:r>
            <a:endParaRPr sz="1150"/>
          </a:p>
        </p:txBody>
      </p:sp>
      <p:sp>
        <p:nvSpPr>
          <p:cNvPr id="16" name="Shape 13">
            <a:extLst xmlns:a="http://schemas.openxmlformats.org/drawingml/2006/main">
              <a:ext uri="{FF2B5EF4-FFF2-40B4-BE49-F238E27FC236}">
                <a16:creationId xmlns:a16="http://schemas.microsoft.com/office/drawing/2014/main" id="{DFFC4A02-8174-4C96-A0C4-0D5CA7996187}"/>
              </a:ext>
            </a:extLst>
          </p:cNvPr>
          <p:cNvSpPr>
            <a:spLocks xmlns:a="http://schemas.openxmlformats.org/drawingml/2006/main" noGrp="1"/>
          </p:cNvSpPr>
          <p:nvPr/>
        </p:nvSpPr>
        <p:spPr>
          <a:xfrm xmlns:a="http://schemas.openxmlformats.org/drawingml/2006/main">
            <a:off x="6656832" y="1316736"/>
            <a:ext cx="4967935" cy="2212848"/>
          </a:xfrm>
          <a:prstGeom xmlns:a="http://schemas.openxmlformats.org/drawingml/2006/main" prst="roundRect">
            <a:avLst>
              <a:gd name="adj" fmla="val 2893"/>
            </a:avLst>
          </a:prstGeom>
          <a:solidFill xmlns:a="http://schemas.openxmlformats.org/drawingml/2006/main">
            <a:srgbClr val="F4F5F9"/>
          </a:solidFill>
          <a:ln xmlns:a="http://schemas.openxmlformats.org/drawingml/2006/main" w="9525">
            <a:solidFill>
              <a:srgbClr val="D8DAE5"/>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17" name="Text 14">
            <a:extLst xmlns:a="http://schemas.openxmlformats.org/drawingml/2006/main">
              <a:ext uri="{FF2B5EF4-FFF2-40B4-BE49-F238E27FC236}">
                <a16:creationId xmlns:a16="http://schemas.microsoft.com/office/drawing/2014/main" id="{C9942B7C-6B45-44E4-BF9B-69AB70816784}"/>
              </a:ext>
            </a:extLst>
          </p:cNvPr>
          <p:cNvSpPr>
            <a:spLocks xmlns:a="http://schemas.openxmlformats.org/drawingml/2006/main" noGrp="1"/>
          </p:cNvSpPr>
          <p:nvPr/>
        </p:nvSpPr>
        <p:spPr>
          <a:xfrm xmlns:a="http://schemas.openxmlformats.org/drawingml/2006/main">
            <a:off x="6876288" y="1490472"/>
            <a:ext cx="4529023"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240C54"/>
                </a:solidFill>
                <a:latin typeface="Calibri"/>
                <a:ea typeface="Calibri"/>
                <a:cs typeface="Calibri"/>
              </a:rPr>
              <a:t>Where the data lives</a:t>
            </a:r>
            <a:endParaRPr sz="1500"/>
          </a:p>
        </p:txBody>
      </p:sp>
      <p:sp>
        <p:nvSpPr>
          <p:cNvPr id="18" name="Text 15">
            <a:extLst xmlns:a="http://schemas.openxmlformats.org/drawingml/2006/main">
              <a:ext uri="{FF2B5EF4-FFF2-40B4-BE49-F238E27FC236}">
                <a16:creationId xmlns:a16="http://schemas.microsoft.com/office/drawing/2014/main" id="{C7C7705F-9FFF-4B86-8FD2-C2F5AB4AF45F}"/>
              </a:ext>
            </a:extLst>
          </p:cNvPr>
          <p:cNvSpPr>
            <a:spLocks xmlns:a="http://schemas.openxmlformats.org/drawingml/2006/main" noGrp="1"/>
          </p:cNvSpPr>
          <p:nvPr/>
        </p:nvSpPr>
        <p:spPr>
          <a:xfrm xmlns:a="http://schemas.openxmlformats.org/drawingml/2006/main">
            <a:off x="6876288" y="1847088"/>
            <a:ext cx="1517904"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5B5B6B"/>
                </a:solidFill>
                <a:latin typeface="Calibri"/>
                <a:ea typeface="Calibri"/>
                <a:cs typeface="Calibri"/>
              </a:rPr>
              <a:t>Application</a:t>
            </a:r>
            <a:endParaRPr sz="1150"/>
          </a:p>
        </p:txBody>
      </p:sp>
      <p:sp>
        <p:nvSpPr>
          <p:cNvPr id="19" name="Text 16">
            <a:extLst xmlns:a="http://schemas.openxmlformats.org/drawingml/2006/main">
              <a:ext uri="{FF2B5EF4-FFF2-40B4-BE49-F238E27FC236}">
                <a16:creationId xmlns:a16="http://schemas.microsoft.com/office/drawing/2014/main" id="{ED26F252-9064-415F-BC5E-7A23BA0AAA3B}"/>
              </a:ext>
            </a:extLst>
          </p:cNvPr>
          <p:cNvSpPr>
            <a:spLocks xmlns:a="http://schemas.openxmlformats.org/drawingml/2006/main" noGrp="1"/>
          </p:cNvSpPr>
          <p:nvPr/>
        </p:nvSpPr>
        <p:spPr>
          <a:xfrm xmlns:a="http://schemas.openxmlformats.org/drawingml/2006/main">
            <a:off x="8430768" y="1847088"/>
            <a:ext cx="30175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1A1A2E"/>
                </a:solidFill>
                <a:latin typeface="Calibri"/>
                <a:ea typeface="Calibri"/>
                <a:cs typeface="Calibri"/>
              </a:rPr>
              <a:t>Render, Ohio (US East)</a:t>
            </a:r>
            <a:endParaRPr sz="1150"/>
          </a:p>
        </p:txBody>
      </p:sp>
      <p:sp>
        <p:nvSpPr>
          <p:cNvPr id="20" name="Text 17">
            <a:extLst xmlns:a="http://schemas.openxmlformats.org/drawingml/2006/main">
              <a:ext uri="{FF2B5EF4-FFF2-40B4-BE49-F238E27FC236}">
                <a16:creationId xmlns:a16="http://schemas.microsoft.com/office/drawing/2014/main" id="{52F6C654-958C-4523-9213-A1717F98DF90}"/>
              </a:ext>
            </a:extLst>
          </p:cNvPr>
          <p:cNvSpPr>
            <a:spLocks xmlns:a="http://schemas.openxmlformats.org/drawingml/2006/main" noGrp="1"/>
          </p:cNvSpPr>
          <p:nvPr/>
        </p:nvSpPr>
        <p:spPr>
          <a:xfrm xmlns:a="http://schemas.openxmlformats.org/drawingml/2006/main">
            <a:off x="6876288" y="2267712"/>
            <a:ext cx="1517904"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5B5B6B"/>
                </a:solidFill>
                <a:latin typeface="Calibri"/>
                <a:ea typeface="Calibri"/>
                <a:cs typeface="Calibri"/>
              </a:rPr>
              <a:t>Database</a:t>
            </a:r>
            <a:endParaRPr sz="1150"/>
          </a:p>
        </p:txBody>
      </p:sp>
      <p:sp>
        <p:nvSpPr>
          <p:cNvPr id="21" name="Text 18">
            <a:extLst xmlns:a="http://schemas.openxmlformats.org/drawingml/2006/main">
              <a:ext uri="{FF2B5EF4-FFF2-40B4-BE49-F238E27FC236}">
                <a16:creationId xmlns:a16="http://schemas.microsoft.com/office/drawing/2014/main" id="{302751B0-2419-4956-B930-6D5CECE44800}"/>
              </a:ext>
            </a:extLst>
          </p:cNvPr>
          <p:cNvSpPr>
            <a:spLocks xmlns:a="http://schemas.openxmlformats.org/drawingml/2006/main" noGrp="1"/>
          </p:cNvSpPr>
          <p:nvPr/>
        </p:nvSpPr>
        <p:spPr>
          <a:xfrm xmlns:a="http://schemas.openxmlformats.org/drawingml/2006/main">
            <a:off x="8430768" y="2267712"/>
            <a:ext cx="30175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1A1A2E"/>
                </a:solidFill>
                <a:latin typeface="Calibri"/>
                <a:ea typeface="Calibri"/>
                <a:cs typeface="Calibri"/>
              </a:rPr>
              <a:t>Neon Postgres, us-east-1</a:t>
            </a:r>
            <a:endParaRPr sz="1150"/>
          </a:p>
        </p:txBody>
      </p:sp>
      <p:sp>
        <p:nvSpPr>
          <p:cNvPr id="22" name="Text 19">
            <a:extLst xmlns:a="http://schemas.openxmlformats.org/drawingml/2006/main">
              <a:ext uri="{FF2B5EF4-FFF2-40B4-BE49-F238E27FC236}">
                <a16:creationId xmlns:a16="http://schemas.microsoft.com/office/drawing/2014/main" id="{4CA044CE-FE74-419C-AF8B-D4E37213320F}"/>
              </a:ext>
            </a:extLst>
          </p:cNvPr>
          <p:cNvSpPr>
            <a:spLocks xmlns:a="http://schemas.openxmlformats.org/drawingml/2006/main" noGrp="1"/>
          </p:cNvSpPr>
          <p:nvPr/>
        </p:nvSpPr>
        <p:spPr>
          <a:xfrm xmlns:a="http://schemas.openxmlformats.org/drawingml/2006/main">
            <a:off x="6876288" y="2688336"/>
            <a:ext cx="1517904"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5B5B6B"/>
                </a:solidFill>
                <a:latin typeface="Calibri"/>
                <a:ea typeface="Calibri"/>
                <a:cs typeface="Calibri"/>
              </a:rPr>
              <a:t>Cache</a:t>
            </a:r>
            <a:endParaRPr sz="1150"/>
          </a:p>
        </p:txBody>
      </p:sp>
      <p:sp>
        <p:nvSpPr>
          <p:cNvPr id="23" name="Text 20">
            <a:extLst xmlns:a="http://schemas.openxmlformats.org/drawingml/2006/main">
              <a:ext uri="{FF2B5EF4-FFF2-40B4-BE49-F238E27FC236}">
                <a16:creationId xmlns:a16="http://schemas.microsoft.com/office/drawing/2014/main" id="{523586FA-EB27-4DCC-84AC-7E5CAB950D3D}"/>
              </a:ext>
            </a:extLst>
          </p:cNvPr>
          <p:cNvSpPr>
            <a:spLocks xmlns:a="http://schemas.openxmlformats.org/drawingml/2006/main" noGrp="1"/>
          </p:cNvSpPr>
          <p:nvPr/>
        </p:nvSpPr>
        <p:spPr>
          <a:xfrm xmlns:a="http://schemas.openxmlformats.org/drawingml/2006/main">
            <a:off x="8430768" y="2688336"/>
            <a:ext cx="30175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1A1A2E"/>
                </a:solidFill>
                <a:latin typeface="Calibri"/>
                <a:ea typeface="Calibri"/>
                <a:cs typeface="Calibri"/>
              </a:rPr>
              <a:t>Upstash Redis, us-east-1</a:t>
            </a:r>
            <a:endParaRPr sz="1150"/>
          </a:p>
        </p:txBody>
      </p:sp>
      <p:sp>
        <p:nvSpPr>
          <p:cNvPr id="24" name="Text 21">
            <a:extLst xmlns:a="http://schemas.openxmlformats.org/drawingml/2006/main">
              <a:ext uri="{FF2B5EF4-FFF2-40B4-BE49-F238E27FC236}">
                <a16:creationId xmlns:a16="http://schemas.microsoft.com/office/drawing/2014/main" id="{CA887ABB-44B5-411A-99F3-2EBC4F50016C}"/>
              </a:ext>
            </a:extLst>
          </p:cNvPr>
          <p:cNvSpPr>
            <a:spLocks xmlns:a="http://schemas.openxmlformats.org/drawingml/2006/main" noGrp="1"/>
          </p:cNvSpPr>
          <p:nvPr/>
        </p:nvSpPr>
        <p:spPr>
          <a:xfrm xmlns:a="http://schemas.openxmlformats.org/drawingml/2006/main">
            <a:off x="6876288" y="3108960"/>
            <a:ext cx="1517904"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5B5B6B"/>
                </a:solidFill>
                <a:latin typeface="Calibri"/>
                <a:ea typeface="Calibri"/>
                <a:cs typeface="Calibri"/>
              </a:rPr>
              <a:t>DNS and TLS</a:t>
            </a:r>
            <a:endParaRPr sz="1150"/>
          </a:p>
        </p:txBody>
      </p:sp>
      <p:sp>
        <p:nvSpPr>
          <p:cNvPr id="25" name="Text 22">
            <a:extLst xmlns:a="http://schemas.openxmlformats.org/drawingml/2006/main">
              <a:ext uri="{FF2B5EF4-FFF2-40B4-BE49-F238E27FC236}">
                <a16:creationId xmlns:a16="http://schemas.microsoft.com/office/drawing/2014/main" id="{6B252F51-279C-4441-BA94-68F9B29FDD9E}"/>
              </a:ext>
            </a:extLst>
          </p:cNvPr>
          <p:cNvSpPr>
            <a:spLocks xmlns:a="http://schemas.openxmlformats.org/drawingml/2006/main" noGrp="1"/>
          </p:cNvSpPr>
          <p:nvPr/>
        </p:nvSpPr>
        <p:spPr>
          <a:xfrm xmlns:a="http://schemas.openxmlformats.org/drawingml/2006/main">
            <a:off x="8430768" y="3108960"/>
            <a:ext cx="30175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1A1A2E"/>
                </a:solidFill>
                <a:latin typeface="Calibri"/>
                <a:ea typeface="Calibri"/>
                <a:cs typeface="Calibri"/>
              </a:rPr>
              <a:t>Cloudflare, global edge</a:t>
            </a:r>
            <a:endParaRPr sz="1150"/>
          </a:p>
        </p:txBody>
      </p:sp>
      <p:sp>
        <p:nvSpPr>
          <p:cNvPr id="26" name="Shape 23">
            <a:extLst xmlns:a="http://schemas.openxmlformats.org/drawingml/2006/main">
              <a:ext uri="{FF2B5EF4-FFF2-40B4-BE49-F238E27FC236}">
                <a16:creationId xmlns:a16="http://schemas.microsoft.com/office/drawing/2014/main" id="{B0005CA6-D220-4075-A80D-B4E641A9C38D}"/>
              </a:ext>
            </a:extLst>
          </p:cNvPr>
          <p:cNvSpPr>
            <a:spLocks xmlns:a="http://schemas.openxmlformats.org/drawingml/2006/main" noGrp="1"/>
          </p:cNvSpPr>
          <p:nvPr/>
        </p:nvSpPr>
        <p:spPr>
          <a:xfrm xmlns:a="http://schemas.openxmlformats.org/drawingml/2006/main">
            <a:off x="566928" y="3694176"/>
            <a:ext cx="3566160" cy="1901952"/>
          </a:xfrm>
          <a:prstGeom xmlns:a="http://schemas.openxmlformats.org/drawingml/2006/main" prst="roundRect">
            <a:avLst>
              <a:gd name="adj" fmla="val 3365"/>
            </a:avLst>
          </a:prstGeom>
          <a:solidFill xmlns:a="http://schemas.openxmlformats.org/drawingml/2006/main">
            <a:srgbClr val="F4F5F9"/>
          </a:solidFill>
          <a:ln xmlns:a="http://schemas.openxmlformats.org/drawingml/2006/main" w="9525">
            <a:solidFill>
              <a:srgbClr val="D8DAE5"/>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27" name="Text 24">
            <a:extLst xmlns:a="http://schemas.openxmlformats.org/drawingml/2006/main">
              <a:ext uri="{FF2B5EF4-FFF2-40B4-BE49-F238E27FC236}">
                <a16:creationId xmlns:a16="http://schemas.microsoft.com/office/drawing/2014/main" id="{059AD9AD-AE92-474A-A299-46DA98FCEFBD}"/>
              </a:ext>
            </a:extLst>
          </p:cNvPr>
          <p:cNvSpPr>
            <a:spLocks xmlns:a="http://schemas.openxmlformats.org/drawingml/2006/main" noGrp="1"/>
          </p:cNvSpPr>
          <p:nvPr/>
        </p:nvSpPr>
        <p:spPr>
          <a:xfrm xmlns:a="http://schemas.openxmlformats.org/drawingml/2006/main">
            <a:off x="786384" y="3867912"/>
            <a:ext cx="3127248"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240C54"/>
                </a:solidFill>
                <a:latin typeface="Calibri"/>
                <a:ea typeface="Calibri"/>
                <a:cs typeface="Calibri"/>
              </a:rPr>
              <a:t>Documented API</a:t>
            </a:r>
            <a:endParaRPr sz="1400"/>
          </a:p>
        </p:txBody>
      </p:sp>
      <p:sp>
        <p:nvSpPr>
          <p:cNvPr id="28" name="Text 25">
            <a:extLst xmlns:a="http://schemas.openxmlformats.org/drawingml/2006/main">
              <a:ext uri="{FF2B5EF4-FFF2-40B4-BE49-F238E27FC236}">
                <a16:creationId xmlns:a16="http://schemas.microsoft.com/office/drawing/2014/main" id="{8CBD867A-F4C5-422D-AA26-D7F1D7E3DE1E}"/>
              </a:ext>
            </a:extLst>
          </p:cNvPr>
          <p:cNvSpPr>
            <a:spLocks xmlns:a="http://schemas.openxmlformats.org/drawingml/2006/main" noGrp="1"/>
          </p:cNvSpPr>
          <p:nvPr/>
        </p:nvSpPr>
        <p:spPr>
          <a:xfrm xmlns:a="http://schemas.openxmlformats.org/drawingml/2006/main">
            <a:off x="786384" y="4261104"/>
            <a:ext cx="3127248"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650"/>
              </a:lnSpc>
              <a:buNone/>
            </a:pPr>
            <a:r>
              <a:rPr sz="1200">
                <a:solidFill>
                  <a:srgbClr val="1A1A2E"/>
                </a:solidFill>
                <a:latin typeface="Calibri"/>
                <a:ea typeface="Calibri"/>
                <a:cs typeface="Calibri"/>
              </a:rPr>
              <a:t>The OpenAPI file is compiled into the binary, so the documentation cannot drift away from the server that serves it.</a:t>
            </a:r>
            <a:endParaRPr sz="1200"/>
          </a:p>
        </p:txBody>
      </p:sp>
      <p:sp>
        <p:nvSpPr>
          <p:cNvPr id="29" name="Shape 26">
            <a:extLst xmlns:a="http://schemas.openxmlformats.org/drawingml/2006/main">
              <a:ext uri="{FF2B5EF4-FFF2-40B4-BE49-F238E27FC236}">
                <a16:creationId xmlns:a16="http://schemas.microsoft.com/office/drawing/2014/main" id="{F1C446FC-FDAF-48D4-8397-CB0C9996FAB0}"/>
              </a:ext>
            </a:extLst>
          </p:cNvPr>
          <p:cNvSpPr>
            <a:spLocks xmlns:a="http://schemas.openxmlformats.org/drawingml/2006/main" noGrp="1"/>
          </p:cNvSpPr>
          <p:nvPr/>
        </p:nvSpPr>
        <p:spPr>
          <a:xfrm xmlns:a="http://schemas.openxmlformats.org/drawingml/2006/main">
            <a:off x="4315968" y="3694176"/>
            <a:ext cx="3566160" cy="1901952"/>
          </a:xfrm>
          <a:prstGeom xmlns:a="http://schemas.openxmlformats.org/drawingml/2006/main" prst="roundRect">
            <a:avLst>
              <a:gd name="adj" fmla="val 3365"/>
            </a:avLst>
          </a:prstGeom>
          <a:solidFill xmlns:a="http://schemas.openxmlformats.org/drawingml/2006/main">
            <a:srgbClr val="F4F5F9"/>
          </a:solidFill>
          <a:ln xmlns:a="http://schemas.openxmlformats.org/drawingml/2006/main" w="9525">
            <a:solidFill>
              <a:srgbClr val="D8DAE5"/>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30" name="Text 27">
            <a:extLst xmlns:a="http://schemas.openxmlformats.org/drawingml/2006/main">
              <a:ext uri="{FF2B5EF4-FFF2-40B4-BE49-F238E27FC236}">
                <a16:creationId xmlns:a16="http://schemas.microsoft.com/office/drawing/2014/main" id="{0E93185C-3B67-4D95-ABF7-62E11B14AE9E}"/>
              </a:ext>
            </a:extLst>
          </p:cNvPr>
          <p:cNvSpPr>
            <a:spLocks xmlns:a="http://schemas.openxmlformats.org/drawingml/2006/main" noGrp="1"/>
          </p:cNvSpPr>
          <p:nvPr/>
        </p:nvSpPr>
        <p:spPr>
          <a:xfrm xmlns:a="http://schemas.openxmlformats.org/drawingml/2006/main">
            <a:off x="4535424" y="3867912"/>
            <a:ext cx="3127248"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240C54"/>
                </a:solidFill>
                <a:latin typeface="Calibri"/>
                <a:ea typeface="Calibri"/>
                <a:cs typeface="Calibri"/>
              </a:rPr>
              <a:t>Encrypted in transit</a:t>
            </a:r>
            <a:endParaRPr sz="1400"/>
          </a:p>
        </p:txBody>
      </p:sp>
      <p:sp>
        <p:nvSpPr>
          <p:cNvPr id="31" name="Text 28">
            <a:extLst xmlns:a="http://schemas.openxmlformats.org/drawingml/2006/main">
              <a:ext uri="{FF2B5EF4-FFF2-40B4-BE49-F238E27FC236}">
                <a16:creationId xmlns:a16="http://schemas.microsoft.com/office/drawing/2014/main" id="{74E336EA-EC2B-4724-8077-6F4B04B51EB8}"/>
              </a:ext>
            </a:extLst>
          </p:cNvPr>
          <p:cNvSpPr>
            <a:spLocks xmlns:a="http://schemas.openxmlformats.org/drawingml/2006/main" noGrp="1"/>
          </p:cNvSpPr>
          <p:nvPr/>
        </p:nvSpPr>
        <p:spPr>
          <a:xfrm xmlns:a="http://schemas.openxmlformats.org/drawingml/2006/main">
            <a:off x="4535424" y="4261104"/>
            <a:ext cx="3127248"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650"/>
              </a:lnSpc>
              <a:buNone/>
            </a:pPr>
            <a:r>
              <a:rPr sz="1200">
                <a:solidFill>
                  <a:srgbClr val="1A1A2E"/>
                </a:solidFill>
                <a:latin typeface="Calibri"/>
                <a:ea typeface="Calibri"/>
                <a:cs typeface="Calibri"/>
              </a:rPr>
              <a:t>TLS certificate issued by Google Trust Services and valid to December 2026. Plain HTTP is redirected, never served.</a:t>
            </a:r>
            <a:endParaRPr sz="1200"/>
          </a:p>
        </p:txBody>
      </p:sp>
      <p:sp>
        <p:nvSpPr>
          <p:cNvPr id="32" name="Shape 29">
            <a:extLst xmlns:a="http://schemas.openxmlformats.org/drawingml/2006/main">
              <a:ext uri="{FF2B5EF4-FFF2-40B4-BE49-F238E27FC236}">
                <a16:creationId xmlns:a16="http://schemas.microsoft.com/office/drawing/2014/main" id="{34A9B0CD-9CFA-4FFF-815B-5F852FBC33D0}"/>
              </a:ext>
            </a:extLst>
          </p:cNvPr>
          <p:cNvSpPr>
            <a:spLocks xmlns:a="http://schemas.openxmlformats.org/drawingml/2006/main" noGrp="1"/>
          </p:cNvSpPr>
          <p:nvPr/>
        </p:nvSpPr>
        <p:spPr>
          <a:xfrm xmlns:a="http://schemas.openxmlformats.org/drawingml/2006/main">
            <a:off x="8065008" y="3694176"/>
            <a:ext cx="3557016" cy="1901952"/>
          </a:xfrm>
          <a:prstGeom xmlns:a="http://schemas.openxmlformats.org/drawingml/2006/main" prst="roundRect">
            <a:avLst>
              <a:gd name="adj" fmla="val 3365"/>
            </a:avLst>
          </a:prstGeom>
          <a:solidFill xmlns:a="http://schemas.openxmlformats.org/drawingml/2006/main">
            <a:srgbClr val="FBF4E4"/>
          </a:solidFill>
          <a:ln xmlns:a="http://schemas.openxmlformats.org/drawingml/2006/main" w="9525">
            <a:solidFill>
              <a:srgbClr val="E8D9AE"/>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33" name="Text 30">
            <a:extLst xmlns:a="http://schemas.openxmlformats.org/drawingml/2006/main">
              <a:ext uri="{FF2B5EF4-FFF2-40B4-BE49-F238E27FC236}">
                <a16:creationId xmlns:a16="http://schemas.microsoft.com/office/drawing/2014/main" id="{2A3893E9-1D25-4912-BFBD-F5DE4C492553}"/>
              </a:ext>
            </a:extLst>
          </p:cNvPr>
          <p:cNvSpPr>
            <a:spLocks xmlns:a="http://schemas.openxmlformats.org/drawingml/2006/main" noGrp="1"/>
          </p:cNvSpPr>
          <p:nvPr/>
        </p:nvSpPr>
        <p:spPr>
          <a:xfrm xmlns:a="http://schemas.openxmlformats.org/drawingml/2006/main">
            <a:off x="8284464" y="3867912"/>
            <a:ext cx="3118104"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240C54"/>
                </a:solidFill>
                <a:latin typeface="Calibri"/>
                <a:ea typeface="Calibri"/>
                <a:cs typeface="Calibri"/>
              </a:rPr>
              <a:t>Known limit</a:t>
            </a:r>
            <a:endParaRPr sz="1400"/>
          </a:p>
        </p:txBody>
      </p:sp>
      <p:sp>
        <p:nvSpPr>
          <p:cNvPr id="34" name="Text 31">
            <a:extLst xmlns:a="http://schemas.openxmlformats.org/drawingml/2006/main">
              <a:ext uri="{FF2B5EF4-FFF2-40B4-BE49-F238E27FC236}">
                <a16:creationId xmlns:a16="http://schemas.microsoft.com/office/drawing/2014/main" id="{97361BE9-C4EE-4AFB-9057-7B99DF841EC7}"/>
              </a:ext>
            </a:extLst>
          </p:cNvPr>
          <p:cNvSpPr>
            <a:spLocks xmlns:a="http://schemas.openxmlformats.org/drawingml/2006/main" noGrp="1"/>
          </p:cNvSpPr>
          <p:nvPr/>
        </p:nvSpPr>
        <p:spPr>
          <a:xfrm xmlns:a="http://schemas.openxmlformats.org/drawingml/2006/main">
            <a:off x="8284464" y="4261104"/>
            <a:ext cx="3118104"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650"/>
              </a:lnSpc>
              <a:buNone/>
            </a:pPr>
            <a:r>
              <a:rPr sz="1200">
                <a:solidFill>
                  <a:srgbClr val="1A1A2E"/>
                </a:solidFill>
                <a:latin typeface="Calibri"/>
                <a:ea typeface="Calibri"/>
                <a:cs typeface="Calibri"/>
              </a:rPr>
              <a:t>The free tier sleeps when idle, so the first request after a quiet period takes a few seconds. A scheduled ping keeps it warm.</a:t>
            </a:r>
            <a:endParaRPr sz="1200"/>
          </a:p>
        </p:txBody>
      </p:sp>
    </p:spTree>
    <p:extLst>
      <p:ext uri="{BB962C8B-B14F-4D97-AF65-F5344CB8AC3E}">
        <p14:creationId xmlns:p14="http://schemas.microsoft.com/office/powerpoint/2010/main" val="1853528041"/>
      </p:ext>
    </p:extLst>
  </p:cSld>
</p:sld>
</file>

<file path=ppt/slides/slide17.xml><?xml version="1.0" encoding="utf-8"?>
<p:sld xmlns:p="http://schemas.openxmlformats.org/presentationml/2006/main">
  <p:cSld>
    <p:bg>
      <p:bgPr>
        <a:solidFill xmlns:a="http://schemas.openxmlformats.org/drawingml/2006/main">
          <a:srgbClr val="17073A"/>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71AEF8A7-7A8C-497E-A451-7FB1F920C6B0}"/>
              </a:ext>
            </a:extLst>
          </p:cNvPr>
          <p:cNvSpPr>
            <a:spLocks xmlns:a="http://schemas.openxmlformats.org/drawingml/2006/main" noGrp="1"/>
          </p:cNvSpPr>
          <p:nvPr/>
        </p:nvSpPr>
        <p:spPr>
          <a:xfrm xmlns:a="http://schemas.openxmlformats.org/drawingml/2006/main">
            <a:off x="566928" y="475488"/>
            <a:ext cx="82296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20">
                <a:solidFill>
                  <a:srgbClr val="E4B454"/>
                </a:solidFill>
                <a:latin typeface="Calibri"/>
                <a:ea typeface="Calibri"/>
                <a:cs typeface="Calibri"/>
              </a:rPr>
              <a:t>TESTING AND DEFECTS</a:t>
            </a:r>
            <a:endParaRPr sz="1100"/>
          </a:p>
        </p:txBody>
      </p:sp>
      <p:sp>
        <p:nvSpPr>
          <p:cNvPr id="3" name="Text 1">
            <a:extLst xmlns:a="http://schemas.openxmlformats.org/drawingml/2006/main">
              <a:ext uri="{FF2B5EF4-FFF2-40B4-BE49-F238E27FC236}">
                <a16:creationId xmlns:a16="http://schemas.microsoft.com/office/drawing/2014/main" id="{4991AB28-ADDB-4DA0-8D74-CA3524295FBB}"/>
              </a:ext>
            </a:extLst>
          </p:cNvPr>
          <p:cNvSpPr>
            <a:spLocks xmlns:a="http://schemas.openxmlformats.org/drawingml/2006/main" noGrp="1"/>
          </p:cNvSpPr>
          <p:nvPr/>
        </p:nvSpPr>
        <p:spPr>
          <a:xfrm xmlns:a="http://schemas.openxmlformats.org/drawingml/2006/main">
            <a:off x="566928" y="768096"/>
            <a:ext cx="100584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FFFFFF"/>
                </a:solidFill>
                <a:latin typeface="Cambria"/>
                <a:ea typeface="Cambria"/>
                <a:cs typeface="Cambria"/>
              </a:rPr>
              <a:t>Twenty-seven defects found. Twenty-seven closed.</a:t>
            </a:r>
            <a:endParaRPr sz="3000"/>
          </a:p>
        </p:txBody>
      </p:sp>
      <p:pic>
        <p:nvPicPr>
          <p:cNvPr id="35" name="Image 0"/>
          <p:cNvPicPr>
            <a:picLocks xmlns:a="http://schemas.openxmlformats.org/drawingml/2006/main" noChangeAspect="1"/>
          </p:cNvPicPr>
          <p:nvPr/>
        </p:nvPicPr>
        <p:blipFill>
          <a:blip xmlns:r="http://schemas.openxmlformats.org/officeDocument/2006/relationships" xmlns:a="http://schemas.openxmlformats.org/drawingml/2006/main" r:embed="R8c0da7a710a14f80"/>
          <a:stretch xmlns:a="http://schemas.openxmlformats.org/drawingml/2006/main">
            <a:fillRect l="0" t="0" r="0" b="0"/>
          </a:stretch>
        </p:blipFill>
        <p:spPr>
          <a:xfrm xmlns:a="http://schemas.openxmlformats.org/drawingml/2006/main">
            <a:off x="11149279" y="457200"/>
            <a:ext cx="475488" cy="466344"/>
          </a:xfrm>
          <a:prstGeom xmlns:a="http://schemas.openxmlformats.org/drawingml/2006/main" prst="rect">
            <a:avLst/>
          </a:prstGeom>
        </p:spPr>
      </p:pic>
      <p:sp>
        <p:nvSpPr>
          <p:cNvPr id="5" name="Text 2">
            <a:extLst xmlns:a="http://schemas.openxmlformats.org/drawingml/2006/main">
              <a:ext uri="{FF2B5EF4-FFF2-40B4-BE49-F238E27FC236}">
                <a16:creationId xmlns:a16="http://schemas.microsoft.com/office/drawing/2014/main" id="{DE2451BA-A428-4FF5-B587-5C45C3AD9ADF}"/>
              </a:ext>
            </a:extLst>
          </p:cNvPr>
          <p:cNvSpPr>
            <a:spLocks xmlns:a="http://schemas.openxmlformats.org/drawingml/2006/main" noGrp="1"/>
          </p:cNvSpPr>
          <p:nvPr/>
        </p:nvSpPr>
        <p:spPr>
          <a:xfrm xmlns:a="http://schemas.openxmlformats.org/drawingml/2006/main">
            <a:off x="566928" y="1463040"/>
            <a:ext cx="1005840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a:solidFill>
                  <a:srgbClr val="BFB6E0"/>
                </a:solidFill>
                <a:latin typeface="Calibri"/>
                <a:ea typeface="Calibri"/>
                <a:cs typeface="Calibri"/>
              </a:rPr>
              <a:t>No single technique found more than half of them. That is the finding we would defend hardest.</a:t>
            </a:r>
            <a:endParaRPr sz="1400"/>
          </a:p>
        </p:txBody>
      </p:sp>
      <p:sp>
        <p:nvSpPr>
          <p:cNvPr id="6" name="Shape 3">
            <a:extLst xmlns:a="http://schemas.openxmlformats.org/drawingml/2006/main">
              <a:ext uri="{FF2B5EF4-FFF2-40B4-BE49-F238E27FC236}">
                <a16:creationId xmlns:a16="http://schemas.microsoft.com/office/drawing/2014/main" id="{68582B8A-9437-42D0-B2FF-FC1540FF9848}"/>
              </a:ext>
            </a:extLst>
          </p:cNvPr>
          <p:cNvSpPr>
            <a:spLocks xmlns:a="http://schemas.openxmlformats.org/drawingml/2006/main" noGrp="1"/>
          </p:cNvSpPr>
          <p:nvPr/>
        </p:nvSpPr>
        <p:spPr>
          <a:xfrm xmlns:a="http://schemas.openxmlformats.org/drawingml/2006/main">
            <a:off x="566928" y="2011680"/>
            <a:ext cx="1700784" cy="1280160"/>
          </a:xfrm>
          <a:prstGeom xmlns:a="http://schemas.openxmlformats.org/drawingml/2006/main" prst="roundRect">
            <a:avLst>
              <a:gd name="adj" fmla="val 5000"/>
            </a:avLst>
          </a:prstGeom>
          <a:solidFill xmlns:a="http://schemas.openxmlformats.org/drawingml/2006/main">
            <a:srgbClr val="271055"/>
          </a:solidFill>
          <a:ln xmlns:a="http://schemas.openxmlformats.org/drawingml/2006/main" w="12700">
            <a:solidFill>
              <a:srgbClr val="3E2A72"/>
            </a:solidFill>
            <a:prstDash val="solid"/>
          </a:ln>
        </p:spPr>
      </p:sp>
      <p:sp>
        <p:nvSpPr>
          <p:cNvPr id="7" name="Text 4">
            <a:extLst xmlns:a="http://schemas.openxmlformats.org/drawingml/2006/main">
              <a:ext uri="{FF2B5EF4-FFF2-40B4-BE49-F238E27FC236}">
                <a16:creationId xmlns:a16="http://schemas.microsoft.com/office/drawing/2014/main" id="{2BC45015-B9BE-4D39-A64F-2637779EDE06}"/>
              </a:ext>
            </a:extLst>
          </p:cNvPr>
          <p:cNvSpPr>
            <a:spLocks xmlns:a="http://schemas.openxmlformats.org/drawingml/2006/main" noGrp="1"/>
          </p:cNvSpPr>
          <p:nvPr/>
        </p:nvSpPr>
        <p:spPr>
          <a:xfrm xmlns:a="http://schemas.openxmlformats.org/drawingml/2006/main">
            <a:off x="676656" y="2157984"/>
            <a:ext cx="1481328" cy="4937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600" b="1">
                <a:solidFill>
                  <a:srgbClr val="E4B454"/>
                </a:solidFill>
                <a:latin typeface="Cambria"/>
                <a:ea typeface="Cambria"/>
                <a:cs typeface="Cambria"/>
              </a:rPr>
              <a:t>12</a:t>
            </a:r>
            <a:endParaRPr sz="2600"/>
          </a:p>
        </p:txBody>
      </p:sp>
      <p:sp>
        <p:nvSpPr>
          <p:cNvPr id="8" name="Text 5">
            <a:extLst xmlns:a="http://schemas.openxmlformats.org/drawingml/2006/main">
              <a:ext uri="{FF2B5EF4-FFF2-40B4-BE49-F238E27FC236}">
                <a16:creationId xmlns:a16="http://schemas.microsoft.com/office/drawing/2014/main" id="{DC361C94-500E-4C7C-A614-0412E085376B}"/>
              </a:ext>
            </a:extLst>
          </p:cNvPr>
          <p:cNvSpPr>
            <a:spLocks xmlns:a="http://schemas.openxmlformats.org/drawingml/2006/main" noGrp="1"/>
          </p:cNvSpPr>
          <p:nvPr/>
        </p:nvSpPr>
        <p:spPr>
          <a:xfrm xmlns:a="http://schemas.openxmlformats.org/drawingml/2006/main">
            <a:off x="640080" y="2670048"/>
            <a:ext cx="1554480" cy="4937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ts val="1400"/>
              </a:lnSpc>
              <a:buNone/>
            </a:pPr>
            <a:r>
              <a:rPr sz="1100">
                <a:solidFill>
                  <a:srgbClr val="CFC7EA"/>
                </a:solidFill>
                <a:latin typeface="Calibri"/>
                <a:ea typeface="Calibri"/>
                <a:cs typeface="Calibri"/>
              </a:rPr>
              <a:t>adversarial audit</a:t>
            </a:r>
            <a:endParaRPr sz="1100"/>
          </a:p>
        </p:txBody>
      </p:sp>
      <p:sp>
        <p:nvSpPr>
          <p:cNvPr id="9" name="Shape 6">
            <a:extLst xmlns:a="http://schemas.openxmlformats.org/drawingml/2006/main">
              <a:ext uri="{FF2B5EF4-FFF2-40B4-BE49-F238E27FC236}">
                <a16:creationId xmlns:a16="http://schemas.microsoft.com/office/drawing/2014/main" id="{D9F44571-40A7-4DF6-B5AD-50F90D9DD51F}"/>
              </a:ext>
            </a:extLst>
          </p:cNvPr>
          <p:cNvSpPr>
            <a:spLocks xmlns:a="http://schemas.openxmlformats.org/drawingml/2006/main" noGrp="1"/>
          </p:cNvSpPr>
          <p:nvPr/>
        </p:nvSpPr>
        <p:spPr>
          <a:xfrm xmlns:a="http://schemas.openxmlformats.org/drawingml/2006/main">
            <a:off x="2441448" y="2011680"/>
            <a:ext cx="1700784" cy="1280160"/>
          </a:xfrm>
          <a:prstGeom xmlns:a="http://schemas.openxmlformats.org/drawingml/2006/main" prst="roundRect">
            <a:avLst>
              <a:gd name="adj" fmla="val 5000"/>
            </a:avLst>
          </a:prstGeom>
          <a:solidFill xmlns:a="http://schemas.openxmlformats.org/drawingml/2006/main">
            <a:srgbClr val="271055"/>
          </a:solidFill>
          <a:ln xmlns:a="http://schemas.openxmlformats.org/drawingml/2006/main" w="12700">
            <a:solidFill>
              <a:srgbClr val="3E2A72"/>
            </a:solidFill>
            <a:prstDash val="solid"/>
          </a:ln>
        </p:spPr>
      </p:sp>
      <p:sp>
        <p:nvSpPr>
          <p:cNvPr id="10" name="Text 7">
            <a:extLst xmlns:a="http://schemas.openxmlformats.org/drawingml/2006/main">
              <a:ext uri="{FF2B5EF4-FFF2-40B4-BE49-F238E27FC236}">
                <a16:creationId xmlns:a16="http://schemas.microsoft.com/office/drawing/2014/main" id="{2E55A76B-43F6-4747-9ED1-7CE143FAE518}"/>
              </a:ext>
            </a:extLst>
          </p:cNvPr>
          <p:cNvSpPr>
            <a:spLocks xmlns:a="http://schemas.openxmlformats.org/drawingml/2006/main" noGrp="1"/>
          </p:cNvSpPr>
          <p:nvPr/>
        </p:nvSpPr>
        <p:spPr>
          <a:xfrm xmlns:a="http://schemas.openxmlformats.org/drawingml/2006/main">
            <a:off x="2551176" y="2157984"/>
            <a:ext cx="1481328" cy="4937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600" b="1">
                <a:solidFill>
                  <a:srgbClr val="E4B454"/>
                </a:solidFill>
                <a:latin typeface="Cambria"/>
                <a:ea typeface="Cambria"/>
                <a:cs typeface="Cambria"/>
              </a:rPr>
              <a:t>7</a:t>
            </a:r>
            <a:endParaRPr sz="2600"/>
          </a:p>
        </p:txBody>
      </p:sp>
      <p:sp>
        <p:nvSpPr>
          <p:cNvPr id="11" name="Text 8">
            <a:extLst xmlns:a="http://schemas.openxmlformats.org/drawingml/2006/main">
              <a:ext uri="{FF2B5EF4-FFF2-40B4-BE49-F238E27FC236}">
                <a16:creationId xmlns:a16="http://schemas.microsoft.com/office/drawing/2014/main" id="{94D72EAB-C828-4B78-ADCE-30E63CA804C7}"/>
              </a:ext>
            </a:extLst>
          </p:cNvPr>
          <p:cNvSpPr>
            <a:spLocks xmlns:a="http://schemas.openxmlformats.org/drawingml/2006/main" noGrp="1"/>
          </p:cNvSpPr>
          <p:nvPr/>
        </p:nvSpPr>
        <p:spPr>
          <a:xfrm xmlns:a="http://schemas.openxmlformats.org/drawingml/2006/main">
            <a:off x="2514600" y="2670048"/>
            <a:ext cx="1554480" cy="4937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ts val="1400"/>
              </a:lnSpc>
              <a:buNone/>
            </a:pPr>
            <a:r>
              <a:rPr sz="1100">
                <a:solidFill>
                  <a:srgbClr val="CFC7EA"/>
                </a:solidFill>
                <a:latin typeface="Calibri"/>
                <a:ea typeface="Calibri"/>
                <a:cs typeface="Calibri"/>
              </a:rPr>
              <a:t>checklist review</a:t>
            </a:r>
            <a:endParaRPr sz="1100"/>
          </a:p>
        </p:txBody>
      </p:sp>
      <p:sp>
        <p:nvSpPr>
          <p:cNvPr id="12" name="Shape 9">
            <a:extLst xmlns:a="http://schemas.openxmlformats.org/drawingml/2006/main">
              <a:ext uri="{FF2B5EF4-FFF2-40B4-BE49-F238E27FC236}">
                <a16:creationId xmlns:a16="http://schemas.microsoft.com/office/drawing/2014/main" id="{1B86D51F-2AB3-4F7D-8F09-1186C025EC2F}"/>
              </a:ext>
            </a:extLst>
          </p:cNvPr>
          <p:cNvSpPr>
            <a:spLocks xmlns:a="http://schemas.openxmlformats.org/drawingml/2006/main" noGrp="1"/>
          </p:cNvSpPr>
          <p:nvPr/>
        </p:nvSpPr>
        <p:spPr>
          <a:xfrm xmlns:a="http://schemas.openxmlformats.org/drawingml/2006/main">
            <a:off x="4315968" y="2011680"/>
            <a:ext cx="1700784" cy="1280160"/>
          </a:xfrm>
          <a:prstGeom xmlns:a="http://schemas.openxmlformats.org/drawingml/2006/main" prst="roundRect">
            <a:avLst>
              <a:gd name="adj" fmla="val 5000"/>
            </a:avLst>
          </a:prstGeom>
          <a:solidFill xmlns:a="http://schemas.openxmlformats.org/drawingml/2006/main">
            <a:srgbClr val="271055"/>
          </a:solidFill>
          <a:ln xmlns:a="http://schemas.openxmlformats.org/drawingml/2006/main" w="12700">
            <a:solidFill>
              <a:srgbClr val="3E2A72"/>
            </a:solidFill>
            <a:prstDash val="solid"/>
          </a:ln>
        </p:spPr>
      </p:sp>
      <p:sp>
        <p:nvSpPr>
          <p:cNvPr id="13" name="Text 10">
            <a:extLst xmlns:a="http://schemas.openxmlformats.org/drawingml/2006/main">
              <a:ext uri="{FF2B5EF4-FFF2-40B4-BE49-F238E27FC236}">
                <a16:creationId xmlns:a16="http://schemas.microsoft.com/office/drawing/2014/main" id="{C17ADDA7-6D0D-4A6B-84EB-8E87906B05A9}"/>
              </a:ext>
            </a:extLst>
          </p:cNvPr>
          <p:cNvSpPr>
            <a:spLocks xmlns:a="http://schemas.openxmlformats.org/drawingml/2006/main" noGrp="1"/>
          </p:cNvSpPr>
          <p:nvPr/>
        </p:nvSpPr>
        <p:spPr>
          <a:xfrm xmlns:a="http://schemas.openxmlformats.org/drawingml/2006/main">
            <a:off x="4425696" y="2157984"/>
            <a:ext cx="1481328" cy="4937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600" b="1">
                <a:solidFill>
                  <a:srgbClr val="E4B454"/>
                </a:solidFill>
                <a:latin typeface="Cambria"/>
                <a:ea typeface="Cambria"/>
                <a:cs typeface="Cambria"/>
              </a:rPr>
              <a:t>3</a:t>
            </a:r>
            <a:endParaRPr sz="2600"/>
          </a:p>
        </p:txBody>
      </p:sp>
      <p:sp>
        <p:nvSpPr>
          <p:cNvPr id="14" name="Text 11">
            <a:extLst xmlns:a="http://schemas.openxmlformats.org/drawingml/2006/main">
              <a:ext uri="{FF2B5EF4-FFF2-40B4-BE49-F238E27FC236}">
                <a16:creationId xmlns:a16="http://schemas.microsoft.com/office/drawing/2014/main" id="{6D2C6612-9947-4820-B998-F5C59C5D693F}"/>
              </a:ext>
            </a:extLst>
          </p:cNvPr>
          <p:cNvSpPr>
            <a:spLocks xmlns:a="http://schemas.openxmlformats.org/drawingml/2006/main" noGrp="1"/>
          </p:cNvSpPr>
          <p:nvPr/>
        </p:nvSpPr>
        <p:spPr>
          <a:xfrm xmlns:a="http://schemas.openxmlformats.org/drawingml/2006/main">
            <a:off x="4389120" y="2670048"/>
            <a:ext cx="1554480" cy="4937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ts val="1400"/>
              </a:lnSpc>
              <a:buNone/>
            </a:pPr>
            <a:r>
              <a:rPr sz="1100">
                <a:solidFill>
                  <a:srgbClr val="CFC7EA"/>
                </a:solidFill>
                <a:latin typeface="Calibri"/>
                <a:ea typeface="Calibri"/>
                <a:cs typeface="Calibri"/>
              </a:rPr>
              <a:t>first real database run</a:t>
            </a:r>
            <a:endParaRPr sz="1100"/>
          </a:p>
        </p:txBody>
      </p:sp>
      <p:sp>
        <p:nvSpPr>
          <p:cNvPr id="15" name="Shape 12">
            <a:extLst xmlns:a="http://schemas.openxmlformats.org/drawingml/2006/main">
              <a:ext uri="{FF2B5EF4-FFF2-40B4-BE49-F238E27FC236}">
                <a16:creationId xmlns:a16="http://schemas.microsoft.com/office/drawing/2014/main" id="{F690FF11-007D-410D-8A54-C8CB3C2A5D9A}"/>
              </a:ext>
            </a:extLst>
          </p:cNvPr>
          <p:cNvSpPr>
            <a:spLocks xmlns:a="http://schemas.openxmlformats.org/drawingml/2006/main" noGrp="1"/>
          </p:cNvSpPr>
          <p:nvPr/>
        </p:nvSpPr>
        <p:spPr>
          <a:xfrm xmlns:a="http://schemas.openxmlformats.org/drawingml/2006/main">
            <a:off x="6190488" y="2011680"/>
            <a:ext cx="1700784" cy="1280160"/>
          </a:xfrm>
          <a:prstGeom xmlns:a="http://schemas.openxmlformats.org/drawingml/2006/main" prst="roundRect">
            <a:avLst>
              <a:gd name="adj" fmla="val 5000"/>
            </a:avLst>
          </a:prstGeom>
          <a:solidFill xmlns:a="http://schemas.openxmlformats.org/drawingml/2006/main">
            <a:srgbClr val="271055"/>
          </a:solidFill>
          <a:ln xmlns:a="http://schemas.openxmlformats.org/drawingml/2006/main" w="12700">
            <a:solidFill>
              <a:srgbClr val="3E2A72"/>
            </a:solidFill>
            <a:prstDash val="solid"/>
          </a:ln>
        </p:spPr>
      </p:sp>
      <p:sp>
        <p:nvSpPr>
          <p:cNvPr id="16" name="Text 13">
            <a:extLst xmlns:a="http://schemas.openxmlformats.org/drawingml/2006/main">
              <a:ext uri="{FF2B5EF4-FFF2-40B4-BE49-F238E27FC236}">
                <a16:creationId xmlns:a16="http://schemas.microsoft.com/office/drawing/2014/main" id="{D3B4A9C9-22A8-4741-B81B-7E9F3C42BA60}"/>
              </a:ext>
            </a:extLst>
          </p:cNvPr>
          <p:cNvSpPr>
            <a:spLocks xmlns:a="http://schemas.openxmlformats.org/drawingml/2006/main" noGrp="1"/>
          </p:cNvSpPr>
          <p:nvPr/>
        </p:nvSpPr>
        <p:spPr>
          <a:xfrm xmlns:a="http://schemas.openxmlformats.org/drawingml/2006/main">
            <a:off x="6300216" y="2157984"/>
            <a:ext cx="1481328" cy="4937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600" b="1">
                <a:solidFill>
                  <a:srgbClr val="E4B454"/>
                </a:solidFill>
                <a:latin typeface="Cambria"/>
                <a:ea typeface="Cambria"/>
                <a:cs typeface="Cambria"/>
              </a:rPr>
              <a:t>2</a:t>
            </a:r>
            <a:endParaRPr sz="2600"/>
          </a:p>
        </p:txBody>
      </p:sp>
      <p:sp>
        <p:nvSpPr>
          <p:cNvPr id="17" name="Text 14">
            <a:extLst xmlns:a="http://schemas.openxmlformats.org/drawingml/2006/main">
              <a:ext uri="{FF2B5EF4-FFF2-40B4-BE49-F238E27FC236}">
                <a16:creationId xmlns:a16="http://schemas.microsoft.com/office/drawing/2014/main" id="{65CE872A-CC8D-4439-B212-E6F40DD8FDA7}"/>
              </a:ext>
            </a:extLst>
          </p:cNvPr>
          <p:cNvSpPr>
            <a:spLocks xmlns:a="http://schemas.openxmlformats.org/drawingml/2006/main" noGrp="1"/>
          </p:cNvSpPr>
          <p:nvPr/>
        </p:nvSpPr>
        <p:spPr>
          <a:xfrm xmlns:a="http://schemas.openxmlformats.org/drawingml/2006/main">
            <a:off x="6263640" y="2670048"/>
            <a:ext cx="1554480" cy="4937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ts val="1400"/>
              </a:lnSpc>
              <a:buNone/>
            </a:pPr>
            <a:r>
              <a:rPr sz="1100">
                <a:solidFill>
                  <a:srgbClr val="CFC7EA"/>
                </a:solidFill>
                <a:latin typeface="Calibri"/>
                <a:ea typeface="Calibri"/>
                <a:cs typeface="Calibri"/>
              </a:rPr>
              <a:t>EXPLAIN ANALYZE</a:t>
            </a:r>
            <a:endParaRPr sz="1100"/>
          </a:p>
        </p:txBody>
      </p:sp>
      <p:sp>
        <p:nvSpPr>
          <p:cNvPr id="18" name="Shape 15">
            <a:extLst xmlns:a="http://schemas.openxmlformats.org/drawingml/2006/main">
              <a:ext uri="{FF2B5EF4-FFF2-40B4-BE49-F238E27FC236}">
                <a16:creationId xmlns:a16="http://schemas.microsoft.com/office/drawing/2014/main" id="{41E11426-C175-4AC4-9AA6-988E4A0581A6}"/>
              </a:ext>
            </a:extLst>
          </p:cNvPr>
          <p:cNvSpPr>
            <a:spLocks xmlns:a="http://schemas.openxmlformats.org/drawingml/2006/main" noGrp="1"/>
          </p:cNvSpPr>
          <p:nvPr/>
        </p:nvSpPr>
        <p:spPr>
          <a:xfrm xmlns:a="http://schemas.openxmlformats.org/drawingml/2006/main">
            <a:off x="8065008" y="2011680"/>
            <a:ext cx="1700784" cy="1280160"/>
          </a:xfrm>
          <a:prstGeom xmlns:a="http://schemas.openxmlformats.org/drawingml/2006/main" prst="roundRect">
            <a:avLst>
              <a:gd name="adj" fmla="val 5000"/>
            </a:avLst>
          </a:prstGeom>
          <a:solidFill xmlns:a="http://schemas.openxmlformats.org/drawingml/2006/main">
            <a:srgbClr val="271055"/>
          </a:solidFill>
          <a:ln xmlns:a="http://schemas.openxmlformats.org/drawingml/2006/main" w="12700">
            <a:solidFill>
              <a:srgbClr val="3E2A72"/>
            </a:solidFill>
            <a:prstDash val="solid"/>
          </a:ln>
        </p:spPr>
      </p:sp>
      <p:sp>
        <p:nvSpPr>
          <p:cNvPr id="19" name="Text 16">
            <a:extLst xmlns:a="http://schemas.openxmlformats.org/drawingml/2006/main">
              <a:ext uri="{FF2B5EF4-FFF2-40B4-BE49-F238E27FC236}">
                <a16:creationId xmlns:a16="http://schemas.microsoft.com/office/drawing/2014/main" id="{6C7E095F-A0EC-4A02-ADAB-2B6E74C7A2CB}"/>
              </a:ext>
            </a:extLst>
          </p:cNvPr>
          <p:cNvSpPr>
            <a:spLocks xmlns:a="http://schemas.openxmlformats.org/drawingml/2006/main" noGrp="1"/>
          </p:cNvSpPr>
          <p:nvPr/>
        </p:nvSpPr>
        <p:spPr>
          <a:xfrm xmlns:a="http://schemas.openxmlformats.org/drawingml/2006/main">
            <a:off x="8174736" y="2157984"/>
            <a:ext cx="1481328" cy="4937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600" b="1">
                <a:solidFill>
                  <a:srgbClr val="E4B454"/>
                </a:solidFill>
                <a:latin typeface="Cambria"/>
                <a:ea typeface="Cambria"/>
                <a:cs typeface="Cambria"/>
              </a:rPr>
              <a:t>2</a:t>
            </a:r>
            <a:endParaRPr sz="2600"/>
          </a:p>
        </p:txBody>
      </p:sp>
      <p:sp>
        <p:nvSpPr>
          <p:cNvPr id="20" name="Text 17">
            <a:extLst xmlns:a="http://schemas.openxmlformats.org/drawingml/2006/main">
              <a:ext uri="{FF2B5EF4-FFF2-40B4-BE49-F238E27FC236}">
                <a16:creationId xmlns:a16="http://schemas.microsoft.com/office/drawing/2014/main" id="{94FC566E-EC07-4299-B2DE-B38AD7AB0AAF}"/>
              </a:ext>
            </a:extLst>
          </p:cNvPr>
          <p:cNvSpPr>
            <a:spLocks xmlns:a="http://schemas.openxmlformats.org/drawingml/2006/main" noGrp="1"/>
          </p:cNvSpPr>
          <p:nvPr/>
        </p:nvSpPr>
        <p:spPr>
          <a:xfrm xmlns:a="http://schemas.openxmlformats.org/drawingml/2006/main">
            <a:off x="8138160" y="2670048"/>
            <a:ext cx="1554480" cy="4937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ts val="1400"/>
              </a:lnSpc>
              <a:buNone/>
            </a:pPr>
            <a:r>
              <a:rPr sz="1100">
                <a:solidFill>
                  <a:srgbClr val="CFC7EA"/>
                </a:solidFill>
                <a:latin typeface="Calibri"/>
                <a:ea typeface="Calibri"/>
                <a:cs typeface="Calibri"/>
              </a:rPr>
              <a:t>concurrency test</a:t>
            </a:r>
            <a:endParaRPr sz="1100"/>
          </a:p>
        </p:txBody>
      </p:sp>
      <p:sp>
        <p:nvSpPr>
          <p:cNvPr id="21" name="Shape 18">
            <a:extLst xmlns:a="http://schemas.openxmlformats.org/drawingml/2006/main">
              <a:ext uri="{FF2B5EF4-FFF2-40B4-BE49-F238E27FC236}">
                <a16:creationId xmlns:a16="http://schemas.microsoft.com/office/drawing/2014/main" id="{02560640-8447-4E0D-9219-76E688BEE92D}"/>
              </a:ext>
            </a:extLst>
          </p:cNvPr>
          <p:cNvSpPr>
            <a:spLocks xmlns:a="http://schemas.openxmlformats.org/drawingml/2006/main" noGrp="1"/>
          </p:cNvSpPr>
          <p:nvPr/>
        </p:nvSpPr>
        <p:spPr>
          <a:xfrm xmlns:a="http://schemas.openxmlformats.org/drawingml/2006/main">
            <a:off x="9939528" y="2011680"/>
            <a:ext cx="1700784" cy="1280160"/>
          </a:xfrm>
          <a:prstGeom xmlns:a="http://schemas.openxmlformats.org/drawingml/2006/main" prst="roundRect">
            <a:avLst>
              <a:gd name="adj" fmla="val 5000"/>
            </a:avLst>
          </a:prstGeom>
          <a:solidFill xmlns:a="http://schemas.openxmlformats.org/drawingml/2006/main">
            <a:srgbClr val="271055"/>
          </a:solidFill>
          <a:ln xmlns:a="http://schemas.openxmlformats.org/drawingml/2006/main" w="12700">
            <a:solidFill>
              <a:srgbClr val="3E2A72"/>
            </a:solidFill>
            <a:prstDash val="solid"/>
          </a:ln>
        </p:spPr>
      </p:sp>
      <p:sp>
        <p:nvSpPr>
          <p:cNvPr id="22" name="Text 19">
            <a:extLst xmlns:a="http://schemas.openxmlformats.org/drawingml/2006/main">
              <a:ext uri="{FF2B5EF4-FFF2-40B4-BE49-F238E27FC236}">
                <a16:creationId xmlns:a16="http://schemas.microsoft.com/office/drawing/2014/main" id="{B303056C-AA70-4853-9D32-84ACF1E303D0}"/>
              </a:ext>
            </a:extLst>
          </p:cNvPr>
          <p:cNvSpPr>
            <a:spLocks xmlns:a="http://schemas.openxmlformats.org/drawingml/2006/main" noGrp="1"/>
          </p:cNvSpPr>
          <p:nvPr/>
        </p:nvSpPr>
        <p:spPr>
          <a:xfrm xmlns:a="http://schemas.openxmlformats.org/drawingml/2006/main">
            <a:off x="10049256" y="2157984"/>
            <a:ext cx="1481328" cy="4937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600" b="1">
                <a:solidFill>
                  <a:srgbClr val="E4B454"/>
                </a:solidFill>
                <a:latin typeface="Cambria"/>
                <a:ea typeface="Cambria"/>
                <a:cs typeface="Cambria"/>
              </a:rPr>
              <a:t>1</a:t>
            </a:r>
            <a:endParaRPr sz="2600"/>
          </a:p>
        </p:txBody>
      </p:sp>
      <p:sp>
        <p:nvSpPr>
          <p:cNvPr id="23" name="Text 20">
            <a:extLst xmlns:a="http://schemas.openxmlformats.org/drawingml/2006/main">
              <a:ext uri="{FF2B5EF4-FFF2-40B4-BE49-F238E27FC236}">
                <a16:creationId xmlns:a16="http://schemas.microsoft.com/office/drawing/2014/main" id="{3E62190F-C00B-4DAB-8032-82B2DA853757}"/>
              </a:ext>
            </a:extLst>
          </p:cNvPr>
          <p:cNvSpPr>
            <a:spLocks xmlns:a="http://schemas.openxmlformats.org/drawingml/2006/main" noGrp="1"/>
          </p:cNvSpPr>
          <p:nvPr/>
        </p:nvSpPr>
        <p:spPr>
          <a:xfrm xmlns:a="http://schemas.openxmlformats.org/drawingml/2006/main">
            <a:off x="10012680" y="2670048"/>
            <a:ext cx="1554480" cy="4937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ts val="1400"/>
              </a:lnSpc>
              <a:buNone/>
            </a:pPr>
            <a:r>
              <a:rPr sz="1100">
                <a:solidFill>
                  <a:srgbClr val="CFC7EA"/>
                </a:solidFill>
                <a:latin typeface="Calibri"/>
                <a:ea typeface="Calibri"/>
                <a:cs typeface="Calibri"/>
              </a:rPr>
              <a:t>unit test</a:t>
            </a:r>
            <a:endParaRPr sz="1100"/>
          </a:p>
        </p:txBody>
      </p:sp>
      <p:sp>
        <p:nvSpPr>
          <p:cNvPr id="24" name="Text 21">
            <a:extLst xmlns:a="http://schemas.openxmlformats.org/drawingml/2006/main">
              <a:ext uri="{FF2B5EF4-FFF2-40B4-BE49-F238E27FC236}">
                <a16:creationId xmlns:a16="http://schemas.microsoft.com/office/drawing/2014/main" id="{3C72230F-9777-4E79-9B1A-70F8F488C7F7}"/>
              </a:ext>
            </a:extLst>
          </p:cNvPr>
          <p:cNvSpPr>
            <a:spLocks xmlns:a="http://schemas.openxmlformats.org/drawingml/2006/main" noGrp="1"/>
          </p:cNvSpPr>
          <p:nvPr/>
        </p:nvSpPr>
        <p:spPr>
          <a:xfrm xmlns:a="http://schemas.openxmlformats.org/drawingml/2006/main">
            <a:off x="566928" y="3657600"/>
            <a:ext cx="345643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b="1">
                <a:solidFill>
                  <a:srgbClr val="E4B454"/>
                </a:solidFill>
                <a:latin typeface="Calibri"/>
                <a:ea typeface="Calibri"/>
                <a:cs typeface="Calibri"/>
              </a:rPr>
              <a:t>Four levels of testing</a:t>
            </a:r>
            <a:endParaRPr sz="1500"/>
          </a:p>
        </p:txBody>
      </p:sp>
      <p:sp>
        <p:nvSpPr>
          <p:cNvPr id="25" name="Text 22">
            <a:extLst xmlns:a="http://schemas.openxmlformats.org/drawingml/2006/main">
              <a:ext uri="{FF2B5EF4-FFF2-40B4-BE49-F238E27FC236}">
                <a16:creationId xmlns:a16="http://schemas.microsoft.com/office/drawing/2014/main" id="{0EAD35C1-D0E6-445A-AA5D-18BE1C22564F}"/>
              </a:ext>
            </a:extLst>
          </p:cNvPr>
          <p:cNvSpPr>
            <a:spLocks xmlns:a="http://schemas.openxmlformats.org/drawingml/2006/main" noGrp="1"/>
          </p:cNvSpPr>
          <p:nvPr/>
        </p:nvSpPr>
        <p:spPr>
          <a:xfrm xmlns:a="http://schemas.openxmlformats.org/drawingml/2006/main">
            <a:off x="566928" y="4023360"/>
            <a:ext cx="3456432" cy="13167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00">
                <a:solidFill>
                  <a:srgbClr val="E0DBF2"/>
                </a:solidFill>
                <a:latin typeface="Calibri"/>
                <a:ea typeface="Calibri"/>
                <a:cs typeface="Calibri"/>
              </a:rPr>
              <a:t>Unit tests for the library's rules, integration tests against a real Postgres, contract tests against the OpenAPI file, and system tests against the deployed URL.</a:t>
            </a:r>
            <a:endParaRPr sz="1200"/>
          </a:p>
        </p:txBody>
      </p:sp>
      <p:sp>
        <p:nvSpPr>
          <p:cNvPr id="26" name="Text 23">
            <a:extLst xmlns:a="http://schemas.openxmlformats.org/drawingml/2006/main">
              <a:ext uri="{FF2B5EF4-FFF2-40B4-BE49-F238E27FC236}">
                <a16:creationId xmlns:a16="http://schemas.microsoft.com/office/drawing/2014/main" id="{B1C6E97F-5C75-43B1-B42D-F0F5F7E7388D}"/>
              </a:ext>
            </a:extLst>
          </p:cNvPr>
          <p:cNvSpPr>
            <a:spLocks xmlns:a="http://schemas.openxmlformats.org/drawingml/2006/main" noGrp="1"/>
          </p:cNvSpPr>
          <p:nvPr/>
        </p:nvSpPr>
        <p:spPr>
          <a:xfrm xmlns:a="http://schemas.openxmlformats.org/drawingml/2006/main">
            <a:off x="4306824" y="3657600"/>
            <a:ext cx="345643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b="1">
                <a:solidFill>
                  <a:srgbClr val="E4B454"/>
                </a:solidFill>
                <a:latin typeface="Calibri"/>
                <a:ea typeface="Calibri"/>
                <a:cs typeface="Calibri"/>
              </a:rPr>
              <a:t>Coverage where it counts</a:t>
            </a:r>
            <a:endParaRPr sz="1500"/>
          </a:p>
        </p:txBody>
      </p:sp>
      <p:sp>
        <p:nvSpPr>
          <p:cNvPr id="27" name="Text 24">
            <a:extLst xmlns:a="http://schemas.openxmlformats.org/drawingml/2006/main">
              <a:ext uri="{FF2B5EF4-FFF2-40B4-BE49-F238E27FC236}">
                <a16:creationId xmlns:a16="http://schemas.microsoft.com/office/drawing/2014/main" id="{642D4CAF-3E41-4A7A-A2ED-F098B157CA77}"/>
              </a:ext>
            </a:extLst>
          </p:cNvPr>
          <p:cNvSpPr>
            <a:spLocks xmlns:a="http://schemas.openxmlformats.org/drawingml/2006/main" noGrp="1"/>
          </p:cNvSpPr>
          <p:nvPr/>
        </p:nvSpPr>
        <p:spPr>
          <a:xfrm xmlns:a="http://schemas.openxmlformats.org/drawingml/2006/main">
            <a:off x="4306824" y="4023360"/>
            <a:ext cx="3456432" cy="13167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00">
                <a:solidFill>
                  <a:srgbClr val="E0DBF2"/>
                </a:solidFill>
                <a:latin typeface="Calibri"/>
                <a:ea typeface="Calibri"/>
                <a:cs typeface="Calibri"/>
              </a:rPr>
              <a:t>94.7% on the domain package, which holds the borrowing rules. 83.6% on authentication. Coverage is highest where a mistake would be most expensive.</a:t>
            </a:r>
            <a:endParaRPr sz="1200"/>
          </a:p>
        </p:txBody>
      </p:sp>
      <p:sp>
        <p:nvSpPr>
          <p:cNvPr id="28" name="Text 25">
            <a:extLst xmlns:a="http://schemas.openxmlformats.org/drawingml/2006/main">
              <a:ext uri="{FF2B5EF4-FFF2-40B4-BE49-F238E27FC236}">
                <a16:creationId xmlns:a16="http://schemas.microsoft.com/office/drawing/2014/main" id="{7A7621A0-8876-48D7-8AEA-476AFE9F48BE}"/>
              </a:ext>
            </a:extLst>
          </p:cNvPr>
          <p:cNvSpPr>
            <a:spLocks xmlns:a="http://schemas.openxmlformats.org/drawingml/2006/main" noGrp="1"/>
          </p:cNvSpPr>
          <p:nvPr/>
        </p:nvSpPr>
        <p:spPr>
          <a:xfrm xmlns:a="http://schemas.openxmlformats.org/drawingml/2006/main">
            <a:off x="8046720" y="3657600"/>
            <a:ext cx="345643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b="1">
                <a:solidFill>
                  <a:srgbClr val="E4B454"/>
                </a:solidFill>
                <a:latin typeface="Calibri"/>
                <a:ea typeface="Calibri"/>
                <a:cs typeface="Calibri"/>
              </a:rPr>
              <a:t>The lesson</a:t>
            </a:r>
            <a:endParaRPr sz="1500"/>
          </a:p>
        </p:txBody>
      </p:sp>
      <p:sp>
        <p:nvSpPr>
          <p:cNvPr id="29" name="Text 26">
            <a:extLst xmlns:a="http://schemas.openxmlformats.org/drawingml/2006/main">
              <a:ext uri="{FF2B5EF4-FFF2-40B4-BE49-F238E27FC236}">
                <a16:creationId xmlns:a16="http://schemas.microsoft.com/office/drawing/2014/main" id="{E74B93EF-8777-4E70-AF35-57985C082EC2}"/>
              </a:ext>
            </a:extLst>
          </p:cNvPr>
          <p:cNvSpPr>
            <a:spLocks xmlns:a="http://schemas.openxmlformats.org/drawingml/2006/main" noGrp="1"/>
          </p:cNvSpPr>
          <p:nvPr/>
        </p:nvSpPr>
        <p:spPr>
          <a:xfrm xmlns:a="http://schemas.openxmlformats.org/drawingml/2006/main">
            <a:off x="8046720" y="4023360"/>
            <a:ext cx="3456432" cy="13167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00">
                <a:solidFill>
                  <a:srgbClr val="E0DBF2"/>
                </a:solidFill>
                <a:latin typeface="Calibri"/>
                <a:ea typeface="Calibri"/>
                <a:cs typeface="Calibri"/>
              </a:rPr>
              <a:t>Our worst defects passed their own tests. A fake database cannot execute SQL, so a test written against one can confirm a rule the real system never enforces.</a:t>
            </a:r>
            <a:endParaRPr sz="1200"/>
          </a:p>
        </p:txBody>
      </p:sp>
      <p:sp>
        <p:nvSpPr>
          <p:cNvPr id="30" name="Text 27">
            <a:extLst xmlns:a="http://schemas.openxmlformats.org/drawingml/2006/main">
              <a:ext uri="{FF2B5EF4-FFF2-40B4-BE49-F238E27FC236}">
                <a16:creationId xmlns:a16="http://schemas.microsoft.com/office/drawing/2014/main" id="{4C0D734C-D790-419F-9E7B-10B62C2DC54A}"/>
              </a:ext>
            </a:extLst>
          </p:cNvPr>
          <p:cNvSpPr>
            <a:spLocks xmlns:a="http://schemas.openxmlformats.org/drawingml/2006/main" noGrp="1"/>
          </p:cNvSpPr>
          <p:nvPr/>
        </p:nvSpPr>
        <p:spPr>
          <a:xfrm xmlns:a="http://schemas.openxmlformats.org/drawingml/2006/main">
            <a:off x="566928" y="5797296"/>
            <a:ext cx="8686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8B80B8"/>
                </a:solidFill>
                <a:latin typeface="Calibri"/>
                <a:ea typeface="Calibri"/>
                <a:cs typeface="Calibri"/>
              </a:rPr>
              <a:t>Group 4  ·  SEN 106 / SEN 216  ·  Obafemi Awolowo University, Ile-Ife</a:t>
            </a:r>
            <a:endParaRPr sz="1150"/>
          </a:p>
        </p:txBody>
      </p:sp>
      <p:sp>
        <p:nvSpPr>
          <p:cNvPr id="31" name="Text 28">
            <a:extLst xmlns:a="http://schemas.openxmlformats.org/drawingml/2006/main">
              <a:ext uri="{FF2B5EF4-FFF2-40B4-BE49-F238E27FC236}">
                <a16:creationId xmlns:a16="http://schemas.microsoft.com/office/drawing/2014/main" id="{01AA5E66-F9DA-44AE-B5EE-00F210CC9828}"/>
              </a:ext>
            </a:extLst>
          </p:cNvPr>
          <p:cNvSpPr>
            <a:spLocks xmlns:a="http://schemas.openxmlformats.org/drawingml/2006/main" noGrp="1"/>
          </p:cNvSpPr>
          <p:nvPr/>
        </p:nvSpPr>
        <p:spPr>
          <a:xfrm xmlns:a="http://schemas.openxmlformats.org/drawingml/2006/main">
            <a:off x="11149279" y="5797296"/>
            <a:ext cx="47548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000">
                <a:solidFill>
                  <a:srgbClr val="8B80B8"/>
                </a:solidFill>
                <a:latin typeface="Calibri"/>
                <a:ea typeface="Calibri"/>
                <a:cs typeface="Calibri"/>
              </a:rPr>
              <a:t>17</a:t>
            </a:r>
            <a:endParaRPr sz="1000"/>
          </a:p>
        </p:txBody>
      </p:sp>
    </p:spTree>
    <p:extLst>
      <p:ext uri="{BB962C8B-B14F-4D97-AF65-F5344CB8AC3E}">
        <p14:creationId xmlns:p14="http://schemas.microsoft.com/office/powerpoint/2010/main" val="141162578"/>
      </p:ext>
    </p:extLst>
  </p:cSld>
</p:sld>
</file>

<file path=ppt/slides/slide18.xml><?xml version="1.0" encoding="utf-8"?>
<p:sld xmlns:p="http://schemas.openxmlformats.org/presentationml/2006/main">
  <p:cSld>
    <p:bg>
      <p:bgPr>
        <a:solidFill xmlns:a="http://schemas.openxmlformats.org/drawingml/2006/main">
          <a:srgbClr val="240C54"/>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1D14BFC9-4234-450E-A6A4-9FEB56D1605D}"/>
              </a:ext>
            </a:extLst>
          </p:cNvPr>
          <p:cNvSpPr>
            <a:spLocks xmlns:a="http://schemas.openxmlformats.org/drawingml/2006/main" noGrp="1"/>
          </p:cNvSpPr>
          <p:nvPr/>
        </p:nvSpPr>
        <p:spPr>
          <a:xfrm xmlns:a="http://schemas.openxmlformats.org/drawingml/2006/main">
            <a:off x="-1097280" y="-274320"/>
            <a:ext cx="6217920" cy="6217920"/>
          </a:xfrm>
          <a:prstGeom xmlns:a="http://schemas.openxmlformats.org/drawingml/2006/main" prst="ellipse">
            <a:avLst/>
          </a:prstGeom>
          <a:solidFill xmlns:a="http://schemas.openxmlformats.org/drawingml/2006/main">
            <a:srgbClr val="2E1668"/>
          </a:solidFill>
          <a:ln xmlns:a="http://schemas.openxmlformats.org/drawingml/2006/main" w="12700">
            <a:solidFill>
              <a:srgbClr val="2E1668"/>
            </a:solidFill>
            <a:prstDash val="solid"/>
          </a:ln>
        </p:spPr>
      </p:sp>
      <p:sp>
        <p:nvSpPr>
          <p:cNvPr id="3" name="Shape 1">
            <a:extLst xmlns:a="http://schemas.openxmlformats.org/drawingml/2006/main">
              <a:ext uri="{FF2B5EF4-FFF2-40B4-BE49-F238E27FC236}">
                <a16:creationId xmlns:a16="http://schemas.microsoft.com/office/drawing/2014/main" id="{6F269754-8ADB-4F3A-9813-157FA1499016}"/>
              </a:ext>
            </a:extLst>
          </p:cNvPr>
          <p:cNvSpPr>
            <a:spLocks xmlns:a="http://schemas.openxmlformats.org/drawingml/2006/main" noGrp="1"/>
          </p:cNvSpPr>
          <p:nvPr/>
        </p:nvSpPr>
        <p:spPr>
          <a:xfrm xmlns:a="http://schemas.openxmlformats.org/drawingml/2006/main">
            <a:off x="5669280" y="2468880"/>
            <a:ext cx="4937760" cy="4937760"/>
          </a:xfrm>
          <a:prstGeom xmlns:a="http://schemas.openxmlformats.org/drawingml/2006/main" prst="ellipse">
            <a:avLst/>
          </a:prstGeom>
          <a:solidFill xmlns:a="http://schemas.openxmlformats.org/drawingml/2006/main">
            <a:srgbClr val="2E1668"/>
          </a:solidFill>
          <a:ln xmlns:a="http://schemas.openxmlformats.org/drawingml/2006/main" w="12700">
            <a:solidFill>
              <a:srgbClr val="2E1668"/>
            </a:solidFill>
            <a:prstDash val="solid"/>
          </a:ln>
        </p:spPr>
      </p:sp>
      <p:sp>
        <p:nvSpPr>
          <p:cNvPr id="4" name="Text 2">
            <a:extLst xmlns:a="http://schemas.openxmlformats.org/drawingml/2006/main">
              <a:ext uri="{FF2B5EF4-FFF2-40B4-BE49-F238E27FC236}">
                <a16:creationId xmlns:a16="http://schemas.microsoft.com/office/drawing/2014/main" id="{5407D426-D44F-4620-8225-4F232EDC35FD}"/>
              </a:ext>
            </a:extLst>
          </p:cNvPr>
          <p:cNvSpPr>
            <a:spLocks xmlns:a="http://schemas.openxmlformats.org/drawingml/2006/main" noGrp="1"/>
          </p:cNvSpPr>
          <p:nvPr/>
        </p:nvSpPr>
        <p:spPr>
          <a:xfrm xmlns:a="http://schemas.openxmlformats.org/drawingml/2006/main">
            <a:off x="566928" y="530352"/>
            <a:ext cx="6949440" cy="8595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4400" b="1">
                <a:solidFill>
                  <a:srgbClr val="FFFFFF"/>
                </a:solidFill>
                <a:latin typeface="Cambria"/>
                <a:ea typeface="Cambria"/>
                <a:cs typeface="Cambria"/>
              </a:rPr>
              <a:t>Thank you</a:t>
            </a:r>
            <a:endParaRPr sz="4400"/>
          </a:p>
        </p:txBody>
      </p:sp>
      <p:sp>
        <p:nvSpPr>
          <p:cNvPr id="5" name="Text 3">
            <a:extLst xmlns:a="http://schemas.openxmlformats.org/drawingml/2006/main">
              <a:ext uri="{FF2B5EF4-FFF2-40B4-BE49-F238E27FC236}">
                <a16:creationId xmlns:a16="http://schemas.microsoft.com/office/drawing/2014/main" id="{E44C5810-6343-4D89-BE24-7FDF040565C6}"/>
              </a:ext>
            </a:extLst>
          </p:cNvPr>
          <p:cNvSpPr>
            <a:spLocks xmlns:a="http://schemas.openxmlformats.org/drawingml/2006/main" noGrp="1"/>
          </p:cNvSpPr>
          <p:nvPr/>
        </p:nvSpPr>
        <p:spPr>
          <a:xfrm xmlns:a="http://schemas.openxmlformats.org/drawingml/2006/main">
            <a:off x="566928" y="1426464"/>
            <a:ext cx="78638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a:solidFill>
                  <a:srgbClr val="C2B8E6"/>
                </a:solidFill>
                <a:latin typeface="Calibri"/>
                <a:ea typeface="Calibri"/>
                <a:cs typeface="Calibri"/>
              </a:rPr>
              <a:t>We are happy to take questions, and to show any part of it running.</a:t>
            </a:r>
            <a:endParaRPr sz="1400"/>
          </a:p>
        </p:txBody>
      </p:sp>
      <p:sp>
        <p:nvSpPr>
          <p:cNvPr id="6" name="Text 4">
            <a:extLst xmlns:a="http://schemas.openxmlformats.org/drawingml/2006/main">
              <a:ext uri="{FF2B5EF4-FFF2-40B4-BE49-F238E27FC236}">
                <a16:creationId xmlns:a16="http://schemas.microsoft.com/office/drawing/2014/main" id="{71F8F162-0293-4D19-93D5-F0F048788139}"/>
              </a:ext>
            </a:extLst>
          </p:cNvPr>
          <p:cNvSpPr>
            <a:spLocks xmlns:a="http://schemas.openxmlformats.org/drawingml/2006/main" noGrp="1"/>
          </p:cNvSpPr>
          <p:nvPr/>
        </p:nvSpPr>
        <p:spPr>
          <a:xfrm xmlns:a="http://schemas.openxmlformats.org/drawingml/2006/main" rot="-180000">
            <a:off x="649224" y="1850746"/>
            <a:ext cx="2688336"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50"/>
              </a:lnSpc>
              <a:buNone/>
            </a:pPr>
            <a:r>
              <a:rPr sz="1000" b="1">
                <a:solidFill>
                  <a:srgbClr val="FFFFFF"/>
                </a:solidFill>
                <a:latin typeface="Calibri"/>
                <a:ea typeface="Calibri"/>
                <a:cs typeface="Calibri"/>
              </a:rPr>
              <a:t>Ibrahim Aliyah Oiza</a:t>
            </a:r>
            <a:endParaRPr sz="1000"/>
          </a:p>
          <a:p xmlns:a="http://schemas.openxmlformats.org/drawingml/2006/main">
            <a:pPr marL="0" indent="0">
              <a:lnSpc>
                <a:spcPts val="1150"/>
              </a:lnSpc>
              <a:buNone/>
            </a:pPr>
            <a:r>
              <a:rPr sz="800">
                <a:solidFill>
                  <a:srgbClr val="9184C4"/>
                </a:solidFill>
                <a:latin typeface="Calibri"/>
                <a:ea typeface="Calibri"/>
                <a:cs typeface="Calibri"/>
              </a:rPr>
              <a:t>SEN/2025/076</a:t>
            </a:r>
            <a:endParaRPr sz="1000"/>
          </a:p>
        </p:txBody>
      </p:sp>
      <p:sp>
        <p:nvSpPr>
          <p:cNvPr id="7" name="Text 5">
            <a:extLst xmlns:a="http://schemas.openxmlformats.org/drawingml/2006/main">
              <a:ext uri="{FF2B5EF4-FFF2-40B4-BE49-F238E27FC236}">
                <a16:creationId xmlns:a16="http://schemas.microsoft.com/office/drawing/2014/main" id="{98B233A5-073B-48DA-B19A-D979432FE39A}"/>
              </a:ext>
            </a:extLst>
          </p:cNvPr>
          <p:cNvSpPr>
            <a:spLocks xmlns:a="http://schemas.openxmlformats.org/drawingml/2006/main" noGrp="1"/>
          </p:cNvSpPr>
          <p:nvPr/>
        </p:nvSpPr>
        <p:spPr>
          <a:xfrm xmlns:a="http://schemas.openxmlformats.org/drawingml/2006/main" rot="120000">
            <a:off x="3315614" y="1894637"/>
            <a:ext cx="2688336"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50"/>
              </a:lnSpc>
              <a:buNone/>
            </a:pPr>
            <a:r>
              <a:rPr sz="1000" b="1">
                <a:solidFill>
                  <a:srgbClr val="E4B454"/>
                </a:solidFill>
                <a:latin typeface="Calibri"/>
                <a:ea typeface="Calibri"/>
                <a:cs typeface="Calibri"/>
              </a:rPr>
              <a:t>Olawale Ibrahim Eniola</a:t>
            </a:r>
            <a:endParaRPr sz="1000"/>
          </a:p>
          <a:p xmlns:a="http://schemas.openxmlformats.org/drawingml/2006/main">
            <a:pPr marL="0" indent="0">
              <a:lnSpc>
                <a:spcPts val="1150"/>
              </a:lnSpc>
              <a:buNone/>
            </a:pPr>
            <a:r>
              <a:rPr sz="800">
                <a:solidFill>
                  <a:srgbClr val="9184C4"/>
                </a:solidFill>
                <a:latin typeface="Calibri"/>
                <a:ea typeface="Calibri"/>
                <a:cs typeface="Calibri"/>
              </a:rPr>
              <a:t>SEN/2025/109</a:t>
            </a:r>
            <a:endParaRPr sz="1000"/>
          </a:p>
        </p:txBody>
      </p:sp>
      <p:sp>
        <p:nvSpPr>
          <p:cNvPr id="8" name="Text 6">
            <a:extLst xmlns:a="http://schemas.openxmlformats.org/drawingml/2006/main">
              <a:ext uri="{FF2B5EF4-FFF2-40B4-BE49-F238E27FC236}">
                <a16:creationId xmlns:a16="http://schemas.microsoft.com/office/drawing/2014/main" id="{78591A38-A47D-4230-AC6B-6397C523F4AC}"/>
              </a:ext>
            </a:extLst>
          </p:cNvPr>
          <p:cNvSpPr>
            <a:spLocks xmlns:a="http://schemas.openxmlformats.org/drawingml/2006/main" noGrp="1"/>
          </p:cNvSpPr>
          <p:nvPr/>
        </p:nvSpPr>
        <p:spPr>
          <a:xfrm xmlns:a="http://schemas.openxmlformats.org/drawingml/2006/main" rot="-60000">
            <a:off x="6278270" y="1938528"/>
            <a:ext cx="2688336"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50"/>
              </a:lnSpc>
              <a:buNone/>
            </a:pPr>
            <a:r>
              <a:rPr sz="1000" b="1">
                <a:solidFill>
                  <a:srgbClr val="CFC4EE"/>
                </a:solidFill>
                <a:latin typeface="Calibri"/>
                <a:ea typeface="Calibri"/>
                <a:cs typeface="Calibri"/>
              </a:rPr>
              <a:t>Fagbemiro Ibukunoluwa Ayodeji</a:t>
            </a:r>
            <a:endParaRPr sz="1000"/>
          </a:p>
          <a:p xmlns:a="http://schemas.openxmlformats.org/drawingml/2006/main">
            <a:pPr marL="0" indent="0">
              <a:lnSpc>
                <a:spcPts val="1150"/>
              </a:lnSpc>
              <a:buNone/>
            </a:pPr>
            <a:r>
              <a:rPr sz="800">
                <a:solidFill>
                  <a:srgbClr val="9184C4"/>
                </a:solidFill>
                <a:latin typeface="Calibri"/>
                <a:ea typeface="Calibri"/>
                <a:cs typeface="Calibri"/>
              </a:rPr>
              <a:t>SEN/2025/071</a:t>
            </a:r>
            <a:endParaRPr sz="1000"/>
          </a:p>
        </p:txBody>
      </p:sp>
      <p:sp>
        <p:nvSpPr>
          <p:cNvPr id="9" name="Text 7">
            <a:extLst xmlns:a="http://schemas.openxmlformats.org/drawingml/2006/main">
              <a:ext uri="{FF2B5EF4-FFF2-40B4-BE49-F238E27FC236}">
                <a16:creationId xmlns:a16="http://schemas.microsoft.com/office/drawing/2014/main" id="{0D49B114-3594-4605-B624-2E9A88295065}"/>
              </a:ext>
            </a:extLst>
          </p:cNvPr>
          <p:cNvSpPr>
            <a:spLocks xmlns:a="http://schemas.openxmlformats.org/drawingml/2006/main" noGrp="1"/>
          </p:cNvSpPr>
          <p:nvPr/>
        </p:nvSpPr>
        <p:spPr>
          <a:xfrm xmlns:a="http://schemas.openxmlformats.org/drawingml/2006/main" rot="180000">
            <a:off x="468173" y="2331720"/>
            <a:ext cx="2688336"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50"/>
              </a:lnSpc>
              <a:buNone/>
            </a:pPr>
            <a:r>
              <a:rPr sz="1000" b="1">
                <a:solidFill>
                  <a:srgbClr val="FFFFFF"/>
                </a:solidFill>
                <a:latin typeface="Calibri"/>
                <a:ea typeface="Calibri"/>
                <a:cs typeface="Calibri"/>
              </a:rPr>
              <a:t>Ige Tobiloluwa Ayodeji</a:t>
            </a:r>
            <a:endParaRPr sz="1000"/>
          </a:p>
          <a:p xmlns:a="http://schemas.openxmlformats.org/drawingml/2006/main">
            <a:pPr marL="0" indent="0">
              <a:lnSpc>
                <a:spcPts val="1150"/>
              </a:lnSpc>
              <a:buNone/>
            </a:pPr>
            <a:r>
              <a:rPr sz="800">
                <a:solidFill>
                  <a:srgbClr val="9184C4"/>
                </a:solidFill>
                <a:latin typeface="Calibri"/>
                <a:ea typeface="Calibri"/>
                <a:cs typeface="Calibri"/>
              </a:rPr>
              <a:t>SEN/2025/079</a:t>
            </a:r>
            <a:endParaRPr sz="1000"/>
          </a:p>
        </p:txBody>
      </p:sp>
      <p:sp>
        <p:nvSpPr>
          <p:cNvPr id="10" name="Text 8">
            <a:extLst xmlns:a="http://schemas.openxmlformats.org/drawingml/2006/main">
              <a:ext uri="{FF2B5EF4-FFF2-40B4-BE49-F238E27FC236}">
                <a16:creationId xmlns:a16="http://schemas.microsoft.com/office/drawing/2014/main" id="{06E8E064-4D2E-4BE0-8889-57F469C3971F}"/>
              </a:ext>
            </a:extLst>
          </p:cNvPr>
          <p:cNvSpPr>
            <a:spLocks xmlns:a="http://schemas.openxmlformats.org/drawingml/2006/main" noGrp="1"/>
          </p:cNvSpPr>
          <p:nvPr/>
        </p:nvSpPr>
        <p:spPr>
          <a:xfrm xmlns:a="http://schemas.openxmlformats.org/drawingml/2006/main" rot="-120000">
            <a:off x="3406140" y="2393899"/>
            <a:ext cx="2688336"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50"/>
              </a:lnSpc>
              <a:buNone/>
            </a:pPr>
            <a:r>
              <a:rPr sz="1000" b="1">
                <a:solidFill>
                  <a:srgbClr val="E4B454"/>
                </a:solidFill>
                <a:latin typeface="Calibri"/>
                <a:ea typeface="Calibri"/>
                <a:cs typeface="Calibri"/>
              </a:rPr>
              <a:t>Adebayo Malik Ayobami</a:t>
            </a:r>
            <a:endParaRPr sz="1000"/>
          </a:p>
          <a:p xmlns:a="http://schemas.openxmlformats.org/drawingml/2006/main">
            <a:pPr marL="0" indent="0">
              <a:lnSpc>
                <a:spcPts val="1150"/>
              </a:lnSpc>
              <a:buNone/>
            </a:pPr>
            <a:r>
              <a:rPr sz="800">
                <a:solidFill>
                  <a:srgbClr val="9184C4"/>
                </a:solidFill>
                <a:latin typeface="Calibri"/>
                <a:ea typeface="Calibri"/>
                <a:cs typeface="Calibri"/>
              </a:rPr>
              <a:t>SEN/2025/008</a:t>
            </a:r>
            <a:endParaRPr sz="1000"/>
          </a:p>
        </p:txBody>
      </p:sp>
      <p:sp>
        <p:nvSpPr>
          <p:cNvPr id="11" name="Text 9">
            <a:extLst xmlns:a="http://schemas.openxmlformats.org/drawingml/2006/main">
              <a:ext uri="{FF2B5EF4-FFF2-40B4-BE49-F238E27FC236}">
                <a16:creationId xmlns:a16="http://schemas.microsoft.com/office/drawing/2014/main" id="{A65FCE25-C567-4BD3-9D29-8366270601A3}"/>
              </a:ext>
            </a:extLst>
          </p:cNvPr>
          <p:cNvSpPr>
            <a:spLocks xmlns:a="http://schemas.openxmlformats.org/drawingml/2006/main" noGrp="1"/>
          </p:cNvSpPr>
          <p:nvPr/>
        </p:nvSpPr>
        <p:spPr>
          <a:xfrm xmlns:a="http://schemas.openxmlformats.org/drawingml/2006/main" rot="60000">
            <a:off x="6138367" y="2350008"/>
            <a:ext cx="2688336"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50"/>
              </a:lnSpc>
              <a:buNone/>
            </a:pPr>
            <a:r>
              <a:rPr sz="1000" b="1">
                <a:solidFill>
                  <a:srgbClr val="B9AADF"/>
                </a:solidFill>
                <a:latin typeface="Calibri"/>
                <a:ea typeface="Calibri"/>
                <a:cs typeface="Calibri"/>
              </a:rPr>
              <a:t>Akinwunmi David Temidayo</a:t>
            </a:r>
            <a:endParaRPr sz="1000"/>
          </a:p>
          <a:p xmlns:a="http://schemas.openxmlformats.org/drawingml/2006/main">
            <a:pPr marL="0" indent="0">
              <a:lnSpc>
                <a:spcPts val="1150"/>
              </a:lnSpc>
              <a:buNone/>
            </a:pPr>
            <a:r>
              <a:rPr sz="800">
                <a:solidFill>
                  <a:srgbClr val="9184C4"/>
                </a:solidFill>
                <a:latin typeface="Calibri"/>
                <a:ea typeface="Calibri"/>
                <a:cs typeface="Calibri"/>
              </a:rPr>
              <a:t>SEN/2025/042</a:t>
            </a:r>
            <a:endParaRPr sz="1000"/>
          </a:p>
        </p:txBody>
      </p:sp>
      <p:sp>
        <p:nvSpPr>
          <p:cNvPr id="12" name="Text 10">
            <a:extLst xmlns:a="http://schemas.openxmlformats.org/drawingml/2006/main">
              <a:ext uri="{FF2B5EF4-FFF2-40B4-BE49-F238E27FC236}">
                <a16:creationId xmlns:a16="http://schemas.microsoft.com/office/drawing/2014/main" id="{3F975884-9252-4100-A309-B6576E94F0EA}"/>
              </a:ext>
            </a:extLst>
          </p:cNvPr>
          <p:cNvSpPr>
            <a:spLocks xmlns:a="http://schemas.openxmlformats.org/drawingml/2006/main" noGrp="1"/>
          </p:cNvSpPr>
          <p:nvPr/>
        </p:nvSpPr>
        <p:spPr>
          <a:xfrm xmlns:a="http://schemas.openxmlformats.org/drawingml/2006/main" rot="120000">
            <a:off x="665683" y="2893162"/>
            <a:ext cx="2688336"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50"/>
              </a:lnSpc>
              <a:buNone/>
            </a:pPr>
            <a:r>
              <a:rPr sz="1000" b="1">
                <a:solidFill>
                  <a:srgbClr val="FFFFFF"/>
                </a:solidFill>
                <a:latin typeface="Calibri"/>
                <a:ea typeface="Calibri"/>
                <a:cs typeface="Calibri"/>
              </a:rPr>
              <a:t>Ojewole Darasimi Johnson</a:t>
            </a:r>
            <a:endParaRPr sz="1000"/>
          </a:p>
          <a:p xmlns:a="http://schemas.openxmlformats.org/drawingml/2006/main">
            <a:pPr marL="0" indent="0">
              <a:lnSpc>
                <a:spcPts val="1150"/>
              </a:lnSpc>
              <a:buNone/>
            </a:pPr>
            <a:r>
              <a:rPr sz="800">
                <a:solidFill>
                  <a:srgbClr val="9184C4"/>
                </a:solidFill>
                <a:latin typeface="Calibri"/>
                <a:ea typeface="Calibri"/>
                <a:cs typeface="Calibri"/>
              </a:rPr>
              <a:t>SEN/2025/098</a:t>
            </a:r>
            <a:endParaRPr sz="1000"/>
          </a:p>
        </p:txBody>
      </p:sp>
      <p:sp>
        <p:nvSpPr>
          <p:cNvPr id="13" name="Text 11">
            <a:extLst xmlns:a="http://schemas.openxmlformats.org/drawingml/2006/main">
              <a:ext uri="{FF2B5EF4-FFF2-40B4-BE49-F238E27FC236}">
                <a16:creationId xmlns:a16="http://schemas.microsoft.com/office/drawing/2014/main" id="{AC98F21F-F333-4D46-8B62-02227FAFBA5B}"/>
              </a:ext>
            </a:extLst>
          </p:cNvPr>
          <p:cNvSpPr>
            <a:spLocks xmlns:a="http://schemas.openxmlformats.org/drawingml/2006/main" noGrp="1"/>
          </p:cNvSpPr>
          <p:nvPr/>
        </p:nvSpPr>
        <p:spPr>
          <a:xfrm xmlns:a="http://schemas.openxmlformats.org/drawingml/2006/main" rot="-180000">
            <a:off x="3290926" y="2805379"/>
            <a:ext cx="2688336"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50"/>
              </a:lnSpc>
              <a:buNone/>
            </a:pPr>
            <a:r>
              <a:rPr sz="1000" b="1">
                <a:solidFill>
                  <a:srgbClr val="E4B454"/>
                </a:solidFill>
                <a:latin typeface="Calibri"/>
                <a:ea typeface="Calibri"/>
                <a:cs typeface="Calibri"/>
              </a:rPr>
              <a:t>Abdul Raheem Abdul Raheem Olawale</a:t>
            </a:r>
            <a:endParaRPr sz="1000"/>
          </a:p>
          <a:p xmlns:a="http://schemas.openxmlformats.org/drawingml/2006/main">
            <a:pPr marL="0" indent="0">
              <a:lnSpc>
                <a:spcPts val="1150"/>
              </a:lnSpc>
              <a:buNone/>
            </a:pPr>
            <a:r>
              <a:rPr sz="800">
                <a:solidFill>
                  <a:srgbClr val="9184C4"/>
                </a:solidFill>
                <a:latin typeface="Calibri"/>
                <a:ea typeface="Calibri"/>
                <a:cs typeface="Calibri"/>
              </a:rPr>
              <a:t>SEN/2025/003</a:t>
            </a:r>
            <a:endParaRPr sz="1000"/>
          </a:p>
        </p:txBody>
      </p:sp>
      <p:sp>
        <p:nvSpPr>
          <p:cNvPr id="14" name="Text 12">
            <a:extLst xmlns:a="http://schemas.openxmlformats.org/drawingml/2006/main">
              <a:ext uri="{FF2B5EF4-FFF2-40B4-BE49-F238E27FC236}">
                <a16:creationId xmlns:a16="http://schemas.microsoft.com/office/drawing/2014/main" id="{28E99773-67C3-43D8-B0E6-1605D4F73725}"/>
              </a:ext>
            </a:extLst>
          </p:cNvPr>
          <p:cNvSpPr>
            <a:spLocks xmlns:a="http://schemas.openxmlformats.org/drawingml/2006/main" noGrp="1"/>
          </p:cNvSpPr>
          <p:nvPr/>
        </p:nvSpPr>
        <p:spPr>
          <a:xfrm xmlns:a="http://schemas.openxmlformats.org/drawingml/2006/main" rot="60000">
            <a:off x="6187745" y="2860243"/>
            <a:ext cx="2688336"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50"/>
              </a:lnSpc>
              <a:buNone/>
            </a:pPr>
            <a:r>
              <a:rPr sz="1000" b="1">
                <a:solidFill>
                  <a:srgbClr val="CFC4EE"/>
                </a:solidFill>
                <a:latin typeface="Calibri"/>
                <a:ea typeface="Calibri"/>
                <a:cs typeface="Calibri"/>
              </a:rPr>
              <a:t>Oresajo Oluwaferanmi Idunnuoluwa</a:t>
            </a:r>
            <a:endParaRPr sz="1000"/>
          </a:p>
          <a:p xmlns:a="http://schemas.openxmlformats.org/drawingml/2006/main">
            <a:pPr marL="0" indent="0">
              <a:lnSpc>
                <a:spcPts val="1150"/>
              </a:lnSpc>
              <a:buNone/>
            </a:pPr>
            <a:r>
              <a:rPr sz="800">
                <a:solidFill>
                  <a:srgbClr val="9184C4"/>
                </a:solidFill>
                <a:latin typeface="Calibri"/>
                <a:ea typeface="Calibri"/>
                <a:cs typeface="Calibri"/>
              </a:rPr>
              <a:t>SEN/2025/120</a:t>
            </a:r>
            <a:endParaRPr sz="1000"/>
          </a:p>
        </p:txBody>
      </p:sp>
      <p:sp>
        <p:nvSpPr>
          <p:cNvPr id="15" name="Text 13">
            <a:extLst xmlns:a="http://schemas.openxmlformats.org/drawingml/2006/main">
              <a:ext uri="{FF2B5EF4-FFF2-40B4-BE49-F238E27FC236}">
                <a16:creationId xmlns:a16="http://schemas.microsoft.com/office/drawing/2014/main" id="{4A57F216-9785-4C75-9788-91180D1423FB}"/>
              </a:ext>
            </a:extLst>
          </p:cNvPr>
          <p:cNvSpPr>
            <a:spLocks xmlns:a="http://schemas.openxmlformats.org/drawingml/2006/main" noGrp="1"/>
          </p:cNvSpPr>
          <p:nvPr/>
        </p:nvSpPr>
        <p:spPr>
          <a:xfrm xmlns:a="http://schemas.openxmlformats.org/drawingml/2006/main" rot="-120000">
            <a:off x="690372" y="3370478"/>
            <a:ext cx="2688336"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50"/>
              </a:lnSpc>
              <a:buNone/>
            </a:pPr>
            <a:r>
              <a:rPr sz="1000" b="1">
                <a:solidFill>
                  <a:srgbClr val="FFFFFF"/>
                </a:solidFill>
                <a:latin typeface="Calibri"/>
                <a:ea typeface="Calibri"/>
                <a:cs typeface="Calibri"/>
              </a:rPr>
              <a:t>Bello OluwaseounTimofe Emmanuel</a:t>
            </a:r>
            <a:endParaRPr sz="1000"/>
          </a:p>
          <a:p xmlns:a="http://schemas.openxmlformats.org/drawingml/2006/main">
            <a:pPr marL="0" indent="0">
              <a:lnSpc>
                <a:spcPts val="1150"/>
              </a:lnSpc>
              <a:buNone/>
            </a:pPr>
            <a:r>
              <a:rPr sz="800">
                <a:solidFill>
                  <a:srgbClr val="9184C4"/>
                </a:solidFill>
                <a:latin typeface="Calibri"/>
                <a:ea typeface="Calibri"/>
                <a:cs typeface="Calibri"/>
              </a:rPr>
              <a:t>SEN/2025/145</a:t>
            </a:r>
            <a:endParaRPr sz="1000"/>
          </a:p>
        </p:txBody>
      </p:sp>
      <p:sp>
        <p:nvSpPr>
          <p:cNvPr id="16" name="Text 14">
            <a:extLst xmlns:a="http://schemas.openxmlformats.org/drawingml/2006/main">
              <a:ext uri="{FF2B5EF4-FFF2-40B4-BE49-F238E27FC236}">
                <a16:creationId xmlns:a16="http://schemas.microsoft.com/office/drawing/2014/main" id="{50DC7B0A-EA12-48EB-A824-52E8B20C296C}"/>
              </a:ext>
            </a:extLst>
          </p:cNvPr>
          <p:cNvSpPr>
            <a:spLocks xmlns:a="http://schemas.openxmlformats.org/drawingml/2006/main" noGrp="1"/>
          </p:cNvSpPr>
          <p:nvPr/>
        </p:nvSpPr>
        <p:spPr>
          <a:xfrm xmlns:a="http://schemas.openxmlformats.org/drawingml/2006/main" rot="180000">
            <a:off x="3282696" y="3311957"/>
            <a:ext cx="2688336"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50"/>
              </a:lnSpc>
              <a:buNone/>
            </a:pPr>
            <a:r>
              <a:rPr sz="1000" b="1">
                <a:solidFill>
                  <a:srgbClr val="E4B454"/>
                </a:solidFill>
                <a:latin typeface="Calibri"/>
                <a:ea typeface="Calibri"/>
                <a:cs typeface="Calibri"/>
              </a:rPr>
              <a:t>Onigbinde Goodluck Jesse</a:t>
            </a:r>
            <a:endParaRPr sz="1000"/>
          </a:p>
          <a:p xmlns:a="http://schemas.openxmlformats.org/drawingml/2006/main">
            <a:pPr marL="0" indent="0">
              <a:lnSpc>
                <a:spcPts val="1150"/>
              </a:lnSpc>
              <a:buNone/>
            </a:pPr>
            <a:r>
              <a:rPr sz="800">
                <a:solidFill>
                  <a:srgbClr val="9184C4"/>
                </a:solidFill>
                <a:latin typeface="Calibri"/>
                <a:ea typeface="Calibri"/>
                <a:cs typeface="Calibri"/>
              </a:rPr>
              <a:t>SEN/2025/116</a:t>
            </a:r>
            <a:endParaRPr sz="1000"/>
          </a:p>
        </p:txBody>
      </p:sp>
      <p:sp>
        <p:nvSpPr>
          <p:cNvPr id="17" name="Text 15">
            <a:extLst xmlns:a="http://schemas.openxmlformats.org/drawingml/2006/main">
              <a:ext uri="{FF2B5EF4-FFF2-40B4-BE49-F238E27FC236}">
                <a16:creationId xmlns:a16="http://schemas.microsoft.com/office/drawing/2014/main" id="{B90D02E3-9276-4C6C-84DA-89385C36B84D}"/>
              </a:ext>
            </a:extLst>
          </p:cNvPr>
          <p:cNvSpPr>
            <a:spLocks xmlns:a="http://schemas.openxmlformats.org/drawingml/2006/main" noGrp="1"/>
          </p:cNvSpPr>
          <p:nvPr/>
        </p:nvSpPr>
        <p:spPr>
          <a:xfrm xmlns:a="http://schemas.openxmlformats.org/drawingml/2006/main" rot="-60000">
            <a:off x="6220663" y="3385109"/>
            <a:ext cx="2688336"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50"/>
              </a:lnSpc>
              <a:buNone/>
            </a:pPr>
            <a:r>
              <a:rPr sz="1000" b="1">
                <a:solidFill>
                  <a:srgbClr val="B9AADF"/>
                </a:solidFill>
                <a:latin typeface="Calibri"/>
                <a:ea typeface="Calibri"/>
                <a:cs typeface="Calibri"/>
              </a:rPr>
              <a:t>Ejeh Chibuikem Philemon</a:t>
            </a:r>
            <a:endParaRPr sz="1000"/>
          </a:p>
          <a:p xmlns:a="http://schemas.openxmlformats.org/drawingml/2006/main">
            <a:pPr marL="0" indent="0">
              <a:lnSpc>
                <a:spcPts val="1150"/>
              </a:lnSpc>
              <a:buNone/>
            </a:pPr>
            <a:r>
              <a:rPr sz="800">
                <a:solidFill>
                  <a:srgbClr val="9184C4"/>
                </a:solidFill>
                <a:latin typeface="Calibri"/>
                <a:ea typeface="Calibri"/>
                <a:cs typeface="Calibri"/>
              </a:rPr>
              <a:t>SEN/2025/066</a:t>
            </a:r>
            <a:endParaRPr sz="1000"/>
          </a:p>
        </p:txBody>
      </p:sp>
      <p:sp>
        <p:nvSpPr>
          <p:cNvPr id="18" name="Text 16">
            <a:extLst xmlns:a="http://schemas.openxmlformats.org/drawingml/2006/main">
              <a:ext uri="{FF2B5EF4-FFF2-40B4-BE49-F238E27FC236}">
                <a16:creationId xmlns:a16="http://schemas.microsoft.com/office/drawing/2014/main" id="{2A91E160-F075-4C21-AF11-7C0D2E7787A7}"/>
              </a:ext>
            </a:extLst>
          </p:cNvPr>
          <p:cNvSpPr>
            <a:spLocks xmlns:a="http://schemas.openxmlformats.org/drawingml/2006/main" noGrp="1"/>
          </p:cNvSpPr>
          <p:nvPr/>
        </p:nvSpPr>
        <p:spPr>
          <a:xfrm xmlns:a="http://schemas.openxmlformats.org/drawingml/2006/main" rot="120000">
            <a:off x="525780" y="3807562"/>
            <a:ext cx="2688336"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50"/>
              </a:lnSpc>
              <a:buNone/>
            </a:pPr>
            <a:r>
              <a:rPr sz="1000" b="1">
                <a:solidFill>
                  <a:srgbClr val="FFFFFF"/>
                </a:solidFill>
                <a:latin typeface="Calibri"/>
                <a:ea typeface="Calibri"/>
                <a:cs typeface="Calibri"/>
              </a:rPr>
              <a:t>Adeneye Adebisi Crystal</a:t>
            </a:r>
            <a:endParaRPr sz="1000"/>
          </a:p>
          <a:p xmlns:a="http://schemas.openxmlformats.org/drawingml/2006/main">
            <a:pPr marL="0" indent="0">
              <a:lnSpc>
                <a:spcPts val="1150"/>
              </a:lnSpc>
              <a:buNone/>
            </a:pPr>
            <a:r>
              <a:rPr sz="800">
                <a:solidFill>
                  <a:srgbClr val="9184C4"/>
                </a:solidFill>
                <a:latin typeface="Calibri"/>
                <a:ea typeface="Calibri"/>
                <a:cs typeface="Calibri"/>
              </a:rPr>
              <a:t>SEN/2025/017</a:t>
            </a:r>
            <a:endParaRPr sz="1000"/>
          </a:p>
        </p:txBody>
      </p:sp>
      <p:sp>
        <p:nvSpPr>
          <p:cNvPr id="19" name="Text 17">
            <a:extLst xmlns:a="http://schemas.openxmlformats.org/drawingml/2006/main">
              <a:ext uri="{FF2B5EF4-FFF2-40B4-BE49-F238E27FC236}">
                <a16:creationId xmlns:a16="http://schemas.microsoft.com/office/drawing/2014/main" id="{8297AAC3-31C4-40A2-9365-3BE5172FD3F4}"/>
              </a:ext>
            </a:extLst>
          </p:cNvPr>
          <p:cNvSpPr>
            <a:spLocks xmlns:a="http://schemas.openxmlformats.org/drawingml/2006/main" noGrp="1"/>
          </p:cNvSpPr>
          <p:nvPr/>
        </p:nvSpPr>
        <p:spPr>
          <a:xfrm xmlns:a="http://schemas.openxmlformats.org/drawingml/2006/main" rot="-120000">
            <a:off x="3455518" y="3844138"/>
            <a:ext cx="2688336"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50"/>
              </a:lnSpc>
              <a:buNone/>
            </a:pPr>
            <a:r>
              <a:rPr sz="1000" b="1">
                <a:solidFill>
                  <a:srgbClr val="E4B454"/>
                </a:solidFill>
                <a:latin typeface="Calibri"/>
                <a:ea typeface="Calibri"/>
                <a:cs typeface="Calibri"/>
              </a:rPr>
              <a:t>Adegbola Paul Temitope</a:t>
            </a:r>
            <a:endParaRPr sz="1000"/>
          </a:p>
          <a:p xmlns:a="http://schemas.openxmlformats.org/drawingml/2006/main">
            <a:pPr marL="0" indent="0">
              <a:lnSpc>
                <a:spcPts val="1150"/>
              </a:lnSpc>
              <a:buNone/>
            </a:pPr>
            <a:r>
              <a:rPr sz="800">
                <a:solidFill>
                  <a:srgbClr val="9184C4"/>
                </a:solidFill>
                <a:latin typeface="Calibri"/>
                <a:ea typeface="Calibri"/>
                <a:cs typeface="Calibri"/>
              </a:rPr>
              <a:t>CSCS/2025/022</a:t>
            </a:r>
            <a:endParaRPr sz="1000"/>
          </a:p>
        </p:txBody>
      </p:sp>
      <p:sp>
        <p:nvSpPr>
          <p:cNvPr id="20" name="Text 18">
            <a:extLst xmlns:a="http://schemas.openxmlformats.org/drawingml/2006/main">
              <a:ext uri="{FF2B5EF4-FFF2-40B4-BE49-F238E27FC236}">
                <a16:creationId xmlns:a16="http://schemas.microsoft.com/office/drawing/2014/main" id="{D812A3B4-251E-4A61-9AD0-0BD1BB2BCF46}"/>
              </a:ext>
            </a:extLst>
          </p:cNvPr>
          <p:cNvSpPr>
            <a:spLocks xmlns:a="http://schemas.openxmlformats.org/drawingml/2006/main" noGrp="1"/>
          </p:cNvSpPr>
          <p:nvPr/>
        </p:nvSpPr>
        <p:spPr>
          <a:xfrm xmlns:a="http://schemas.openxmlformats.org/drawingml/2006/main" rot="60000">
            <a:off x="6056071" y="3781958"/>
            <a:ext cx="2688336"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50"/>
              </a:lnSpc>
              <a:buNone/>
            </a:pPr>
            <a:r>
              <a:rPr sz="1000" b="1">
                <a:solidFill>
                  <a:srgbClr val="CFC4EE"/>
                </a:solidFill>
                <a:latin typeface="Calibri"/>
                <a:ea typeface="Calibri"/>
                <a:cs typeface="Calibri"/>
              </a:rPr>
              <a:t>Oti Chiagoziem Evans</a:t>
            </a:r>
            <a:endParaRPr sz="1000"/>
          </a:p>
          <a:p xmlns:a="http://schemas.openxmlformats.org/drawingml/2006/main">
            <a:pPr marL="0" indent="0">
              <a:lnSpc>
                <a:spcPts val="1150"/>
              </a:lnSpc>
              <a:buNone/>
            </a:pPr>
            <a:r>
              <a:rPr sz="800">
                <a:solidFill>
                  <a:srgbClr val="9184C4"/>
                </a:solidFill>
                <a:latin typeface="Calibri"/>
                <a:ea typeface="Calibri"/>
                <a:cs typeface="Calibri"/>
              </a:rPr>
              <a:t>SEN/2025/123</a:t>
            </a:r>
            <a:endParaRPr sz="1000"/>
          </a:p>
        </p:txBody>
      </p:sp>
      <p:sp>
        <p:nvSpPr>
          <p:cNvPr id="21" name="Text 19">
            <a:extLst xmlns:a="http://schemas.openxmlformats.org/drawingml/2006/main">
              <a:ext uri="{FF2B5EF4-FFF2-40B4-BE49-F238E27FC236}">
                <a16:creationId xmlns:a16="http://schemas.microsoft.com/office/drawing/2014/main" id="{834FEEFF-6BD1-4CD8-A0AC-7B5BEF1F01F4}"/>
              </a:ext>
            </a:extLst>
          </p:cNvPr>
          <p:cNvSpPr>
            <a:spLocks xmlns:a="http://schemas.openxmlformats.org/drawingml/2006/main" noGrp="1"/>
          </p:cNvSpPr>
          <p:nvPr/>
        </p:nvSpPr>
        <p:spPr>
          <a:xfrm xmlns:a="http://schemas.openxmlformats.org/drawingml/2006/main" rot="180000">
            <a:off x="583387" y="4343400"/>
            <a:ext cx="2688336"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50"/>
              </a:lnSpc>
              <a:buNone/>
            </a:pPr>
            <a:r>
              <a:rPr sz="1000" b="1">
                <a:solidFill>
                  <a:srgbClr val="FFFFFF"/>
                </a:solidFill>
                <a:latin typeface="Calibri"/>
                <a:ea typeface="Calibri"/>
                <a:cs typeface="Calibri"/>
              </a:rPr>
              <a:t>Elusanmi Ayomide David</a:t>
            </a:r>
            <a:endParaRPr sz="1000"/>
          </a:p>
          <a:p xmlns:a="http://schemas.openxmlformats.org/drawingml/2006/main">
            <a:pPr marL="0" indent="0">
              <a:lnSpc>
                <a:spcPts val="1150"/>
              </a:lnSpc>
              <a:buNone/>
            </a:pPr>
            <a:r>
              <a:rPr sz="800">
                <a:solidFill>
                  <a:srgbClr val="9184C4"/>
                </a:solidFill>
                <a:latin typeface="Calibri"/>
                <a:ea typeface="Calibri"/>
                <a:cs typeface="Calibri"/>
              </a:rPr>
              <a:t>SEN/2025/068</a:t>
            </a:r>
            <a:endParaRPr sz="1000"/>
          </a:p>
        </p:txBody>
      </p:sp>
      <p:sp>
        <p:nvSpPr>
          <p:cNvPr id="22" name="Text 20">
            <a:extLst xmlns:a="http://schemas.openxmlformats.org/drawingml/2006/main">
              <a:ext uri="{FF2B5EF4-FFF2-40B4-BE49-F238E27FC236}">
                <a16:creationId xmlns:a16="http://schemas.microsoft.com/office/drawing/2014/main" id="{7160849B-480E-42BD-BF26-FEDAC406F618}"/>
              </a:ext>
            </a:extLst>
          </p:cNvPr>
          <p:cNvSpPr>
            <a:spLocks xmlns:a="http://schemas.openxmlformats.org/drawingml/2006/main" noGrp="1"/>
          </p:cNvSpPr>
          <p:nvPr/>
        </p:nvSpPr>
        <p:spPr>
          <a:xfrm xmlns:a="http://schemas.openxmlformats.org/drawingml/2006/main" rot="-60000">
            <a:off x="3439058" y="4284878"/>
            <a:ext cx="2688336"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50"/>
              </a:lnSpc>
              <a:buNone/>
            </a:pPr>
            <a:r>
              <a:rPr sz="1000" b="1">
                <a:solidFill>
                  <a:srgbClr val="E4B454"/>
                </a:solidFill>
                <a:latin typeface="Calibri"/>
                <a:ea typeface="Calibri"/>
                <a:cs typeface="Calibri"/>
              </a:rPr>
              <a:t>Mogaji Toyosi Ebenezer</a:t>
            </a:r>
            <a:endParaRPr sz="1000"/>
          </a:p>
          <a:p xmlns:a="http://schemas.openxmlformats.org/drawingml/2006/main">
            <a:pPr marL="0" indent="0">
              <a:lnSpc>
                <a:spcPts val="1150"/>
              </a:lnSpc>
              <a:buNone/>
            </a:pPr>
            <a:r>
              <a:rPr sz="800">
                <a:solidFill>
                  <a:srgbClr val="9184C4"/>
                </a:solidFill>
                <a:latin typeface="Calibri"/>
                <a:ea typeface="Calibri"/>
                <a:cs typeface="Calibri"/>
              </a:rPr>
              <a:t>SEN/2025/089</a:t>
            </a:r>
            <a:endParaRPr sz="1000"/>
          </a:p>
        </p:txBody>
      </p:sp>
      <p:sp>
        <p:nvSpPr>
          <p:cNvPr id="23" name="Text 21">
            <a:extLst xmlns:a="http://schemas.openxmlformats.org/drawingml/2006/main">
              <a:ext uri="{FF2B5EF4-FFF2-40B4-BE49-F238E27FC236}">
                <a16:creationId xmlns:a16="http://schemas.microsoft.com/office/drawing/2014/main" id="{AF7D3370-4C27-4304-9FB3-790A3F9934C2}"/>
              </a:ext>
            </a:extLst>
          </p:cNvPr>
          <p:cNvSpPr>
            <a:spLocks xmlns:a="http://schemas.openxmlformats.org/drawingml/2006/main" noGrp="1"/>
          </p:cNvSpPr>
          <p:nvPr/>
        </p:nvSpPr>
        <p:spPr>
          <a:xfrm xmlns:a="http://schemas.openxmlformats.org/drawingml/2006/main" rot="120000">
            <a:off x="6105449" y="4358030"/>
            <a:ext cx="2688336"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50"/>
              </a:lnSpc>
              <a:buNone/>
            </a:pPr>
            <a:r>
              <a:rPr sz="1000" b="1">
                <a:solidFill>
                  <a:srgbClr val="B9AADF"/>
                </a:solidFill>
                <a:latin typeface="Calibri"/>
                <a:ea typeface="Calibri"/>
                <a:cs typeface="Calibri"/>
              </a:rPr>
              <a:t>Amure Oluwatobiloba David</a:t>
            </a:r>
            <a:endParaRPr sz="1000"/>
          </a:p>
          <a:p xmlns:a="http://schemas.openxmlformats.org/drawingml/2006/main">
            <a:pPr marL="0" indent="0">
              <a:lnSpc>
                <a:spcPts val="1150"/>
              </a:lnSpc>
              <a:buNone/>
            </a:pPr>
            <a:r>
              <a:rPr sz="800">
                <a:solidFill>
                  <a:srgbClr val="9184C4"/>
                </a:solidFill>
                <a:latin typeface="Calibri"/>
                <a:ea typeface="Calibri"/>
                <a:cs typeface="Calibri"/>
              </a:rPr>
              <a:t>SEN/2025/045</a:t>
            </a:r>
            <a:endParaRPr sz="1000"/>
          </a:p>
        </p:txBody>
      </p:sp>
      <p:sp>
        <p:nvSpPr>
          <p:cNvPr id="24" name="Text 22">
            <a:extLst xmlns:a="http://schemas.openxmlformats.org/drawingml/2006/main">
              <a:ext uri="{FF2B5EF4-FFF2-40B4-BE49-F238E27FC236}">
                <a16:creationId xmlns:a16="http://schemas.microsoft.com/office/drawing/2014/main" id="{F49F86ED-2EFE-463D-9176-A4AAD22BF0CC}"/>
              </a:ext>
            </a:extLst>
          </p:cNvPr>
          <p:cNvSpPr>
            <a:spLocks xmlns:a="http://schemas.openxmlformats.org/drawingml/2006/main" noGrp="1"/>
          </p:cNvSpPr>
          <p:nvPr/>
        </p:nvSpPr>
        <p:spPr>
          <a:xfrm xmlns:a="http://schemas.openxmlformats.org/drawingml/2006/main" rot="-180000">
            <a:off x="673913" y="4747565"/>
            <a:ext cx="2688336"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50"/>
              </a:lnSpc>
              <a:buNone/>
            </a:pPr>
            <a:r>
              <a:rPr sz="1000" b="1">
                <a:solidFill>
                  <a:srgbClr val="FFFFFF"/>
                </a:solidFill>
                <a:latin typeface="Calibri"/>
                <a:ea typeface="Calibri"/>
                <a:cs typeface="Calibri"/>
              </a:rPr>
              <a:t>Ayodeji Oluwakorede Ifeoluwa</a:t>
            </a:r>
            <a:endParaRPr sz="1000"/>
          </a:p>
          <a:p xmlns:a="http://schemas.openxmlformats.org/drawingml/2006/main">
            <a:pPr marL="0" indent="0">
              <a:lnSpc>
                <a:spcPts val="1150"/>
              </a:lnSpc>
              <a:buNone/>
            </a:pPr>
            <a:r>
              <a:rPr sz="800">
                <a:solidFill>
                  <a:srgbClr val="9184C4"/>
                </a:solidFill>
                <a:latin typeface="Calibri"/>
                <a:ea typeface="Calibri"/>
                <a:cs typeface="Calibri"/>
              </a:rPr>
              <a:t>SEN/2025/054</a:t>
            </a:r>
            <a:endParaRPr sz="1000"/>
          </a:p>
        </p:txBody>
      </p:sp>
      <p:sp>
        <p:nvSpPr>
          <p:cNvPr id="25" name="Text 23">
            <a:extLst xmlns:a="http://schemas.openxmlformats.org/drawingml/2006/main">
              <a:ext uri="{FF2B5EF4-FFF2-40B4-BE49-F238E27FC236}">
                <a16:creationId xmlns:a16="http://schemas.microsoft.com/office/drawing/2014/main" id="{1384E215-880A-430F-95FB-C576CA0CFE46}"/>
              </a:ext>
            </a:extLst>
          </p:cNvPr>
          <p:cNvSpPr>
            <a:spLocks xmlns:a="http://schemas.openxmlformats.org/drawingml/2006/main" noGrp="1"/>
          </p:cNvSpPr>
          <p:nvPr/>
        </p:nvSpPr>
        <p:spPr>
          <a:xfrm xmlns:a="http://schemas.openxmlformats.org/drawingml/2006/main" rot="60000">
            <a:off x="3332074" y="4809744"/>
            <a:ext cx="2688336"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50"/>
              </a:lnSpc>
              <a:buNone/>
            </a:pPr>
            <a:r>
              <a:rPr sz="1000" b="1">
                <a:solidFill>
                  <a:srgbClr val="E4B454"/>
                </a:solidFill>
                <a:latin typeface="Calibri"/>
                <a:ea typeface="Calibri"/>
                <a:cs typeface="Calibri"/>
              </a:rPr>
              <a:t>Alabi Flavour Olatomiwa</a:t>
            </a:r>
            <a:endParaRPr sz="1000"/>
          </a:p>
          <a:p xmlns:a="http://schemas.openxmlformats.org/drawingml/2006/main">
            <a:pPr marL="0" indent="0">
              <a:lnSpc>
                <a:spcPts val="1150"/>
              </a:lnSpc>
              <a:buNone/>
            </a:pPr>
            <a:r>
              <a:rPr sz="800">
                <a:solidFill>
                  <a:srgbClr val="9184C4"/>
                </a:solidFill>
                <a:latin typeface="Calibri"/>
                <a:ea typeface="Calibri"/>
                <a:cs typeface="Calibri"/>
              </a:rPr>
              <a:t>SEN/2026/043</a:t>
            </a:r>
            <a:endParaRPr sz="1000"/>
          </a:p>
        </p:txBody>
      </p:sp>
      <p:sp>
        <p:nvSpPr>
          <p:cNvPr id="26" name="Text 24">
            <a:extLst xmlns:a="http://schemas.openxmlformats.org/drawingml/2006/main">
              <a:ext uri="{FF2B5EF4-FFF2-40B4-BE49-F238E27FC236}">
                <a16:creationId xmlns:a16="http://schemas.microsoft.com/office/drawing/2014/main" id="{536A1F12-3918-44A3-BB7D-E2EEE3BFFE94}"/>
              </a:ext>
            </a:extLst>
          </p:cNvPr>
          <p:cNvSpPr>
            <a:spLocks xmlns:a="http://schemas.openxmlformats.org/drawingml/2006/main" noGrp="1"/>
          </p:cNvSpPr>
          <p:nvPr/>
        </p:nvSpPr>
        <p:spPr>
          <a:xfrm xmlns:a="http://schemas.openxmlformats.org/drawingml/2006/main" rot="-120000">
            <a:off x="6212434" y="4780483"/>
            <a:ext cx="2688336"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50"/>
              </a:lnSpc>
              <a:buNone/>
            </a:pPr>
            <a:r>
              <a:rPr sz="1000" b="1">
                <a:solidFill>
                  <a:srgbClr val="CFC4EE"/>
                </a:solidFill>
                <a:latin typeface="Calibri"/>
                <a:ea typeface="Calibri"/>
                <a:cs typeface="Calibri"/>
              </a:rPr>
              <a:t>Asante William Jesutofunmi</a:t>
            </a:r>
            <a:endParaRPr sz="1000"/>
          </a:p>
          <a:p xmlns:a="http://schemas.openxmlformats.org/drawingml/2006/main">
            <a:pPr marL="0" indent="0">
              <a:lnSpc>
                <a:spcPts val="1150"/>
              </a:lnSpc>
              <a:buNone/>
            </a:pPr>
            <a:r>
              <a:rPr sz="800">
                <a:solidFill>
                  <a:srgbClr val="9184C4"/>
                </a:solidFill>
                <a:latin typeface="Calibri"/>
                <a:ea typeface="Calibri"/>
                <a:cs typeface="Calibri"/>
              </a:rPr>
              <a:t>SEN/2025/047</a:t>
            </a:r>
            <a:endParaRPr sz="1000"/>
          </a:p>
        </p:txBody>
      </p:sp>
      <p:sp>
        <p:nvSpPr>
          <p:cNvPr id="27" name="Text 25">
            <a:extLst xmlns:a="http://schemas.openxmlformats.org/drawingml/2006/main">
              <a:ext uri="{FF2B5EF4-FFF2-40B4-BE49-F238E27FC236}">
                <a16:creationId xmlns:a16="http://schemas.microsoft.com/office/drawing/2014/main" id="{41AEDDEE-B1AE-4432-8233-72755C687986}"/>
              </a:ext>
            </a:extLst>
          </p:cNvPr>
          <p:cNvSpPr>
            <a:spLocks xmlns:a="http://schemas.openxmlformats.org/drawingml/2006/main" noGrp="1"/>
          </p:cNvSpPr>
          <p:nvPr/>
        </p:nvSpPr>
        <p:spPr>
          <a:xfrm xmlns:a="http://schemas.openxmlformats.org/drawingml/2006/main" rot="120000">
            <a:off x="476402" y="5319979"/>
            <a:ext cx="2688336"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50"/>
              </a:lnSpc>
              <a:buNone/>
            </a:pPr>
            <a:r>
              <a:rPr sz="1000" b="1">
                <a:solidFill>
                  <a:srgbClr val="FFFFFF"/>
                </a:solidFill>
                <a:latin typeface="Calibri"/>
                <a:ea typeface="Calibri"/>
                <a:cs typeface="Calibri"/>
              </a:rPr>
              <a:t>ADEBAYO Honour Oluwafadeyemi</a:t>
            </a:r>
            <a:endParaRPr sz="1000"/>
          </a:p>
          <a:p xmlns:a="http://schemas.openxmlformats.org/drawingml/2006/main">
            <a:pPr marL="0" indent="0">
              <a:lnSpc>
                <a:spcPts val="1150"/>
              </a:lnSpc>
              <a:buNone/>
            </a:pPr>
            <a:r>
              <a:rPr sz="800">
                <a:solidFill>
                  <a:srgbClr val="9184C4"/>
                </a:solidFill>
                <a:latin typeface="Calibri"/>
                <a:ea typeface="Calibri"/>
                <a:cs typeface="Calibri"/>
              </a:rPr>
              <a:t>SEN/2025/007</a:t>
            </a:r>
            <a:endParaRPr sz="1000"/>
          </a:p>
        </p:txBody>
      </p:sp>
      <p:sp>
        <p:nvSpPr>
          <p:cNvPr id="28" name="Shape 26">
            <a:extLst xmlns:a="http://schemas.openxmlformats.org/drawingml/2006/main">
              <a:ext uri="{FF2B5EF4-FFF2-40B4-BE49-F238E27FC236}">
                <a16:creationId xmlns:a16="http://schemas.microsoft.com/office/drawing/2014/main" id="{85D639CD-D915-4072-A320-6CC2A2DA25F5}"/>
              </a:ext>
            </a:extLst>
          </p:cNvPr>
          <p:cNvSpPr>
            <a:spLocks xmlns:a="http://schemas.openxmlformats.org/drawingml/2006/main" noGrp="1"/>
          </p:cNvSpPr>
          <p:nvPr/>
        </p:nvSpPr>
        <p:spPr>
          <a:xfrm xmlns:a="http://schemas.openxmlformats.org/drawingml/2006/main">
            <a:off x="9107424" y="2084832"/>
            <a:ext cx="2395728" cy="2852928"/>
          </a:xfrm>
          <a:prstGeom xmlns:a="http://schemas.openxmlformats.org/drawingml/2006/main" prst="roundRect">
            <a:avLst>
              <a:gd name="adj" fmla="val 3435"/>
            </a:avLst>
          </a:prstGeom>
          <a:solidFill xmlns:a="http://schemas.openxmlformats.org/drawingml/2006/main">
            <a:srgbClr val="FFFFFF"/>
          </a:solidFill>
          <a:ln xmlns:a="http://schemas.openxmlformats.org/drawingml/2006/main" w="12700">
            <a:solidFill>
              <a:srgbClr val="FFFFFF"/>
            </a:solidFill>
            <a:prstDash val="solid"/>
          </a:ln>
          <a:effectLst xmlns:a="http://schemas.openxmlformats.org/drawingml/2006/main">
            <a:outerShdw blurRad="127000" dist="25400" dir="5400000" sx="100000" sy="100000" kx="0" ky="0" algn="bl" rotWithShape="0">
              <a:srgbClr val="9098B0">
                <a:alpha val="22000"/>
              </a:srgbClr>
            </a:outerShdw>
          </a:effectLst>
        </p:spPr>
      </p:sp>
      <p:pic>
        <p:nvPicPr>
          <p:cNvPr id="64" name="Image 0"/>
          <p:cNvPicPr>
            <a:picLocks xmlns:a="http://schemas.openxmlformats.org/drawingml/2006/main" noChangeAspect="1"/>
          </p:cNvPicPr>
          <p:nvPr/>
        </p:nvPicPr>
        <p:blipFill>
          <a:blip xmlns:r="http://schemas.openxmlformats.org/officeDocument/2006/relationships" xmlns:a="http://schemas.openxmlformats.org/drawingml/2006/main" r:embed="R5e97cebcf2ab4fce"/>
          <a:stretch xmlns:a="http://schemas.openxmlformats.org/drawingml/2006/main">
            <a:fillRect l="0" t="0" r="0" b="0"/>
          </a:stretch>
        </p:blipFill>
        <p:spPr>
          <a:xfrm xmlns:a="http://schemas.openxmlformats.org/drawingml/2006/main">
            <a:off x="9345168" y="2304288"/>
            <a:ext cx="1920240" cy="1920240"/>
          </a:xfrm>
          <a:prstGeom xmlns:a="http://schemas.openxmlformats.org/drawingml/2006/main" prst="rect">
            <a:avLst/>
          </a:prstGeom>
        </p:spPr>
      </p:pic>
      <p:sp>
        <p:nvSpPr>
          <p:cNvPr id="30" name="Text 27">
            <a:extLst xmlns:a="http://schemas.openxmlformats.org/drawingml/2006/main">
              <a:ext uri="{FF2B5EF4-FFF2-40B4-BE49-F238E27FC236}">
                <a16:creationId xmlns:a16="http://schemas.microsoft.com/office/drawing/2014/main" id="{8B920FDC-328A-4EB8-84AB-25E363C516A3}"/>
              </a:ext>
            </a:extLst>
          </p:cNvPr>
          <p:cNvSpPr>
            <a:spLocks xmlns:a="http://schemas.openxmlformats.org/drawingml/2006/main" noGrp="1"/>
          </p:cNvSpPr>
          <p:nvPr/>
        </p:nvSpPr>
        <p:spPr>
          <a:xfrm xmlns:a="http://schemas.openxmlformats.org/drawingml/2006/main">
            <a:off x="9180576" y="4297680"/>
            <a:ext cx="2249424"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240C54"/>
                </a:solidFill>
                <a:latin typeface="Calibri"/>
                <a:ea typeface="Calibri"/>
                <a:cs typeface="Calibri"/>
              </a:rPr>
              <a:t>Scan to open the library</a:t>
            </a:r>
            <a:endParaRPr sz="1100"/>
          </a:p>
        </p:txBody>
      </p:sp>
      <p:sp>
        <p:nvSpPr>
          <p:cNvPr id="31" name="Text 28">
            <a:extLst xmlns:a="http://schemas.openxmlformats.org/drawingml/2006/main">
              <a:ext uri="{FF2B5EF4-FFF2-40B4-BE49-F238E27FC236}">
                <a16:creationId xmlns:a16="http://schemas.microsoft.com/office/drawing/2014/main" id="{EDF4738F-0882-4CD5-BBCF-8445043F8774}"/>
              </a:ext>
            </a:extLst>
          </p:cNvPr>
          <p:cNvSpPr>
            <a:spLocks xmlns:a="http://schemas.openxmlformats.org/drawingml/2006/main" noGrp="1"/>
          </p:cNvSpPr>
          <p:nvPr/>
        </p:nvSpPr>
        <p:spPr>
          <a:xfrm xmlns:a="http://schemas.openxmlformats.org/drawingml/2006/main">
            <a:off x="9180576" y="4535424"/>
            <a:ext cx="2249424"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a:solidFill>
                  <a:srgbClr val="1D4ED8"/>
                </a:solidFill>
                <a:latin typeface="Courier New"/>
                <a:ea typeface="Courier New"/>
                <a:cs typeface="Courier New"/>
              </a:rPr>
              <a:t>library.appmd.dev</a:t>
            </a:r>
            <a:endParaRPr sz="1000"/>
          </a:p>
        </p:txBody>
      </p:sp>
      <p:pic>
        <p:nvPicPr>
          <p:cNvPr id="67" name="Image 1"/>
          <p:cNvPicPr>
            <a:picLocks xmlns:a="http://schemas.openxmlformats.org/drawingml/2006/main" noChangeAspect="1"/>
          </p:cNvPicPr>
          <p:nvPr/>
        </p:nvPicPr>
        <p:blipFill>
          <a:blip xmlns:r="http://schemas.openxmlformats.org/officeDocument/2006/relationships" xmlns:a="http://schemas.openxmlformats.org/drawingml/2006/main" r:embed="Rf7a9c2a0a5a946f6"/>
          <a:stretch xmlns:a="http://schemas.openxmlformats.org/drawingml/2006/main">
            <a:fillRect l="0" t="0" r="0" b="0"/>
          </a:stretch>
        </p:blipFill>
        <p:spPr>
          <a:xfrm xmlns:a="http://schemas.openxmlformats.org/drawingml/2006/main">
            <a:off x="566928" y="6071616"/>
            <a:ext cx="475488" cy="466344"/>
          </a:xfrm>
          <a:prstGeom xmlns:a="http://schemas.openxmlformats.org/drawingml/2006/main" prst="rect">
            <a:avLst/>
          </a:prstGeom>
        </p:spPr>
      </p:pic>
      <p:sp>
        <p:nvSpPr>
          <p:cNvPr id="33" name="Text 29">
            <a:extLst xmlns:a="http://schemas.openxmlformats.org/drawingml/2006/main">
              <a:ext uri="{FF2B5EF4-FFF2-40B4-BE49-F238E27FC236}">
                <a16:creationId xmlns:a16="http://schemas.microsoft.com/office/drawing/2014/main" id="{5C24A6AB-B6A5-4D47-AE16-276BF91C261F}"/>
              </a:ext>
            </a:extLst>
          </p:cNvPr>
          <p:cNvSpPr>
            <a:spLocks xmlns:a="http://schemas.openxmlformats.org/drawingml/2006/main" noGrp="1"/>
          </p:cNvSpPr>
          <p:nvPr/>
        </p:nvSpPr>
        <p:spPr>
          <a:xfrm xmlns:a="http://schemas.openxmlformats.org/drawingml/2006/main">
            <a:off x="1225296" y="6163056"/>
            <a:ext cx="6583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9184C4"/>
                </a:solidFill>
                <a:latin typeface="Calibri"/>
                <a:ea typeface="Calibri"/>
                <a:cs typeface="Calibri"/>
              </a:rPr>
              <a:t>SEN 106 / SEN 216  ·  Obafemi Awolowo University, Ile-Ife</a:t>
            </a:r>
            <a:endParaRPr sz="1150"/>
          </a:p>
        </p:txBody>
      </p:sp>
      <p:sp>
        <p:nvSpPr>
          <p:cNvPr id="34" name="Text 30">
            <a:extLst xmlns:a="http://schemas.openxmlformats.org/drawingml/2006/main">
              <a:ext uri="{FF2B5EF4-FFF2-40B4-BE49-F238E27FC236}">
                <a16:creationId xmlns:a16="http://schemas.microsoft.com/office/drawing/2014/main" id="{3E33A0F8-E3BD-435F-972C-F40D93ED6266}"/>
              </a:ext>
            </a:extLst>
          </p:cNvPr>
          <p:cNvSpPr>
            <a:spLocks xmlns:a="http://schemas.openxmlformats.org/drawingml/2006/main" noGrp="1"/>
          </p:cNvSpPr>
          <p:nvPr/>
        </p:nvSpPr>
        <p:spPr>
          <a:xfrm xmlns:a="http://schemas.openxmlformats.org/drawingml/2006/main">
            <a:off x="7680960" y="6163056"/>
            <a:ext cx="39319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100">
                <a:solidFill>
                  <a:srgbClr val="E4B454"/>
                </a:solidFill>
                <a:latin typeface="Courier New"/>
                <a:ea typeface="Courier New"/>
                <a:cs typeface="Courier New"/>
              </a:rPr>
              <a:t>api.library.appmd.dev/docs</a:t>
            </a:r>
            <a:endParaRPr sz="1100"/>
          </a:p>
        </p:txBody>
      </p:sp>
    </p:spTree>
    <p:extLst>
      <p:ext uri="{BB962C8B-B14F-4D97-AF65-F5344CB8AC3E}">
        <p14:creationId xmlns:p14="http://schemas.microsoft.com/office/powerpoint/2010/main" val="67472580"/>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
          <a:effectLst>
            <a:outerShdw blurRad="152400" dist="60241" dir="4293903">
              <a:srgbClr val="170A3B">
                <a:alpha val="20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2026-09-07T11:53:16.5870000Z</dcterms:created>
  <dcterms:modified xsi:type="dcterms:W3CDTF">2026-09-07T11:53:16.5870000Z</dcterms:modified>
</coreProperties>
</file>