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slides/slide17.xml" ContentType="application/vnd.openxmlformats-officedocument.presentationml.slide+xml"/>
  <Override PartName="/ppt/slides/slide10.xml" ContentType="application/vnd.openxmlformats-officedocument.presentationml.slide+xml"/>
  <Override PartName="/ppt/slides/slide3.xml" ContentType="application/vnd.openxmlformats-officedocument.presentationml.slide+xml"/>
  <Override PartName="/ppt/slides/slide11.xml" ContentType="application/vnd.openxmlformats-officedocument.presentationml.slide+xml"/>
  <Override PartName="/ppt/slides/slide4.xml" ContentType="application/vnd.openxmlformats-officedocument.presentationml.slide+xml"/>
  <Override PartName="/ppt/slides/slide2.xml" ContentType="application/vnd.openxmlformats-officedocument.presentationml.slide+xml"/>
  <Override PartName="/ppt/slides/slide6.xml" ContentType="application/vnd.openxmlformats-officedocument.presentationml.slide+xml"/>
  <Override PartName="/ppt/slides/slide1.xml" ContentType="application/vnd.openxmlformats-officedocument.presentationml.slide+xml"/>
  <Override PartName="/ppt/slides/slide7.xml" ContentType="application/vnd.openxmlformats-officedocument.presentationml.slide+xml"/>
  <Override PartName="/ppt/slides/slide5.xml" ContentType="application/vnd.openxmlformats-officedocument.presentationml.slide+xml"/>
  <Override PartName="/ppt/slides/slide1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8.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6.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3.xml" ContentType="application/vnd.openxmlformats-officedocument.presentationml.notesSlide+xml"/>
  <Override PartName="/ppt/notesSlides/notesSlide16.xml" ContentType="application/vnd.openxmlformats-officedocument.presentationml.notesSlide+xml"/>
  <Override PartName="/ppt/notesSlides/notesSlide10.xml" ContentType="application/vnd.openxmlformats-officedocument.presentationml.notesSlide+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14.xml" ContentType="application/vnd.openxmlformats-officedocument.presentationml.notesSlide+xml"/>
  <Override PartName="/ppt/notesSlides/notesSlide17.xml" ContentType="application/vnd.openxmlformats-officedocument.presentationml.notesSlide+xml"/>
  <Override PartName="/ppt/notesSlides/notesSlide7.xml" ContentType="application/vnd.openxmlformats-officedocument.presentationml.notesSlide+xml"/>
  <Override PartName="/ppt/notesSlides/notesSlide18.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216000" y="812520"/>
            <a:ext cx="7127280" cy="4008960"/>
          </a:xfrm>
          <a:prstGeom prst="rect">
            <a:avLst/>
          </a:prstGeom>
          <a:noFill/>
          <a:ln w="0">
            <a:noFill/>
          </a:ln>
        </p:spPr>
        <p:txBody>
          <a:bodyPr lIns="0" tIns="0" rIns="0" bIns="0" anchor="ctr">
            <a:noAutofit/>
          </a:bodyPr>
          <a:p>
            <a:pPr algn="ctr"/>
            <a:r>
              <a:rPr lang="en-NG" sz="4400" b="0" u="none" strike="noStrike">
                <a:solidFill>
                  <a:schemeClr val="dk1"/>
                </a:solidFill>
                <a:effectLst/>
                <a:uFillTx/>
                <a:latin typeface="Calibri Light"/>
              </a:rPr>
              <a:t>Click to move the slide</a:t>
            </a:r>
            <a:endParaRPr lang="en-NG" sz="4400" b="0" u="none" strike="noStrike">
              <a:solidFill>
                <a:schemeClr val="dk1"/>
              </a:solidFill>
              <a:effectLst/>
              <a:uFillTx/>
              <a:latin typeface="Calibri Light"/>
            </a:endParaRPr>
          </a:p>
        </p:txBody>
      </p:sp>
      <p:sp>
        <p:nvSpPr>
          <p:cNvPr id="5"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n-NG" sz="2000" b="0" u="none" strike="noStrike">
                <a:solidFill>
                  <a:srgbClr val="000000"/>
                </a:solidFill>
                <a:effectLst/>
                <a:uFillTx/>
                <a:latin typeface="Arial"/>
              </a:rPr>
              <a:t>Click to edit the notes format</a:t>
            </a:r>
            <a:endParaRPr lang="en-NG" sz="2000" b="0" u="none" strike="noStrike">
              <a:solidFill>
                <a:srgbClr val="000000"/>
              </a:solidFill>
              <a:effectLst/>
              <a:uFillTx/>
              <a:latin typeface="Arial"/>
            </a:endParaRPr>
          </a:p>
        </p:txBody>
      </p:sp>
      <p:sp>
        <p:nvSpPr>
          <p:cNvPr id="6"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n-NG" sz="1400" b="0" u="none" strike="noStrike">
                <a:solidFill>
                  <a:srgbClr val="000000"/>
                </a:solidFill>
                <a:effectLst/>
                <a:uFillTx/>
                <a:latin typeface="Times New Roman"/>
              </a:rPr>
              <a:t> </a:t>
            </a:r>
            <a:endParaRPr lang="en-NG" sz="1400" b="0" u="none" strike="noStrike">
              <a:solidFill>
                <a:srgbClr val="000000"/>
              </a:solidFill>
              <a:effectLst/>
              <a:uFillTx/>
              <a:latin typeface="Times New Roman"/>
            </a:endParaRPr>
          </a:p>
        </p:txBody>
      </p:sp>
      <p:sp>
        <p:nvSpPr>
          <p:cNvPr id="7"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NG" sz="1400" b="0" u="none" strike="noStrike">
                <a:solidFill>
                  <a:srgbClr val="000000"/>
                </a:solidFill>
                <a:effectLst/>
                <a:uFillTx/>
                <a:latin typeface="Times New Roman"/>
              </a:defRPr>
            </a:lvl1pPr>
          </a:lstStyle>
          <a:p>
            <a:pPr indent="0" algn="r">
              <a:buNone/>
            </a:pPr>
            <a:r>
              <a:rPr lang="en-NG" sz="1400" b="0" u="none" strike="noStrike">
                <a:solidFill>
                  <a:srgbClr val="000000"/>
                </a:solidFill>
                <a:effectLst/>
                <a:uFillTx/>
                <a:latin typeface="Times New Roman"/>
              </a:rPr>
              <a:t> </a:t>
            </a:r>
            <a:endParaRPr lang="en-NG" sz="1400" b="0" u="none" strike="noStrike">
              <a:solidFill>
                <a:srgbClr val="000000"/>
              </a:solidFill>
              <a:effectLst/>
              <a:uFillTx/>
              <a:latin typeface="Times New Roman"/>
            </a:endParaRPr>
          </a:p>
        </p:txBody>
      </p:sp>
      <p:sp>
        <p:nvSpPr>
          <p:cNvPr id="8"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lgn="l">
              <a:buNone/>
              <a:defRPr lang="en-NG" sz="1400" b="0" u="none" strike="noStrike">
                <a:solidFill>
                  <a:srgbClr val="000000"/>
                </a:solidFill>
                <a:effectLst/>
                <a:uFillTx/>
                <a:latin typeface="Times New Roman"/>
              </a:defRPr>
            </a:lvl1pPr>
          </a:lstStyle>
          <a:p>
            <a:pPr indent="0" algn="l">
              <a:buNone/>
            </a:pPr>
            <a:r>
              <a:rPr lang="en-NG" sz="1400" b="0" u="none" strike="noStrike">
                <a:solidFill>
                  <a:srgbClr val="000000"/>
                </a:solidFill>
                <a:effectLst/>
                <a:uFillTx/>
                <a:latin typeface="Times New Roman"/>
              </a:rPr>
              <a:t> </a:t>
            </a:r>
            <a:endParaRPr lang="en-NG" sz="1400" b="0" u="none" strike="noStrike">
              <a:solidFill>
                <a:srgbClr val="000000"/>
              </a:solidFill>
              <a:effectLst/>
              <a:uFillTx/>
              <a:latin typeface="Times New Roman"/>
            </a:endParaRPr>
          </a:p>
        </p:txBody>
      </p:sp>
      <p:sp>
        <p:nvSpPr>
          <p:cNvPr id="9"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NG" sz="1400" b="0" u="none" strike="noStrike">
                <a:solidFill>
                  <a:srgbClr val="000000"/>
                </a:solidFill>
                <a:effectLst/>
                <a:uFillTx/>
                <a:latin typeface="Times New Roman"/>
              </a:defRPr>
            </a:lvl1pPr>
          </a:lstStyle>
          <a:p>
            <a:pPr indent="0" algn="r">
              <a:buNone/>
            </a:pPr>
            <a:fld id="{8116DE7A-2AC0-4A1B-9681-F2B927644425}" type="slidenum">
              <a:rPr lang="en-NG" sz="1400" b="0" u="none" strike="noStrike">
                <a:solidFill>
                  <a:srgbClr val="000000"/>
                </a:solidFill>
                <a:effectLst/>
                <a:uFillTx/>
                <a:latin typeface="Times New Roman"/>
              </a:rPr>
              <a:t>1</a:t>
            </a:fld>
            <a:endParaRPr lang="en-NG"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1" name="PlaceHolder 1"/>
          <p:cNvSpPr>
            <a:spLocks noGrp="1"/>
          </p:cNvSpPr>
          <p:nvPr>
            <p:ph type="sldImg"/>
          </p:nvPr>
        </p:nvSpPr>
        <p:spPr>
          <a:xfrm>
            <a:off x="0" y="0"/>
            <a:ext cx="0" cy="0"/>
          </a:xfrm>
          <a:prstGeom prst="rect">
            <a:avLst/>
          </a:prstGeom>
          <a:ln w="0">
            <a:noFill/>
          </a:ln>
        </p:spPr>
      </p:sp>
      <p:sp>
        <p:nvSpPr>
          <p:cNvPr id="592"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NG" sz="2000" b="0" u="none" strike="noStrike">
                <a:solidFill>
                  <a:srgbClr val="000000"/>
                </a:solidFill>
                <a:effectLst/>
                <a:uFillTx/>
                <a:latin typeface="Arial"/>
              </a:rPr>
              <a:t>Good morning. We are Group 4. Our project is an online library management system for the Hezekiah Oluwasanmi Library. Both halves are live and we will show them running.</a:t>
            </a:r>
            <a:endParaRPr lang="en-NG" sz="2000" b="0" u="none" strike="noStrike">
              <a:solidFill>
                <a:srgbClr val="000000"/>
              </a:solidFill>
              <a:effectLst/>
              <a:uFillTx/>
              <a:latin typeface="Arial"/>
            </a:endParaRPr>
          </a:p>
        </p:txBody>
      </p:sp>
      <p:sp>
        <p:nvSpPr>
          <p:cNvPr id="593" name="PlaceHolder 3"/>
          <p:cNvSpPr>
            <a:spLocks noGrp="1"/>
          </p:cNvSpPr>
          <p:nvPr>
            <p:ph type="sldNum" idx="4"/>
          </p:nvPr>
        </p:nvSpPr>
        <p:spPr>
          <a:xfrm>
            <a:off x="0" y="0"/>
            <a:ext cx="0" cy="0"/>
          </a:xfrm>
          <a:prstGeom prst="rect">
            <a:avLst/>
          </a:prstGeom>
          <a:noFill/>
          <a:ln w="0">
            <a:noFill/>
          </a:ln>
        </p:spPr>
        <p:txBody>
          <a:bodyPr lIns="90000" tIns="-45000" rIns="90000" bIns="-45000" anchor="t">
            <a:noAutofit/>
          </a:bodyPr>
          <a:p>
            <a:pPr indent="0" algn="l">
              <a:buNone/>
            </a:pPr>
            <a:endParaRPr lang="en-NG" sz="18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4" name="PlaceHolder 1"/>
          <p:cNvSpPr>
            <a:spLocks noGrp="1"/>
          </p:cNvSpPr>
          <p:nvPr>
            <p:ph type="sldImg"/>
          </p:nvPr>
        </p:nvSpPr>
        <p:spPr>
          <a:xfrm>
            <a:off x="0" y="0"/>
            <a:ext cx="0" cy="0"/>
          </a:xfrm>
          <a:prstGeom prst="rect">
            <a:avLst/>
          </a:prstGeom>
          <a:ln w="0">
            <a:noFill/>
          </a:ln>
        </p:spPr>
      </p:sp>
      <p:sp>
        <p:nvSpPr>
          <p:cNvPr id="595"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NG" sz="2000" b="0" u="none" strike="noStrike">
                <a:solidFill>
                  <a:srgbClr val="000000"/>
                </a:solidFill>
                <a:effectLst/>
                <a:uFillTx/>
                <a:latin typeface="Arial"/>
              </a:rPr>
              <a:t>The library is not short of books. It is short of answers about them.</a:t>
            </a:r>
            <a:endParaRPr lang="en-NG" sz="2000" b="0" u="none" strike="noStrike">
              <a:solidFill>
                <a:srgbClr val="000000"/>
              </a:solidFill>
              <a:effectLst/>
              <a:uFillTx/>
              <a:latin typeface="Arial"/>
            </a:endParaRPr>
          </a:p>
        </p:txBody>
      </p:sp>
      <p:sp>
        <p:nvSpPr>
          <p:cNvPr id="596" name="PlaceHolder 3"/>
          <p:cNvSpPr>
            <a:spLocks noGrp="1"/>
          </p:cNvSpPr>
          <p:nvPr>
            <p:ph type="sldNum" idx="5"/>
          </p:nvPr>
        </p:nvSpPr>
        <p:spPr>
          <a:xfrm>
            <a:off x="0" y="0"/>
            <a:ext cx="0" cy="0"/>
          </a:xfrm>
          <a:prstGeom prst="rect">
            <a:avLst/>
          </a:prstGeom>
          <a:noFill/>
          <a:ln w="0">
            <a:noFill/>
          </a:ln>
        </p:spPr>
        <p:txBody>
          <a:bodyPr lIns="90000" tIns="-45000" rIns="90000" bIns="-45000" anchor="t">
            <a:noAutofit/>
          </a:bodyPr>
          <a:p>
            <a:pPr indent="0" algn="l">
              <a:buNone/>
            </a:pPr>
            <a:endParaRPr lang="en-NG" sz="18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7" name="PlaceHolder 1"/>
          <p:cNvSpPr>
            <a:spLocks noGrp="1"/>
          </p:cNvSpPr>
          <p:nvPr>
            <p:ph type="sldImg"/>
          </p:nvPr>
        </p:nvSpPr>
        <p:spPr>
          <a:xfrm>
            <a:off x="0" y="0"/>
            <a:ext cx="0" cy="0"/>
          </a:xfrm>
          <a:prstGeom prst="rect">
            <a:avLst/>
          </a:prstGeom>
          <a:ln w="0">
            <a:noFill/>
          </a:ln>
        </p:spPr>
      </p:sp>
      <p:sp>
        <p:nvSpPr>
          <p:cNvPr id="598"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NG" sz="2000" b="0" u="none" strike="noStrike">
                <a:solidFill>
                  <a:srgbClr val="000000"/>
                </a:solidFill>
                <a:effectLst/>
                <a:uFillTx/>
                <a:latin typeface="Arial"/>
              </a:rPr>
              <a:t>Scope discipline mattered. We were tempted to add PDFs. We did not: this is a system for a building full of physical books.</a:t>
            </a:r>
            <a:endParaRPr lang="en-NG" sz="2000" b="0" u="none" strike="noStrike">
              <a:solidFill>
                <a:srgbClr val="000000"/>
              </a:solidFill>
              <a:effectLst/>
              <a:uFillTx/>
              <a:latin typeface="Arial"/>
            </a:endParaRPr>
          </a:p>
        </p:txBody>
      </p:sp>
      <p:sp>
        <p:nvSpPr>
          <p:cNvPr id="599" name="PlaceHolder 3"/>
          <p:cNvSpPr>
            <a:spLocks noGrp="1"/>
          </p:cNvSpPr>
          <p:nvPr>
            <p:ph type="sldNum" idx="6"/>
          </p:nvPr>
        </p:nvSpPr>
        <p:spPr>
          <a:xfrm>
            <a:off x="0" y="0"/>
            <a:ext cx="0" cy="0"/>
          </a:xfrm>
          <a:prstGeom prst="rect">
            <a:avLst/>
          </a:prstGeom>
          <a:noFill/>
          <a:ln w="0">
            <a:noFill/>
          </a:ln>
        </p:spPr>
        <p:txBody>
          <a:bodyPr lIns="90000" tIns="-45000" rIns="90000" bIns="-45000" anchor="t">
            <a:noAutofit/>
          </a:bodyPr>
          <a:p>
            <a:pPr indent="0" algn="l">
              <a:buNone/>
            </a:pPr>
            <a:endParaRPr lang="en-NG" sz="18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0" name="PlaceHolder 1"/>
          <p:cNvSpPr>
            <a:spLocks noGrp="1"/>
          </p:cNvSpPr>
          <p:nvPr>
            <p:ph type="sldImg"/>
          </p:nvPr>
        </p:nvSpPr>
        <p:spPr>
          <a:xfrm>
            <a:off x="0" y="0"/>
            <a:ext cx="0" cy="0"/>
          </a:xfrm>
          <a:prstGeom prst="rect">
            <a:avLst/>
          </a:prstGeom>
          <a:ln w="0">
            <a:noFill/>
          </a:ln>
        </p:spPr>
      </p:sp>
      <p:sp>
        <p:nvSpPr>
          <p:cNvPr id="601"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NG" sz="2000" b="0" u="none" strike="noStrike">
                <a:solidFill>
                  <a:srgbClr val="000000"/>
                </a:solidFill>
                <a:effectLst/>
                <a:uFillTx/>
                <a:latin typeface="Arial"/>
              </a:rPr>
              <a:t>Every choice answers a requirement. Go for the concurrency, Postgres for the locks, Redis only as a counter we can afford to lose. Firebase is here for push and nothing else.</a:t>
            </a:r>
            <a:endParaRPr lang="en-NG" sz="2000" b="0" u="none" strike="noStrike">
              <a:solidFill>
                <a:srgbClr val="000000"/>
              </a:solidFill>
              <a:effectLst/>
              <a:uFillTx/>
              <a:latin typeface="Arial"/>
            </a:endParaRPr>
          </a:p>
        </p:txBody>
      </p:sp>
      <p:sp>
        <p:nvSpPr>
          <p:cNvPr id="602" name="PlaceHolder 3"/>
          <p:cNvSpPr>
            <a:spLocks noGrp="1"/>
          </p:cNvSpPr>
          <p:nvPr>
            <p:ph type="sldNum" idx="7"/>
          </p:nvPr>
        </p:nvSpPr>
        <p:spPr>
          <a:xfrm>
            <a:off x="0" y="0"/>
            <a:ext cx="0" cy="0"/>
          </a:xfrm>
          <a:prstGeom prst="rect">
            <a:avLst/>
          </a:prstGeom>
          <a:noFill/>
          <a:ln w="0">
            <a:noFill/>
          </a:ln>
        </p:spPr>
        <p:txBody>
          <a:bodyPr lIns="90000" tIns="-45000" rIns="90000" bIns="-45000" anchor="t">
            <a:noAutofit/>
          </a:bodyPr>
          <a:p>
            <a:pPr indent="0" algn="l">
              <a:buNone/>
            </a:pPr>
            <a:endParaRPr lang="en-NG" sz="18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3" name="PlaceHolder 1"/>
          <p:cNvSpPr>
            <a:spLocks noGrp="1"/>
          </p:cNvSpPr>
          <p:nvPr>
            <p:ph type="sldImg"/>
          </p:nvPr>
        </p:nvSpPr>
        <p:spPr>
          <a:xfrm>
            <a:off x="0" y="0"/>
            <a:ext cx="0" cy="0"/>
          </a:xfrm>
          <a:prstGeom prst="rect">
            <a:avLst/>
          </a:prstGeom>
          <a:ln w="0">
            <a:noFill/>
          </a:ln>
        </p:spPr>
      </p:sp>
      <p:sp>
        <p:nvSpPr>
          <p:cNvPr id="604"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NG" sz="2000" b="0" u="none" strike="noStrike">
                <a:solidFill>
                  <a:srgbClr val="000000"/>
                </a:solidFill>
                <a:effectLst/>
                <a:uFillTx/>
                <a:latin typeface="Arial"/>
              </a:rPr>
              <a:t>This slide uses a live screenshot of the HOL catalogue page. The callouts connect the visible interface to the HTML, CSS, JavaScript and accessibility decisions described in the original client slide.</a:t>
            </a:r>
            <a:endParaRPr lang="en-NG" sz="2000" b="0" u="none" strike="noStrike">
              <a:solidFill>
                <a:srgbClr val="000000"/>
              </a:solidFill>
              <a:effectLst/>
              <a:uFillTx/>
              <a:latin typeface="Arial"/>
            </a:endParaRPr>
          </a:p>
        </p:txBody>
      </p:sp>
      <p:sp>
        <p:nvSpPr>
          <p:cNvPr id="605" name="PlaceHolder 3"/>
          <p:cNvSpPr>
            <a:spLocks noGrp="1"/>
          </p:cNvSpPr>
          <p:nvPr>
            <p:ph type="sldNum" idx="8"/>
          </p:nvPr>
        </p:nvSpPr>
        <p:spPr>
          <a:xfrm>
            <a:off x="0" y="0"/>
            <a:ext cx="0" cy="0"/>
          </a:xfrm>
          <a:prstGeom prst="rect">
            <a:avLst/>
          </a:prstGeom>
          <a:noFill/>
          <a:ln w="0">
            <a:noFill/>
          </a:ln>
        </p:spPr>
        <p:txBody>
          <a:bodyPr lIns="90000" tIns="-45000" rIns="90000" bIns="-45000" anchor="t">
            <a:noAutofit/>
          </a:bodyPr>
          <a:p>
            <a:pPr indent="0" algn="l">
              <a:buNone/>
            </a:pPr>
            <a:endParaRPr lang="en-NG" sz="18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6" name="PlaceHolder 1"/>
          <p:cNvSpPr>
            <a:spLocks noGrp="1"/>
          </p:cNvSpPr>
          <p:nvPr>
            <p:ph type="sldImg"/>
          </p:nvPr>
        </p:nvSpPr>
        <p:spPr>
          <a:xfrm>
            <a:off x="0" y="0"/>
            <a:ext cx="0" cy="0"/>
          </a:xfrm>
          <a:prstGeom prst="rect">
            <a:avLst/>
          </a:prstGeom>
          <a:ln w="0">
            <a:noFill/>
          </a:ln>
        </p:spPr>
      </p:sp>
      <p:sp>
        <p:nvSpPr>
          <p:cNvPr id="607"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NG" sz="2000" b="0" u="none" strike="noStrike">
                <a:solidFill>
                  <a:srgbClr val="000000"/>
                </a:solidFill>
                <a:effectLst/>
                <a:uFillTx/>
                <a:latin typeface="Arial"/>
              </a:rPr>
              <a:t>The two halves are deliberately separate. A slow mail provider cannot delay a borrow, and a failed send cannot roll back a loan.</a:t>
            </a:r>
            <a:endParaRPr lang="en-NG" sz="2000" b="0" u="none" strike="noStrike">
              <a:solidFill>
                <a:srgbClr val="000000"/>
              </a:solidFill>
              <a:effectLst/>
              <a:uFillTx/>
              <a:latin typeface="Arial"/>
            </a:endParaRPr>
          </a:p>
        </p:txBody>
      </p:sp>
      <p:sp>
        <p:nvSpPr>
          <p:cNvPr id="608" name="PlaceHolder 3"/>
          <p:cNvSpPr>
            <a:spLocks noGrp="1"/>
          </p:cNvSpPr>
          <p:nvPr>
            <p:ph type="sldNum" idx="9"/>
          </p:nvPr>
        </p:nvSpPr>
        <p:spPr>
          <a:xfrm>
            <a:off x="0" y="0"/>
            <a:ext cx="0" cy="0"/>
          </a:xfrm>
          <a:prstGeom prst="rect">
            <a:avLst/>
          </a:prstGeom>
          <a:noFill/>
          <a:ln w="0">
            <a:noFill/>
          </a:ln>
        </p:spPr>
        <p:txBody>
          <a:bodyPr lIns="90000" tIns="-45000" rIns="90000" bIns="-45000" anchor="t">
            <a:noAutofit/>
          </a:bodyPr>
          <a:p>
            <a:pPr indent="0" algn="l">
              <a:buNone/>
            </a:pPr>
            <a:endParaRPr lang="en-NG" sz="18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9" name="PlaceHolder 1"/>
          <p:cNvSpPr>
            <a:spLocks noGrp="1"/>
          </p:cNvSpPr>
          <p:nvPr>
            <p:ph type="sldImg"/>
          </p:nvPr>
        </p:nvSpPr>
        <p:spPr>
          <a:xfrm>
            <a:off x="0" y="0"/>
            <a:ext cx="0" cy="0"/>
          </a:xfrm>
          <a:prstGeom prst="rect">
            <a:avLst/>
          </a:prstGeom>
          <a:ln w="0">
            <a:noFill/>
          </a:ln>
        </p:spPr>
      </p:sp>
      <p:sp>
        <p:nvSpPr>
          <p:cNvPr id="610"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NG" sz="2000" b="0" u="none" strike="noStrike">
                <a:solidFill>
                  <a:srgbClr val="000000"/>
                </a:solidFill>
                <a:effectLst/>
                <a:uFillTx/>
                <a:latin typeface="Arial"/>
              </a:rPr>
              <a:t>If asked why not microservices: borrowing is a single transaction across three tables. Splitting it trades a database guarantee for a distributed one.</a:t>
            </a:r>
            <a:endParaRPr lang="en-NG" sz="2000" b="0" u="none" strike="noStrike">
              <a:solidFill>
                <a:srgbClr val="000000"/>
              </a:solidFill>
              <a:effectLst/>
              <a:uFillTx/>
              <a:latin typeface="Arial"/>
            </a:endParaRPr>
          </a:p>
        </p:txBody>
      </p:sp>
      <p:sp>
        <p:nvSpPr>
          <p:cNvPr id="611" name="PlaceHolder 3"/>
          <p:cNvSpPr>
            <a:spLocks noGrp="1"/>
          </p:cNvSpPr>
          <p:nvPr>
            <p:ph type="sldNum" idx="10"/>
          </p:nvPr>
        </p:nvSpPr>
        <p:spPr>
          <a:xfrm>
            <a:off x="0" y="0"/>
            <a:ext cx="0" cy="0"/>
          </a:xfrm>
          <a:prstGeom prst="rect">
            <a:avLst/>
          </a:prstGeom>
          <a:noFill/>
          <a:ln w="0">
            <a:noFill/>
          </a:ln>
        </p:spPr>
        <p:txBody>
          <a:bodyPr lIns="90000" tIns="-45000" rIns="90000" bIns="-45000" anchor="t">
            <a:noAutofit/>
          </a:bodyPr>
          <a:p>
            <a:pPr indent="0" algn="l">
              <a:buNone/>
            </a:pPr>
            <a:endParaRPr lang="en-NG" sz="18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2" name="PlaceHolder 1"/>
          <p:cNvSpPr>
            <a:spLocks noGrp="1"/>
          </p:cNvSpPr>
          <p:nvPr>
            <p:ph type="sldImg"/>
          </p:nvPr>
        </p:nvSpPr>
        <p:spPr>
          <a:xfrm>
            <a:off x="0" y="0"/>
            <a:ext cx="0" cy="0"/>
          </a:xfrm>
          <a:prstGeom prst="rect">
            <a:avLst/>
          </a:prstGeom>
          <a:ln w="0">
            <a:noFill/>
          </a:ln>
        </p:spPr>
      </p:sp>
      <p:sp>
        <p:nvSpPr>
          <p:cNvPr id="613"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NG" sz="2000" b="0" u="none" strike="noStrike">
                <a:solidFill>
                  <a:srgbClr val="000000"/>
                </a:solidFill>
                <a:effectLst/>
                <a:uFillTx/>
                <a:latin typeface="Arial"/>
              </a:rPr>
              <a:t>The comments in this file are the design record. Each field is here for a reason we can state.</a:t>
            </a:r>
            <a:endParaRPr lang="en-NG" sz="2000" b="0" u="none" strike="noStrike">
              <a:solidFill>
                <a:srgbClr val="000000"/>
              </a:solidFill>
              <a:effectLst/>
              <a:uFillTx/>
              <a:latin typeface="Arial"/>
            </a:endParaRPr>
          </a:p>
        </p:txBody>
      </p:sp>
      <p:sp>
        <p:nvSpPr>
          <p:cNvPr id="614" name="PlaceHolder 3"/>
          <p:cNvSpPr>
            <a:spLocks noGrp="1"/>
          </p:cNvSpPr>
          <p:nvPr>
            <p:ph type="sldNum" idx="11"/>
          </p:nvPr>
        </p:nvSpPr>
        <p:spPr>
          <a:xfrm>
            <a:off x="0" y="0"/>
            <a:ext cx="0" cy="0"/>
          </a:xfrm>
          <a:prstGeom prst="rect">
            <a:avLst/>
          </a:prstGeom>
          <a:noFill/>
          <a:ln w="0">
            <a:noFill/>
          </a:ln>
        </p:spPr>
        <p:txBody>
          <a:bodyPr lIns="90000" tIns="-45000" rIns="90000" bIns="-45000" anchor="t">
            <a:noAutofit/>
          </a:bodyPr>
          <a:p>
            <a:pPr indent="0" algn="l">
              <a:buNone/>
            </a:pPr>
            <a:endParaRPr lang="en-NG" sz="18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5" name="PlaceHolder 1"/>
          <p:cNvSpPr>
            <a:spLocks noGrp="1"/>
          </p:cNvSpPr>
          <p:nvPr>
            <p:ph type="sldImg"/>
          </p:nvPr>
        </p:nvSpPr>
        <p:spPr>
          <a:xfrm>
            <a:off x="0" y="0"/>
            <a:ext cx="0" cy="0"/>
          </a:xfrm>
          <a:prstGeom prst="rect">
            <a:avLst/>
          </a:prstGeom>
          <a:ln w="0">
            <a:noFill/>
          </a:ln>
        </p:spPr>
      </p:sp>
      <p:sp>
        <p:nvSpPr>
          <p:cNvPr id="616"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NG" sz="2000" b="0" u="none" strike="noStrike">
                <a:solidFill>
                  <a:srgbClr val="000000"/>
                </a:solidFill>
                <a:effectLst/>
                <a:uFillTx/>
                <a:latin typeface="Arial"/>
              </a:rPr>
              <a:t>A stored overdue flag needs a job to keep it true. A derived one cannot be wrong.</a:t>
            </a:r>
            <a:endParaRPr lang="en-NG" sz="2000" b="0" u="none" strike="noStrike">
              <a:solidFill>
                <a:srgbClr val="000000"/>
              </a:solidFill>
              <a:effectLst/>
              <a:uFillTx/>
              <a:latin typeface="Arial"/>
            </a:endParaRPr>
          </a:p>
        </p:txBody>
      </p:sp>
      <p:sp>
        <p:nvSpPr>
          <p:cNvPr id="617" name="PlaceHolder 3"/>
          <p:cNvSpPr>
            <a:spLocks noGrp="1"/>
          </p:cNvSpPr>
          <p:nvPr>
            <p:ph type="sldNum" idx="12"/>
          </p:nvPr>
        </p:nvSpPr>
        <p:spPr>
          <a:xfrm>
            <a:off x="0" y="0"/>
            <a:ext cx="0" cy="0"/>
          </a:xfrm>
          <a:prstGeom prst="rect">
            <a:avLst/>
          </a:prstGeom>
          <a:noFill/>
          <a:ln w="0">
            <a:noFill/>
          </a:ln>
        </p:spPr>
        <p:txBody>
          <a:bodyPr lIns="90000" tIns="-45000" rIns="90000" bIns="-45000" anchor="t">
            <a:noAutofit/>
          </a:bodyPr>
          <a:p>
            <a:pPr indent="0" algn="l">
              <a:buNone/>
            </a:pPr>
            <a:endParaRPr lang="en-NG" sz="18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8" name="PlaceHolder 1"/>
          <p:cNvSpPr>
            <a:spLocks noGrp="1"/>
          </p:cNvSpPr>
          <p:nvPr>
            <p:ph type="sldImg"/>
          </p:nvPr>
        </p:nvSpPr>
        <p:spPr>
          <a:xfrm>
            <a:off x="0" y="0"/>
            <a:ext cx="0" cy="0"/>
          </a:xfrm>
          <a:prstGeom prst="rect">
            <a:avLst/>
          </a:prstGeom>
          <a:ln w="0">
            <a:noFill/>
          </a:ln>
        </p:spPr>
      </p:sp>
      <p:sp>
        <p:nvSpPr>
          <p:cNvPr id="619"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NG" sz="2000" b="0" u="none" strike="noStrike">
                <a:solidFill>
                  <a:srgbClr val="000000"/>
                </a:solidFill>
                <a:effectLst/>
                <a:uFillTx/>
                <a:latin typeface="Arial"/>
              </a:rPr>
              <a:t>Retention begins at two circulating copies. The middle case is the one examiners ask about: two copies with one free lends nothing, because that free one is the last. A single circulating copy is lent, because holding it back would put it beyond everybody.</a:t>
            </a:r>
            <a:endParaRPr lang="en-NG" sz="2000" b="0" u="none" strike="noStrike">
              <a:solidFill>
                <a:srgbClr val="000000"/>
              </a:solidFill>
              <a:effectLst/>
              <a:uFillTx/>
              <a:latin typeface="Arial"/>
            </a:endParaRPr>
          </a:p>
        </p:txBody>
      </p:sp>
      <p:sp>
        <p:nvSpPr>
          <p:cNvPr id="620" name="PlaceHolder 3"/>
          <p:cNvSpPr>
            <a:spLocks noGrp="1"/>
          </p:cNvSpPr>
          <p:nvPr>
            <p:ph type="sldNum" idx="13"/>
          </p:nvPr>
        </p:nvSpPr>
        <p:spPr>
          <a:xfrm>
            <a:off x="0" y="0"/>
            <a:ext cx="0" cy="0"/>
          </a:xfrm>
          <a:prstGeom prst="rect">
            <a:avLst/>
          </a:prstGeom>
          <a:noFill/>
          <a:ln w="0">
            <a:noFill/>
          </a:ln>
        </p:spPr>
        <p:txBody>
          <a:bodyPr lIns="90000" tIns="-45000" rIns="90000" bIns="-45000" anchor="t">
            <a:noAutofit/>
          </a:bodyPr>
          <a:p>
            <a:pPr indent="0" algn="l">
              <a:buNone/>
            </a:pPr>
            <a:endParaRPr lang="en-NG" sz="18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1" name="PlaceHolder 1"/>
          <p:cNvSpPr>
            <a:spLocks noGrp="1"/>
          </p:cNvSpPr>
          <p:nvPr>
            <p:ph type="sldImg"/>
          </p:nvPr>
        </p:nvSpPr>
        <p:spPr>
          <a:xfrm>
            <a:off x="0" y="0"/>
            <a:ext cx="0" cy="0"/>
          </a:xfrm>
          <a:prstGeom prst="rect">
            <a:avLst/>
          </a:prstGeom>
          <a:ln w="0">
            <a:noFill/>
          </a:ln>
        </p:spPr>
      </p:sp>
      <p:sp>
        <p:nvSpPr>
          <p:cNvPr id="622"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NG" sz="2000" b="0" u="none" strike="noStrike">
                <a:solidFill>
                  <a:srgbClr val="000000"/>
                </a:solidFill>
                <a:effectLst/>
                <a:uFillTx/>
                <a:latin typeface="Arial"/>
              </a:rPr>
              <a:t>The point: we did not make everything idempotent. We asked the question per action, and borrowing answers it differently from the rest. Borrowing must happen at most once, so a repeat is refused; saving is safe to repeat, so a repeat is absorbed. Both were measured, not assumed.</a:t>
            </a:r>
            <a:endParaRPr lang="en-NG" sz="2000" b="0" u="none" strike="noStrike">
              <a:solidFill>
                <a:srgbClr val="000000"/>
              </a:solidFill>
              <a:effectLst/>
              <a:uFillTx/>
              <a:latin typeface="Arial"/>
            </a:endParaRPr>
          </a:p>
        </p:txBody>
      </p:sp>
      <p:sp>
        <p:nvSpPr>
          <p:cNvPr id="623" name="PlaceHolder 3"/>
          <p:cNvSpPr>
            <a:spLocks noGrp="1"/>
          </p:cNvSpPr>
          <p:nvPr>
            <p:ph type="sldNum" idx="14"/>
          </p:nvPr>
        </p:nvSpPr>
        <p:spPr>
          <a:xfrm>
            <a:off x="0" y="0"/>
            <a:ext cx="0" cy="0"/>
          </a:xfrm>
          <a:prstGeom prst="rect">
            <a:avLst/>
          </a:prstGeom>
          <a:noFill/>
          <a:ln w="0">
            <a:noFill/>
          </a:ln>
        </p:spPr>
        <p:txBody>
          <a:bodyPr lIns="90000" tIns="-45000" rIns="90000" bIns="-45000" anchor="t">
            <a:noAutofit/>
          </a:bodyPr>
          <a:p>
            <a:pPr indent="0" algn="l">
              <a:buNone/>
            </a:pPr>
            <a:endParaRPr lang="en-NG" sz="18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4" name="PlaceHolder 1"/>
          <p:cNvSpPr>
            <a:spLocks noGrp="1"/>
          </p:cNvSpPr>
          <p:nvPr>
            <p:ph type="sldImg"/>
          </p:nvPr>
        </p:nvSpPr>
        <p:spPr>
          <a:xfrm>
            <a:off x="0" y="0"/>
            <a:ext cx="0" cy="0"/>
          </a:xfrm>
          <a:prstGeom prst="rect">
            <a:avLst/>
          </a:prstGeom>
          <a:ln w="0">
            <a:noFill/>
          </a:ln>
        </p:spPr>
      </p:sp>
      <p:sp>
        <p:nvSpPr>
          <p:cNvPr id="625"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NG" sz="2000" b="0" u="none" strike="noStrike">
                <a:solidFill>
                  <a:srgbClr val="000000"/>
                </a:solidFill>
                <a:effectLst/>
                <a:uFillTx/>
                <a:latin typeface="Arial"/>
              </a:rPr>
              <a:t>Two independent adversarial audits were run against the codebase. Twelve of our twenty-seven defects came from them.</a:t>
            </a:r>
            <a:endParaRPr lang="en-NG" sz="2000" b="0" u="none" strike="noStrike">
              <a:solidFill>
                <a:srgbClr val="000000"/>
              </a:solidFill>
              <a:effectLst/>
              <a:uFillTx/>
              <a:latin typeface="Arial"/>
            </a:endParaRPr>
          </a:p>
        </p:txBody>
      </p:sp>
      <p:sp>
        <p:nvSpPr>
          <p:cNvPr id="626" name="PlaceHolder 3"/>
          <p:cNvSpPr>
            <a:spLocks noGrp="1"/>
          </p:cNvSpPr>
          <p:nvPr>
            <p:ph type="sldNum" idx="15"/>
          </p:nvPr>
        </p:nvSpPr>
        <p:spPr>
          <a:xfrm>
            <a:off x="0" y="0"/>
            <a:ext cx="0" cy="0"/>
          </a:xfrm>
          <a:prstGeom prst="rect">
            <a:avLst/>
          </a:prstGeom>
          <a:noFill/>
          <a:ln w="0">
            <a:noFill/>
          </a:ln>
        </p:spPr>
        <p:txBody>
          <a:bodyPr lIns="90000" tIns="-45000" rIns="90000" bIns="-45000" anchor="t">
            <a:noAutofit/>
          </a:bodyPr>
          <a:p>
            <a:pPr indent="0" algn="l">
              <a:buNone/>
            </a:pPr>
            <a:endParaRPr lang="en-NG" sz="18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7" name="PlaceHolder 1"/>
          <p:cNvSpPr>
            <a:spLocks noGrp="1"/>
          </p:cNvSpPr>
          <p:nvPr>
            <p:ph type="sldImg"/>
          </p:nvPr>
        </p:nvSpPr>
        <p:spPr>
          <a:xfrm>
            <a:off x="0" y="0"/>
            <a:ext cx="0" cy="0"/>
          </a:xfrm>
          <a:prstGeom prst="rect">
            <a:avLst/>
          </a:prstGeom>
          <a:ln w="0">
            <a:noFill/>
          </a:ln>
        </p:spPr>
      </p:sp>
      <p:sp>
        <p:nvSpPr>
          <p:cNvPr id="628"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NG" sz="2000" b="0" u="none" strike="noStrike">
                <a:solidFill>
                  <a:srgbClr val="000000"/>
                </a:solidFill>
                <a:effectLst/>
                <a:uFillTx/>
                <a:latin typeface="Arial"/>
              </a:rPr>
              <a:t>If asked how we know an index helped: EXPLAIN ANALYZE before and after, on the real dataset.</a:t>
            </a:r>
            <a:endParaRPr lang="en-NG" sz="2000" b="0" u="none" strike="noStrike">
              <a:solidFill>
                <a:srgbClr val="000000"/>
              </a:solidFill>
              <a:effectLst/>
              <a:uFillTx/>
              <a:latin typeface="Arial"/>
            </a:endParaRPr>
          </a:p>
        </p:txBody>
      </p:sp>
      <p:sp>
        <p:nvSpPr>
          <p:cNvPr id="629" name="PlaceHolder 3"/>
          <p:cNvSpPr>
            <a:spLocks noGrp="1"/>
          </p:cNvSpPr>
          <p:nvPr>
            <p:ph type="sldNum" idx="16"/>
          </p:nvPr>
        </p:nvSpPr>
        <p:spPr>
          <a:xfrm>
            <a:off x="0" y="0"/>
            <a:ext cx="0" cy="0"/>
          </a:xfrm>
          <a:prstGeom prst="rect">
            <a:avLst/>
          </a:prstGeom>
          <a:noFill/>
          <a:ln w="0">
            <a:noFill/>
          </a:ln>
        </p:spPr>
        <p:txBody>
          <a:bodyPr lIns="90000" tIns="-45000" rIns="90000" bIns="-45000" anchor="t">
            <a:noAutofit/>
          </a:bodyPr>
          <a:p>
            <a:pPr indent="0" algn="l">
              <a:buNone/>
            </a:pPr>
            <a:endParaRPr lang="en-NG" sz="18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0" name="PlaceHolder 1"/>
          <p:cNvSpPr>
            <a:spLocks noGrp="1"/>
          </p:cNvSpPr>
          <p:nvPr>
            <p:ph type="sldImg"/>
          </p:nvPr>
        </p:nvSpPr>
        <p:spPr>
          <a:xfrm>
            <a:off x="0" y="0"/>
            <a:ext cx="0" cy="0"/>
          </a:xfrm>
          <a:prstGeom prst="rect">
            <a:avLst/>
          </a:prstGeom>
          <a:ln w="0">
            <a:noFill/>
          </a:ln>
        </p:spPr>
      </p:sp>
      <p:sp>
        <p:nvSpPr>
          <p:cNvPr id="631"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NG" sz="2000" b="0" u="none" strike="noStrike">
                <a:solidFill>
                  <a:srgbClr val="000000"/>
                </a:solidFill>
                <a:effectLst/>
                <a:uFillTx/>
                <a:latin typeface="Arial"/>
              </a:rPr>
              <a:t>The catalogue holds real bibliographic data from Open Library, not invented titles.</a:t>
            </a:r>
            <a:endParaRPr lang="en-NG" sz="2000" b="0" u="none" strike="noStrike">
              <a:solidFill>
                <a:srgbClr val="000000"/>
              </a:solidFill>
              <a:effectLst/>
              <a:uFillTx/>
              <a:latin typeface="Arial"/>
            </a:endParaRPr>
          </a:p>
        </p:txBody>
      </p:sp>
      <p:sp>
        <p:nvSpPr>
          <p:cNvPr id="632" name="PlaceHolder 3"/>
          <p:cNvSpPr>
            <a:spLocks noGrp="1"/>
          </p:cNvSpPr>
          <p:nvPr>
            <p:ph type="sldNum" idx="17"/>
          </p:nvPr>
        </p:nvSpPr>
        <p:spPr>
          <a:xfrm>
            <a:off x="0" y="0"/>
            <a:ext cx="0" cy="0"/>
          </a:xfrm>
          <a:prstGeom prst="rect">
            <a:avLst/>
          </a:prstGeom>
          <a:noFill/>
          <a:ln w="0">
            <a:noFill/>
          </a:ln>
        </p:spPr>
        <p:txBody>
          <a:bodyPr lIns="90000" tIns="-45000" rIns="90000" bIns="-45000" anchor="t">
            <a:noAutofit/>
          </a:bodyPr>
          <a:p>
            <a:pPr indent="0" algn="l">
              <a:buNone/>
            </a:pPr>
            <a:endParaRPr lang="en-NG" sz="18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3" name="PlaceHolder 1"/>
          <p:cNvSpPr>
            <a:spLocks noGrp="1"/>
          </p:cNvSpPr>
          <p:nvPr>
            <p:ph type="sldImg"/>
          </p:nvPr>
        </p:nvSpPr>
        <p:spPr>
          <a:xfrm>
            <a:off x="0" y="0"/>
            <a:ext cx="0" cy="0"/>
          </a:xfrm>
          <a:prstGeom prst="rect">
            <a:avLst/>
          </a:prstGeom>
          <a:ln w="0">
            <a:noFill/>
          </a:ln>
        </p:spPr>
      </p:sp>
      <p:sp>
        <p:nvSpPr>
          <p:cNvPr id="634"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NG" sz="2000" b="0" u="none" strike="noStrike">
                <a:solidFill>
                  <a:srgbClr val="000000"/>
                </a:solidFill>
                <a:effectLst/>
                <a:uFillTx/>
                <a:latin typeface="Arial"/>
              </a:rPr>
              <a:t>Automatic deploys from the dashboard were turned off deliberately, so the only route to production is through the pipeline.</a:t>
            </a:r>
            <a:endParaRPr lang="en-NG" sz="2000" b="0" u="none" strike="noStrike">
              <a:solidFill>
                <a:srgbClr val="000000"/>
              </a:solidFill>
              <a:effectLst/>
              <a:uFillTx/>
              <a:latin typeface="Arial"/>
            </a:endParaRPr>
          </a:p>
        </p:txBody>
      </p:sp>
      <p:sp>
        <p:nvSpPr>
          <p:cNvPr id="635" name="PlaceHolder 3"/>
          <p:cNvSpPr>
            <a:spLocks noGrp="1"/>
          </p:cNvSpPr>
          <p:nvPr>
            <p:ph type="sldNum" idx="18"/>
          </p:nvPr>
        </p:nvSpPr>
        <p:spPr>
          <a:xfrm>
            <a:off x="0" y="0"/>
            <a:ext cx="0" cy="0"/>
          </a:xfrm>
          <a:prstGeom prst="rect">
            <a:avLst/>
          </a:prstGeom>
          <a:noFill/>
          <a:ln w="0">
            <a:noFill/>
          </a:ln>
        </p:spPr>
        <p:txBody>
          <a:bodyPr lIns="90000" tIns="-45000" rIns="90000" bIns="-45000" anchor="t">
            <a:noAutofit/>
          </a:bodyPr>
          <a:p>
            <a:pPr indent="0" algn="l">
              <a:buNone/>
            </a:pPr>
            <a:endParaRPr lang="en-NG" sz="18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6" name="PlaceHolder 1"/>
          <p:cNvSpPr>
            <a:spLocks noGrp="1"/>
          </p:cNvSpPr>
          <p:nvPr>
            <p:ph type="sldImg"/>
          </p:nvPr>
        </p:nvSpPr>
        <p:spPr>
          <a:xfrm>
            <a:off x="0" y="0"/>
            <a:ext cx="0" cy="0"/>
          </a:xfrm>
          <a:prstGeom prst="rect">
            <a:avLst/>
          </a:prstGeom>
          <a:ln w="0">
            <a:noFill/>
          </a:ln>
        </p:spPr>
      </p:sp>
      <p:sp>
        <p:nvSpPr>
          <p:cNvPr id="637"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NG" sz="2000" b="0" u="none" strike="noStrike">
                <a:solidFill>
                  <a:srgbClr val="000000"/>
                </a:solidFill>
                <a:effectLst/>
                <a:uFillTx/>
                <a:latin typeface="Arial"/>
              </a:rPr>
              <a:t>Have the Swagger page already open in a second tab before the defence begins.</a:t>
            </a:r>
            <a:endParaRPr lang="en-NG" sz="2000" b="0" u="none" strike="noStrike">
              <a:solidFill>
                <a:srgbClr val="000000"/>
              </a:solidFill>
              <a:effectLst/>
              <a:uFillTx/>
              <a:latin typeface="Arial"/>
            </a:endParaRPr>
          </a:p>
        </p:txBody>
      </p:sp>
      <p:sp>
        <p:nvSpPr>
          <p:cNvPr id="638" name="PlaceHolder 3"/>
          <p:cNvSpPr>
            <a:spLocks noGrp="1"/>
          </p:cNvSpPr>
          <p:nvPr>
            <p:ph type="sldNum" idx="19"/>
          </p:nvPr>
        </p:nvSpPr>
        <p:spPr>
          <a:xfrm>
            <a:off x="0" y="0"/>
            <a:ext cx="0" cy="0"/>
          </a:xfrm>
          <a:prstGeom prst="rect">
            <a:avLst/>
          </a:prstGeom>
          <a:noFill/>
          <a:ln w="0">
            <a:noFill/>
          </a:ln>
        </p:spPr>
        <p:txBody>
          <a:bodyPr lIns="90000" tIns="-45000" rIns="90000" bIns="-45000" anchor="t">
            <a:noAutofit/>
          </a:bodyPr>
          <a:p>
            <a:pPr indent="0" algn="l">
              <a:buNone/>
            </a:pPr>
            <a:endParaRPr lang="en-NG" sz="18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9" name="PlaceHolder 1"/>
          <p:cNvSpPr>
            <a:spLocks noGrp="1"/>
          </p:cNvSpPr>
          <p:nvPr>
            <p:ph type="sldImg"/>
          </p:nvPr>
        </p:nvSpPr>
        <p:spPr>
          <a:xfrm>
            <a:off x="0" y="0"/>
            <a:ext cx="0" cy="0"/>
          </a:xfrm>
          <a:prstGeom prst="rect">
            <a:avLst/>
          </a:prstGeom>
          <a:ln w="0">
            <a:noFill/>
          </a:ln>
        </p:spPr>
      </p:sp>
      <p:sp>
        <p:nvSpPr>
          <p:cNvPr id="640"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NG" sz="2000" b="0" u="none" strike="noStrike">
                <a:solidFill>
                  <a:srgbClr val="000000"/>
                </a:solidFill>
                <a:effectLst/>
                <a:uFillTx/>
                <a:latin typeface="Arial"/>
              </a:rPr>
              <a:t>Close on this: 105 planned test cases, 27 defects, all closed and recorded with the technique that found each one.</a:t>
            </a:r>
            <a:endParaRPr lang="en-NG" sz="2000" b="0" u="none" strike="noStrike">
              <a:solidFill>
                <a:srgbClr val="000000"/>
              </a:solidFill>
              <a:effectLst/>
              <a:uFillTx/>
              <a:latin typeface="Arial"/>
            </a:endParaRPr>
          </a:p>
        </p:txBody>
      </p:sp>
      <p:sp>
        <p:nvSpPr>
          <p:cNvPr id="641" name="PlaceHolder 3"/>
          <p:cNvSpPr>
            <a:spLocks noGrp="1"/>
          </p:cNvSpPr>
          <p:nvPr>
            <p:ph type="sldNum" idx="20"/>
          </p:nvPr>
        </p:nvSpPr>
        <p:spPr>
          <a:xfrm>
            <a:off x="0" y="0"/>
            <a:ext cx="0" cy="0"/>
          </a:xfrm>
          <a:prstGeom prst="rect">
            <a:avLst/>
          </a:prstGeom>
          <a:noFill/>
          <a:ln w="0">
            <a:noFill/>
          </a:ln>
        </p:spPr>
        <p:txBody>
          <a:bodyPr lIns="90000" tIns="-45000" rIns="90000" bIns="-45000" anchor="t">
            <a:noAutofit/>
          </a:bodyPr>
          <a:p>
            <a:pPr indent="0" algn="l">
              <a:buNone/>
            </a:pPr>
            <a:endParaRPr lang="en-NG" sz="18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2" name="PlaceHolder 1"/>
          <p:cNvSpPr>
            <a:spLocks noGrp="1"/>
          </p:cNvSpPr>
          <p:nvPr>
            <p:ph type="sldImg"/>
          </p:nvPr>
        </p:nvSpPr>
        <p:spPr>
          <a:xfrm>
            <a:off x="0" y="0"/>
            <a:ext cx="0" cy="0"/>
          </a:xfrm>
          <a:prstGeom prst="rect">
            <a:avLst/>
          </a:prstGeom>
          <a:ln w="0">
            <a:noFill/>
          </a:ln>
        </p:spPr>
      </p:sp>
      <p:sp>
        <p:nvSpPr>
          <p:cNvPr id="643"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NG" sz="2000" b="0" u="none" strike="noStrike">
                <a:solidFill>
                  <a:srgbClr val="000000"/>
                </a:solidFill>
                <a:effectLst/>
                <a:uFillTx/>
                <a:latin typeface="Arial"/>
              </a:rPr>
              <a:t>Leave this up for questions. Invite them to scan during the presentation rather than after it: a room of examiners searching the live catalogue is the strongest thing we can show.</a:t>
            </a:r>
            <a:endParaRPr lang="en-NG" sz="2000" b="0" u="none" strike="noStrike">
              <a:solidFill>
                <a:srgbClr val="000000"/>
              </a:solidFill>
              <a:effectLst/>
              <a:uFillTx/>
              <a:latin typeface="Arial"/>
            </a:endParaRPr>
          </a:p>
        </p:txBody>
      </p:sp>
      <p:sp>
        <p:nvSpPr>
          <p:cNvPr id="644" name="PlaceHolder 3"/>
          <p:cNvSpPr>
            <a:spLocks noGrp="1"/>
          </p:cNvSpPr>
          <p:nvPr>
            <p:ph type="sldNum" idx="21"/>
          </p:nvPr>
        </p:nvSpPr>
        <p:spPr>
          <a:xfrm>
            <a:off x="0" y="0"/>
            <a:ext cx="0" cy="0"/>
          </a:xfrm>
          <a:prstGeom prst="rect">
            <a:avLst/>
          </a:prstGeom>
          <a:noFill/>
          <a:ln w="0">
            <a:noFill/>
          </a:ln>
        </p:spPr>
        <p:txBody>
          <a:bodyPr lIns="90000" tIns="-45000" rIns="90000" bIns="-45000" anchor="t">
            <a:noAutofit/>
          </a:bodyPr>
          <a:p>
            <a:pPr indent="0" algn="l">
              <a:buNone/>
            </a:pPr>
            <a:endParaRPr lang="en-NG" sz="18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ctr">
              <a:buNone/>
              <a:defRPr lang="en-NG" sz="4400" b="0" u="none" strike="noStrike">
                <a:solidFill>
                  <a:schemeClr val="dk1"/>
                </a:solidFill>
                <a:effectLst/>
                <a:uFillTx/>
                <a:latin typeface="Calibri Light"/>
              </a:defRPr>
            </a:lvl1pPr>
          </a:lstStyle>
          <a:p>
            <a:pPr indent="0" algn="ctr">
              <a:buNone/>
            </a:pPr>
            <a:r>
              <a:rPr lang="en-NG" sz="4400" b="0" u="none" strike="noStrike">
                <a:solidFill>
                  <a:schemeClr val="dk1"/>
                </a:solidFill>
                <a:effectLst/>
                <a:uFillTx/>
                <a:latin typeface="Calibri Light"/>
              </a:rPr>
              <a:t>Click to edit the title text format</a:t>
            </a:r>
            <a:endParaRPr lang="en-NG" sz="4400" b="0" u="none" strike="noStrike">
              <a:solidFill>
                <a:schemeClr val="dk1"/>
              </a:solidFill>
              <a:effectLst/>
              <a:uFillTx/>
              <a:latin typeface="Calibri Light"/>
            </a:endParaRP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NG"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en-NG"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en-NG"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en-NG"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en-NG"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en-NG"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en-NG" sz="2000" b="0" u="none" strike="noStrike">
                <a:solidFill>
                  <a:schemeClr val="dk1"/>
                </a:solidFill>
                <a:effectLst/>
                <a:uFillTx/>
                <a:latin typeface="Calibri"/>
              </a:defRPr>
            </a:lvl7pPr>
          </a:lstStyle>
          <a:p>
            <a:pPr marL="432000" indent="-324000" algn="l">
              <a:spcBef>
                <a:spcPts val="1417"/>
              </a:spcBef>
              <a:buClr>
                <a:srgbClr val="000000"/>
              </a:buClr>
              <a:buSzPct val="45000"/>
              <a:buFont typeface="Wingdings" charset="2"/>
              <a:buChar char=""/>
            </a:pPr>
            <a:r>
              <a:rPr lang="en-NG" sz="3200" b="0" u="none" strike="noStrike">
                <a:solidFill>
                  <a:schemeClr val="dk1"/>
                </a:solidFill>
                <a:effectLst/>
                <a:uFillTx/>
                <a:latin typeface="Calibri"/>
              </a:rPr>
              <a:t>Click to edit the outline text format</a:t>
            </a:r>
            <a:endParaRPr lang="en-NG" sz="3200" b="0" u="none" strike="noStrike">
              <a:solidFill>
                <a:schemeClr val="dk1"/>
              </a:solidFill>
              <a:effectLst/>
              <a:uFillTx/>
              <a:latin typeface="Calibri"/>
            </a:endParaRPr>
          </a:p>
          <a:p>
            <a:pPr marL="864000" lvl="1" indent="-324000" algn="l">
              <a:spcBef>
                <a:spcPts val="1134"/>
              </a:spcBef>
              <a:buClr>
                <a:srgbClr val="000000"/>
              </a:buClr>
              <a:buSzPct val="75000"/>
              <a:buFont typeface="Symbol" charset="2"/>
              <a:buChar char=""/>
            </a:pPr>
            <a:r>
              <a:rPr lang="en-NG" sz="2400" b="0" u="none" strike="noStrike">
                <a:solidFill>
                  <a:schemeClr val="dk1"/>
                </a:solidFill>
                <a:effectLst/>
                <a:uFillTx/>
                <a:latin typeface="Calibri"/>
              </a:rPr>
              <a:t>Second Outline Level</a:t>
            </a:r>
            <a:endParaRPr lang="en-NG" sz="2400" b="0" u="none" strike="noStrike">
              <a:solidFill>
                <a:schemeClr val="dk1"/>
              </a:solidFill>
              <a:effectLst/>
              <a:uFillTx/>
              <a:latin typeface="Calibri"/>
            </a:endParaRPr>
          </a:p>
          <a:p>
            <a:pPr marL="1296000" lvl="2" indent="-288000" algn="l">
              <a:spcBef>
                <a:spcPts val="850"/>
              </a:spcBef>
              <a:buClr>
                <a:srgbClr val="000000"/>
              </a:buClr>
              <a:buSzPct val="45000"/>
              <a:buFont typeface="Wingdings" charset="2"/>
              <a:buChar char=""/>
            </a:pPr>
            <a:r>
              <a:rPr lang="en-NG" sz="2000" b="0" u="none" strike="noStrike">
                <a:solidFill>
                  <a:schemeClr val="dk1"/>
                </a:solidFill>
                <a:effectLst/>
                <a:uFillTx/>
                <a:latin typeface="Calibri"/>
              </a:rPr>
              <a:t>Third Outline Level</a:t>
            </a:r>
            <a:endParaRPr lang="en-NG" sz="2000" b="0" u="none" strike="noStrike">
              <a:solidFill>
                <a:schemeClr val="dk1"/>
              </a:solidFill>
              <a:effectLst/>
              <a:uFillTx/>
              <a:latin typeface="Calibri"/>
            </a:endParaRPr>
          </a:p>
          <a:p>
            <a:pPr marL="1728000" lvl="3" indent="-216000" algn="l">
              <a:spcBef>
                <a:spcPts val="567"/>
              </a:spcBef>
              <a:buClr>
                <a:srgbClr val="000000"/>
              </a:buClr>
              <a:buSzPct val="75000"/>
              <a:buFont typeface="Symbol" charset="2"/>
              <a:buChar char=""/>
            </a:pPr>
            <a:r>
              <a:rPr lang="en-NG" sz="2000" b="0" u="none" strike="noStrike">
                <a:solidFill>
                  <a:schemeClr val="dk1"/>
                </a:solidFill>
                <a:effectLst/>
                <a:uFillTx/>
                <a:latin typeface="Calibri"/>
              </a:rPr>
              <a:t>Fourth Outline Level</a:t>
            </a:r>
            <a:endParaRPr lang="en-NG" sz="2000" b="0" u="none" strike="noStrike">
              <a:solidFill>
                <a:schemeClr val="dk1"/>
              </a:solidFill>
              <a:effectLst/>
              <a:uFillTx/>
              <a:latin typeface="Calibri"/>
            </a:endParaRPr>
          </a:p>
          <a:p>
            <a:pPr marL="2160000" lvl="4" indent="-216000" algn="l">
              <a:spcBef>
                <a:spcPts val="283"/>
              </a:spcBef>
              <a:buClr>
                <a:srgbClr val="000000"/>
              </a:buClr>
              <a:buSzPct val="45000"/>
              <a:buFont typeface="Wingdings" charset="2"/>
              <a:buChar char=""/>
            </a:pPr>
            <a:r>
              <a:rPr lang="en-NG" sz="2000" b="0" u="none" strike="noStrike">
                <a:solidFill>
                  <a:schemeClr val="dk1"/>
                </a:solidFill>
                <a:effectLst/>
                <a:uFillTx/>
                <a:latin typeface="Calibri"/>
              </a:rPr>
              <a:t>Fifth Outline Level</a:t>
            </a:r>
            <a:endParaRPr lang="en-NG" sz="2000" b="0" u="none" strike="noStrike">
              <a:solidFill>
                <a:schemeClr val="dk1"/>
              </a:solidFill>
              <a:effectLst/>
              <a:uFillTx/>
              <a:latin typeface="Calibri"/>
            </a:endParaRPr>
          </a:p>
          <a:p>
            <a:pPr marL="2592000" lvl="5" indent="-216000" algn="l">
              <a:spcBef>
                <a:spcPts val="283"/>
              </a:spcBef>
              <a:buClr>
                <a:srgbClr val="000000"/>
              </a:buClr>
              <a:buSzPct val="45000"/>
              <a:buFont typeface="Wingdings" charset="2"/>
              <a:buChar char=""/>
            </a:pPr>
            <a:r>
              <a:rPr lang="en-NG" sz="2000" b="0" u="none" strike="noStrike">
                <a:solidFill>
                  <a:schemeClr val="dk1"/>
                </a:solidFill>
                <a:effectLst/>
                <a:uFillTx/>
                <a:latin typeface="Calibri"/>
              </a:rPr>
              <a:t>Sixth Outline Level</a:t>
            </a:r>
            <a:endParaRPr lang="en-NG" sz="2000" b="0" u="none" strike="noStrike">
              <a:solidFill>
                <a:schemeClr val="dk1"/>
              </a:solidFill>
              <a:effectLst/>
              <a:uFillTx/>
              <a:latin typeface="Calibri"/>
            </a:endParaRPr>
          </a:p>
          <a:p>
            <a:pPr marL="3024000" lvl="6" indent="-216000" algn="l">
              <a:spcBef>
                <a:spcPts val="283"/>
              </a:spcBef>
              <a:buClr>
                <a:srgbClr val="000000"/>
              </a:buClr>
              <a:buSzPct val="45000"/>
              <a:buFont typeface="Wingdings" charset="2"/>
              <a:buChar char=""/>
            </a:pPr>
            <a:r>
              <a:rPr lang="en-NG" sz="2000" b="0" u="none" strike="noStrike">
                <a:solidFill>
                  <a:schemeClr val="dk1"/>
                </a:solidFill>
                <a:effectLst/>
                <a:uFillTx/>
                <a:latin typeface="Calibri"/>
              </a:rPr>
              <a:t>Seventh Outline Level</a:t>
            </a:r>
            <a:endParaRPr lang="en-NG"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notesSlide" Target="../notesSlides/notesSlide18.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40C54"/>
        </a:solidFill>
      </p:bgPr>
    </p:bg>
    <p:spTree>
      <p:nvGrpSpPr>
        <p:cNvPr id="1" name=""/>
        <p:cNvGrpSpPr/>
        <p:nvPr/>
      </p:nvGrpSpPr>
      <p:grpSpPr>
        <a:xfrm>
          <a:off x="0" y="0"/>
          <a:ext cx="0" cy="0"/>
          <a:chOff x="0" y="0"/>
          <a:chExt cx="0" cy="0"/>
        </a:xfrm>
      </p:grpSpPr>
      <p:pic>
        <p:nvPicPr>
          <p:cNvPr id="10" name="Image 0"/>
          <p:cNvPicPr/>
          <p:nvPr/>
        </p:nvPicPr>
        <p:blipFill>
          <a:blip r:embed="rId1"/>
          <a:stretch/>
        </p:blipFill>
        <p:spPr>
          <a:xfrm>
            <a:off x="960120" y="1572840"/>
            <a:ext cx="1481040" cy="1444320"/>
          </a:xfrm>
          <a:prstGeom prst="rect">
            <a:avLst/>
          </a:prstGeom>
          <a:noFill/>
          <a:ln w="0">
            <a:noFill/>
          </a:ln>
        </p:spPr>
      </p:pic>
      <p:sp>
        <p:nvSpPr>
          <p:cNvPr id="11" name="Text 0"/>
          <p:cNvSpPr/>
          <p:nvPr/>
        </p:nvSpPr>
        <p:spPr>
          <a:xfrm>
            <a:off x="2834640" y="1682640"/>
            <a:ext cx="8229240" cy="25560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200" b="1" u="none" spc="241" strike="noStrike">
                <a:solidFill>
                  <a:srgbClr val="E4B454"/>
                </a:solidFill>
                <a:effectLst/>
                <a:uFillTx/>
                <a:latin typeface="Calibri"/>
                <a:ea typeface="Calibri"/>
              </a:rPr>
              <a:t>OBAFEMI AWOLOWO UNIVERSITY, ILE-IFE</a:t>
            </a:r>
            <a:endParaRPr lang="en-NG" sz="1200" b="0" u="none" strike="noStrike">
              <a:solidFill>
                <a:srgbClr val="FFFFFF"/>
              </a:solidFill>
              <a:effectLst/>
              <a:uFillTx/>
              <a:latin typeface="Arial"/>
            </a:endParaRPr>
          </a:p>
        </p:txBody>
      </p:sp>
      <p:sp>
        <p:nvSpPr>
          <p:cNvPr id="12" name="Text 1"/>
          <p:cNvSpPr/>
          <p:nvPr/>
        </p:nvSpPr>
        <p:spPr>
          <a:xfrm>
            <a:off x="2834640" y="2011680"/>
            <a:ext cx="8412120" cy="1371240"/>
          </a:xfrm>
          <a:prstGeom prst="rect">
            <a:avLst/>
          </a:prstGeom>
          <a:noFill/>
          <a:ln w="0">
            <a:noFill/>
          </a:ln>
        </p:spPr>
        <p:style>
          <a:lnRef idx="0"/>
          <a:fillRef idx="0"/>
          <a:effectRef idx="0"/>
          <a:fontRef idx="minor"/>
        </p:style>
        <p:txBody>
          <a:bodyPr lIns="0" tIns="0" rIns="0" bIns="0" anchor="ctr">
            <a:noAutofit/>
          </a:bodyPr>
          <a:p>
            <a:pPr>
              <a:lnSpc>
                <a:spcPts val="4601"/>
              </a:lnSpc>
              <a:tabLst>
                <a:tab pos="0" algn="l"/>
              </a:tabLst>
            </a:pPr>
            <a:r>
              <a:rPr lang="en-NG" sz="4200" b="1" u="none" strike="noStrike">
                <a:solidFill>
                  <a:srgbClr val="FFFFFF"/>
                </a:solidFill>
                <a:effectLst/>
                <a:uFillTx/>
                <a:latin typeface="Cambria"/>
                <a:ea typeface="Cambria"/>
              </a:rPr>
              <a:t>Online Library</a:t>
            </a:r>
            <a:endParaRPr lang="en-NG" sz="4200" b="0" u="none" strike="noStrike">
              <a:solidFill>
                <a:srgbClr val="FFFFFF"/>
              </a:solidFill>
              <a:effectLst/>
              <a:uFillTx/>
              <a:latin typeface="Arial"/>
            </a:endParaRPr>
          </a:p>
          <a:p>
            <a:pPr>
              <a:lnSpc>
                <a:spcPts val="4601"/>
              </a:lnSpc>
              <a:tabLst>
                <a:tab pos="0" algn="l"/>
              </a:tabLst>
            </a:pPr>
            <a:r>
              <a:rPr lang="en-NG" sz="4200" b="1" u="none" strike="noStrike">
                <a:solidFill>
                  <a:srgbClr val="FFFFFF"/>
                </a:solidFill>
                <a:effectLst/>
                <a:uFillTx/>
                <a:latin typeface="Cambria"/>
                <a:ea typeface="Cambria"/>
              </a:rPr>
              <a:t>Management System</a:t>
            </a:r>
            <a:endParaRPr lang="en-NG" sz="4200" b="0" u="none" strike="noStrike">
              <a:solidFill>
                <a:srgbClr val="FFFFFF"/>
              </a:solidFill>
              <a:effectLst/>
              <a:uFillTx/>
              <a:latin typeface="Arial"/>
            </a:endParaRPr>
          </a:p>
        </p:txBody>
      </p:sp>
      <p:sp>
        <p:nvSpPr>
          <p:cNvPr id="13" name="Text 2"/>
          <p:cNvSpPr/>
          <p:nvPr/>
        </p:nvSpPr>
        <p:spPr>
          <a:xfrm>
            <a:off x="2862000" y="3438000"/>
            <a:ext cx="7863480" cy="603000"/>
          </a:xfrm>
          <a:prstGeom prst="rect">
            <a:avLst/>
          </a:prstGeom>
          <a:noFill/>
          <a:ln w="0">
            <a:noFill/>
          </a:ln>
        </p:spPr>
        <p:style>
          <a:lnRef idx="0"/>
          <a:fillRef idx="0"/>
          <a:effectRef idx="0"/>
          <a:fontRef idx="minor"/>
        </p:style>
        <p:txBody>
          <a:bodyPr lIns="0" tIns="0" rIns="0" bIns="0" anchor="ctr">
            <a:noAutofit/>
          </a:bodyPr>
          <a:p>
            <a:pPr>
              <a:lnSpc>
                <a:spcPts val="2100"/>
              </a:lnSpc>
              <a:tabLst>
                <a:tab pos="0" algn="l"/>
              </a:tabLst>
            </a:pPr>
            <a:r>
              <a:rPr lang="en-NG" sz="1500" b="0" u="none" strike="noStrike">
                <a:solidFill>
                  <a:srgbClr val="C9C2E4"/>
                </a:solidFill>
                <a:effectLst/>
                <a:uFillTx/>
                <a:latin typeface="Calibri"/>
                <a:ea typeface="Calibri"/>
              </a:rPr>
              <a:t>A web-based catalogue and circulation system for the</a:t>
            </a:r>
            <a:endParaRPr lang="en-NG" sz="1500" b="0" u="none" strike="noStrike">
              <a:solidFill>
                <a:srgbClr val="FFFFFF"/>
              </a:solidFill>
              <a:effectLst/>
              <a:uFillTx/>
              <a:latin typeface="Arial"/>
            </a:endParaRPr>
          </a:p>
          <a:p>
            <a:pPr>
              <a:lnSpc>
                <a:spcPts val="2100"/>
              </a:lnSpc>
              <a:tabLst>
                <a:tab pos="0" algn="l"/>
              </a:tabLst>
            </a:pPr>
            <a:r>
              <a:rPr lang="en-NG" sz="1500" b="0" u="none" strike="noStrike">
                <a:solidFill>
                  <a:srgbClr val="C9C2E4"/>
                </a:solidFill>
                <a:effectLst/>
                <a:uFillTx/>
                <a:latin typeface="Calibri"/>
                <a:ea typeface="Calibri"/>
              </a:rPr>
              <a:t>Hezekiah Oluwasanmi Library</a:t>
            </a:r>
            <a:endParaRPr lang="en-NG" sz="1500" b="0" u="none" strike="noStrike">
              <a:solidFill>
                <a:srgbClr val="FFFFFF"/>
              </a:solidFill>
              <a:effectLst/>
              <a:uFillTx/>
              <a:latin typeface="Arial"/>
            </a:endParaRPr>
          </a:p>
        </p:txBody>
      </p:sp>
      <p:sp>
        <p:nvSpPr>
          <p:cNvPr id="14" name="Shape 3"/>
          <p:cNvSpPr/>
          <p:nvPr/>
        </p:nvSpPr>
        <p:spPr>
          <a:xfrm>
            <a:off x="2862000" y="4224240"/>
            <a:ext cx="6766560" cy="360"/>
          </a:xfrm>
          <a:prstGeom prst="line">
            <a:avLst/>
          </a:prstGeom>
          <a:ln w="12700">
            <a:solidFill>
              <a:srgbClr val="4A3A7A"/>
            </a:solidFill>
            <a:round/>
          </a:ln>
        </p:spPr>
        <p:style>
          <a:lnRef idx="0"/>
          <a:fillRef idx="0"/>
          <a:effectRef idx="0"/>
          <a:fontRef idx="minor"/>
        </p:style>
        <p:txBody>
          <a:bodyPr lIns="90000" tIns="-44640" rIns="90000" bIns="-44640" anchor="t" anchorCtr="1">
            <a:noAutofit/>
          </a:bodyPr>
          <a:p>
            <a:pPr/>
            <a:endParaRPr lang="en-NG" sz="1800" b="0" u="none" strike="noStrike">
              <a:solidFill>
                <a:srgbClr val="FFFFFF"/>
              </a:solidFill>
              <a:effectLst/>
              <a:uFillTx/>
              <a:latin typeface="Arial"/>
            </a:endParaRPr>
          </a:p>
        </p:txBody>
      </p:sp>
      <p:sp>
        <p:nvSpPr>
          <p:cNvPr id="15" name="Text 4"/>
          <p:cNvSpPr/>
          <p:nvPr/>
        </p:nvSpPr>
        <p:spPr>
          <a:xfrm>
            <a:off x="2862000" y="4443840"/>
            <a:ext cx="1234080" cy="2739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050" b="1" u="none" spc="139" strike="noStrike">
                <a:solidFill>
                  <a:srgbClr val="E4B454"/>
                </a:solidFill>
                <a:effectLst/>
                <a:uFillTx/>
                <a:latin typeface="Calibri"/>
                <a:ea typeface="Calibri"/>
              </a:rPr>
              <a:t>GROUP</a:t>
            </a:r>
            <a:endParaRPr lang="en-NG" sz="1050" b="0" u="none" strike="noStrike">
              <a:solidFill>
                <a:srgbClr val="FFFFFF"/>
              </a:solidFill>
              <a:effectLst/>
              <a:uFillTx/>
              <a:latin typeface="Arial"/>
            </a:endParaRPr>
          </a:p>
        </p:txBody>
      </p:sp>
      <p:sp>
        <p:nvSpPr>
          <p:cNvPr id="16" name="Text 5"/>
          <p:cNvSpPr/>
          <p:nvPr/>
        </p:nvSpPr>
        <p:spPr>
          <a:xfrm>
            <a:off x="4160520" y="4443840"/>
            <a:ext cx="7406280" cy="2739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300" b="0" u="none" strike="noStrike">
                <a:solidFill>
                  <a:srgbClr val="FFFFFF"/>
                </a:solidFill>
                <a:effectLst/>
                <a:uFillTx/>
                <a:latin typeface="Calibri"/>
                <a:ea typeface="Calibri"/>
              </a:rPr>
              <a:t>Group 4, Part 1, 22 members</a:t>
            </a:r>
            <a:endParaRPr lang="en-NG" sz="1300" b="0" u="none" strike="noStrike">
              <a:solidFill>
                <a:srgbClr val="FFFFFF"/>
              </a:solidFill>
              <a:effectLst/>
              <a:uFillTx/>
              <a:latin typeface="Arial"/>
            </a:endParaRPr>
          </a:p>
        </p:txBody>
      </p:sp>
      <p:sp>
        <p:nvSpPr>
          <p:cNvPr id="17" name="Text 6"/>
          <p:cNvSpPr/>
          <p:nvPr/>
        </p:nvSpPr>
        <p:spPr>
          <a:xfrm>
            <a:off x="2862000" y="4809600"/>
            <a:ext cx="1234080" cy="2739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050" b="1" u="none" spc="139" strike="noStrike">
                <a:solidFill>
                  <a:srgbClr val="E4B454"/>
                </a:solidFill>
                <a:effectLst/>
                <a:uFillTx/>
                <a:latin typeface="Calibri"/>
                <a:ea typeface="Calibri"/>
              </a:rPr>
              <a:t>COURSE</a:t>
            </a:r>
            <a:endParaRPr lang="en-NG" sz="1050" b="0" u="none" strike="noStrike">
              <a:solidFill>
                <a:srgbClr val="FFFFFF"/>
              </a:solidFill>
              <a:effectLst/>
              <a:uFillTx/>
              <a:latin typeface="Arial"/>
            </a:endParaRPr>
          </a:p>
        </p:txBody>
      </p:sp>
      <p:sp>
        <p:nvSpPr>
          <p:cNvPr id="18" name="Text 7"/>
          <p:cNvSpPr/>
          <p:nvPr/>
        </p:nvSpPr>
        <p:spPr>
          <a:xfrm>
            <a:off x="4160520" y="4809600"/>
            <a:ext cx="7406280" cy="2739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300" b="0" u="none" strike="noStrike">
                <a:solidFill>
                  <a:srgbClr val="FFFFFF"/>
                </a:solidFill>
                <a:effectLst/>
                <a:uFillTx/>
                <a:latin typeface="Calibri"/>
                <a:ea typeface="Calibri"/>
              </a:rPr>
              <a:t>SEN 106 / SEN 216, Introduction to Web Technologies</a:t>
            </a:r>
            <a:endParaRPr lang="en-NG" sz="1300" b="0" u="none" strike="noStrike">
              <a:solidFill>
                <a:srgbClr val="FFFFFF"/>
              </a:solidFill>
              <a:effectLst/>
              <a:uFillTx/>
              <a:latin typeface="Arial"/>
            </a:endParaRPr>
          </a:p>
        </p:txBody>
      </p:sp>
      <p:sp>
        <p:nvSpPr>
          <p:cNvPr id="19" name="Text 8"/>
          <p:cNvSpPr/>
          <p:nvPr/>
        </p:nvSpPr>
        <p:spPr>
          <a:xfrm>
            <a:off x="2862000" y="5175360"/>
            <a:ext cx="1234080" cy="2739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050" b="1" u="none" spc="139" strike="noStrike">
                <a:solidFill>
                  <a:srgbClr val="E4B454"/>
                </a:solidFill>
                <a:effectLst/>
                <a:uFillTx/>
                <a:latin typeface="Calibri"/>
                <a:ea typeface="Calibri"/>
              </a:rPr>
              <a:t>LIVE</a:t>
            </a:r>
            <a:endParaRPr lang="en-NG" sz="1050" b="0" u="none" strike="noStrike">
              <a:solidFill>
                <a:srgbClr val="FFFFFF"/>
              </a:solidFill>
              <a:effectLst/>
              <a:uFillTx/>
              <a:latin typeface="Arial"/>
            </a:endParaRPr>
          </a:p>
        </p:txBody>
      </p:sp>
      <p:sp>
        <p:nvSpPr>
          <p:cNvPr id="20" name="Text 9"/>
          <p:cNvSpPr/>
          <p:nvPr/>
        </p:nvSpPr>
        <p:spPr>
          <a:xfrm>
            <a:off x="4160520" y="5175360"/>
            <a:ext cx="7406280" cy="2739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300" b="0" u="none" strike="noStrike">
                <a:solidFill>
                  <a:srgbClr val="FFFFFF"/>
                </a:solidFill>
                <a:effectLst/>
                <a:uFillTx/>
                <a:latin typeface="Calibri"/>
                <a:ea typeface="Calibri"/>
              </a:rPr>
              <a:t>library.appmd.dev  ·  api.library.appmd.dev</a:t>
            </a:r>
            <a:endParaRPr lang="en-NG" sz="13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 name="Text 0"/>
          <p:cNvSpPr/>
          <p:nvPr/>
        </p:nvSpPr>
        <p:spPr>
          <a:xfrm>
            <a:off x="567000" y="384120"/>
            <a:ext cx="8229240" cy="2372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100" b="1" u="none" spc="221" strike="noStrike">
                <a:solidFill>
                  <a:srgbClr val="E4B454"/>
                </a:solidFill>
                <a:effectLst/>
                <a:uFillTx/>
                <a:latin typeface="Calibri"/>
                <a:ea typeface="Calibri"/>
              </a:rPr>
              <a:t>THE PROBLEM</a:t>
            </a:r>
            <a:endParaRPr lang="en-NG" sz="1100" b="0" u="none" strike="noStrike">
              <a:solidFill>
                <a:srgbClr val="000000"/>
              </a:solidFill>
              <a:effectLst/>
              <a:uFillTx/>
              <a:latin typeface="Arial"/>
            </a:endParaRPr>
          </a:p>
        </p:txBody>
      </p:sp>
      <p:sp>
        <p:nvSpPr>
          <p:cNvPr id="22" name="Text 1"/>
          <p:cNvSpPr/>
          <p:nvPr/>
        </p:nvSpPr>
        <p:spPr>
          <a:xfrm>
            <a:off x="567000" y="640080"/>
            <a:ext cx="9692280" cy="5666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3000" b="1" u="none" strike="noStrike">
                <a:solidFill>
                  <a:srgbClr val="240C54"/>
                </a:solidFill>
                <a:effectLst/>
                <a:uFillTx/>
                <a:latin typeface="Cambria"/>
                <a:ea typeface="Cambria"/>
              </a:rPr>
              <a:t>Everything is on paper, and nothing is searchable</a:t>
            </a:r>
            <a:endParaRPr lang="en-NG" sz="3000" b="0" u="none" strike="noStrike">
              <a:solidFill>
                <a:srgbClr val="000000"/>
              </a:solidFill>
              <a:effectLst/>
              <a:uFillTx/>
              <a:latin typeface="Arial"/>
            </a:endParaRPr>
          </a:p>
        </p:txBody>
      </p:sp>
      <p:pic>
        <p:nvPicPr>
          <p:cNvPr id="23" name="Image 0"/>
          <p:cNvPicPr/>
          <p:nvPr/>
        </p:nvPicPr>
        <p:blipFill>
          <a:blip r:embed="rId1"/>
          <a:stretch/>
        </p:blipFill>
        <p:spPr>
          <a:xfrm>
            <a:off x="11149200" y="365760"/>
            <a:ext cx="475200" cy="465840"/>
          </a:xfrm>
          <a:prstGeom prst="rect">
            <a:avLst/>
          </a:prstGeom>
          <a:noFill/>
          <a:ln w="0">
            <a:noFill/>
          </a:ln>
        </p:spPr>
      </p:pic>
      <p:sp>
        <p:nvSpPr>
          <p:cNvPr id="24" name="Text 2"/>
          <p:cNvSpPr/>
          <p:nvPr/>
        </p:nvSpPr>
        <p:spPr>
          <a:xfrm>
            <a:off x="11149200" y="6382440"/>
            <a:ext cx="475200" cy="219240"/>
          </a:xfrm>
          <a:prstGeom prst="rect">
            <a:avLst/>
          </a:prstGeom>
          <a:noFill/>
          <a:ln w="0">
            <a:noFill/>
          </a:ln>
        </p:spPr>
        <p:style>
          <a:lnRef idx="0"/>
          <a:fillRef idx="0"/>
          <a:effectRef idx="0"/>
          <a:fontRef idx="minor"/>
        </p:style>
        <p:txBody>
          <a:bodyPr lIns="0" tIns="0" rIns="0" bIns="0" anchor="ctr">
            <a:noAutofit/>
          </a:bodyPr>
          <a:p>
            <a:pPr algn="r">
              <a:lnSpc>
                <a:spcPct val="100000"/>
              </a:lnSpc>
              <a:tabLst>
                <a:tab pos="0" algn="l"/>
              </a:tabLst>
            </a:pPr>
            <a:r>
              <a:rPr lang="en-NG" sz="1000" b="0" u="none" strike="noStrike">
                <a:solidFill>
                  <a:srgbClr val="5B5B6B"/>
                </a:solidFill>
                <a:effectLst/>
                <a:uFillTx/>
                <a:latin typeface="Calibri"/>
                <a:ea typeface="Calibri"/>
              </a:rPr>
              <a:t>2</a:t>
            </a:r>
            <a:endParaRPr lang="en-NG" sz="1000" b="0" u="none" strike="noStrike">
              <a:solidFill>
                <a:srgbClr val="000000"/>
              </a:solidFill>
              <a:effectLst/>
              <a:uFillTx/>
              <a:latin typeface="Arial"/>
            </a:endParaRPr>
          </a:p>
        </p:txBody>
      </p:sp>
      <p:sp>
        <p:nvSpPr>
          <p:cNvPr id="25" name="Text 3"/>
          <p:cNvSpPr/>
          <p:nvPr/>
        </p:nvSpPr>
        <p:spPr>
          <a:xfrm>
            <a:off x="567000" y="1389960"/>
            <a:ext cx="5806080" cy="1096920"/>
          </a:xfrm>
          <a:prstGeom prst="rect">
            <a:avLst/>
          </a:prstGeom>
          <a:noFill/>
          <a:ln w="0">
            <a:noFill/>
          </a:ln>
        </p:spPr>
        <p:style>
          <a:lnRef idx="0"/>
          <a:fillRef idx="0"/>
          <a:effectRef idx="0"/>
          <a:fontRef idx="minor"/>
        </p:style>
        <p:txBody>
          <a:bodyPr lIns="0" tIns="0" rIns="0" bIns="0" anchor="ctr">
            <a:noAutofit/>
          </a:bodyPr>
          <a:p>
            <a:pPr>
              <a:lnSpc>
                <a:spcPts val="2100"/>
              </a:lnSpc>
              <a:tabLst>
                <a:tab pos="0" algn="l"/>
              </a:tabLst>
            </a:pPr>
            <a:r>
              <a:rPr lang="en-NG" sz="1400" b="0" u="none" strike="noStrike">
                <a:solidFill>
                  <a:srgbClr val="1A1A2E"/>
                </a:solidFill>
                <a:effectLst/>
                <a:uFillTx/>
                <a:latin typeface="Calibri"/>
                <a:ea typeface="Calibri"/>
              </a:rPr>
              <a:t>The Hezekiah Oluwasanmi Library holds one of the largest collections in West Africa. Finding a book still means walking to the shelf. Borrowing is recorded in a ledger, so no one can answer a simple question without opening a book of records.</a:t>
            </a:r>
            <a:endParaRPr lang="en-NG" sz="1400" b="0" u="none" strike="noStrike">
              <a:solidFill>
                <a:srgbClr val="000000"/>
              </a:solidFill>
              <a:effectLst/>
              <a:uFillTx/>
              <a:latin typeface="Arial"/>
            </a:endParaRPr>
          </a:p>
        </p:txBody>
      </p:sp>
      <p:sp>
        <p:nvSpPr>
          <p:cNvPr id="26" name="Shape 4"/>
          <p:cNvSpPr/>
          <p:nvPr/>
        </p:nvSpPr>
        <p:spPr>
          <a:xfrm>
            <a:off x="567000" y="2670120"/>
            <a:ext cx="5806080" cy="932400"/>
          </a:xfrm>
          <a:prstGeom prst="roundRect">
            <a:avLst>
              <a:gd name="adj" fmla="val 6863"/>
            </a:avLst>
          </a:prstGeom>
          <a:solidFill>
            <a:srgbClr val="F4F5F9"/>
          </a:solidFill>
          <a:ln w="9525">
            <a:solidFill>
              <a:srgbClr val="D8DAE5"/>
            </a:solidFill>
            <a:round/>
          </a:ln>
          <a:effectLst>
            <a:outerShdw algn="bl" blurRad="127080" dir="5400000" dist="25560" kx="0" ky="0" rotWithShape="0" sx="100000" sy="100000">
              <a:srgbClr val="9098B0">
                <a:alpha val="22000"/>
              </a:srgbClr>
            </a:outerShdw>
          </a:effectLst>
        </p:spPr>
        <p:style>
          <a:lnRef idx="0"/>
          <a:fillRef idx="0"/>
          <a:effectRef idx="0"/>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27" name="Shape 5"/>
          <p:cNvSpPr/>
          <p:nvPr/>
        </p:nvSpPr>
        <p:spPr>
          <a:xfrm>
            <a:off x="768240" y="2853000"/>
            <a:ext cx="310680" cy="310680"/>
          </a:xfrm>
          <a:prstGeom prst="ellipse">
            <a:avLst/>
          </a:prstGeom>
          <a:solidFill>
            <a:srgbClr val="240C54"/>
          </a:solidFill>
          <a:ln w="12700">
            <a:solidFill>
              <a:srgbClr val="240C54"/>
            </a:solidFill>
            <a:round/>
          </a:ln>
        </p:spPr>
        <p:style>
          <a:lnRef idx="0"/>
          <a:fillRef idx="0"/>
          <a:effectRef idx="0"/>
          <a:fontRef idx="minor"/>
        </p:style>
        <p:txBody>
          <a:bodyPr lIns="90000" tIns="45000" rIns="90000" bIns="45000" anchor="t">
            <a:noAutofit/>
          </a:bodyPr>
          <a:p>
            <a:pPr/>
            <a:endParaRPr lang="en-NG" sz="1800" b="0" u="none" strike="noStrike">
              <a:solidFill>
                <a:srgbClr val="FFFFFF"/>
              </a:solidFill>
              <a:effectLst/>
              <a:uFillTx/>
              <a:latin typeface="Arial"/>
            </a:endParaRPr>
          </a:p>
        </p:txBody>
      </p:sp>
      <p:sp>
        <p:nvSpPr>
          <p:cNvPr id="28" name="Text 6"/>
          <p:cNvSpPr/>
          <p:nvPr/>
        </p:nvSpPr>
        <p:spPr>
          <a:xfrm>
            <a:off x="768240" y="2853000"/>
            <a:ext cx="310680" cy="31068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NG" sz="1300" b="1" u="none" strike="noStrike">
                <a:solidFill>
                  <a:srgbClr val="E4B454"/>
                </a:solidFill>
                <a:effectLst/>
                <a:uFillTx/>
                <a:latin typeface="Calibri"/>
                <a:ea typeface="Calibri"/>
              </a:rPr>
              <a:t>1</a:t>
            </a:r>
            <a:endParaRPr lang="en-NG" sz="1300" b="0" u="none" strike="noStrike">
              <a:solidFill>
                <a:srgbClr val="000000"/>
              </a:solidFill>
              <a:effectLst/>
              <a:uFillTx/>
              <a:latin typeface="Arial"/>
            </a:endParaRPr>
          </a:p>
        </p:txBody>
      </p:sp>
      <p:sp>
        <p:nvSpPr>
          <p:cNvPr id="29" name="Text 7"/>
          <p:cNvSpPr/>
          <p:nvPr/>
        </p:nvSpPr>
        <p:spPr>
          <a:xfrm>
            <a:off x="1170360" y="2843640"/>
            <a:ext cx="4983120" cy="328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500" b="1" u="none" strike="noStrike">
                <a:solidFill>
                  <a:srgbClr val="240C54"/>
                </a:solidFill>
                <a:effectLst/>
                <a:uFillTx/>
                <a:latin typeface="Calibri"/>
                <a:ea typeface="Calibri"/>
              </a:rPr>
              <a:t>Is it available?</a:t>
            </a:r>
            <a:endParaRPr lang="en-NG" sz="1500" b="0" u="none" strike="noStrike">
              <a:solidFill>
                <a:srgbClr val="000000"/>
              </a:solidFill>
              <a:effectLst/>
              <a:uFillTx/>
              <a:latin typeface="Arial"/>
            </a:endParaRPr>
          </a:p>
        </p:txBody>
      </p:sp>
      <p:sp>
        <p:nvSpPr>
          <p:cNvPr id="30" name="Text 8"/>
          <p:cNvSpPr/>
          <p:nvPr/>
        </p:nvSpPr>
        <p:spPr>
          <a:xfrm>
            <a:off x="786240" y="3237120"/>
            <a:ext cx="5367240" cy="237240"/>
          </a:xfrm>
          <a:prstGeom prst="rect">
            <a:avLst/>
          </a:prstGeom>
          <a:noFill/>
          <a:ln w="0">
            <a:noFill/>
          </a:ln>
        </p:spPr>
        <p:style>
          <a:lnRef idx="0"/>
          <a:fillRef idx="0"/>
          <a:effectRef idx="0"/>
          <a:fontRef idx="minor"/>
        </p:style>
        <p:txBody>
          <a:bodyPr lIns="0" tIns="0" rIns="0" bIns="0" anchor="t">
            <a:noAutofit/>
          </a:bodyPr>
          <a:p>
            <a:pPr>
              <a:lnSpc>
                <a:spcPts val="1701"/>
              </a:lnSpc>
              <a:tabLst>
                <a:tab pos="0" algn="l"/>
              </a:tabLst>
            </a:pPr>
            <a:r>
              <a:rPr lang="en-NG" sz="1200" b="0" u="none" strike="noStrike">
                <a:solidFill>
                  <a:srgbClr val="1A1A2E"/>
                </a:solidFill>
                <a:effectLst/>
                <a:uFillTx/>
                <a:latin typeface="Calibri"/>
                <a:ea typeface="Calibri"/>
              </a:rPr>
              <a:t>The catalogue cannot say. A student walks to the shelf to find out.</a:t>
            </a:r>
            <a:endParaRPr lang="en-NG" sz="1200" b="0" u="none" strike="noStrike">
              <a:solidFill>
                <a:srgbClr val="000000"/>
              </a:solidFill>
              <a:effectLst/>
              <a:uFillTx/>
              <a:latin typeface="Arial"/>
            </a:endParaRPr>
          </a:p>
        </p:txBody>
      </p:sp>
      <p:sp>
        <p:nvSpPr>
          <p:cNvPr id="31" name="Shape 9"/>
          <p:cNvSpPr/>
          <p:nvPr/>
        </p:nvSpPr>
        <p:spPr>
          <a:xfrm>
            <a:off x="567000" y="3730680"/>
            <a:ext cx="5806080" cy="932400"/>
          </a:xfrm>
          <a:prstGeom prst="roundRect">
            <a:avLst>
              <a:gd name="adj" fmla="val 6863"/>
            </a:avLst>
          </a:prstGeom>
          <a:solidFill>
            <a:srgbClr val="F4F5F9"/>
          </a:solidFill>
          <a:ln w="9525">
            <a:solidFill>
              <a:srgbClr val="D8DAE5"/>
            </a:solidFill>
            <a:round/>
          </a:ln>
          <a:effectLst>
            <a:outerShdw algn="bl" blurRad="127080" dir="5400000" dist="25560" kx="0" ky="0" rotWithShape="0" sx="100000" sy="100000">
              <a:srgbClr val="9098B0">
                <a:alpha val="22000"/>
              </a:srgbClr>
            </a:outerShdw>
          </a:effectLst>
        </p:spPr>
        <p:style>
          <a:lnRef idx="0"/>
          <a:fillRef idx="0"/>
          <a:effectRef idx="0"/>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32" name="Shape 10"/>
          <p:cNvSpPr/>
          <p:nvPr/>
        </p:nvSpPr>
        <p:spPr>
          <a:xfrm>
            <a:off x="768240" y="3913560"/>
            <a:ext cx="310680" cy="310680"/>
          </a:xfrm>
          <a:prstGeom prst="ellipse">
            <a:avLst/>
          </a:prstGeom>
          <a:solidFill>
            <a:srgbClr val="240C54"/>
          </a:solidFill>
          <a:ln w="12700">
            <a:solidFill>
              <a:srgbClr val="240C54"/>
            </a:solidFill>
            <a:round/>
          </a:ln>
        </p:spPr>
        <p:style>
          <a:lnRef idx="0"/>
          <a:fillRef idx="0"/>
          <a:effectRef idx="0"/>
          <a:fontRef idx="minor"/>
        </p:style>
        <p:txBody>
          <a:bodyPr lIns="90000" tIns="45000" rIns="90000" bIns="45000" anchor="t">
            <a:noAutofit/>
          </a:bodyPr>
          <a:p>
            <a:pPr/>
            <a:endParaRPr lang="en-NG" sz="1800" b="0" u="none" strike="noStrike">
              <a:solidFill>
                <a:srgbClr val="FFFFFF"/>
              </a:solidFill>
              <a:effectLst/>
              <a:uFillTx/>
              <a:latin typeface="Arial"/>
            </a:endParaRPr>
          </a:p>
        </p:txBody>
      </p:sp>
      <p:sp>
        <p:nvSpPr>
          <p:cNvPr id="33" name="Text 11"/>
          <p:cNvSpPr/>
          <p:nvPr/>
        </p:nvSpPr>
        <p:spPr>
          <a:xfrm>
            <a:off x="768240" y="3913560"/>
            <a:ext cx="310680" cy="31068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NG" sz="1300" b="1" u="none" strike="noStrike">
                <a:solidFill>
                  <a:srgbClr val="E4B454"/>
                </a:solidFill>
                <a:effectLst/>
                <a:uFillTx/>
                <a:latin typeface="Calibri"/>
                <a:ea typeface="Calibri"/>
              </a:rPr>
              <a:t>2</a:t>
            </a:r>
            <a:endParaRPr lang="en-NG" sz="1300" b="0" u="none" strike="noStrike">
              <a:solidFill>
                <a:srgbClr val="000000"/>
              </a:solidFill>
              <a:effectLst/>
              <a:uFillTx/>
              <a:latin typeface="Arial"/>
            </a:endParaRPr>
          </a:p>
        </p:txBody>
      </p:sp>
      <p:sp>
        <p:nvSpPr>
          <p:cNvPr id="34" name="Text 12"/>
          <p:cNvSpPr/>
          <p:nvPr/>
        </p:nvSpPr>
        <p:spPr>
          <a:xfrm>
            <a:off x="1170360" y="3904560"/>
            <a:ext cx="4983120" cy="328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500" b="1" u="none" strike="noStrike">
                <a:solidFill>
                  <a:srgbClr val="240C54"/>
                </a:solidFill>
                <a:effectLst/>
                <a:uFillTx/>
                <a:latin typeface="Calibri"/>
                <a:ea typeface="Calibri"/>
              </a:rPr>
              <a:t>Who has it?</a:t>
            </a:r>
            <a:endParaRPr lang="en-NG" sz="1500" b="0" u="none" strike="noStrike">
              <a:solidFill>
                <a:srgbClr val="000000"/>
              </a:solidFill>
              <a:effectLst/>
              <a:uFillTx/>
              <a:latin typeface="Arial"/>
            </a:endParaRPr>
          </a:p>
        </p:txBody>
      </p:sp>
      <p:sp>
        <p:nvSpPr>
          <p:cNvPr id="35" name="Text 13"/>
          <p:cNvSpPr/>
          <p:nvPr/>
        </p:nvSpPr>
        <p:spPr>
          <a:xfrm>
            <a:off x="786240" y="4297680"/>
            <a:ext cx="5367240" cy="237240"/>
          </a:xfrm>
          <a:prstGeom prst="rect">
            <a:avLst/>
          </a:prstGeom>
          <a:noFill/>
          <a:ln w="0">
            <a:noFill/>
          </a:ln>
        </p:spPr>
        <p:style>
          <a:lnRef idx="0"/>
          <a:fillRef idx="0"/>
          <a:effectRef idx="0"/>
          <a:fontRef idx="minor"/>
        </p:style>
        <p:txBody>
          <a:bodyPr lIns="0" tIns="0" rIns="0" bIns="0" anchor="t">
            <a:noAutofit/>
          </a:bodyPr>
          <a:p>
            <a:pPr>
              <a:lnSpc>
                <a:spcPts val="1701"/>
              </a:lnSpc>
              <a:tabLst>
                <a:tab pos="0" algn="l"/>
              </a:tabLst>
            </a:pPr>
            <a:r>
              <a:rPr lang="en-NG" sz="1200" b="0" u="none" strike="noStrike">
                <a:solidFill>
                  <a:srgbClr val="1A1A2E"/>
                </a:solidFill>
                <a:effectLst/>
                <a:uFillTx/>
                <a:latin typeface="Calibri"/>
                <a:ea typeface="Calibri"/>
              </a:rPr>
              <a:t>Loans live in a ledger. Tracing one book means reading pages by hand.</a:t>
            </a:r>
            <a:endParaRPr lang="en-NG" sz="1200" b="0" u="none" strike="noStrike">
              <a:solidFill>
                <a:srgbClr val="000000"/>
              </a:solidFill>
              <a:effectLst/>
              <a:uFillTx/>
              <a:latin typeface="Arial"/>
            </a:endParaRPr>
          </a:p>
        </p:txBody>
      </p:sp>
      <p:sp>
        <p:nvSpPr>
          <p:cNvPr id="36" name="Shape 14"/>
          <p:cNvSpPr/>
          <p:nvPr/>
        </p:nvSpPr>
        <p:spPr>
          <a:xfrm>
            <a:off x="567000" y="4791600"/>
            <a:ext cx="5806080" cy="932400"/>
          </a:xfrm>
          <a:prstGeom prst="roundRect">
            <a:avLst>
              <a:gd name="adj" fmla="val 6863"/>
            </a:avLst>
          </a:prstGeom>
          <a:solidFill>
            <a:srgbClr val="F4F5F9"/>
          </a:solidFill>
          <a:ln w="9525">
            <a:solidFill>
              <a:srgbClr val="D8DAE5"/>
            </a:solidFill>
            <a:round/>
          </a:ln>
          <a:effectLst>
            <a:outerShdw algn="bl" blurRad="127080" dir="5400000" dist="25560" kx="0" ky="0" rotWithShape="0" sx="100000" sy="100000">
              <a:srgbClr val="9098B0">
                <a:alpha val="22000"/>
              </a:srgbClr>
            </a:outerShdw>
          </a:effectLst>
        </p:spPr>
        <p:style>
          <a:lnRef idx="0"/>
          <a:fillRef idx="0"/>
          <a:effectRef idx="0"/>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37" name="Shape 15"/>
          <p:cNvSpPr/>
          <p:nvPr/>
        </p:nvSpPr>
        <p:spPr>
          <a:xfrm>
            <a:off x="768240" y="4974480"/>
            <a:ext cx="310680" cy="310680"/>
          </a:xfrm>
          <a:prstGeom prst="ellipse">
            <a:avLst/>
          </a:prstGeom>
          <a:solidFill>
            <a:srgbClr val="240C54"/>
          </a:solidFill>
          <a:ln w="12700">
            <a:solidFill>
              <a:srgbClr val="240C54"/>
            </a:solidFill>
            <a:round/>
          </a:ln>
        </p:spPr>
        <p:style>
          <a:lnRef idx="0"/>
          <a:fillRef idx="0"/>
          <a:effectRef idx="0"/>
          <a:fontRef idx="minor"/>
        </p:style>
        <p:txBody>
          <a:bodyPr lIns="90000" tIns="45000" rIns="90000" bIns="45000" anchor="t">
            <a:noAutofit/>
          </a:bodyPr>
          <a:p>
            <a:pPr/>
            <a:endParaRPr lang="en-NG" sz="1800" b="0" u="none" strike="noStrike">
              <a:solidFill>
                <a:srgbClr val="FFFFFF"/>
              </a:solidFill>
              <a:effectLst/>
              <a:uFillTx/>
              <a:latin typeface="Arial"/>
            </a:endParaRPr>
          </a:p>
        </p:txBody>
      </p:sp>
      <p:sp>
        <p:nvSpPr>
          <p:cNvPr id="38" name="Text 16"/>
          <p:cNvSpPr/>
          <p:nvPr/>
        </p:nvSpPr>
        <p:spPr>
          <a:xfrm>
            <a:off x="768240" y="4974480"/>
            <a:ext cx="310680" cy="31068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NG" sz="1300" b="1" u="none" strike="noStrike">
                <a:solidFill>
                  <a:srgbClr val="E4B454"/>
                </a:solidFill>
                <a:effectLst/>
                <a:uFillTx/>
                <a:latin typeface="Calibri"/>
                <a:ea typeface="Calibri"/>
              </a:rPr>
              <a:t>3</a:t>
            </a:r>
            <a:endParaRPr lang="en-NG" sz="1300" b="0" u="none" strike="noStrike">
              <a:solidFill>
                <a:srgbClr val="000000"/>
              </a:solidFill>
              <a:effectLst/>
              <a:uFillTx/>
              <a:latin typeface="Arial"/>
            </a:endParaRPr>
          </a:p>
        </p:txBody>
      </p:sp>
      <p:sp>
        <p:nvSpPr>
          <p:cNvPr id="39" name="Text 17"/>
          <p:cNvSpPr/>
          <p:nvPr/>
        </p:nvSpPr>
        <p:spPr>
          <a:xfrm>
            <a:off x="1170360" y="4965120"/>
            <a:ext cx="4983120" cy="328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500" b="1" u="none" strike="noStrike">
                <a:solidFill>
                  <a:srgbClr val="240C54"/>
                </a:solidFill>
                <a:effectLst/>
                <a:uFillTx/>
                <a:latin typeface="Calibri"/>
                <a:ea typeface="Calibri"/>
              </a:rPr>
              <a:t>What is overdue?</a:t>
            </a:r>
            <a:endParaRPr lang="en-NG" sz="1500" b="0" u="none" strike="noStrike">
              <a:solidFill>
                <a:srgbClr val="000000"/>
              </a:solidFill>
              <a:effectLst/>
              <a:uFillTx/>
              <a:latin typeface="Arial"/>
            </a:endParaRPr>
          </a:p>
        </p:txBody>
      </p:sp>
      <p:sp>
        <p:nvSpPr>
          <p:cNvPr id="40" name="Text 18"/>
          <p:cNvSpPr/>
          <p:nvPr/>
        </p:nvSpPr>
        <p:spPr>
          <a:xfrm>
            <a:off x="786240" y="5358240"/>
            <a:ext cx="5367240" cy="237240"/>
          </a:xfrm>
          <a:prstGeom prst="rect">
            <a:avLst/>
          </a:prstGeom>
          <a:noFill/>
          <a:ln w="0">
            <a:noFill/>
          </a:ln>
        </p:spPr>
        <p:style>
          <a:lnRef idx="0"/>
          <a:fillRef idx="0"/>
          <a:effectRef idx="0"/>
          <a:fontRef idx="minor"/>
        </p:style>
        <p:txBody>
          <a:bodyPr lIns="0" tIns="0" rIns="0" bIns="0" anchor="t">
            <a:noAutofit/>
          </a:bodyPr>
          <a:p>
            <a:pPr>
              <a:lnSpc>
                <a:spcPts val="1701"/>
              </a:lnSpc>
              <a:tabLst>
                <a:tab pos="0" algn="l"/>
              </a:tabLst>
            </a:pPr>
            <a:r>
              <a:rPr lang="en-NG" sz="1200" b="0" u="none" strike="noStrike">
                <a:solidFill>
                  <a:srgbClr val="1A1A2E"/>
                </a:solidFill>
                <a:effectLst/>
                <a:uFillTx/>
                <a:latin typeface="Calibri"/>
                <a:ea typeface="Calibri"/>
              </a:rPr>
              <a:t>Nobody knows until a ledger is audited, so fines go uncollected.</a:t>
            </a:r>
            <a:endParaRPr lang="en-NG" sz="1200" b="0" u="none" strike="noStrike">
              <a:solidFill>
                <a:srgbClr val="000000"/>
              </a:solidFill>
              <a:effectLst/>
              <a:uFillTx/>
              <a:latin typeface="Arial"/>
            </a:endParaRPr>
          </a:p>
        </p:txBody>
      </p:sp>
      <p:sp>
        <p:nvSpPr>
          <p:cNvPr id="41" name="Shape 19"/>
          <p:cNvSpPr/>
          <p:nvPr/>
        </p:nvSpPr>
        <p:spPr>
          <a:xfrm>
            <a:off x="6729840" y="1389960"/>
            <a:ext cx="4894560" cy="4205880"/>
          </a:xfrm>
          <a:prstGeom prst="roundRect">
            <a:avLst>
              <a:gd name="adj" fmla="val 1522"/>
            </a:avLst>
          </a:prstGeom>
          <a:solidFill>
            <a:srgbClr val="240C54"/>
          </a:solidFill>
          <a:ln w="9525">
            <a:solidFill>
              <a:srgbClr val="240C54"/>
            </a:solidFill>
            <a:round/>
          </a:ln>
          <a:effectLst>
            <a:outerShdw algn="bl" blurRad="127080" dir="5400000" dist="25560" kx="0" ky="0" rotWithShape="0" sx="100000" sy="100000">
              <a:srgbClr val="9098B0">
                <a:alpha val="22000"/>
              </a:srgbClr>
            </a:outerShdw>
          </a:effectLst>
        </p:spPr>
        <p:style>
          <a:lnRef idx="0"/>
          <a:fillRef idx="0"/>
          <a:effectRef idx="0"/>
          <a:fontRef idx="minor"/>
        </p:style>
        <p:txBody>
          <a:bodyPr lIns="90000" tIns="45000" rIns="90000" bIns="45000" anchor="t">
            <a:noAutofit/>
          </a:bodyPr>
          <a:p>
            <a:pPr/>
            <a:endParaRPr lang="en-NG" sz="1800" b="0" u="none" strike="noStrike">
              <a:solidFill>
                <a:srgbClr val="FFFFFF"/>
              </a:solidFill>
              <a:effectLst/>
              <a:uFillTx/>
              <a:latin typeface="Arial"/>
            </a:endParaRPr>
          </a:p>
        </p:txBody>
      </p:sp>
      <p:sp>
        <p:nvSpPr>
          <p:cNvPr id="42" name="Text 20"/>
          <p:cNvSpPr/>
          <p:nvPr/>
        </p:nvSpPr>
        <p:spPr>
          <a:xfrm>
            <a:off x="6949440" y="1563480"/>
            <a:ext cx="4455360" cy="328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500" b="1" u="none" strike="noStrike">
                <a:solidFill>
                  <a:srgbClr val="E4B454"/>
                </a:solidFill>
                <a:effectLst/>
                <a:uFillTx/>
                <a:latin typeface="Calibri"/>
                <a:ea typeface="Calibri"/>
              </a:rPr>
              <a:t>What the system replaces</a:t>
            </a:r>
            <a:endParaRPr lang="en-NG" sz="1500" b="0" u="none" strike="noStrike">
              <a:solidFill>
                <a:srgbClr val="000000"/>
              </a:solidFill>
              <a:effectLst/>
              <a:uFillTx/>
              <a:latin typeface="Arial"/>
            </a:endParaRPr>
          </a:p>
        </p:txBody>
      </p:sp>
      <p:sp>
        <p:nvSpPr>
          <p:cNvPr id="43" name="Text 21"/>
          <p:cNvSpPr/>
          <p:nvPr/>
        </p:nvSpPr>
        <p:spPr>
          <a:xfrm>
            <a:off x="6949440" y="1938600"/>
            <a:ext cx="4480200" cy="2372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200" b="1" u="none" strike="noStrike">
                <a:solidFill>
                  <a:srgbClr val="9A8ECB"/>
                </a:solidFill>
                <a:effectLst/>
                <a:uFillTx/>
                <a:latin typeface="Calibri"/>
                <a:ea typeface="Calibri"/>
              </a:rPr>
              <a:t>Card catalogue</a:t>
            </a:r>
            <a:endParaRPr lang="en-NG" sz="1200" b="0" u="none" strike="noStrike">
              <a:solidFill>
                <a:srgbClr val="000000"/>
              </a:solidFill>
              <a:effectLst/>
              <a:uFillTx/>
              <a:latin typeface="Arial"/>
            </a:endParaRPr>
          </a:p>
        </p:txBody>
      </p:sp>
      <p:sp>
        <p:nvSpPr>
          <p:cNvPr id="44" name="Text 22"/>
          <p:cNvSpPr/>
          <p:nvPr/>
        </p:nvSpPr>
        <p:spPr>
          <a:xfrm>
            <a:off x="6949440" y="2167200"/>
            <a:ext cx="4480200" cy="383760"/>
          </a:xfrm>
          <a:prstGeom prst="rect">
            <a:avLst/>
          </a:prstGeom>
          <a:noFill/>
          <a:ln w="0">
            <a:noFill/>
          </a:ln>
        </p:spPr>
        <p:style>
          <a:lnRef idx="0"/>
          <a:fillRef idx="0"/>
          <a:effectRef idx="0"/>
          <a:fontRef idx="minor"/>
        </p:style>
        <p:txBody>
          <a:bodyPr lIns="0" tIns="0" rIns="0" bIns="0" anchor="ctr">
            <a:noAutofit/>
          </a:bodyPr>
          <a:p>
            <a:pPr>
              <a:lnSpc>
                <a:spcPts val="1599"/>
              </a:lnSpc>
              <a:tabLst>
                <a:tab pos="0" algn="l"/>
              </a:tabLst>
            </a:pPr>
            <a:r>
              <a:rPr lang="en-NG" sz="1250" b="0" u="none" strike="noStrike">
                <a:solidFill>
                  <a:srgbClr val="FFFFFF"/>
                </a:solidFill>
                <a:effectLst/>
                <a:uFillTx/>
                <a:latin typeface="Calibri"/>
                <a:ea typeface="Calibri"/>
              </a:rPr>
              <a:t>Full-text search over 223 titles</a:t>
            </a:r>
            <a:endParaRPr lang="en-NG" sz="1250" b="0" u="none" strike="noStrike">
              <a:solidFill>
                <a:srgbClr val="000000"/>
              </a:solidFill>
              <a:effectLst/>
              <a:uFillTx/>
              <a:latin typeface="Arial"/>
            </a:endParaRPr>
          </a:p>
        </p:txBody>
      </p:sp>
      <p:sp>
        <p:nvSpPr>
          <p:cNvPr id="45" name="Text 23"/>
          <p:cNvSpPr/>
          <p:nvPr/>
        </p:nvSpPr>
        <p:spPr>
          <a:xfrm>
            <a:off x="6949440" y="2670120"/>
            <a:ext cx="4480200" cy="2372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200" b="1" u="none" strike="noStrike">
                <a:solidFill>
                  <a:srgbClr val="9A8ECB"/>
                </a:solidFill>
                <a:effectLst/>
                <a:uFillTx/>
                <a:latin typeface="Calibri"/>
                <a:ea typeface="Calibri"/>
              </a:rPr>
              <a:t>Paper ledger</a:t>
            </a:r>
            <a:endParaRPr lang="en-NG" sz="1200" b="0" u="none" strike="noStrike">
              <a:solidFill>
                <a:srgbClr val="000000"/>
              </a:solidFill>
              <a:effectLst/>
              <a:uFillTx/>
              <a:latin typeface="Arial"/>
            </a:endParaRPr>
          </a:p>
        </p:txBody>
      </p:sp>
      <p:sp>
        <p:nvSpPr>
          <p:cNvPr id="46" name="Text 24"/>
          <p:cNvSpPr/>
          <p:nvPr/>
        </p:nvSpPr>
        <p:spPr>
          <a:xfrm>
            <a:off x="6949440" y="2898720"/>
            <a:ext cx="4480200" cy="383760"/>
          </a:xfrm>
          <a:prstGeom prst="rect">
            <a:avLst/>
          </a:prstGeom>
          <a:noFill/>
          <a:ln w="0">
            <a:noFill/>
          </a:ln>
        </p:spPr>
        <p:style>
          <a:lnRef idx="0"/>
          <a:fillRef idx="0"/>
          <a:effectRef idx="0"/>
          <a:fontRef idx="minor"/>
        </p:style>
        <p:txBody>
          <a:bodyPr lIns="0" tIns="0" rIns="0" bIns="0" anchor="ctr">
            <a:noAutofit/>
          </a:bodyPr>
          <a:p>
            <a:pPr>
              <a:lnSpc>
                <a:spcPts val="1599"/>
              </a:lnSpc>
              <a:tabLst>
                <a:tab pos="0" algn="l"/>
              </a:tabLst>
            </a:pPr>
            <a:r>
              <a:rPr lang="en-NG" sz="1250" b="0" u="none" strike="noStrike">
                <a:solidFill>
                  <a:srgbClr val="FFFFFF"/>
                </a:solidFill>
                <a:effectLst/>
                <a:uFillTx/>
                <a:latin typeface="Calibri"/>
                <a:ea typeface="Calibri"/>
              </a:rPr>
              <a:t>A loan row, timed to the second</a:t>
            </a:r>
            <a:endParaRPr lang="en-NG" sz="1250" b="0" u="none" strike="noStrike">
              <a:solidFill>
                <a:srgbClr val="000000"/>
              </a:solidFill>
              <a:effectLst/>
              <a:uFillTx/>
              <a:latin typeface="Arial"/>
            </a:endParaRPr>
          </a:p>
        </p:txBody>
      </p:sp>
      <p:sp>
        <p:nvSpPr>
          <p:cNvPr id="47" name="Text 25"/>
          <p:cNvSpPr/>
          <p:nvPr/>
        </p:nvSpPr>
        <p:spPr>
          <a:xfrm>
            <a:off x="6949440" y="3401640"/>
            <a:ext cx="4480200" cy="2372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200" b="1" u="none" strike="noStrike">
                <a:solidFill>
                  <a:srgbClr val="9A8ECB"/>
                </a:solidFill>
                <a:effectLst/>
                <a:uFillTx/>
                <a:latin typeface="Calibri"/>
                <a:ea typeface="Calibri"/>
              </a:rPr>
              <a:t>Shelf walk</a:t>
            </a:r>
            <a:endParaRPr lang="en-NG" sz="1200" b="0" u="none" strike="noStrike">
              <a:solidFill>
                <a:srgbClr val="000000"/>
              </a:solidFill>
              <a:effectLst/>
              <a:uFillTx/>
              <a:latin typeface="Arial"/>
            </a:endParaRPr>
          </a:p>
        </p:txBody>
      </p:sp>
      <p:sp>
        <p:nvSpPr>
          <p:cNvPr id="48" name="Text 26"/>
          <p:cNvSpPr/>
          <p:nvPr/>
        </p:nvSpPr>
        <p:spPr>
          <a:xfrm>
            <a:off x="6949440" y="3630240"/>
            <a:ext cx="4480200" cy="383760"/>
          </a:xfrm>
          <a:prstGeom prst="rect">
            <a:avLst/>
          </a:prstGeom>
          <a:noFill/>
          <a:ln w="0">
            <a:noFill/>
          </a:ln>
        </p:spPr>
        <p:style>
          <a:lnRef idx="0"/>
          <a:fillRef idx="0"/>
          <a:effectRef idx="0"/>
          <a:fontRef idx="minor"/>
        </p:style>
        <p:txBody>
          <a:bodyPr lIns="0" tIns="0" rIns="0" bIns="0" anchor="ctr">
            <a:noAutofit/>
          </a:bodyPr>
          <a:p>
            <a:pPr>
              <a:lnSpc>
                <a:spcPts val="1599"/>
              </a:lnSpc>
              <a:tabLst>
                <a:tab pos="0" algn="l"/>
              </a:tabLst>
            </a:pPr>
            <a:r>
              <a:rPr lang="en-NG" sz="1250" b="0" u="none" strike="noStrike">
                <a:solidFill>
                  <a:srgbClr val="FFFFFF"/>
                </a:solidFill>
                <a:effectLst/>
                <a:uFillTx/>
                <a:latin typeface="Calibri"/>
                <a:ea typeface="Calibri"/>
              </a:rPr>
              <a:t>Live availability before you leave your room</a:t>
            </a:r>
            <a:endParaRPr lang="en-NG" sz="1250" b="0" u="none" strike="noStrike">
              <a:solidFill>
                <a:srgbClr val="000000"/>
              </a:solidFill>
              <a:effectLst/>
              <a:uFillTx/>
              <a:latin typeface="Arial"/>
            </a:endParaRPr>
          </a:p>
        </p:txBody>
      </p:sp>
      <p:sp>
        <p:nvSpPr>
          <p:cNvPr id="49" name="Text 27"/>
          <p:cNvSpPr/>
          <p:nvPr/>
        </p:nvSpPr>
        <p:spPr>
          <a:xfrm>
            <a:off x="6949440" y="4133160"/>
            <a:ext cx="4480200" cy="2372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200" b="1" u="none" strike="noStrike">
                <a:solidFill>
                  <a:srgbClr val="9A8ECB"/>
                </a:solidFill>
                <a:effectLst/>
                <a:uFillTx/>
                <a:latin typeface="Calibri"/>
                <a:ea typeface="Calibri"/>
              </a:rPr>
              <a:t>Manual audit</a:t>
            </a:r>
            <a:endParaRPr lang="en-NG" sz="1200" b="0" u="none" strike="noStrike">
              <a:solidFill>
                <a:srgbClr val="000000"/>
              </a:solidFill>
              <a:effectLst/>
              <a:uFillTx/>
              <a:latin typeface="Arial"/>
            </a:endParaRPr>
          </a:p>
        </p:txBody>
      </p:sp>
      <p:sp>
        <p:nvSpPr>
          <p:cNvPr id="50" name="Text 28"/>
          <p:cNvSpPr/>
          <p:nvPr/>
        </p:nvSpPr>
        <p:spPr>
          <a:xfrm>
            <a:off x="6949440" y="4361760"/>
            <a:ext cx="4480200" cy="383760"/>
          </a:xfrm>
          <a:prstGeom prst="rect">
            <a:avLst/>
          </a:prstGeom>
          <a:noFill/>
          <a:ln w="0">
            <a:noFill/>
          </a:ln>
        </p:spPr>
        <p:style>
          <a:lnRef idx="0"/>
          <a:fillRef idx="0"/>
          <a:effectRef idx="0"/>
          <a:fontRef idx="minor"/>
        </p:style>
        <p:txBody>
          <a:bodyPr lIns="0" tIns="0" rIns="0" bIns="0" anchor="ctr">
            <a:noAutofit/>
          </a:bodyPr>
          <a:p>
            <a:pPr>
              <a:lnSpc>
                <a:spcPts val="1599"/>
              </a:lnSpc>
              <a:tabLst>
                <a:tab pos="0" algn="l"/>
              </a:tabLst>
            </a:pPr>
            <a:r>
              <a:rPr lang="en-NG" sz="1250" b="0" u="none" strike="noStrike">
                <a:solidFill>
                  <a:srgbClr val="FFFFFF"/>
                </a:solidFill>
                <a:effectLst/>
                <a:uFillTx/>
                <a:latin typeface="Calibri"/>
                <a:ea typeface="Calibri"/>
              </a:rPr>
              <a:t>Overdue computed from the clock</a:t>
            </a:r>
            <a:endParaRPr lang="en-NG" sz="1250" b="0" u="none" strike="noStrike">
              <a:solidFill>
                <a:srgbClr val="000000"/>
              </a:solidFill>
              <a:effectLst/>
              <a:uFillTx/>
              <a:latin typeface="Arial"/>
            </a:endParaRPr>
          </a:p>
        </p:txBody>
      </p:sp>
      <p:sp>
        <p:nvSpPr>
          <p:cNvPr id="51" name="Text 29"/>
          <p:cNvSpPr/>
          <p:nvPr/>
        </p:nvSpPr>
        <p:spPr>
          <a:xfrm>
            <a:off x="6949440" y="4864680"/>
            <a:ext cx="4480200" cy="2372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200" b="1" u="none" strike="noStrike">
                <a:solidFill>
                  <a:srgbClr val="9A8ECB"/>
                </a:solidFill>
                <a:effectLst/>
                <a:uFillTx/>
                <a:latin typeface="Calibri"/>
                <a:ea typeface="Calibri"/>
              </a:rPr>
              <a:t>Verbal reminder</a:t>
            </a:r>
            <a:endParaRPr lang="en-NG" sz="1200" b="0" u="none" strike="noStrike">
              <a:solidFill>
                <a:srgbClr val="000000"/>
              </a:solidFill>
              <a:effectLst/>
              <a:uFillTx/>
              <a:latin typeface="Arial"/>
            </a:endParaRPr>
          </a:p>
        </p:txBody>
      </p:sp>
      <p:sp>
        <p:nvSpPr>
          <p:cNvPr id="52" name="Text 30"/>
          <p:cNvSpPr/>
          <p:nvPr/>
        </p:nvSpPr>
        <p:spPr>
          <a:xfrm>
            <a:off x="6949440" y="5093280"/>
            <a:ext cx="4480200" cy="383760"/>
          </a:xfrm>
          <a:prstGeom prst="rect">
            <a:avLst/>
          </a:prstGeom>
          <a:noFill/>
          <a:ln w="0">
            <a:noFill/>
          </a:ln>
        </p:spPr>
        <p:style>
          <a:lnRef idx="0"/>
          <a:fillRef idx="0"/>
          <a:effectRef idx="0"/>
          <a:fontRef idx="minor"/>
        </p:style>
        <p:txBody>
          <a:bodyPr lIns="0" tIns="0" rIns="0" bIns="0" anchor="ctr">
            <a:noAutofit/>
          </a:bodyPr>
          <a:p>
            <a:pPr>
              <a:lnSpc>
                <a:spcPts val="1599"/>
              </a:lnSpc>
              <a:tabLst>
                <a:tab pos="0" algn="l"/>
              </a:tabLst>
            </a:pPr>
            <a:r>
              <a:rPr lang="en-NG" sz="1250" b="0" u="none" strike="noStrike">
                <a:solidFill>
                  <a:srgbClr val="FFFFFF"/>
                </a:solidFill>
                <a:effectLst/>
                <a:uFillTx/>
                <a:latin typeface="Calibri"/>
                <a:ea typeface="Calibri"/>
              </a:rPr>
              <a:t>Email and push sent automatically</a:t>
            </a:r>
            <a:endParaRPr lang="en-NG" sz="12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3" name="Text 0"/>
          <p:cNvSpPr/>
          <p:nvPr/>
        </p:nvSpPr>
        <p:spPr>
          <a:xfrm>
            <a:off x="567000" y="384120"/>
            <a:ext cx="8229240" cy="2372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100" b="1" u="none" spc="221" strike="noStrike">
                <a:solidFill>
                  <a:srgbClr val="E4B454"/>
                </a:solidFill>
                <a:effectLst/>
                <a:uFillTx/>
                <a:latin typeface="Calibri"/>
                <a:ea typeface="Calibri"/>
              </a:rPr>
              <a:t>WHAT WE BUILT</a:t>
            </a:r>
            <a:endParaRPr lang="en-NG" sz="1100" b="0" u="none" strike="noStrike">
              <a:solidFill>
                <a:srgbClr val="000000"/>
              </a:solidFill>
              <a:effectLst/>
              <a:uFillTx/>
              <a:latin typeface="Arial"/>
            </a:endParaRPr>
          </a:p>
        </p:txBody>
      </p:sp>
      <p:sp>
        <p:nvSpPr>
          <p:cNvPr id="54" name="Text 1"/>
          <p:cNvSpPr/>
          <p:nvPr/>
        </p:nvSpPr>
        <p:spPr>
          <a:xfrm>
            <a:off x="567000" y="640080"/>
            <a:ext cx="9692280" cy="5666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3000" b="1" u="none" strike="noStrike">
                <a:solidFill>
                  <a:srgbClr val="240C54"/>
                </a:solidFill>
                <a:effectLst/>
                <a:uFillTx/>
                <a:latin typeface="Cambria"/>
                <a:ea typeface="Cambria"/>
              </a:rPr>
              <a:t>A catalogue and a circulation desk</a:t>
            </a:r>
            <a:endParaRPr lang="en-NG" sz="3000" b="0" u="none" strike="noStrike">
              <a:solidFill>
                <a:srgbClr val="000000"/>
              </a:solidFill>
              <a:effectLst/>
              <a:uFillTx/>
              <a:latin typeface="Arial"/>
            </a:endParaRPr>
          </a:p>
        </p:txBody>
      </p:sp>
      <p:pic>
        <p:nvPicPr>
          <p:cNvPr id="55" name="Image 0"/>
          <p:cNvPicPr/>
          <p:nvPr/>
        </p:nvPicPr>
        <p:blipFill>
          <a:blip r:embed="rId1"/>
          <a:stretch/>
        </p:blipFill>
        <p:spPr>
          <a:xfrm>
            <a:off x="11149200" y="365760"/>
            <a:ext cx="475200" cy="465840"/>
          </a:xfrm>
          <a:prstGeom prst="rect">
            <a:avLst/>
          </a:prstGeom>
          <a:noFill/>
          <a:ln w="0">
            <a:noFill/>
          </a:ln>
        </p:spPr>
      </p:pic>
      <p:sp>
        <p:nvSpPr>
          <p:cNvPr id="56" name="Text 2"/>
          <p:cNvSpPr/>
          <p:nvPr/>
        </p:nvSpPr>
        <p:spPr>
          <a:xfrm>
            <a:off x="11149200" y="6382440"/>
            <a:ext cx="475200" cy="219240"/>
          </a:xfrm>
          <a:prstGeom prst="rect">
            <a:avLst/>
          </a:prstGeom>
          <a:noFill/>
          <a:ln w="0">
            <a:noFill/>
          </a:ln>
        </p:spPr>
        <p:style>
          <a:lnRef idx="0"/>
          <a:fillRef idx="0"/>
          <a:effectRef idx="0"/>
          <a:fontRef idx="minor"/>
        </p:style>
        <p:txBody>
          <a:bodyPr lIns="0" tIns="0" rIns="0" bIns="0" anchor="ctr">
            <a:noAutofit/>
          </a:bodyPr>
          <a:p>
            <a:pPr algn="r">
              <a:lnSpc>
                <a:spcPct val="100000"/>
              </a:lnSpc>
              <a:tabLst>
                <a:tab pos="0" algn="l"/>
              </a:tabLst>
            </a:pPr>
            <a:r>
              <a:rPr lang="en-NG" sz="1000" b="0" u="none" strike="noStrike">
                <a:solidFill>
                  <a:srgbClr val="5B5B6B"/>
                </a:solidFill>
                <a:effectLst/>
                <a:uFillTx/>
                <a:latin typeface="Calibri"/>
                <a:ea typeface="Calibri"/>
              </a:rPr>
              <a:t>3</a:t>
            </a:r>
            <a:endParaRPr lang="en-NG" sz="1000" b="0" u="none" strike="noStrike">
              <a:solidFill>
                <a:srgbClr val="000000"/>
              </a:solidFill>
              <a:effectLst/>
              <a:uFillTx/>
              <a:latin typeface="Arial"/>
            </a:endParaRPr>
          </a:p>
        </p:txBody>
      </p:sp>
      <p:sp>
        <p:nvSpPr>
          <p:cNvPr id="57" name="Text 3"/>
          <p:cNvSpPr/>
          <p:nvPr/>
        </p:nvSpPr>
        <p:spPr>
          <a:xfrm>
            <a:off x="567000" y="1371600"/>
            <a:ext cx="10058040" cy="475200"/>
          </a:xfrm>
          <a:prstGeom prst="rect">
            <a:avLst/>
          </a:prstGeom>
          <a:noFill/>
          <a:ln w="0">
            <a:noFill/>
          </a:ln>
        </p:spPr>
        <p:style>
          <a:lnRef idx="0"/>
          <a:fillRef idx="0"/>
          <a:effectRef idx="0"/>
          <a:fontRef idx="minor"/>
        </p:style>
        <p:txBody>
          <a:bodyPr lIns="0" tIns="0" rIns="0" bIns="0" anchor="ctr">
            <a:noAutofit/>
          </a:bodyPr>
          <a:p>
            <a:pPr>
              <a:lnSpc>
                <a:spcPts val="2001"/>
              </a:lnSpc>
              <a:tabLst>
                <a:tab pos="0" algn="l"/>
              </a:tabLst>
            </a:pPr>
            <a:r>
              <a:rPr lang="en-NG" sz="1400" b="0" u="none" strike="noStrike">
                <a:solidFill>
                  <a:srgbClr val="1A1A2E"/>
                </a:solidFill>
                <a:effectLst/>
                <a:uFillTx/>
                <a:latin typeface="Calibri"/>
                <a:ea typeface="Calibri"/>
              </a:rPr>
              <a:t>The system manages the physical collection. It never stores or serves book content: it tracks where each physical copy is and who is holding it.</a:t>
            </a:r>
            <a:endParaRPr lang="en-NG" sz="1400" b="0" u="none" strike="noStrike">
              <a:solidFill>
                <a:srgbClr val="000000"/>
              </a:solidFill>
              <a:effectLst/>
              <a:uFillTx/>
              <a:latin typeface="Arial"/>
            </a:endParaRPr>
          </a:p>
        </p:txBody>
      </p:sp>
      <p:sp>
        <p:nvSpPr>
          <p:cNvPr id="58" name="Shape 4"/>
          <p:cNvSpPr/>
          <p:nvPr/>
        </p:nvSpPr>
        <p:spPr>
          <a:xfrm>
            <a:off x="567000" y="2030040"/>
            <a:ext cx="3520080" cy="1755360"/>
          </a:xfrm>
          <a:prstGeom prst="roundRect">
            <a:avLst>
              <a:gd name="adj" fmla="val 3646"/>
            </a:avLst>
          </a:prstGeom>
          <a:solidFill>
            <a:srgbClr val="F4F5F9"/>
          </a:solidFill>
          <a:ln w="9525">
            <a:solidFill>
              <a:srgbClr val="D8DAE5"/>
            </a:solidFill>
            <a:round/>
          </a:ln>
          <a:effectLst>
            <a:outerShdw algn="bl" blurRad="127080" dir="5400000" dist="25560" kx="0" ky="0" rotWithShape="0" sx="100000" sy="100000">
              <a:srgbClr val="9098B0">
                <a:alpha val="22000"/>
              </a:srgbClr>
            </a:outerShdw>
          </a:effectLst>
        </p:spPr>
        <p:style>
          <a:lnRef idx="0"/>
          <a:fillRef idx="0"/>
          <a:effectRef idx="0"/>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59" name="Shape 5"/>
          <p:cNvSpPr/>
          <p:nvPr/>
        </p:nvSpPr>
        <p:spPr>
          <a:xfrm>
            <a:off x="768240" y="2212920"/>
            <a:ext cx="310680" cy="310680"/>
          </a:xfrm>
          <a:prstGeom prst="ellipse">
            <a:avLst/>
          </a:prstGeom>
          <a:solidFill>
            <a:srgbClr val="240C54"/>
          </a:solidFill>
          <a:ln w="12700">
            <a:solidFill>
              <a:srgbClr val="240C54"/>
            </a:solidFill>
            <a:round/>
          </a:ln>
        </p:spPr>
        <p:style>
          <a:lnRef idx="0"/>
          <a:fillRef idx="0"/>
          <a:effectRef idx="0"/>
          <a:fontRef idx="minor"/>
        </p:style>
        <p:txBody>
          <a:bodyPr lIns="90000" tIns="45000" rIns="90000" bIns="45000" anchor="t">
            <a:noAutofit/>
          </a:bodyPr>
          <a:p>
            <a:pPr/>
            <a:endParaRPr lang="en-NG" sz="1800" b="0" u="none" strike="noStrike">
              <a:solidFill>
                <a:srgbClr val="FFFFFF"/>
              </a:solidFill>
              <a:effectLst/>
              <a:uFillTx/>
              <a:latin typeface="Arial"/>
            </a:endParaRPr>
          </a:p>
        </p:txBody>
      </p:sp>
      <p:sp>
        <p:nvSpPr>
          <p:cNvPr id="60" name="Text 6"/>
          <p:cNvSpPr/>
          <p:nvPr/>
        </p:nvSpPr>
        <p:spPr>
          <a:xfrm>
            <a:off x="768240" y="2212920"/>
            <a:ext cx="310680" cy="31068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NG" sz="1300" b="1" u="none" strike="noStrike">
                <a:solidFill>
                  <a:srgbClr val="E4B454"/>
                </a:solidFill>
                <a:effectLst/>
                <a:uFillTx/>
                <a:latin typeface="Calibri"/>
                <a:ea typeface="Calibri"/>
              </a:rPr>
              <a:t>1</a:t>
            </a:r>
            <a:endParaRPr lang="en-NG" sz="1300" b="0" u="none" strike="noStrike">
              <a:solidFill>
                <a:srgbClr val="000000"/>
              </a:solidFill>
              <a:effectLst/>
              <a:uFillTx/>
              <a:latin typeface="Arial"/>
            </a:endParaRPr>
          </a:p>
        </p:txBody>
      </p:sp>
      <p:sp>
        <p:nvSpPr>
          <p:cNvPr id="61" name="Text 7"/>
          <p:cNvSpPr/>
          <p:nvPr/>
        </p:nvSpPr>
        <p:spPr>
          <a:xfrm>
            <a:off x="1170360" y="2203560"/>
            <a:ext cx="2697120" cy="328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500" b="1" u="none" strike="noStrike">
                <a:solidFill>
                  <a:srgbClr val="240C54"/>
                </a:solidFill>
                <a:effectLst/>
                <a:uFillTx/>
                <a:latin typeface="Calibri"/>
                <a:ea typeface="Calibri"/>
              </a:rPr>
              <a:t>Search the catalogue</a:t>
            </a:r>
            <a:endParaRPr lang="en-NG" sz="1500" b="0" u="none" strike="noStrike">
              <a:solidFill>
                <a:srgbClr val="000000"/>
              </a:solidFill>
              <a:effectLst/>
              <a:uFillTx/>
              <a:latin typeface="Arial"/>
            </a:endParaRPr>
          </a:p>
        </p:txBody>
      </p:sp>
      <p:sp>
        <p:nvSpPr>
          <p:cNvPr id="62" name="Text 8"/>
          <p:cNvSpPr/>
          <p:nvPr/>
        </p:nvSpPr>
        <p:spPr>
          <a:xfrm>
            <a:off x="786240" y="2597040"/>
            <a:ext cx="3081240" cy="1042200"/>
          </a:xfrm>
          <a:prstGeom prst="rect">
            <a:avLst/>
          </a:prstGeom>
          <a:noFill/>
          <a:ln w="0">
            <a:noFill/>
          </a:ln>
        </p:spPr>
        <p:style>
          <a:lnRef idx="0"/>
          <a:fillRef idx="0"/>
          <a:effectRef idx="0"/>
          <a:fontRef idx="minor"/>
        </p:style>
        <p:txBody>
          <a:bodyPr lIns="0" tIns="0" rIns="0" bIns="0" anchor="t">
            <a:noAutofit/>
          </a:bodyPr>
          <a:p>
            <a:pPr>
              <a:lnSpc>
                <a:spcPts val="1650"/>
              </a:lnSpc>
              <a:tabLst>
                <a:tab pos="0" algn="l"/>
              </a:tabLst>
            </a:pPr>
            <a:r>
              <a:rPr lang="en-NG" sz="1200" b="0" u="none" strike="noStrike">
                <a:solidFill>
                  <a:srgbClr val="1A1A2E"/>
                </a:solidFill>
                <a:effectLst/>
                <a:uFillTx/>
                <a:latin typeface="Calibri"/>
                <a:ea typeface="Calibri"/>
              </a:rPr>
              <a:t>Title, author, ISBN and subject, with typo tolerance. Open to the public, no login.</a:t>
            </a:r>
            <a:endParaRPr lang="en-NG" sz="1200" b="0" u="none" strike="noStrike">
              <a:solidFill>
                <a:srgbClr val="000000"/>
              </a:solidFill>
              <a:effectLst/>
              <a:uFillTx/>
              <a:latin typeface="Arial"/>
            </a:endParaRPr>
          </a:p>
        </p:txBody>
      </p:sp>
      <p:sp>
        <p:nvSpPr>
          <p:cNvPr id="63" name="Shape 9"/>
          <p:cNvSpPr/>
          <p:nvPr/>
        </p:nvSpPr>
        <p:spPr>
          <a:xfrm>
            <a:off x="4306680" y="2030040"/>
            <a:ext cx="3520080" cy="1755360"/>
          </a:xfrm>
          <a:prstGeom prst="roundRect">
            <a:avLst>
              <a:gd name="adj" fmla="val 3646"/>
            </a:avLst>
          </a:prstGeom>
          <a:solidFill>
            <a:srgbClr val="F4F5F9"/>
          </a:solidFill>
          <a:ln w="9525">
            <a:solidFill>
              <a:srgbClr val="D8DAE5"/>
            </a:solidFill>
            <a:round/>
          </a:ln>
          <a:effectLst>
            <a:outerShdw algn="bl" blurRad="127080" dir="5400000" dist="25560" kx="0" ky="0" rotWithShape="0" sx="100000" sy="100000">
              <a:srgbClr val="9098B0">
                <a:alpha val="22000"/>
              </a:srgbClr>
            </a:outerShdw>
          </a:effectLst>
        </p:spPr>
        <p:style>
          <a:lnRef idx="0"/>
          <a:fillRef idx="0"/>
          <a:effectRef idx="0"/>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64" name="Shape 10"/>
          <p:cNvSpPr/>
          <p:nvPr/>
        </p:nvSpPr>
        <p:spPr>
          <a:xfrm>
            <a:off x="4507920" y="2212920"/>
            <a:ext cx="310680" cy="310680"/>
          </a:xfrm>
          <a:prstGeom prst="ellipse">
            <a:avLst/>
          </a:prstGeom>
          <a:solidFill>
            <a:srgbClr val="240C54"/>
          </a:solidFill>
          <a:ln w="12700">
            <a:solidFill>
              <a:srgbClr val="240C54"/>
            </a:solidFill>
            <a:round/>
          </a:ln>
        </p:spPr>
        <p:style>
          <a:lnRef idx="0"/>
          <a:fillRef idx="0"/>
          <a:effectRef idx="0"/>
          <a:fontRef idx="minor"/>
        </p:style>
        <p:txBody>
          <a:bodyPr lIns="90000" tIns="45000" rIns="90000" bIns="45000" anchor="t">
            <a:noAutofit/>
          </a:bodyPr>
          <a:p>
            <a:pPr/>
            <a:endParaRPr lang="en-NG" sz="1800" b="0" u="none" strike="noStrike">
              <a:solidFill>
                <a:srgbClr val="FFFFFF"/>
              </a:solidFill>
              <a:effectLst/>
              <a:uFillTx/>
              <a:latin typeface="Arial"/>
            </a:endParaRPr>
          </a:p>
        </p:txBody>
      </p:sp>
      <p:sp>
        <p:nvSpPr>
          <p:cNvPr id="65" name="Text 11"/>
          <p:cNvSpPr/>
          <p:nvPr/>
        </p:nvSpPr>
        <p:spPr>
          <a:xfrm>
            <a:off x="4507920" y="2212920"/>
            <a:ext cx="310680" cy="31068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NG" sz="1300" b="1" u="none" strike="noStrike">
                <a:solidFill>
                  <a:srgbClr val="E4B454"/>
                </a:solidFill>
                <a:effectLst/>
                <a:uFillTx/>
                <a:latin typeface="Calibri"/>
                <a:ea typeface="Calibri"/>
              </a:rPr>
              <a:t>2</a:t>
            </a:r>
            <a:endParaRPr lang="en-NG" sz="1300" b="0" u="none" strike="noStrike">
              <a:solidFill>
                <a:srgbClr val="000000"/>
              </a:solidFill>
              <a:effectLst/>
              <a:uFillTx/>
              <a:latin typeface="Arial"/>
            </a:endParaRPr>
          </a:p>
        </p:txBody>
      </p:sp>
      <p:sp>
        <p:nvSpPr>
          <p:cNvPr id="66" name="Text 12"/>
          <p:cNvSpPr/>
          <p:nvPr/>
        </p:nvSpPr>
        <p:spPr>
          <a:xfrm>
            <a:off x="4910400" y="2203560"/>
            <a:ext cx="2697120" cy="328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500" b="1" u="none" strike="noStrike">
                <a:solidFill>
                  <a:srgbClr val="240C54"/>
                </a:solidFill>
                <a:effectLst/>
                <a:uFillTx/>
                <a:latin typeface="Calibri"/>
                <a:ea typeface="Calibri"/>
              </a:rPr>
              <a:t>Borrow and return</a:t>
            </a:r>
            <a:endParaRPr lang="en-NG" sz="1500" b="0" u="none" strike="noStrike">
              <a:solidFill>
                <a:srgbClr val="000000"/>
              </a:solidFill>
              <a:effectLst/>
              <a:uFillTx/>
              <a:latin typeface="Arial"/>
            </a:endParaRPr>
          </a:p>
        </p:txBody>
      </p:sp>
      <p:sp>
        <p:nvSpPr>
          <p:cNvPr id="67" name="Text 13"/>
          <p:cNvSpPr/>
          <p:nvPr/>
        </p:nvSpPr>
        <p:spPr>
          <a:xfrm>
            <a:off x="4526280" y="2597040"/>
            <a:ext cx="3081240" cy="1042200"/>
          </a:xfrm>
          <a:prstGeom prst="rect">
            <a:avLst/>
          </a:prstGeom>
          <a:noFill/>
          <a:ln w="0">
            <a:noFill/>
          </a:ln>
        </p:spPr>
        <p:style>
          <a:lnRef idx="0"/>
          <a:fillRef idx="0"/>
          <a:effectRef idx="0"/>
          <a:fontRef idx="minor"/>
        </p:style>
        <p:txBody>
          <a:bodyPr lIns="0" tIns="0" rIns="0" bIns="0" anchor="t">
            <a:noAutofit/>
          </a:bodyPr>
          <a:p>
            <a:pPr>
              <a:lnSpc>
                <a:spcPts val="1650"/>
              </a:lnSpc>
              <a:tabLst>
                <a:tab pos="0" algn="l"/>
              </a:tabLst>
            </a:pPr>
            <a:r>
              <a:rPr lang="en-NG" sz="1200" b="0" u="none" strike="noStrike">
                <a:solidFill>
                  <a:srgbClr val="1A1A2E"/>
                </a:solidFill>
                <a:effectLst/>
                <a:uFillTx/>
                <a:latin typeface="Calibri"/>
                <a:ea typeface="Calibri"/>
              </a:rPr>
              <a:t>A librarian issues a copy at the desk. Limits and loan periods follow the member category.</a:t>
            </a:r>
            <a:endParaRPr lang="en-NG" sz="1200" b="0" u="none" strike="noStrike">
              <a:solidFill>
                <a:srgbClr val="000000"/>
              </a:solidFill>
              <a:effectLst/>
              <a:uFillTx/>
              <a:latin typeface="Arial"/>
            </a:endParaRPr>
          </a:p>
        </p:txBody>
      </p:sp>
      <p:sp>
        <p:nvSpPr>
          <p:cNvPr id="68" name="Shape 14"/>
          <p:cNvSpPr/>
          <p:nvPr/>
        </p:nvSpPr>
        <p:spPr>
          <a:xfrm>
            <a:off x="8046720" y="2030040"/>
            <a:ext cx="3520080" cy="1755360"/>
          </a:xfrm>
          <a:prstGeom prst="roundRect">
            <a:avLst>
              <a:gd name="adj" fmla="val 3646"/>
            </a:avLst>
          </a:prstGeom>
          <a:solidFill>
            <a:srgbClr val="F4F5F9"/>
          </a:solidFill>
          <a:ln w="9525">
            <a:solidFill>
              <a:srgbClr val="D8DAE5"/>
            </a:solidFill>
            <a:round/>
          </a:ln>
          <a:effectLst>
            <a:outerShdw algn="bl" blurRad="127080" dir="5400000" dist="25560" kx="0" ky="0" rotWithShape="0" sx="100000" sy="100000">
              <a:srgbClr val="9098B0">
                <a:alpha val="22000"/>
              </a:srgbClr>
            </a:outerShdw>
          </a:effectLst>
        </p:spPr>
        <p:style>
          <a:lnRef idx="0"/>
          <a:fillRef idx="0"/>
          <a:effectRef idx="0"/>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69" name="Shape 15"/>
          <p:cNvSpPr/>
          <p:nvPr/>
        </p:nvSpPr>
        <p:spPr>
          <a:xfrm>
            <a:off x="8247960" y="2212920"/>
            <a:ext cx="310680" cy="310680"/>
          </a:xfrm>
          <a:prstGeom prst="ellipse">
            <a:avLst/>
          </a:prstGeom>
          <a:solidFill>
            <a:srgbClr val="240C54"/>
          </a:solidFill>
          <a:ln w="12700">
            <a:solidFill>
              <a:srgbClr val="240C54"/>
            </a:solidFill>
            <a:round/>
          </a:ln>
        </p:spPr>
        <p:style>
          <a:lnRef idx="0"/>
          <a:fillRef idx="0"/>
          <a:effectRef idx="0"/>
          <a:fontRef idx="minor"/>
        </p:style>
        <p:txBody>
          <a:bodyPr lIns="90000" tIns="45000" rIns="90000" bIns="45000" anchor="t">
            <a:noAutofit/>
          </a:bodyPr>
          <a:p>
            <a:pPr/>
            <a:endParaRPr lang="en-NG" sz="1800" b="0" u="none" strike="noStrike">
              <a:solidFill>
                <a:srgbClr val="FFFFFF"/>
              </a:solidFill>
              <a:effectLst/>
              <a:uFillTx/>
              <a:latin typeface="Arial"/>
            </a:endParaRPr>
          </a:p>
        </p:txBody>
      </p:sp>
      <p:sp>
        <p:nvSpPr>
          <p:cNvPr id="70" name="Text 16"/>
          <p:cNvSpPr/>
          <p:nvPr/>
        </p:nvSpPr>
        <p:spPr>
          <a:xfrm>
            <a:off x="8247960" y="2212920"/>
            <a:ext cx="310680" cy="31068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NG" sz="1300" b="1" u="none" strike="noStrike">
                <a:solidFill>
                  <a:srgbClr val="E4B454"/>
                </a:solidFill>
                <a:effectLst/>
                <a:uFillTx/>
                <a:latin typeface="Calibri"/>
                <a:ea typeface="Calibri"/>
              </a:rPr>
              <a:t>3</a:t>
            </a:r>
            <a:endParaRPr lang="en-NG" sz="1300" b="0" u="none" strike="noStrike">
              <a:solidFill>
                <a:srgbClr val="000000"/>
              </a:solidFill>
              <a:effectLst/>
              <a:uFillTx/>
              <a:latin typeface="Arial"/>
            </a:endParaRPr>
          </a:p>
        </p:txBody>
      </p:sp>
      <p:sp>
        <p:nvSpPr>
          <p:cNvPr id="71" name="Text 17"/>
          <p:cNvSpPr/>
          <p:nvPr/>
        </p:nvSpPr>
        <p:spPr>
          <a:xfrm>
            <a:off x="8650080" y="2203560"/>
            <a:ext cx="2697120" cy="328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500" b="1" u="none" strike="noStrike">
                <a:solidFill>
                  <a:srgbClr val="240C54"/>
                </a:solidFill>
                <a:effectLst/>
                <a:uFillTx/>
                <a:latin typeface="Calibri"/>
                <a:ea typeface="Calibri"/>
              </a:rPr>
              <a:t>Reserve a title</a:t>
            </a:r>
            <a:endParaRPr lang="en-NG" sz="1500" b="0" u="none" strike="noStrike">
              <a:solidFill>
                <a:srgbClr val="000000"/>
              </a:solidFill>
              <a:effectLst/>
              <a:uFillTx/>
              <a:latin typeface="Arial"/>
            </a:endParaRPr>
          </a:p>
        </p:txBody>
      </p:sp>
      <p:sp>
        <p:nvSpPr>
          <p:cNvPr id="72" name="Text 18"/>
          <p:cNvSpPr/>
          <p:nvPr/>
        </p:nvSpPr>
        <p:spPr>
          <a:xfrm>
            <a:off x="8266320" y="2597040"/>
            <a:ext cx="3081240" cy="1042200"/>
          </a:xfrm>
          <a:prstGeom prst="rect">
            <a:avLst/>
          </a:prstGeom>
          <a:noFill/>
          <a:ln w="0">
            <a:noFill/>
          </a:ln>
        </p:spPr>
        <p:style>
          <a:lnRef idx="0"/>
          <a:fillRef idx="0"/>
          <a:effectRef idx="0"/>
          <a:fontRef idx="minor"/>
        </p:style>
        <p:txBody>
          <a:bodyPr lIns="0" tIns="0" rIns="0" bIns="0" anchor="t">
            <a:noAutofit/>
          </a:bodyPr>
          <a:p>
            <a:pPr>
              <a:lnSpc>
                <a:spcPts val="1650"/>
              </a:lnSpc>
              <a:tabLst>
                <a:tab pos="0" algn="l"/>
              </a:tabLst>
            </a:pPr>
            <a:r>
              <a:rPr lang="en-NG" sz="1200" b="0" u="none" strike="noStrike">
                <a:solidFill>
                  <a:srgbClr val="1A1A2E"/>
                </a:solidFill>
                <a:effectLst/>
                <a:uFillTx/>
                <a:latin typeface="Calibri"/>
                <a:ea typeface="Calibri"/>
              </a:rPr>
              <a:t>When every copy is out, a member joins a queue and is told when one comes back.</a:t>
            </a:r>
            <a:endParaRPr lang="en-NG" sz="1200" b="0" u="none" strike="noStrike">
              <a:solidFill>
                <a:srgbClr val="000000"/>
              </a:solidFill>
              <a:effectLst/>
              <a:uFillTx/>
              <a:latin typeface="Arial"/>
            </a:endParaRPr>
          </a:p>
        </p:txBody>
      </p:sp>
      <p:sp>
        <p:nvSpPr>
          <p:cNvPr id="73" name="Shape 19"/>
          <p:cNvSpPr/>
          <p:nvPr/>
        </p:nvSpPr>
        <p:spPr>
          <a:xfrm>
            <a:off x="567000" y="3950280"/>
            <a:ext cx="3520080" cy="1755360"/>
          </a:xfrm>
          <a:prstGeom prst="roundRect">
            <a:avLst>
              <a:gd name="adj" fmla="val 3646"/>
            </a:avLst>
          </a:prstGeom>
          <a:solidFill>
            <a:srgbClr val="F4F5F9"/>
          </a:solidFill>
          <a:ln w="9525">
            <a:solidFill>
              <a:srgbClr val="D8DAE5"/>
            </a:solidFill>
            <a:round/>
          </a:ln>
          <a:effectLst>
            <a:outerShdw algn="bl" blurRad="127080" dir="5400000" dist="25560" kx="0" ky="0" rotWithShape="0" sx="100000" sy="100000">
              <a:srgbClr val="9098B0">
                <a:alpha val="22000"/>
              </a:srgbClr>
            </a:outerShdw>
          </a:effectLst>
        </p:spPr>
        <p:style>
          <a:lnRef idx="0"/>
          <a:fillRef idx="0"/>
          <a:effectRef idx="0"/>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74" name="Shape 20"/>
          <p:cNvSpPr/>
          <p:nvPr/>
        </p:nvSpPr>
        <p:spPr>
          <a:xfrm>
            <a:off x="768240" y="4133160"/>
            <a:ext cx="310680" cy="310680"/>
          </a:xfrm>
          <a:prstGeom prst="ellipse">
            <a:avLst/>
          </a:prstGeom>
          <a:solidFill>
            <a:srgbClr val="240C54"/>
          </a:solidFill>
          <a:ln w="12700">
            <a:solidFill>
              <a:srgbClr val="240C54"/>
            </a:solidFill>
            <a:round/>
          </a:ln>
        </p:spPr>
        <p:style>
          <a:lnRef idx="0"/>
          <a:fillRef idx="0"/>
          <a:effectRef idx="0"/>
          <a:fontRef idx="minor"/>
        </p:style>
        <p:txBody>
          <a:bodyPr lIns="90000" tIns="45000" rIns="90000" bIns="45000" anchor="t">
            <a:noAutofit/>
          </a:bodyPr>
          <a:p>
            <a:pPr/>
            <a:endParaRPr lang="en-NG" sz="1800" b="0" u="none" strike="noStrike">
              <a:solidFill>
                <a:srgbClr val="FFFFFF"/>
              </a:solidFill>
              <a:effectLst/>
              <a:uFillTx/>
              <a:latin typeface="Arial"/>
            </a:endParaRPr>
          </a:p>
        </p:txBody>
      </p:sp>
      <p:sp>
        <p:nvSpPr>
          <p:cNvPr id="75" name="Text 21"/>
          <p:cNvSpPr/>
          <p:nvPr/>
        </p:nvSpPr>
        <p:spPr>
          <a:xfrm>
            <a:off x="768240" y="4133160"/>
            <a:ext cx="310680" cy="31068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NG" sz="1300" b="1" u="none" strike="noStrike">
                <a:solidFill>
                  <a:srgbClr val="E4B454"/>
                </a:solidFill>
                <a:effectLst/>
                <a:uFillTx/>
                <a:latin typeface="Calibri"/>
                <a:ea typeface="Calibri"/>
              </a:rPr>
              <a:t>4</a:t>
            </a:r>
            <a:endParaRPr lang="en-NG" sz="1300" b="0" u="none" strike="noStrike">
              <a:solidFill>
                <a:srgbClr val="000000"/>
              </a:solidFill>
              <a:effectLst/>
              <a:uFillTx/>
              <a:latin typeface="Arial"/>
            </a:endParaRPr>
          </a:p>
        </p:txBody>
      </p:sp>
      <p:sp>
        <p:nvSpPr>
          <p:cNvPr id="76" name="Text 22"/>
          <p:cNvSpPr/>
          <p:nvPr/>
        </p:nvSpPr>
        <p:spPr>
          <a:xfrm>
            <a:off x="1170360" y="4123800"/>
            <a:ext cx="2697120" cy="328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500" b="1" u="none" strike="noStrike">
                <a:solidFill>
                  <a:srgbClr val="240C54"/>
                </a:solidFill>
                <a:effectLst/>
                <a:uFillTx/>
                <a:latin typeface="Calibri"/>
                <a:ea typeface="Calibri"/>
              </a:rPr>
              <a:t>Save a title</a:t>
            </a:r>
            <a:endParaRPr lang="en-NG" sz="1500" b="0" u="none" strike="noStrike">
              <a:solidFill>
                <a:srgbClr val="000000"/>
              </a:solidFill>
              <a:effectLst/>
              <a:uFillTx/>
              <a:latin typeface="Arial"/>
            </a:endParaRPr>
          </a:p>
        </p:txBody>
      </p:sp>
      <p:sp>
        <p:nvSpPr>
          <p:cNvPr id="77" name="Text 23"/>
          <p:cNvSpPr/>
          <p:nvPr/>
        </p:nvSpPr>
        <p:spPr>
          <a:xfrm>
            <a:off x="786240" y="4517280"/>
            <a:ext cx="3081240" cy="1042200"/>
          </a:xfrm>
          <a:prstGeom prst="rect">
            <a:avLst/>
          </a:prstGeom>
          <a:noFill/>
          <a:ln w="0">
            <a:noFill/>
          </a:ln>
        </p:spPr>
        <p:style>
          <a:lnRef idx="0"/>
          <a:fillRef idx="0"/>
          <a:effectRef idx="0"/>
          <a:fontRef idx="minor"/>
        </p:style>
        <p:txBody>
          <a:bodyPr lIns="0" tIns="0" rIns="0" bIns="0" anchor="t">
            <a:noAutofit/>
          </a:bodyPr>
          <a:p>
            <a:pPr>
              <a:lnSpc>
                <a:spcPts val="1650"/>
              </a:lnSpc>
              <a:tabLst>
                <a:tab pos="0" algn="l"/>
              </a:tabLst>
            </a:pPr>
            <a:r>
              <a:rPr lang="en-NG" sz="1200" b="0" u="none" strike="noStrike">
                <a:solidFill>
                  <a:srgbClr val="1A1A2E"/>
                </a:solidFill>
                <a:effectLst/>
                <a:uFillTx/>
                <a:latin typeface="Calibri"/>
                <a:ea typeface="Calibri"/>
              </a:rPr>
              <a:t>A private reading list. It reserves nothing and only the member can see it.</a:t>
            </a:r>
            <a:endParaRPr lang="en-NG" sz="1200" b="0" u="none" strike="noStrike">
              <a:solidFill>
                <a:srgbClr val="000000"/>
              </a:solidFill>
              <a:effectLst/>
              <a:uFillTx/>
              <a:latin typeface="Arial"/>
            </a:endParaRPr>
          </a:p>
        </p:txBody>
      </p:sp>
      <p:sp>
        <p:nvSpPr>
          <p:cNvPr id="78" name="Shape 24"/>
          <p:cNvSpPr/>
          <p:nvPr/>
        </p:nvSpPr>
        <p:spPr>
          <a:xfrm>
            <a:off x="4306680" y="3950280"/>
            <a:ext cx="3520080" cy="1755360"/>
          </a:xfrm>
          <a:prstGeom prst="roundRect">
            <a:avLst>
              <a:gd name="adj" fmla="val 3646"/>
            </a:avLst>
          </a:prstGeom>
          <a:solidFill>
            <a:srgbClr val="F4F5F9"/>
          </a:solidFill>
          <a:ln w="9525">
            <a:solidFill>
              <a:srgbClr val="D8DAE5"/>
            </a:solidFill>
            <a:round/>
          </a:ln>
          <a:effectLst>
            <a:outerShdw algn="bl" blurRad="127080" dir="5400000" dist="25560" kx="0" ky="0" rotWithShape="0" sx="100000" sy="100000">
              <a:srgbClr val="9098B0">
                <a:alpha val="22000"/>
              </a:srgbClr>
            </a:outerShdw>
          </a:effectLst>
        </p:spPr>
        <p:style>
          <a:lnRef idx="0"/>
          <a:fillRef idx="0"/>
          <a:effectRef idx="0"/>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79" name="Shape 25"/>
          <p:cNvSpPr/>
          <p:nvPr/>
        </p:nvSpPr>
        <p:spPr>
          <a:xfrm>
            <a:off x="4507920" y="4133160"/>
            <a:ext cx="310680" cy="310680"/>
          </a:xfrm>
          <a:prstGeom prst="ellipse">
            <a:avLst/>
          </a:prstGeom>
          <a:solidFill>
            <a:srgbClr val="240C54"/>
          </a:solidFill>
          <a:ln w="12700">
            <a:solidFill>
              <a:srgbClr val="240C54"/>
            </a:solidFill>
            <a:round/>
          </a:ln>
        </p:spPr>
        <p:style>
          <a:lnRef idx="0"/>
          <a:fillRef idx="0"/>
          <a:effectRef idx="0"/>
          <a:fontRef idx="minor"/>
        </p:style>
        <p:txBody>
          <a:bodyPr lIns="90000" tIns="45000" rIns="90000" bIns="45000" anchor="t">
            <a:noAutofit/>
          </a:bodyPr>
          <a:p>
            <a:pPr/>
            <a:endParaRPr lang="en-NG" sz="1800" b="0" u="none" strike="noStrike">
              <a:solidFill>
                <a:srgbClr val="FFFFFF"/>
              </a:solidFill>
              <a:effectLst/>
              <a:uFillTx/>
              <a:latin typeface="Arial"/>
            </a:endParaRPr>
          </a:p>
        </p:txBody>
      </p:sp>
      <p:sp>
        <p:nvSpPr>
          <p:cNvPr id="80" name="Text 26"/>
          <p:cNvSpPr/>
          <p:nvPr/>
        </p:nvSpPr>
        <p:spPr>
          <a:xfrm>
            <a:off x="4507920" y="4133160"/>
            <a:ext cx="310680" cy="31068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NG" sz="1300" b="1" u="none" strike="noStrike">
                <a:solidFill>
                  <a:srgbClr val="E4B454"/>
                </a:solidFill>
                <a:effectLst/>
                <a:uFillTx/>
                <a:latin typeface="Calibri"/>
                <a:ea typeface="Calibri"/>
              </a:rPr>
              <a:t>5</a:t>
            </a:r>
            <a:endParaRPr lang="en-NG" sz="1300" b="0" u="none" strike="noStrike">
              <a:solidFill>
                <a:srgbClr val="000000"/>
              </a:solidFill>
              <a:effectLst/>
              <a:uFillTx/>
              <a:latin typeface="Arial"/>
            </a:endParaRPr>
          </a:p>
        </p:txBody>
      </p:sp>
      <p:sp>
        <p:nvSpPr>
          <p:cNvPr id="81" name="Text 27"/>
          <p:cNvSpPr/>
          <p:nvPr/>
        </p:nvSpPr>
        <p:spPr>
          <a:xfrm>
            <a:off x="4910400" y="4123800"/>
            <a:ext cx="2697120" cy="328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500" b="1" u="none" strike="noStrike">
                <a:solidFill>
                  <a:srgbClr val="240C54"/>
                </a:solidFill>
                <a:effectLst/>
                <a:uFillTx/>
                <a:latin typeface="Calibri"/>
                <a:ea typeface="Calibri"/>
              </a:rPr>
              <a:t>Members and roles</a:t>
            </a:r>
            <a:endParaRPr lang="en-NG" sz="1500" b="0" u="none" strike="noStrike">
              <a:solidFill>
                <a:srgbClr val="000000"/>
              </a:solidFill>
              <a:effectLst/>
              <a:uFillTx/>
              <a:latin typeface="Arial"/>
            </a:endParaRPr>
          </a:p>
        </p:txBody>
      </p:sp>
      <p:sp>
        <p:nvSpPr>
          <p:cNvPr id="82" name="Text 28"/>
          <p:cNvSpPr/>
          <p:nvPr/>
        </p:nvSpPr>
        <p:spPr>
          <a:xfrm>
            <a:off x="4526280" y="4517280"/>
            <a:ext cx="3081240" cy="1042200"/>
          </a:xfrm>
          <a:prstGeom prst="rect">
            <a:avLst/>
          </a:prstGeom>
          <a:noFill/>
          <a:ln w="0">
            <a:noFill/>
          </a:ln>
        </p:spPr>
        <p:style>
          <a:lnRef idx="0"/>
          <a:fillRef idx="0"/>
          <a:effectRef idx="0"/>
          <a:fontRef idx="minor"/>
        </p:style>
        <p:txBody>
          <a:bodyPr lIns="0" tIns="0" rIns="0" bIns="0" anchor="t">
            <a:noAutofit/>
          </a:bodyPr>
          <a:p>
            <a:pPr>
              <a:lnSpc>
                <a:spcPts val="1650"/>
              </a:lnSpc>
              <a:tabLst>
                <a:tab pos="0" algn="l"/>
              </a:tabLst>
            </a:pPr>
            <a:r>
              <a:rPr lang="en-NG" sz="1200" b="0" u="none" strike="noStrike">
                <a:solidFill>
                  <a:srgbClr val="1A1A2E"/>
                </a:solidFill>
                <a:effectLst/>
                <a:uFillTx/>
                <a:latin typeface="Calibri"/>
                <a:ea typeface="Calibri"/>
              </a:rPr>
              <a:t>Member, librarian and administrator. Every permission is re-checked on the server.</a:t>
            </a:r>
            <a:endParaRPr lang="en-NG" sz="1200" b="0" u="none" strike="noStrike">
              <a:solidFill>
                <a:srgbClr val="000000"/>
              </a:solidFill>
              <a:effectLst/>
              <a:uFillTx/>
              <a:latin typeface="Arial"/>
            </a:endParaRPr>
          </a:p>
        </p:txBody>
      </p:sp>
      <p:sp>
        <p:nvSpPr>
          <p:cNvPr id="83" name="Shape 29"/>
          <p:cNvSpPr/>
          <p:nvPr/>
        </p:nvSpPr>
        <p:spPr>
          <a:xfrm>
            <a:off x="8046720" y="3950280"/>
            <a:ext cx="3520080" cy="1755360"/>
          </a:xfrm>
          <a:prstGeom prst="roundRect">
            <a:avLst>
              <a:gd name="adj" fmla="val 3646"/>
            </a:avLst>
          </a:prstGeom>
          <a:solidFill>
            <a:srgbClr val="F4F5F9"/>
          </a:solidFill>
          <a:ln w="9525">
            <a:solidFill>
              <a:srgbClr val="D8DAE5"/>
            </a:solidFill>
            <a:round/>
          </a:ln>
          <a:effectLst>
            <a:outerShdw algn="bl" blurRad="127080" dir="5400000" dist="25560" kx="0" ky="0" rotWithShape="0" sx="100000" sy="100000">
              <a:srgbClr val="9098B0">
                <a:alpha val="22000"/>
              </a:srgbClr>
            </a:outerShdw>
          </a:effectLst>
        </p:spPr>
        <p:style>
          <a:lnRef idx="0"/>
          <a:fillRef idx="0"/>
          <a:effectRef idx="0"/>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84" name="Shape 30"/>
          <p:cNvSpPr/>
          <p:nvPr/>
        </p:nvSpPr>
        <p:spPr>
          <a:xfrm>
            <a:off x="8247960" y="4133160"/>
            <a:ext cx="310680" cy="310680"/>
          </a:xfrm>
          <a:prstGeom prst="ellipse">
            <a:avLst/>
          </a:prstGeom>
          <a:solidFill>
            <a:srgbClr val="240C54"/>
          </a:solidFill>
          <a:ln w="12700">
            <a:solidFill>
              <a:srgbClr val="240C54"/>
            </a:solidFill>
            <a:round/>
          </a:ln>
        </p:spPr>
        <p:style>
          <a:lnRef idx="0"/>
          <a:fillRef idx="0"/>
          <a:effectRef idx="0"/>
          <a:fontRef idx="minor"/>
        </p:style>
        <p:txBody>
          <a:bodyPr lIns="90000" tIns="45000" rIns="90000" bIns="45000" anchor="t">
            <a:noAutofit/>
          </a:bodyPr>
          <a:p>
            <a:pPr/>
            <a:endParaRPr lang="en-NG" sz="1800" b="0" u="none" strike="noStrike">
              <a:solidFill>
                <a:srgbClr val="FFFFFF"/>
              </a:solidFill>
              <a:effectLst/>
              <a:uFillTx/>
              <a:latin typeface="Arial"/>
            </a:endParaRPr>
          </a:p>
        </p:txBody>
      </p:sp>
      <p:sp>
        <p:nvSpPr>
          <p:cNvPr id="85" name="Text 31"/>
          <p:cNvSpPr/>
          <p:nvPr/>
        </p:nvSpPr>
        <p:spPr>
          <a:xfrm>
            <a:off x="8247960" y="4133160"/>
            <a:ext cx="310680" cy="31068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NG" sz="1300" b="1" u="none" strike="noStrike">
                <a:solidFill>
                  <a:srgbClr val="E4B454"/>
                </a:solidFill>
                <a:effectLst/>
                <a:uFillTx/>
                <a:latin typeface="Calibri"/>
                <a:ea typeface="Calibri"/>
              </a:rPr>
              <a:t>6</a:t>
            </a:r>
            <a:endParaRPr lang="en-NG" sz="1300" b="0" u="none" strike="noStrike">
              <a:solidFill>
                <a:srgbClr val="000000"/>
              </a:solidFill>
              <a:effectLst/>
              <a:uFillTx/>
              <a:latin typeface="Arial"/>
            </a:endParaRPr>
          </a:p>
        </p:txBody>
      </p:sp>
      <p:sp>
        <p:nvSpPr>
          <p:cNvPr id="86" name="Text 32"/>
          <p:cNvSpPr/>
          <p:nvPr/>
        </p:nvSpPr>
        <p:spPr>
          <a:xfrm>
            <a:off x="8650080" y="4123800"/>
            <a:ext cx="2697120" cy="328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500" b="1" u="none" strike="noStrike">
                <a:solidFill>
                  <a:srgbClr val="240C54"/>
                </a:solidFill>
                <a:effectLst/>
                <a:uFillTx/>
                <a:latin typeface="Calibri"/>
                <a:ea typeface="Calibri"/>
              </a:rPr>
              <a:t>Notifications</a:t>
            </a:r>
            <a:endParaRPr lang="en-NG" sz="1500" b="0" u="none" strike="noStrike">
              <a:solidFill>
                <a:srgbClr val="000000"/>
              </a:solidFill>
              <a:effectLst/>
              <a:uFillTx/>
              <a:latin typeface="Arial"/>
            </a:endParaRPr>
          </a:p>
        </p:txBody>
      </p:sp>
      <p:sp>
        <p:nvSpPr>
          <p:cNvPr id="87" name="Text 33"/>
          <p:cNvSpPr/>
          <p:nvPr/>
        </p:nvSpPr>
        <p:spPr>
          <a:xfrm>
            <a:off x="8266320" y="4517280"/>
            <a:ext cx="3081240" cy="1042200"/>
          </a:xfrm>
          <a:prstGeom prst="rect">
            <a:avLst/>
          </a:prstGeom>
          <a:noFill/>
          <a:ln w="0">
            <a:noFill/>
          </a:ln>
        </p:spPr>
        <p:style>
          <a:lnRef idx="0"/>
          <a:fillRef idx="0"/>
          <a:effectRef idx="0"/>
          <a:fontRef idx="minor"/>
        </p:style>
        <p:txBody>
          <a:bodyPr lIns="0" tIns="0" rIns="0" bIns="0" anchor="t">
            <a:noAutofit/>
          </a:bodyPr>
          <a:p>
            <a:pPr>
              <a:lnSpc>
                <a:spcPts val="1650"/>
              </a:lnSpc>
              <a:tabLst>
                <a:tab pos="0" algn="l"/>
              </a:tabLst>
            </a:pPr>
            <a:r>
              <a:rPr lang="en-NG" sz="1200" b="0" u="none" strike="noStrike">
                <a:solidFill>
                  <a:srgbClr val="1A1A2E"/>
                </a:solidFill>
                <a:effectLst/>
                <a:uFillTx/>
                <a:latin typeface="Calibri"/>
                <a:ea typeface="Calibri"/>
              </a:rPr>
              <a:t>Due dates and reserve alerts by email and push, queued through an outbox.</a:t>
            </a:r>
            <a:endParaRPr lang="en-NG"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8" name="Text 0"/>
          <p:cNvSpPr/>
          <p:nvPr/>
        </p:nvSpPr>
        <p:spPr>
          <a:xfrm>
            <a:off x="567000" y="384120"/>
            <a:ext cx="8229240" cy="2372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100" b="1" u="none" spc="221" strike="noStrike">
                <a:solidFill>
                  <a:srgbClr val="E4B454"/>
                </a:solidFill>
                <a:effectLst/>
                <a:uFillTx/>
                <a:latin typeface="Calibri"/>
                <a:ea typeface="Calibri"/>
              </a:rPr>
              <a:t>THE STACK</a:t>
            </a:r>
            <a:endParaRPr lang="en-NG" sz="1100" b="0" u="none" strike="noStrike">
              <a:solidFill>
                <a:srgbClr val="000000"/>
              </a:solidFill>
              <a:effectLst/>
              <a:uFillTx/>
              <a:latin typeface="Arial"/>
            </a:endParaRPr>
          </a:p>
        </p:txBody>
      </p:sp>
      <p:sp>
        <p:nvSpPr>
          <p:cNvPr id="89" name="Text 1"/>
          <p:cNvSpPr/>
          <p:nvPr/>
        </p:nvSpPr>
        <p:spPr>
          <a:xfrm>
            <a:off x="567000" y="640080"/>
            <a:ext cx="9692280" cy="5666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3000" b="1" u="none" strike="noStrike">
                <a:solidFill>
                  <a:srgbClr val="240C54"/>
                </a:solidFill>
                <a:effectLst/>
                <a:uFillTx/>
                <a:latin typeface="Cambria"/>
                <a:ea typeface="Cambria"/>
              </a:rPr>
              <a:t>Every technology, and what each one is for</a:t>
            </a:r>
            <a:endParaRPr lang="en-NG" sz="3000" b="0" u="none" strike="noStrike">
              <a:solidFill>
                <a:srgbClr val="000000"/>
              </a:solidFill>
              <a:effectLst/>
              <a:uFillTx/>
              <a:latin typeface="Arial"/>
            </a:endParaRPr>
          </a:p>
        </p:txBody>
      </p:sp>
      <p:pic>
        <p:nvPicPr>
          <p:cNvPr id="90" name="Image 0"/>
          <p:cNvPicPr/>
          <p:nvPr/>
        </p:nvPicPr>
        <p:blipFill>
          <a:blip r:embed="rId1"/>
          <a:stretch/>
        </p:blipFill>
        <p:spPr>
          <a:xfrm>
            <a:off x="11149200" y="365760"/>
            <a:ext cx="475200" cy="465840"/>
          </a:xfrm>
          <a:prstGeom prst="rect">
            <a:avLst/>
          </a:prstGeom>
          <a:noFill/>
          <a:ln w="0">
            <a:noFill/>
          </a:ln>
        </p:spPr>
      </p:pic>
      <p:sp>
        <p:nvSpPr>
          <p:cNvPr id="91" name="Text 2"/>
          <p:cNvSpPr/>
          <p:nvPr/>
        </p:nvSpPr>
        <p:spPr>
          <a:xfrm>
            <a:off x="11149200" y="6382440"/>
            <a:ext cx="475200" cy="219240"/>
          </a:xfrm>
          <a:prstGeom prst="rect">
            <a:avLst/>
          </a:prstGeom>
          <a:noFill/>
          <a:ln w="0">
            <a:noFill/>
          </a:ln>
        </p:spPr>
        <p:style>
          <a:lnRef idx="0"/>
          <a:fillRef idx="0"/>
          <a:effectRef idx="0"/>
          <a:fontRef idx="minor"/>
        </p:style>
        <p:txBody>
          <a:bodyPr lIns="0" tIns="0" rIns="0" bIns="0" anchor="ctr">
            <a:noAutofit/>
          </a:bodyPr>
          <a:p>
            <a:pPr algn="r">
              <a:lnSpc>
                <a:spcPct val="100000"/>
              </a:lnSpc>
              <a:tabLst>
                <a:tab pos="0" algn="l"/>
              </a:tabLst>
            </a:pPr>
            <a:r>
              <a:rPr lang="en-NG" sz="1000" b="0" u="none" strike="noStrike">
                <a:solidFill>
                  <a:srgbClr val="5B5B6B"/>
                </a:solidFill>
                <a:effectLst/>
                <a:uFillTx/>
                <a:latin typeface="Calibri"/>
                <a:ea typeface="Calibri"/>
              </a:rPr>
              <a:t>4</a:t>
            </a:r>
            <a:endParaRPr lang="en-NG" sz="1000" b="0" u="none" strike="noStrike">
              <a:solidFill>
                <a:srgbClr val="000000"/>
              </a:solidFill>
              <a:effectLst/>
              <a:uFillTx/>
              <a:latin typeface="Arial"/>
            </a:endParaRPr>
          </a:p>
        </p:txBody>
      </p:sp>
      <p:sp>
        <p:nvSpPr>
          <p:cNvPr id="92" name="Shape 3"/>
          <p:cNvSpPr/>
          <p:nvPr/>
        </p:nvSpPr>
        <p:spPr>
          <a:xfrm>
            <a:off x="567000" y="1316880"/>
            <a:ext cx="3474360" cy="4278960"/>
          </a:xfrm>
          <a:prstGeom prst="roundRect">
            <a:avLst>
              <a:gd name="adj" fmla="val 1842"/>
            </a:avLst>
          </a:prstGeom>
          <a:solidFill>
            <a:srgbClr val="F4F5F9"/>
          </a:solidFill>
          <a:ln w="9525">
            <a:solidFill>
              <a:srgbClr val="D8DAE5"/>
            </a:solidFill>
            <a:round/>
          </a:ln>
          <a:effectLst>
            <a:outerShdw algn="bl" blurRad="127080" dir="5400000" dist="25560" kx="0" ky="0" rotWithShape="0" sx="100000" sy="100000">
              <a:srgbClr val="9098B0">
                <a:alpha val="22000"/>
              </a:srgbClr>
            </a:outerShdw>
          </a:effectLst>
        </p:spPr>
        <p:style>
          <a:lnRef idx="0"/>
          <a:fillRef idx="0"/>
          <a:effectRef idx="0"/>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93" name="Text 4"/>
          <p:cNvSpPr/>
          <p:nvPr/>
        </p:nvSpPr>
        <p:spPr>
          <a:xfrm>
            <a:off x="786240" y="1490400"/>
            <a:ext cx="3035520" cy="328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500" b="1" u="none" strike="noStrike">
                <a:solidFill>
                  <a:srgbClr val="240C54"/>
                </a:solidFill>
                <a:effectLst/>
                <a:uFillTx/>
                <a:latin typeface="Calibri"/>
                <a:ea typeface="Calibri"/>
              </a:rPr>
              <a:t>Back end</a:t>
            </a:r>
            <a:endParaRPr lang="en-NG" sz="1500" b="0" u="none" strike="noStrike">
              <a:solidFill>
                <a:srgbClr val="000000"/>
              </a:solidFill>
              <a:effectLst/>
              <a:uFillTx/>
              <a:latin typeface="Arial"/>
            </a:endParaRPr>
          </a:p>
        </p:txBody>
      </p:sp>
      <p:sp>
        <p:nvSpPr>
          <p:cNvPr id="94" name="Text 5"/>
          <p:cNvSpPr/>
          <p:nvPr/>
        </p:nvSpPr>
        <p:spPr>
          <a:xfrm>
            <a:off x="786240" y="1828800"/>
            <a:ext cx="3035520" cy="182520"/>
          </a:xfrm>
          <a:prstGeom prst="rect">
            <a:avLst/>
          </a:prstGeom>
          <a:noFill/>
          <a:ln w="0">
            <a:noFill/>
          </a:ln>
        </p:spPr>
        <p:style>
          <a:lnRef idx="0"/>
          <a:fillRef idx="0"/>
          <a:effectRef idx="0"/>
          <a:fontRef idx="minor"/>
        </p:style>
        <p:txBody>
          <a:bodyPr lIns="0" tIns="0" rIns="0" bIns="0" anchor="t">
            <a:noAutofit/>
          </a:bodyPr>
          <a:p>
            <a:pPr>
              <a:lnSpc>
                <a:spcPct val="100000"/>
              </a:lnSpc>
              <a:tabLst>
                <a:tab pos="0" algn="l"/>
              </a:tabLst>
            </a:pPr>
            <a:r>
              <a:rPr lang="en-NG" sz="1100" b="1" u="none" strike="noStrike">
                <a:solidFill>
                  <a:srgbClr val="240C54"/>
                </a:solidFill>
                <a:effectLst/>
                <a:uFillTx/>
                <a:latin typeface="Calibri"/>
                <a:ea typeface="Calibri"/>
              </a:rPr>
              <a:t>Go 1.27</a:t>
            </a:r>
            <a:endParaRPr lang="en-NG" sz="1100" b="0" u="none" strike="noStrike">
              <a:solidFill>
                <a:srgbClr val="000000"/>
              </a:solidFill>
              <a:effectLst/>
              <a:uFillTx/>
              <a:latin typeface="Arial"/>
            </a:endParaRPr>
          </a:p>
        </p:txBody>
      </p:sp>
      <p:sp>
        <p:nvSpPr>
          <p:cNvPr id="95" name="Text 6"/>
          <p:cNvSpPr/>
          <p:nvPr/>
        </p:nvSpPr>
        <p:spPr>
          <a:xfrm>
            <a:off x="786240" y="2002680"/>
            <a:ext cx="3035520" cy="417240"/>
          </a:xfrm>
          <a:prstGeom prst="rect">
            <a:avLst/>
          </a:prstGeom>
          <a:noFill/>
          <a:ln w="0">
            <a:noFill/>
          </a:ln>
        </p:spPr>
        <p:style>
          <a:lnRef idx="0"/>
          <a:fillRef idx="0"/>
          <a:effectRef idx="0"/>
          <a:fontRef idx="minor"/>
        </p:style>
        <p:txBody>
          <a:bodyPr lIns="0" tIns="0" rIns="0" bIns="0" anchor="t">
            <a:noAutofit/>
          </a:bodyPr>
          <a:p>
            <a:pPr>
              <a:lnSpc>
                <a:spcPts val="1151"/>
              </a:lnSpc>
              <a:tabLst>
                <a:tab pos="0" algn="l"/>
              </a:tabLst>
            </a:pPr>
            <a:r>
              <a:rPr lang="en-NG" sz="950" b="0" u="none" strike="noStrike">
                <a:solidFill>
                  <a:srgbClr val="1A1A2E"/>
                </a:solidFill>
                <a:effectLst/>
                <a:uFillTx/>
                <a:latin typeface="Calibri"/>
                <a:ea typeface="Calibri"/>
              </a:rPr>
              <a:t>One static binary. Concurrency is in the language, which borrowing needs.</a:t>
            </a:r>
            <a:endParaRPr lang="en-NG" sz="950" b="0" u="none" strike="noStrike">
              <a:solidFill>
                <a:srgbClr val="000000"/>
              </a:solidFill>
              <a:effectLst/>
              <a:uFillTx/>
              <a:latin typeface="Arial"/>
            </a:endParaRPr>
          </a:p>
        </p:txBody>
      </p:sp>
      <p:sp>
        <p:nvSpPr>
          <p:cNvPr id="96" name="Text 7"/>
          <p:cNvSpPr/>
          <p:nvPr/>
        </p:nvSpPr>
        <p:spPr>
          <a:xfrm>
            <a:off x="786240" y="2447640"/>
            <a:ext cx="3035520" cy="182520"/>
          </a:xfrm>
          <a:prstGeom prst="rect">
            <a:avLst/>
          </a:prstGeom>
          <a:noFill/>
          <a:ln w="0">
            <a:noFill/>
          </a:ln>
        </p:spPr>
        <p:style>
          <a:lnRef idx="0"/>
          <a:fillRef idx="0"/>
          <a:effectRef idx="0"/>
          <a:fontRef idx="minor"/>
        </p:style>
        <p:txBody>
          <a:bodyPr lIns="0" tIns="0" rIns="0" bIns="0" anchor="t">
            <a:noAutofit/>
          </a:bodyPr>
          <a:p>
            <a:pPr>
              <a:lnSpc>
                <a:spcPct val="100000"/>
              </a:lnSpc>
              <a:tabLst>
                <a:tab pos="0" algn="l"/>
              </a:tabLst>
            </a:pPr>
            <a:r>
              <a:rPr lang="en-NG" sz="1100" b="1" u="none" strike="noStrike">
                <a:solidFill>
                  <a:srgbClr val="240C54"/>
                </a:solidFill>
                <a:effectLst/>
                <a:uFillTx/>
                <a:latin typeface="Calibri"/>
                <a:ea typeface="Calibri"/>
              </a:rPr>
              <a:t>PostgreSQL</a:t>
            </a:r>
            <a:endParaRPr lang="en-NG" sz="1100" b="0" u="none" strike="noStrike">
              <a:solidFill>
                <a:srgbClr val="000000"/>
              </a:solidFill>
              <a:effectLst/>
              <a:uFillTx/>
              <a:latin typeface="Arial"/>
            </a:endParaRPr>
          </a:p>
        </p:txBody>
      </p:sp>
      <p:sp>
        <p:nvSpPr>
          <p:cNvPr id="97" name="Text 8"/>
          <p:cNvSpPr/>
          <p:nvPr/>
        </p:nvSpPr>
        <p:spPr>
          <a:xfrm>
            <a:off x="786240" y="2621160"/>
            <a:ext cx="3035520" cy="417240"/>
          </a:xfrm>
          <a:prstGeom prst="rect">
            <a:avLst/>
          </a:prstGeom>
          <a:noFill/>
          <a:ln w="0">
            <a:noFill/>
          </a:ln>
        </p:spPr>
        <p:style>
          <a:lnRef idx="0"/>
          <a:fillRef idx="0"/>
          <a:effectRef idx="0"/>
          <a:fontRef idx="minor"/>
        </p:style>
        <p:txBody>
          <a:bodyPr lIns="0" tIns="0" rIns="0" bIns="0" anchor="t">
            <a:noAutofit/>
          </a:bodyPr>
          <a:p>
            <a:pPr>
              <a:lnSpc>
                <a:spcPts val="1151"/>
              </a:lnSpc>
              <a:tabLst>
                <a:tab pos="0" algn="l"/>
              </a:tabLst>
            </a:pPr>
            <a:r>
              <a:rPr lang="en-NG" sz="950" b="0" u="none" strike="noStrike">
                <a:solidFill>
                  <a:srgbClr val="1A1A2E"/>
                </a:solidFill>
                <a:effectLst/>
                <a:uFillTx/>
                <a:latin typeface="Calibri"/>
                <a:ea typeface="Calibri"/>
              </a:rPr>
              <a:t>Row locks and transactions. A loan's correctness depends on them.</a:t>
            </a:r>
            <a:endParaRPr lang="en-NG" sz="950" b="0" u="none" strike="noStrike">
              <a:solidFill>
                <a:srgbClr val="000000"/>
              </a:solidFill>
              <a:effectLst/>
              <a:uFillTx/>
              <a:latin typeface="Arial"/>
            </a:endParaRPr>
          </a:p>
        </p:txBody>
      </p:sp>
      <p:sp>
        <p:nvSpPr>
          <p:cNvPr id="98" name="Text 9"/>
          <p:cNvSpPr/>
          <p:nvPr/>
        </p:nvSpPr>
        <p:spPr>
          <a:xfrm>
            <a:off x="786240" y="3066120"/>
            <a:ext cx="3035520" cy="182520"/>
          </a:xfrm>
          <a:prstGeom prst="rect">
            <a:avLst/>
          </a:prstGeom>
          <a:noFill/>
          <a:ln w="0">
            <a:noFill/>
          </a:ln>
        </p:spPr>
        <p:style>
          <a:lnRef idx="0"/>
          <a:fillRef idx="0"/>
          <a:effectRef idx="0"/>
          <a:fontRef idx="minor"/>
        </p:style>
        <p:txBody>
          <a:bodyPr lIns="0" tIns="0" rIns="0" bIns="0" anchor="t">
            <a:noAutofit/>
          </a:bodyPr>
          <a:p>
            <a:pPr>
              <a:lnSpc>
                <a:spcPct val="100000"/>
              </a:lnSpc>
              <a:tabLst>
                <a:tab pos="0" algn="l"/>
              </a:tabLst>
            </a:pPr>
            <a:r>
              <a:rPr lang="en-NG" sz="1100" b="1" u="none" strike="noStrike">
                <a:solidFill>
                  <a:srgbClr val="240C54"/>
                </a:solidFill>
                <a:effectLst/>
                <a:uFillTx/>
                <a:latin typeface="Calibri"/>
                <a:ea typeface="Calibri"/>
              </a:rPr>
              <a:t>pgx</a:t>
            </a:r>
            <a:endParaRPr lang="en-NG" sz="1100" b="0" u="none" strike="noStrike">
              <a:solidFill>
                <a:srgbClr val="000000"/>
              </a:solidFill>
              <a:effectLst/>
              <a:uFillTx/>
              <a:latin typeface="Arial"/>
            </a:endParaRPr>
          </a:p>
        </p:txBody>
      </p:sp>
      <p:sp>
        <p:nvSpPr>
          <p:cNvPr id="99" name="Text 10"/>
          <p:cNvSpPr/>
          <p:nvPr/>
        </p:nvSpPr>
        <p:spPr>
          <a:xfrm>
            <a:off x="786240" y="3240000"/>
            <a:ext cx="3035520" cy="417240"/>
          </a:xfrm>
          <a:prstGeom prst="rect">
            <a:avLst/>
          </a:prstGeom>
          <a:noFill/>
          <a:ln w="0">
            <a:noFill/>
          </a:ln>
        </p:spPr>
        <p:style>
          <a:lnRef idx="0"/>
          <a:fillRef idx="0"/>
          <a:effectRef idx="0"/>
          <a:fontRef idx="minor"/>
        </p:style>
        <p:txBody>
          <a:bodyPr lIns="0" tIns="0" rIns="0" bIns="0" anchor="t">
            <a:noAutofit/>
          </a:bodyPr>
          <a:p>
            <a:pPr>
              <a:lnSpc>
                <a:spcPts val="1151"/>
              </a:lnSpc>
              <a:tabLst>
                <a:tab pos="0" algn="l"/>
              </a:tabLst>
            </a:pPr>
            <a:r>
              <a:rPr lang="en-NG" sz="950" b="0" u="none" strike="noStrike">
                <a:solidFill>
                  <a:srgbClr val="1A1A2E"/>
                </a:solidFill>
                <a:effectLst/>
                <a:uFillTx/>
                <a:latin typeface="Calibri"/>
                <a:ea typeface="Calibri"/>
              </a:rPr>
              <a:t>Postgres driver and connection pool.</a:t>
            </a:r>
            <a:endParaRPr lang="en-NG" sz="950" b="0" u="none" strike="noStrike">
              <a:solidFill>
                <a:srgbClr val="000000"/>
              </a:solidFill>
              <a:effectLst/>
              <a:uFillTx/>
              <a:latin typeface="Arial"/>
            </a:endParaRPr>
          </a:p>
        </p:txBody>
      </p:sp>
      <p:sp>
        <p:nvSpPr>
          <p:cNvPr id="100" name="Text 11"/>
          <p:cNvSpPr/>
          <p:nvPr/>
        </p:nvSpPr>
        <p:spPr>
          <a:xfrm>
            <a:off x="786240" y="3684960"/>
            <a:ext cx="3035520" cy="182520"/>
          </a:xfrm>
          <a:prstGeom prst="rect">
            <a:avLst/>
          </a:prstGeom>
          <a:noFill/>
          <a:ln w="0">
            <a:noFill/>
          </a:ln>
        </p:spPr>
        <p:style>
          <a:lnRef idx="0"/>
          <a:fillRef idx="0"/>
          <a:effectRef idx="0"/>
          <a:fontRef idx="minor"/>
        </p:style>
        <p:txBody>
          <a:bodyPr lIns="0" tIns="0" rIns="0" bIns="0" anchor="t">
            <a:noAutofit/>
          </a:bodyPr>
          <a:p>
            <a:pPr>
              <a:lnSpc>
                <a:spcPct val="100000"/>
              </a:lnSpc>
              <a:tabLst>
                <a:tab pos="0" algn="l"/>
              </a:tabLst>
            </a:pPr>
            <a:r>
              <a:rPr lang="en-NG" sz="1100" b="1" u="none" strike="noStrike">
                <a:solidFill>
                  <a:srgbClr val="240C54"/>
                </a:solidFill>
                <a:effectLst/>
                <a:uFillTx/>
                <a:latin typeface="Calibri"/>
                <a:ea typeface="Calibri"/>
              </a:rPr>
              <a:t>Redis</a:t>
            </a:r>
            <a:endParaRPr lang="en-NG" sz="1100" b="0" u="none" strike="noStrike">
              <a:solidFill>
                <a:srgbClr val="000000"/>
              </a:solidFill>
              <a:effectLst/>
              <a:uFillTx/>
              <a:latin typeface="Arial"/>
            </a:endParaRPr>
          </a:p>
        </p:txBody>
      </p:sp>
      <p:sp>
        <p:nvSpPr>
          <p:cNvPr id="101" name="Text 12"/>
          <p:cNvSpPr/>
          <p:nvPr/>
        </p:nvSpPr>
        <p:spPr>
          <a:xfrm>
            <a:off x="786240" y="3858840"/>
            <a:ext cx="3035520" cy="417240"/>
          </a:xfrm>
          <a:prstGeom prst="rect">
            <a:avLst/>
          </a:prstGeom>
          <a:noFill/>
          <a:ln w="0">
            <a:noFill/>
          </a:ln>
        </p:spPr>
        <p:style>
          <a:lnRef idx="0"/>
          <a:fillRef idx="0"/>
          <a:effectRef idx="0"/>
          <a:fontRef idx="minor"/>
        </p:style>
        <p:txBody>
          <a:bodyPr lIns="0" tIns="0" rIns="0" bIns="0" anchor="t">
            <a:noAutofit/>
          </a:bodyPr>
          <a:p>
            <a:pPr>
              <a:lnSpc>
                <a:spcPts val="1151"/>
              </a:lnSpc>
              <a:tabLst>
                <a:tab pos="0" algn="l"/>
              </a:tabLst>
            </a:pPr>
            <a:r>
              <a:rPr lang="en-NG" sz="950" b="0" u="none" strike="noStrike">
                <a:solidFill>
                  <a:srgbClr val="1A1A2E"/>
                </a:solidFill>
                <a:effectLst/>
                <a:uFillTx/>
                <a:latin typeface="Calibri"/>
                <a:ea typeface="Calibri"/>
              </a:rPr>
              <a:t>Rate-limit counters only. A cache, never a store of record.</a:t>
            </a:r>
            <a:endParaRPr lang="en-NG" sz="950" b="0" u="none" strike="noStrike">
              <a:solidFill>
                <a:srgbClr val="000000"/>
              </a:solidFill>
              <a:effectLst/>
              <a:uFillTx/>
              <a:latin typeface="Arial"/>
            </a:endParaRPr>
          </a:p>
        </p:txBody>
      </p:sp>
      <p:sp>
        <p:nvSpPr>
          <p:cNvPr id="102" name="Text 13"/>
          <p:cNvSpPr/>
          <p:nvPr/>
        </p:nvSpPr>
        <p:spPr>
          <a:xfrm>
            <a:off x="786240" y="4303800"/>
            <a:ext cx="3035520" cy="182520"/>
          </a:xfrm>
          <a:prstGeom prst="rect">
            <a:avLst/>
          </a:prstGeom>
          <a:noFill/>
          <a:ln w="0">
            <a:noFill/>
          </a:ln>
        </p:spPr>
        <p:style>
          <a:lnRef idx="0"/>
          <a:fillRef idx="0"/>
          <a:effectRef idx="0"/>
          <a:fontRef idx="minor"/>
        </p:style>
        <p:txBody>
          <a:bodyPr lIns="0" tIns="0" rIns="0" bIns="0" anchor="t">
            <a:noAutofit/>
          </a:bodyPr>
          <a:p>
            <a:pPr>
              <a:lnSpc>
                <a:spcPct val="100000"/>
              </a:lnSpc>
              <a:tabLst>
                <a:tab pos="0" algn="l"/>
              </a:tabLst>
            </a:pPr>
            <a:r>
              <a:rPr lang="en-NG" sz="1100" b="1" u="none" strike="noStrike">
                <a:solidFill>
                  <a:srgbClr val="240C54"/>
                </a:solidFill>
                <a:effectLst/>
                <a:uFillTx/>
                <a:latin typeface="Calibri"/>
                <a:ea typeface="Calibri"/>
              </a:rPr>
              <a:t>Argon2id</a:t>
            </a:r>
            <a:endParaRPr lang="en-NG" sz="1100" b="0" u="none" strike="noStrike">
              <a:solidFill>
                <a:srgbClr val="000000"/>
              </a:solidFill>
              <a:effectLst/>
              <a:uFillTx/>
              <a:latin typeface="Arial"/>
            </a:endParaRPr>
          </a:p>
        </p:txBody>
      </p:sp>
      <p:sp>
        <p:nvSpPr>
          <p:cNvPr id="103" name="Text 14"/>
          <p:cNvSpPr/>
          <p:nvPr/>
        </p:nvSpPr>
        <p:spPr>
          <a:xfrm>
            <a:off x="786240" y="4477680"/>
            <a:ext cx="3035520" cy="417240"/>
          </a:xfrm>
          <a:prstGeom prst="rect">
            <a:avLst/>
          </a:prstGeom>
          <a:noFill/>
          <a:ln w="0">
            <a:noFill/>
          </a:ln>
        </p:spPr>
        <p:style>
          <a:lnRef idx="0"/>
          <a:fillRef idx="0"/>
          <a:effectRef idx="0"/>
          <a:fontRef idx="minor"/>
        </p:style>
        <p:txBody>
          <a:bodyPr lIns="0" tIns="0" rIns="0" bIns="0" anchor="t">
            <a:noAutofit/>
          </a:bodyPr>
          <a:p>
            <a:pPr>
              <a:lnSpc>
                <a:spcPts val="1151"/>
              </a:lnSpc>
              <a:tabLst>
                <a:tab pos="0" algn="l"/>
              </a:tabLst>
            </a:pPr>
            <a:r>
              <a:rPr lang="en-NG" sz="950" b="0" u="none" strike="noStrike">
                <a:solidFill>
                  <a:srgbClr val="1A1A2E"/>
                </a:solidFill>
                <a:effectLst/>
                <a:uFillTx/>
                <a:latin typeface="Calibri"/>
                <a:ea typeface="Calibri"/>
              </a:rPr>
              <a:t>Password hashing, memory-hard at 64 MB.</a:t>
            </a:r>
            <a:endParaRPr lang="en-NG" sz="950" b="0" u="none" strike="noStrike">
              <a:solidFill>
                <a:srgbClr val="000000"/>
              </a:solidFill>
              <a:effectLst/>
              <a:uFillTx/>
              <a:latin typeface="Arial"/>
            </a:endParaRPr>
          </a:p>
        </p:txBody>
      </p:sp>
      <p:sp>
        <p:nvSpPr>
          <p:cNvPr id="104" name="Text 15"/>
          <p:cNvSpPr/>
          <p:nvPr/>
        </p:nvSpPr>
        <p:spPr>
          <a:xfrm>
            <a:off x="786240" y="4922640"/>
            <a:ext cx="3035520" cy="182520"/>
          </a:xfrm>
          <a:prstGeom prst="rect">
            <a:avLst/>
          </a:prstGeom>
          <a:noFill/>
          <a:ln w="0">
            <a:noFill/>
          </a:ln>
        </p:spPr>
        <p:style>
          <a:lnRef idx="0"/>
          <a:fillRef idx="0"/>
          <a:effectRef idx="0"/>
          <a:fontRef idx="minor"/>
        </p:style>
        <p:txBody>
          <a:bodyPr lIns="0" tIns="0" rIns="0" bIns="0" anchor="t">
            <a:noAutofit/>
          </a:bodyPr>
          <a:p>
            <a:pPr>
              <a:lnSpc>
                <a:spcPct val="100000"/>
              </a:lnSpc>
              <a:tabLst>
                <a:tab pos="0" algn="l"/>
              </a:tabLst>
            </a:pPr>
            <a:r>
              <a:rPr lang="en-NG" sz="1100" b="1" u="none" strike="noStrike">
                <a:solidFill>
                  <a:srgbClr val="240C54"/>
                </a:solidFill>
                <a:effectLst/>
                <a:uFillTx/>
                <a:latin typeface="Calibri"/>
                <a:ea typeface="Calibri"/>
              </a:rPr>
              <a:t>JWT HS256</a:t>
            </a:r>
            <a:endParaRPr lang="en-NG" sz="1100" b="0" u="none" strike="noStrike">
              <a:solidFill>
                <a:srgbClr val="000000"/>
              </a:solidFill>
              <a:effectLst/>
              <a:uFillTx/>
              <a:latin typeface="Arial"/>
            </a:endParaRPr>
          </a:p>
        </p:txBody>
      </p:sp>
      <p:sp>
        <p:nvSpPr>
          <p:cNvPr id="105" name="Text 16"/>
          <p:cNvSpPr/>
          <p:nvPr/>
        </p:nvSpPr>
        <p:spPr>
          <a:xfrm>
            <a:off x="786240" y="5096160"/>
            <a:ext cx="3035520" cy="417240"/>
          </a:xfrm>
          <a:prstGeom prst="rect">
            <a:avLst/>
          </a:prstGeom>
          <a:noFill/>
          <a:ln w="0">
            <a:noFill/>
          </a:ln>
        </p:spPr>
        <p:style>
          <a:lnRef idx="0"/>
          <a:fillRef idx="0"/>
          <a:effectRef idx="0"/>
          <a:fontRef idx="minor"/>
        </p:style>
        <p:txBody>
          <a:bodyPr lIns="0" tIns="0" rIns="0" bIns="0" anchor="t">
            <a:noAutofit/>
          </a:bodyPr>
          <a:p>
            <a:pPr>
              <a:lnSpc>
                <a:spcPts val="1151"/>
              </a:lnSpc>
              <a:tabLst>
                <a:tab pos="0" algn="l"/>
              </a:tabLst>
            </a:pPr>
            <a:r>
              <a:rPr lang="en-NG" sz="950" b="0" u="none" strike="noStrike">
                <a:solidFill>
                  <a:srgbClr val="1A1A2E"/>
                </a:solidFill>
                <a:effectLst/>
                <a:uFillTx/>
                <a:latin typeface="Calibri"/>
                <a:ea typeface="Calibri"/>
              </a:rPr>
              <a:t>Access tokens, with the algorithm pinned.</a:t>
            </a:r>
            <a:endParaRPr lang="en-NG" sz="950" b="0" u="none" strike="noStrike">
              <a:solidFill>
                <a:srgbClr val="000000"/>
              </a:solidFill>
              <a:effectLst/>
              <a:uFillTx/>
              <a:latin typeface="Arial"/>
            </a:endParaRPr>
          </a:p>
        </p:txBody>
      </p:sp>
      <p:sp>
        <p:nvSpPr>
          <p:cNvPr id="106" name="Shape 17"/>
          <p:cNvSpPr/>
          <p:nvPr/>
        </p:nvSpPr>
        <p:spPr>
          <a:xfrm>
            <a:off x="4316040" y="1316880"/>
            <a:ext cx="3474360" cy="4278960"/>
          </a:xfrm>
          <a:prstGeom prst="roundRect">
            <a:avLst>
              <a:gd name="adj" fmla="val 1842"/>
            </a:avLst>
          </a:prstGeom>
          <a:solidFill>
            <a:srgbClr val="F4F5F9"/>
          </a:solidFill>
          <a:ln w="9525">
            <a:solidFill>
              <a:srgbClr val="D8DAE5"/>
            </a:solidFill>
            <a:round/>
          </a:ln>
          <a:effectLst>
            <a:outerShdw algn="bl" blurRad="127080" dir="5400000" dist="25560" kx="0" ky="0" rotWithShape="0" sx="100000" sy="100000">
              <a:srgbClr val="9098B0">
                <a:alpha val="22000"/>
              </a:srgbClr>
            </a:outerShdw>
          </a:effectLst>
        </p:spPr>
        <p:style>
          <a:lnRef idx="0"/>
          <a:fillRef idx="0"/>
          <a:effectRef idx="0"/>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107" name="Text 18"/>
          <p:cNvSpPr/>
          <p:nvPr/>
        </p:nvSpPr>
        <p:spPr>
          <a:xfrm>
            <a:off x="4535280" y="1490400"/>
            <a:ext cx="3035520" cy="328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500" b="1" u="none" strike="noStrike">
                <a:solidFill>
                  <a:srgbClr val="1D4ED8"/>
                </a:solidFill>
                <a:effectLst/>
                <a:uFillTx/>
                <a:latin typeface="Calibri"/>
                <a:ea typeface="Calibri"/>
              </a:rPr>
              <a:t>Front end</a:t>
            </a:r>
            <a:endParaRPr lang="en-NG" sz="1500" b="0" u="none" strike="noStrike">
              <a:solidFill>
                <a:srgbClr val="000000"/>
              </a:solidFill>
              <a:effectLst/>
              <a:uFillTx/>
              <a:latin typeface="Arial"/>
            </a:endParaRPr>
          </a:p>
        </p:txBody>
      </p:sp>
      <p:sp>
        <p:nvSpPr>
          <p:cNvPr id="108" name="Text 19"/>
          <p:cNvSpPr/>
          <p:nvPr/>
        </p:nvSpPr>
        <p:spPr>
          <a:xfrm>
            <a:off x="4535280" y="1828800"/>
            <a:ext cx="3035520" cy="182520"/>
          </a:xfrm>
          <a:prstGeom prst="rect">
            <a:avLst/>
          </a:prstGeom>
          <a:noFill/>
          <a:ln w="0">
            <a:noFill/>
          </a:ln>
        </p:spPr>
        <p:style>
          <a:lnRef idx="0"/>
          <a:fillRef idx="0"/>
          <a:effectRef idx="0"/>
          <a:fontRef idx="minor"/>
        </p:style>
        <p:txBody>
          <a:bodyPr lIns="0" tIns="0" rIns="0" bIns="0" anchor="t">
            <a:noAutofit/>
          </a:bodyPr>
          <a:p>
            <a:pPr>
              <a:lnSpc>
                <a:spcPct val="100000"/>
              </a:lnSpc>
              <a:tabLst>
                <a:tab pos="0" algn="l"/>
              </a:tabLst>
            </a:pPr>
            <a:r>
              <a:rPr lang="en-NG" sz="1100" b="1" u="none" strike="noStrike">
                <a:solidFill>
                  <a:srgbClr val="1D4ED8"/>
                </a:solidFill>
                <a:effectLst/>
                <a:uFillTx/>
                <a:latin typeface="Calibri"/>
                <a:ea typeface="Calibri"/>
              </a:rPr>
              <a:t>HTML5</a:t>
            </a:r>
            <a:endParaRPr lang="en-NG" sz="1100" b="0" u="none" strike="noStrike">
              <a:solidFill>
                <a:srgbClr val="000000"/>
              </a:solidFill>
              <a:effectLst/>
              <a:uFillTx/>
              <a:latin typeface="Arial"/>
            </a:endParaRPr>
          </a:p>
        </p:txBody>
      </p:sp>
      <p:sp>
        <p:nvSpPr>
          <p:cNvPr id="109" name="Text 20"/>
          <p:cNvSpPr/>
          <p:nvPr/>
        </p:nvSpPr>
        <p:spPr>
          <a:xfrm>
            <a:off x="4535280" y="2002680"/>
            <a:ext cx="3035520" cy="417240"/>
          </a:xfrm>
          <a:prstGeom prst="rect">
            <a:avLst/>
          </a:prstGeom>
          <a:noFill/>
          <a:ln w="0">
            <a:noFill/>
          </a:ln>
        </p:spPr>
        <p:style>
          <a:lnRef idx="0"/>
          <a:fillRef idx="0"/>
          <a:effectRef idx="0"/>
          <a:fontRef idx="minor"/>
        </p:style>
        <p:txBody>
          <a:bodyPr lIns="0" tIns="0" rIns="0" bIns="0" anchor="t">
            <a:noAutofit/>
          </a:bodyPr>
          <a:p>
            <a:pPr>
              <a:lnSpc>
                <a:spcPts val="1151"/>
              </a:lnSpc>
              <a:tabLst>
                <a:tab pos="0" algn="l"/>
              </a:tabLst>
            </a:pPr>
            <a:r>
              <a:rPr lang="en-NG" sz="950" b="0" u="none" strike="noStrike">
                <a:solidFill>
                  <a:srgbClr val="1A1A2E"/>
                </a:solidFill>
                <a:effectLst/>
                <a:uFillTx/>
                <a:latin typeface="Calibri"/>
                <a:ea typeface="Calibri"/>
              </a:rPr>
              <a:t>Semantic elements and real form controls.</a:t>
            </a:r>
            <a:endParaRPr lang="en-NG" sz="950" b="0" u="none" strike="noStrike">
              <a:solidFill>
                <a:srgbClr val="000000"/>
              </a:solidFill>
              <a:effectLst/>
              <a:uFillTx/>
              <a:latin typeface="Arial"/>
            </a:endParaRPr>
          </a:p>
        </p:txBody>
      </p:sp>
      <p:sp>
        <p:nvSpPr>
          <p:cNvPr id="110" name="Text 21"/>
          <p:cNvSpPr/>
          <p:nvPr/>
        </p:nvSpPr>
        <p:spPr>
          <a:xfrm>
            <a:off x="4535280" y="2447640"/>
            <a:ext cx="3035520" cy="182520"/>
          </a:xfrm>
          <a:prstGeom prst="rect">
            <a:avLst/>
          </a:prstGeom>
          <a:noFill/>
          <a:ln w="0">
            <a:noFill/>
          </a:ln>
        </p:spPr>
        <p:style>
          <a:lnRef idx="0"/>
          <a:fillRef idx="0"/>
          <a:effectRef idx="0"/>
          <a:fontRef idx="minor"/>
        </p:style>
        <p:txBody>
          <a:bodyPr lIns="0" tIns="0" rIns="0" bIns="0" anchor="t">
            <a:noAutofit/>
          </a:bodyPr>
          <a:p>
            <a:pPr>
              <a:lnSpc>
                <a:spcPct val="100000"/>
              </a:lnSpc>
              <a:tabLst>
                <a:tab pos="0" algn="l"/>
              </a:tabLst>
            </a:pPr>
            <a:r>
              <a:rPr lang="en-NG" sz="1100" b="1" u="none" strike="noStrike">
                <a:solidFill>
                  <a:srgbClr val="1D4ED8"/>
                </a:solidFill>
                <a:effectLst/>
                <a:uFillTx/>
                <a:latin typeface="Calibri"/>
                <a:ea typeface="Calibri"/>
              </a:rPr>
              <a:t>CSS3</a:t>
            </a:r>
            <a:endParaRPr lang="en-NG" sz="1100" b="0" u="none" strike="noStrike">
              <a:solidFill>
                <a:srgbClr val="000000"/>
              </a:solidFill>
              <a:effectLst/>
              <a:uFillTx/>
              <a:latin typeface="Arial"/>
            </a:endParaRPr>
          </a:p>
        </p:txBody>
      </p:sp>
      <p:sp>
        <p:nvSpPr>
          <p:cNvPr id="111" name="Text 22"/>
          <p:cNvSpPr/>
          <p:nvPr/>
        </p:nvSpPr>
        <p:spPr>
          <a:xfrm>
            <a:off x="4535280" y="2621160"/>
            <a:ext cx="3035520" cy="417240"/>
          </a:xfrm>
          <a:prstGeom prst="rect">
            <a:avLst/>
          </a:prstGeom>
          <a:noFill/>
          <a:ln w="0">
            <a:noFill/>
          </a:ln>
        </p:spPr>
        <p:style>
          <a:lnRef idx="0"/>
          <a:fillRef idx="0"/>
          <a:effectRef idx="0"/>
          <a:fontRef idx="minor"/>
        </p:style>
        <p:txBody>
          <a:bodyPr lIns="0" tIns="0" rIns="0" bIns="0" anchor="t">
            <a:noAutofit/>
          </a:bodyPr>
          <a:p>
            <a:pPr>
              <a:lnSpc>
                <a:spcPts val="1151"/>
              </a:lnSpc>
              <a:tabLst>
                <a:tab pos="0" algn="l"/>
              </a:tabLst>
            </a:pPr>
            <a:r>
              <a:rPr lang="en-NG" sz="950" b="0" u="none" strike="noStrike">
                <a:solidFill>
                  <a:srgbClr val="1A1A2E"/>
                </a:solidFill>
                <a:effectLst/>
                <a:uFillTx/>
                <a:latin typeface="Calibri"/>
                <a:ea typeface="Calibri"/>
              </a:rPr>
              <a:t>Custom properties, flexbox and grid. One responsive layout.</a:t>
            </a:r>
            <a:endParaRPr lang="en-NG" sz="950" b="0" u="none" strike="noStrike">
              <a:solidFill>
                <a:srgbClr val="000000"/>
              </a:solidFill>
              <a:effectLst/>
              <a:uFillTx/>
              <a:latin typeface="Arial"/>
            </a:endParaRPr>
          </a:p>
        </p:txBody>
      </p:sp>
      <p:sp>
        <p:nvSpPr>
          <p:cNvPr id="112" name="Text 23"/>
          <p:cNvSpPr/>
          <p:nvPr/>
        </p:nvSpPr>
        <p:spPr>
          <a:xfrm>
            <a:off x="4535280" y="3066120"/>
            <a:ext cx="3035520" cy="182520"/>
          </a:xfrm>
          <a:prstGeom prst="rect">
            <a:avLst/>
          </a:prstGeom>
          <a:noFill/>
          <a:ln w="0">
            <a:noFill/>
          </a:ln>
        </p:spPr>
        <p:style>
          <a:lnRef idx="0"/>
          <a:fillRef idx="0"/>
          <a:effectRef idx="0"/>
          <a:fontRef idx="minor"/>
        </p:style>
        <p:txBody>
          <a:bodyPr lIns="0" tIns="0" rIns="0" bIns="0" anchor="t">
            <a:noAutofit/>
          </a:bodyPr>
          <a:p>
            <a:pPr>
              <a:lnSpc>
                <a:spcPct val="100000"/>
              </a:lnSpc>
              <a:tabLst>
                <a:tab pos="0" algn="l"/>
              </a:tabLst>
            </a:pPr>
            <a:r>
              <a:rPr lang="en-NG" sz="1100" b="1" u="none" strike="noStrike">
                <a:solidFill>
                  <a:srgbClr val="1D4ED8"/>
                </a:solidFill>
                <a:effectLst/>
                <a:uFillTx/>
                <a:latin typeface="Calibri"/>
                <a:ea typeface="Calibri"/>
              </a:rPr>
              <a:t>JavaScript</a:t>
            </a:r>
            <a:endParaRPr lang="en-NG" sz="1100" b="0" u="none" strike="noStrike">
              <a:solidFill>
                <a:srgbClr val="000000"/>
              </a:solidFill>
              <a:effectLst/>
              <a:uFillTx/>
              <a:latin typeface="Arial"/>
            </a:endParaRPr>
          </a:p>
        </p:txBody>
      </p:sp>
      <p:sp>
        <p:nvSpPr>
          <p:cNvPr id="113" name="Text 24"/>
          <p:cNvSpPr/>
          <p:nvPr/>
        </p:nvSpPr>
        <p:spPr>
          <a:xfrm>
            <a:off x="4535280" y="3240000"/>
            <a:ext cx="3035520" cy="417240"/>
          </a:xfrm>
          <a:prstGeom prst="rect">
            <a:avLst/>
          </a:prstGeom>
          <a:noFill/>
          <a:ln w="0">
            <a:noFill/>
          </a:ln>
        </p:spPr>
        <p:style>
          <a:lnRef idx="0"/>
          <a:fillRef idx="0"/>
          <a:effectRef idx="0"/>
          <a:fontRef idx="minor"/>
        </p:style>
        <p:txBody>
          <a:bodyPr lIns="0" tIns="0" rIns="0" bIns="0" anchor="t">
            <a:noAutofit/>
          </a:bodyPr>
          <a:p>
            <a:pPr>
              <a:lnSpc>
                <a:spcPts val="1151"/>
              </a:lnSpc>
              <a:tabLst>
                <a:tab pos="0" algn="l"/>
              </a:tabLst>
            </a:pPr>
            <a:r>
              <a:rPr lang="en-NG" sz="950" b="0" u="none" strike="noStrike">
                <a:solidFill>
                  <a:srgbClr val="1A1A2E"/>
                </a:solidFill>
                <a:effectLst/>
                <a:uFillTx/>
                <a:latin typeface="Calibri"/>
                <a:ea typeface="Calibri"/>
              </a:rPr>
              <a:t>Fetch and DOM. No framework: the course examines this directly.</a:t>
            </a:r>
            <a:endParaRPr lang="en-NG" sz="950" b="0" u="none" strike="noStrike">
              <a:solidFill>
                <a:srgbClr val="000000"/>
              </a:solidFill>
              <a:effectLst/>
              <a:uFillTx/>
              <a:latin typeface="Arial"/>
            </a:endParaRPr>
          </a:p>
        </p:txBody>
      </p:sp>
      <p:sp>
        <p:nvSpPr>
          <p:cNvPr id="114" name="Text 25"/>
          <p:cNvSpPr/>
          <p:nvPr/>
        </p:nvSpPr>
        <p:spPr>
          <a:xfrm>
            <a:off x="4535280" y="3684960"/>
            <a:ext cx="3035520" cy="182520"/>
          </a:xfrm>
          <a:prstGeom prst="rect">
            <a:avLst/>
          </a:prstGeom>
          <a:noFill/>
          <a:ln w="0">
            <a:noFill/>
          </a:ln>
        </p:spPr>
        <p:style>
          <a:lnRef idx="0"/>
          <a:fillRef idx="0"/>
          <a:effectRef idx="0"/>
          <a:fontRef idx="minor"/>
        </p:style>
        <p:txBody>
          <a:bodyPr lIns="0" tIns="0" rIns="0" bIns="0" anchor="t">
            <a:noAutofit/>
          </a:bodyPr>
          <a:p>
            <a:pPr>
              <a:lnSpc>
                <a:spcPct val="100000"/>
              </a:lnSpc>
              <a:tabLst>
                <a:tab pos="0" algn="l"/>
              </a:tabLst>
            </a:pPr>
            <a:r>
              <a:rPr lang="en-NG" sz="1100" b="1" u="none" strike="noStrike">
                <a:solidFill>
                  <a:srgbClr val="1D4ED8"/>
                </a:solidFill>
                <a:effectLst/>
                <a:uFillTx/>
                <a:latin typeface="Calibri"/>
                <a:ea typeface="Calibri"/>
              </a:rPr>
              <a:t>OpenAPI 3.0.3</a:t>
            </a:r>
            <a:endParaRPr lang="en-NG" sz="1100" b="0" u="none" strike="noStrike">
              <a:solidFill>
                <a:srgbClr val="000000"/>
              </a:solidFill>
              <a:effectLst/>
              <a:uFillTx/>
              <a:latin typeface="Arial"/>
            </a:endParaRPr>
          </a:p>
        </p:txBody>
      </p:sp>
      <p:sp>
        <p:nvSpPr>
          <p:cNvPr id="115" name="Text 26"/>
          <p:cNvSpPr/>
          <p:nvPr/>
        </p:nvSpPr>
        <p:spPr>
          <a:xfrm>
            <a:off x="4535280" y="3858840"/>
            <a:ext cx="3035520" cy="417240"/>
          </a:xfrm>
          <a:prstGeom prst="rect">
            <a:avLst/>
          </a:prstGeom>
          <a:noFill/>
          <a:ln w="0">
            <a:noFill/>
          </a:ln>
        </p:spPr>
        <p:style>
          <a:lnRef idx="0"/>
          <a:fillRef idx="0"/>
          <a:effectRef idx="0"/>
          <a:fontRef idx="minor"/>
        </p:style>
        <p:txBody>
          <a:bodyPr lIns="0" tIns="0" rIns="0" bIns="0" anchor="t">
            <a:noAutofit/>
          </a:bodyPr>
          <a:p>
            <a:pPr>
              <a:lnSpc>
                <a:spcPts val="1151"/>
              </a:lnSpc>
              <a:tabLst>
                <a:tab pos="0" algn="l"/>
              </a:tabLst>
            </a:pPr>
            <a:r>
              <a:rPr lang="en-NG" sz="950" b="0" u="none" strike="noStrike">
                <a:solidFill>
                  <a:srgbClr val="1A1A2E"/>
                </a:solidFill>
                <a:effectLst/>
                <a:uFillTx/>
                <a:latin typeface="Calibri"/>
                <a:ea typeface="Calibri"/>
              </a:rPr>
              <a:t>The contract the interface is written against.</a:t>
            </a:r>
            <a:endParaRPr lang="en-NG" sz="950" b="0" u="none" strike="noStrike">
              <a:solidFill>
                <a:srgbClr val="000000"/>
              </a:solidFill>
              <a:effectLst/>
              <a:uFillTx/>
              <a:latin typeface="Arial"/>
            </a:endParaRPr>
          </a:p>
        </p:txBody>
      </p:sp>
      <p:sp>
        <p:nvSpPr>
          <p:cNvPr id="116" name="Text 27"/>
          <p:cNvSpPr/>
          <p:nvPr/>
        </p:nvSpPr>
        <p:spPr>
          <a:xfrm>
            <a:off x="4535280" y="4303800"/>
            <a:ext cx="3035520" cy="182520"/>
          </a:xfrm>
          <a:prstGeom prst="rect">
            <a:avLst/>
          </a:prstGeom>
          <a:noFill/>
          <a:ln w="0">
            <a:noFill/>
          </a:ln>
        </p:spPr>
        <p:style>
          <a:lnRef idx="0"/>
          <a:fillRef idx="0"/>
          <a:effectRef idx="0"/>
          <a:fontRef idx="minor"/>
        </p:style>
        <p:txBody>
          <a:bodyPr lIns="0" tIns="0" rIns="0" bIns="0" anchor="t">
            <a:noAutofit/>
          </a:bodyPr>
          <a:p>
            <a:pPr>
              <a:lnSpc>
                <a:spcPct val="100000"/>
              </a:lnSpc>
              <a:tabLst>
                <a:tab pos="0" algn="l"/>
              </a:tabLst>
            </a:pPr>
            <a:r>
              <a:rPr lang="en-NG" sz="1100" b="1" u="none" strike="noStrike">
                <a:solidFill>
                  <a:srgbClr val="1D4ED8"/>
                </a:solidFill>
                <a:effectLst/>
                <a:uFillTx/>
                <a:latin typeface="Calibri"/>
                <a:ea typeface="Calibri"/>
              </a:rPr>
              <a:t>Open Library</a:t>
            </a:r>
            <a:endParaRPr lang="en-NG" sz="1100" b="0" u="none" strike="noStrike">
              <a:solidFill>
                <a:srgbClr val="000000"/>
              </a:solidFill>
              <a:effectLst/>
              <a:uFillTx/>
              <a:latin typeface="Arial"/>
            </a:endParaRPr>
          </a:p>
        </p:txBody>
      </p:sp>
      <p:sp>
        <p:nvSpPr>
          <p:cNvPr id="117" name="Text 28"/>
          <p:cNvSpPr/>
          <p:nvPr/>
        </p:nvSpPr>
        <p:spPr>
          <a:xfrm>
            <a:off x="4535280" y="4477680"/>
            <a:ext cx="3035520" cy="417240"/>
          </a:xfrm>
          <a:prstGeom prst="rect">
            <a:avLst/>
          </a:prstGeom>
          <a:noFill/>
          <a:ln w="0">
            <a:noFill/>
          </a:ln>
        </p:spPr>
        <p:style>
          <a:lnRef idx="0"/>
          <a:fillRef idx="0"/>
          <a:effectRef idx="0"/>
          <a:fontRef idx="minor"/>
        </p:style>
        <p:txBody>
          <a:bodyPr lIns="0" tIns="0" rIns="0" bIns="0" anchor="t">
            <a:noAutofit/>
          </a:bodyPr>
          <a:p>
            <a:pPr>
              <a:lnSpc>
                <a:spcPts val="1151"/>
              </a:lnSpc>
              <a:tabLst>
                <a:tab pos="0" algn="l"/>
              </a:tabLst>
            </a:pPr>
            <a:r>
              <a:rPr lang="en-NG" sz="950" b="0" u="none" strike="noStrike">
                <a:solidFill>
                  <a:srgbClr val="1A1A2E"/>
                </a:solidFill>
                <a:effectLst/>
                <a:uFillTx/>
                <a:latin typeface="Calibri"/>
                <a:ea typeface="Calibri"/>
              </a:rPr>
              <a:t>Book cover images, fetched by ISBN.</a:t>
            </a:r>
            <a:endParaRPr lang="en-NG" sz="950" b="0" u="none" strike="noStrike">
              <a:solidFill>
                <a:srgbClr val="000000"/>
              </a:solidFill>
              <a:effectLst/>
              <a:uFillTx/>
              <a:latin typeface="Arial"/>
            </a:endParaRPr>
          </a:p>
        </p:txBody>
      </p:sp>
      <p:sp>
        <p:nvSpPr>
          <p:cNvPr id="118" name="Text 29"/>
          <p:cNvSpPr/>
          <p:nvPr/>
        </p:nvSpPr>
        <p:spPr>
          <a:xfrm>
            <a:off x="4535280" y="4922640"/>
            <a:ext cx="3035520" cy="182520"/>
          </a:xfrm>
          <a:prstGeom prst="rect">
            <a:avLst/>
          </a:prstGeom>
          <a:noFill/>
          <a:ln w="0">
            <a:noFill/>
          </a:ln>
        </p:spPr>
        <p:style>
          <a:lnRef idx="0"/>
          <a:fillRef idx="0"/>
          <a:effectRef idx="0"/>
          <a:fontRef idx="minor"/>
        </p:style>
        <p:txBody>
          <a:bodyPr lIns="0" tIns="0" rIns="0" bIns="0" anchor="t">
            <a:noAutofit/>
          </a:bodyPr>
          <a:p>
            <a:pPr>
              <a:lnSpc>
                <a:spcPct val="100000"/>
              </a:lnSpc>
              <a:tabLst>
                <a:tab pos="0" algn="l"/>
              </a:tabLst>
            </a:pPr>
            <a:r>
              <a:rPr lang="en-NG" sz="1100" b="1" u="none" strike="noStrike">
                <a:solidFill>
                  <a:srgbClr val="1D4ED8"/>
                </a:solidFill>
                <a:effectLst/>
                <a:uFillTx/>
                <a:latin typeface="Calibri"/>
                <a:ea typeface="Calibri"/>
              </a:rPr>
              <a:t>Schema.org</a:t>
            </a:r>
            <a:endParaRPr lang="en-NG" sz="1100" b="0" u="none" strike="noStrike">
              <a:solidFill>
                <a:srgbClr val="000000"/>
              </a:solidFill>
              <a:effectLst/>
              <a:uFillTx/>
              <a:latin typeface="Arial"/>
            </a:endParaRPr>
          </a:p>
        </p:txBody>
      </p:sp>
      <p:sp>
        <p:nvSpPr>
          <p:cNvPr id="119" name="Text 30"/>
          <p:cNvSpPr/>
          <p:nvPr/>
        </p:nvSpPr>
        <p:spPr>
          <a:xfrm>
            <a:off x="4535280" y="5096160"/>
            <a:ext cx="3035520" cy="417240"/>
          </a:xfrm>
          <a:prstGeom prst="rect">
            <a:avLst/>
          </a:prstGeom>
          <a:noFill/>
          <a:ln w="0">
            <a:noFill/>
          </a:ln>
        </p:spPr>
        <p:style>
          <a:lnRef idx="0"/>
          <a:fillRef idx="0"/>
          <a:effectRef idx="0"/>
          <a:fontRef idx="minor"/>
        </p:style>
        <p:txBody>
          <a:bodyPr lIns="0" tIns="0" rIns="0" bIns="0" anchor="t">
            <a:noAutofit/>
          </a:bodyPr>
          <a:p>
            <a:pPr>
              <a:lnSpc>
                <a:spcPts val="1151"/>
              </a:lnSpc>
              <a:tabLst>
                <a:tab pos="0" algn="l"/>
              </a:tabLst>
            </a:pPr>
            <a:r>
              <a:rPr lang="en-NG" sz="950" b="0" u="none" strike="noStrike">
                <a:solidFill>
                  <a:srgbClr val="1A1A2E"/>
                </a:solidFill>
                <a:effectLst/>
                <a:uFillTx/>
                <a:latin typeface="Calibri"/>
                <a:ea typeface="Calibri"/>
              </a:rPr>
              <a:t>Structured data describing the site as a Library.</a:t>
            </a:r>
            <a:endParaRPr lang="en-NG" sz="950" b="0" u="none" strike="noStrike">
              <a:solidFill>
                <a:srgbClr val="000000"/>
              </a:solidFill>
              <a:effectLst/>
              <a:uFillTx/>
              <a:latin typeface="Arial"/>
            </a:endParaRPr>
          </a:p>
        </p:txBody>
      </p:sp>
      <p:sp>
        <p:nvSpPr>
          <p:cNvPr id="120" name="Shape 31"/>
          <p:cNvSpPr/>
          <p:nvPr/>
        </p:nvSpPr>
        <p:spPr>
          <a:xfrm>
            <a:off x="8065080" y="1316880"/>
            <a:ext cx="3977280" cy="4278960"/>
          </a:xfrm>
          <a:prstGeom prst="roundRect">
            <a:avLst>
              <a:gd name="adj" fmla="val 1609"/>
            </a:avLst>
          </a:prstGeom>
          <a:solidFill>
            <a:srgbClr val="F4F5F9"/>
          </a:solidFill>
          <a:ln w="9525">
            <a:solidFill>
              <a:srgbClr val="D8DAE5"/>
            </a:solidFill>
            <a:round/>
          </a:ln>
          <a:effectLst>
            <a:outerShdw algn="bl" blurRad="127080" dir="5400000" dist="25560" kx="0" ky="0" rotWithShape="0" sx="100000" sy="100000">
              <a:srgbClr val="9098B0">
                <a:alpha val="22000"/>
              </a:srgbClr>
            </a:outerShdw>
          </a:effectLst>
        </p:spPr>
        <p:style>
          <a:lnRef idx="0"/>
          <a:fillRef idx="0"/>
          <a:effectRef idx="0"/>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121" name="Text 32"/>
          <p:cNvSpPr/>
          <p:nvPr/>
        </p:nvSpPr>
        <p:spPr>
          <a:xfrm>
            <a:off x="8284320" y="1490400"/>
            <a:ext cx="3538440" cy="328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500" b="1" u="none" strike="noStrike">
                <a:solidFill>
                  <a:srgbClr val="3B2C7A"/>
                </a:solidFill>
                <a:effectLst/>
                <a:uFillTx/>
                <a:latin typeface="Calibri"/>
                <a:ea typeface="Calibri"/>
              </a:rPr>
              <a:t>Platform</a:t>
            </a:r>
            <a:endParaRPr lang="en-NG" sz="1500" b="0" u="none" strike="noStrike">
              <a:solidFill>
                <a:srgbClr val="000000"/>
              </a:solidFill>
              <a:effectLst/>
              <a:uFillTx/>
              <a:latin typeface="Arial"/>
            </a:endParaRPr>
          </a:p>
        </p:txBody>
      </p:sp>
      <p:sp>
        <p:nvSpPr>
          <p:cNvPr id="122" name="Text 33"/>
          <p:cNvSpPr/>
          <p:nvPr/>
        </p:nvSpPr>
        <p:spPr>
          <a:xfrm>
            <a:off x="8284320" y="1828800"/>
            <a:ext cx="3538440" cy="182520"/>
          </a:xfrm>
          <a:prstGeom prst="rect">
            <a:avLst/>
          </a:prstGeom>
          <a:noFill/>
          <a:ln w="0">
            <a:noFill/>
          </a:ln>
        </p:spPr>
        <p:style>
          <a:lnRef idx="0"/>
          <a:fillRef idx="0"/>
          <a:effectRef idx="0"/>
          <a:fontRef idx="minor"/>
        </p:style>
        <p:txBody>
          <a:bodyPr lIns="0" tIns="0" rIns="0" bIns="0" anchor="t">
            <a:noAutofit/>
          </a:bodyPr>
          <a:p>
            <a:pPr>
              <a:lnSpc>
                <a:spcPct val="100000"/>
              </a:lnSpc>
              <a:tabLst>
                <a:tab pos="0" algn="l"/>
              </a:tabLst>
            </a:pPr>
            <a:r>
              <a:rPr lang="en-NG" sz="1100" b="1" u="none" strike="noStrike">
                <a:solidFill>
                  <a:srgbClr val="3B2C7A"/>
                </a:solidFill>
                <a:effectLst/>
                <a:uFillTx/>
                <a:latin typeface="Calibri"/>
                <a:ea typeface="Calibri"/>
              </a:rPr>
              <a:t>Docker</a:t>
            </a:r>
            <a:endParaRPr lang="en-NG" sz="1100" b="0" u="none" strike="noStrike">
              <a:solidFill>
                <a:srgbClr val="000000"/>
              </a:solidFill>
              <a:effectLst/>
              <a:uFillTx/>
              <a:latin typeface="Arial"/>
            </a:endParaRPr>
          </a:p>
        </p:txBody>
      </p:sp>
      <p:sp>
        <p:nvSpPr>
          <p:cNvPr id="123" name="Text 34"/>
          <p:cNvSpPr/>
          <p:nvPr/>
        </p:nvSpPr>
        <p:spPr>
          <a:xfrm>
            <a:off x="8284320" y="2002680"/>
            <a:ext cx="3538440" cy="169560"/>
          </a:xfrm>
          <a:prstGeom prst="rect">
            <a:avLst/>
          </a:prstGeom>
          <a:noFill/>
          <a:ln w="0">
            <a:noFill/>
          </a:ln>
        </p:spPr>
        <p:style>
          <a:lnRef idx="0"/>
          <a:fillRef idx="0"/>
          <a:effectRef idx="0"/>
          <a:fontRef idx="minor"/>
        </p:style>
        <p:txBody>
          <a:bodyPr lIns="0" tIns="0" rIns="0" bIns="0" anchor="t">
            <a:noAutofit/>
          </a:bodyPr>
          <a:p>
            <a:pPr>
              <a:lnSpc>
                <a:spcPts val="1151"/>
              </a:lnSpc>
              <a:tabLst>
                <a:tab pos="0" algn="l"/>
              </a:tabLst>
            </a:pPr>
            <a:r>
              <a:rPr lang="en-NG" sz="950" b="0" u="none" strike="noStrike">
                <a:solidFill>
                  <a:srgbClr val="1A1A2E"/>
                </a:solidFill>
                <a:effectLst/>
                <a:uFillTx/>
                <a:latin typeface="Calibri"/>
                <a:ea typeface="Calibri"/>
              </a:rPr>
              <a:t>Multi-stage build to a 15.5 MB scratch image.</a:t>
            </a:r>
            <a:endParaRPr lang="en-NG" sz="950" b="0" u="none" strike="noStrike">
              <a:solidFill>
                <a:srgbClr val="000000"/>
              </a:solidFill>
              <a:effectLst/>
              <a:uFillTx/>
              <a:latin typeface="Arial"/>
            </a:endParaRPr>
          </a:p>
        </p:txBody>
      </p:sp>
      <p:sp>
        <p:nvSpPr>
          <p:cNvPr id="124" name="Text 35"/>
          <p:cNvSpPr/>
          <p:nvPr/>
        </p:nvSpPr>
        <p:spPr>
          <a:xfrm>
            <a:off x="8284320" y="2199960"/>
            <a:ext cx="3538440" cy="182520"/>
          </a:xfrm>
          <a:prstGeom prst="rect">
            <a:avLst/>
          </a:prstGeom>
          <a:noFill/>
          <a:ln w="0">
            <a:noFill/>
          </a:ln>
        </p:spPr>
        <p:style>
          <a:lnRef idx="0"/>
          <a:fillRef idx="0"/>
          <a:effectRef idx="0"/>
          <a:fontRef idx="minor"/>
        </p:style>
        <p:txBody>
          <a:bodyPr lIns="0" tIns="0" rIns="0" bIns="0" anchor="t">
            <a:noAutofit/>
          </a:bodyPr>
          <a:p>
            <a:pPr>
              <a:lnSpc>
                <a:spcPct val="100000"/>
              </a:lnSpc>
              <a:tabLst>
                <a:tab pos="0" algn="l"/>
              </a:tabLst>
            </a:pPr>
            <a:r>
              <a:rPr lang="en-NG" sz="1100" b="1" u="none" strike="noStrike">
                <a:solidFill>
                  <a:srgbClr val="3B2C7A"/>
                </a:solidFill>
                <a:effectLst/>
                <a:uFillTx/>
                <a:latin typeface="Calibri"/>
                <a:ea typeface="Calibri"/>
              </a:rPr>
              <a:t>GitHub Actions</a:t>
            </a:r>
            <a:endParaRPr lang="en-NG" sz="1100" b="0" u="none" strike="noStrike">
              <a:solidFill>
                <a:srgbClr val="000000"/>
              </a:solidFill>
              <a:effectLst/>
              <a:uFillTx/>
              <a:latin typeface="Arial"/>
            </a:endParaRPr>
          </a:p>
        </p:txBody>
      </p:sp>
      <p:sp>
        <p:nvSpPr>
          <p:cNvPr id="125" name="Text 36"/>
          <p:cNvSpPr/>
          <p:nvPr/>
        </p:nvSpPr>
        <p:spPr>
          <a:xfrm>
            <a:off x="8284320" y="2373840"/>
            <a:ext cx="3538440" cy="169560"/>
          </a:xfrm>
          <a:prstGeom prst="rect">
            <a:avLst/>
          </a:prstGeom>
          <a:noFill/>
          <a:ln w="0">
            <a:noFill/>
          </a:ln>
        </p:spPr>
        <p:style>
          <a:lnRef idx="0"/>
          <a:fillRef idx="0"/>
          <a:effectRef idx="0"/>
          <a:fontRef idx="minor"/>
        </p:style>
        <p:txBody>
          <a:bodyPr lIns="0" tIns="0" rIns="0" bIns="0" anchor="t">
            <a:noAutofit/>
          </a:bodyPr>
          <a:p>
            <a:pPr>
              <a:lnSpc>
                <a:spcPts val="1151"/>
              </a:lnSpc>
              <a:tabLst>
                <a:tab pos="0" algn="l"/>
              </a:tabLst>
            </a:pPr>
            <a:r>
              <a:rPr lang="en-NG" sz="950" b="0" u="none" strike="noStrike">
                <a:solidFill>
                  <a:srgbClr val="1A1A2E"/>
                </a:solidFill>
                <a:effectLst/>
                <a:uFillTx/>
                <a:latin typeface="Calibri"/>
                <a:ea typeface="Calibri"/>
              </a:rPr>
              <a:t>Test, scan, migrate, build, deploy, smoke.</a:t>
            </a:r>
            <a:endParaRPr lang="en-NG" sz="950" b="0" u="none" strike="noStrike">
              <a:solidFill>
                <a:srgbClr val="000000"/>
              </a:solidFill>
              <a:effectLst/>
              <a:uFillTx/>
              <a:latin typeface="Arial"/>
            </a:endParaRPr>
          </a:p>
        </p:txBody>
      </p:sp>
      <p:sp>
        <p:nvSpPr>
          <p:cNvPr id="126" name="Text 37"/>
          <p:cNvSpPr/>
          <p:nvPr/>
        </p:nvSpPr>
        <p:spPr>
          <a:xfrm>
            <a:off x="8284320" y="2571120"/>
            <a:ext cx="3538440" cy="182520"/>
          </a:xfrm>
          <a:prstGeom prst="rect">
            <a:avLst/>
          </a:prstGeom>
          <a:noFill/>
          <a:ln w="0">
            <a:noFill/>
          </a:ln>
        </p:spPr>
        <p:style>
          <a:lnRef idx="0"/>
          <a:fillRef idx="0"/>
          <a:effectRef idx="0"/>
          <a:fontRef idx="minor"/>
        </p:style>
        <p:txBody>
          <a:bodyPr lIns="0" tIns="0" rIns="0" bIns="0" anchor="t">
            <a:noAutofit/>
          </a:bodyPr>
          <a:p>
            <a:pPr>
              <a:lnSpc>
                <a:spcPct val="100000"/>
              </a:lnSpc>
              <a:tabLst>
                <a:tab pos="0" algn="l"/>
              </a:tabLst>
            </a:pPr>
            <a:r>
              <a:rPr lang="en-NG" sz="1100" b="1" u="none" strike="noStrike">
                <a:solidFill>
                  <a:srgbClr val="3B2C7A"/>
                </a:solidFill>
                <a:effectLst/>
                <a:uFillTx/>
                <a:latin typeface="Calibri"/>
                <a:ea typeface="Calibri"/>
              </a:rPr>
              <a:t>Render</a:t>
            </a:r>
            <a:endParaRPr lang="en-NG" sz="1100" b="0" u="none" strike="noStrike">
              <a:solidFill>
                <a:srgbClr val="000000"/>
              </a:solidFill>
              <a:effectLst/>
              <a:uFillTx/>
              <a:latin typeface="Arial"/>
            </a:endParaRPr>
          </a:p>
        </p:txBody>
      </p:sp>
      <p:sp>
        <p:nvSpPr>
          <p:cNvPr id="127" name="Text 38"/>
          <p:cNvSpPr/>
          <p:nvPr/>
        </p:nvSpPr>
        <p:spPr>
          <a:xfrm>
            <a:off x="8284320" y="2745000"/>
            <a:ext cx="3538440" cy="169560"/>
          </a:xfrm>
          <a:prstGeom prst="rect">
            <a:avLst/>
          </a:prstGeom>
          <a:noFill/>
          <a:ln w="0">
            <a:noFill/>
          </a:ln>
        </p:spPr>
        <p:style>
          <a:lnRef idx="0"/>
          <a:fillRef idx="0"/>
          <a:effectRef idx="0"/>
          <a:fontRef idx="minor"/>
        </p:style>
        <p:txBody>
          <a:bodyPr lIns="0" tIns="0" rIns="0" bIns="0" anchor="t">
            <a:noAutofit/>
          </a:bodyPr>
          <a:p>
            <a:pPr>
              <a:lnSpc>
                <a:spcPts val="1151"/>
              </a:lnSpc>
              <a:tabLst>
                <a:tab pos="0" algn="l"/>
              </a:tabLst>
            </a:pPr>
            <a:r>
              <a:rPr lang="en-NG" sz="950" b="0" u="none" strike="noStrike">
                <a:solidFill>
                  <a:srgbClr val="1A1A2E"/>
                </a:solidFill>
                <a:effectLst/>
                <a:uFillTx/>
                <a:latin typeface="Calibri"/>
                <a:ea typeface="Calibri"/>
              </a:rPr>
              <a:t>Runs the API. Ohio, US East.</a:t>
            </a:r>
            <a:endParaRPr lang="en-NG" sz="950" b="0" u="none" strike="noStrike">
              <a:solidFill>
                <a:srgbClr val="000000"/>
              </a:solidFill>
              <a:effectLst/>
              <a:uFillTx/>
              <a:latin typeface="Arial"/>
            </a:endParaRPr>
          </a:p>
        </p:txBody>
      </p:sp>
      <p:sp>
        <p:nvSpPr>
          <p:cNvPr id="128" name="Text 39"/>
          <p:cNvSpPr/>
          <p:nvPr/>
        </p:nvSpPr>
        <p:spPr>
          <a:xfrm>
            <a:off x="8284320" y="2942640"/>
            <a:ext cx="3538440" cy="182520"/>
          </a:xfrm>
          <a:prstGeom prst="rect">
            <a:avLst/>
          </a:prstGeom>
          <a:noFill/>
          <a:ln w="0">
            <a:noFill/>
          </a:ln>
        </p:spPr>
        <p:style>
          <a:lnRef idx="0"/>
          <a:fillRef idx="0"/>
          <a:effectRef idx="0"/>
          <a:fontRef idx="minor"/>
        </p:style>
        <p:txBody>
          <a:bodyPr lIns="0" tIns="0" rIns="0" bIns="0" anchor="t">
            <a:noAutofit/>
          </a:bodyPr>
          <a:p>
            <a:pPr>
              <a:lnSpc>
                <a:spcPct val="100000"/>
              </a:lnSpc>
              <a:tabLst>
                <a:tab pos="0" algn="l"/>
              </a:tabLst>
            </a:pPr>
            <a:r>
              <a:rPr lang="en-NG" sz="1100" b="1" u="none" strike="noStrike">
                <a:solidFill>
                  <a:srgbClr val="3B2C7A"/>
                </a:solidFill>
                <a:effectLst/>
                <a:uFillTx/>
                <a:latin typeface="Calibri"/>
                <a:ea typeface="Calibri"/>
              </a:rPr>
              <a:t>Neon</a:t>
            </a:r>
            <a:endParaRPr lang="en-NG" sz="1100" b="0" u="none" strike="noStrike">
              <a:solidFill>
                <a:srgbClr val="000000"/>
              </a:solidFill>
              <a:effectLst/>
              <a:uFillTx/>
              <a:latin typeface="Arial"/>
            </a:endParaRPr>
          </a:p>
        </p:txBody>
      </p:sp>
      <p:sp>
        <p:nvSpPr>
          <p:cNvPr id="129" name="Text 40"/>
          <p:cNvSpPr/>
          <p:nvPr/>
        </p:nvSpPr>
        <p:spPr>
          <a:xfrm>
            <a:off x="8284320" y="3116160"/>
            <a:ext cx="3538440" cy="169560"/>
          </a:xfrm>
          <a:prstGeom prst="rect">
            <a:avLst/>
          </a:prstGeom>
          <a:noFill/>
          <a:ln w="0">
            <a:noFill/>
          </a:ln>
        </p:spPr>
        <p:style>
          <a:lnRef idx="0"/>
          <a:fillRef idx="0"/>
          <a:effectRef idx="0"/>
          <a:fontRef idx="minor"/>
        </p:style>
        <p:txBody>
          <a:bodyPr lIns="0" tIns="0" rIns="0" bIns="0" anchor="t">
            <a:noAutofit/>
          </a:bodyPr>
          <a:p>
            <a:pPr>
              <a:lnSpc>
                <a:spcPts val="1151"/>
              </a:lnSpc>
              <a:tabLst>
                <a:tab pos="0" algn="l"/>
              </a:tabLst>
            </a:pPr>
            <a:r>
              <a:rPr lang="en-NG" sz="950" b="0" u="none" strike="noStrike">
                <a:solidFill>
                  <a:srgbClr val="1A1A2E"/>
                </a:solidFill>
                <a:effectLst/>
                <a:uFillTx/>
                <a:latin typeface="Calibri"/>
                <a:ea typeface="Calibri"/>
              </a:rPr>
              <a:t>Managed Postgres. us-east-1.</a:t>
            </a:r>
            <a:endParaRPr lang="en-NG" sz="950" b="0" u="none" strike="noStrike">
              <a:solidFill>
                <a:srgbClr val="000000"/>
              </a:solidFill>
              <a:effectLst/>
              <a:uFillTx/>
              <a:latin typeface="Arial"/>
            </a:endParaRPr>
          </a:p>
        </p:txBody>
      </p:sp>
      <p:sp>
        <p:nvSpPr>
          <p:cNvPr id="130" name="Text 41"/>
          <p:cNvSpPr/>
          <p:nvPr/>
        </p:nvSpPr>
        <p:spPr>
          <a:xfrm>
            <a:off x="8284320" y="3313800"/>
            <a:ext cx="3538440" cy="182520"/>
          </a:xfrm>
          <a:prstGeom prst="rect">
            <a:avLst/>
          </a:prstGeom>
          <a:noFill/>
          <a:ln w="0">
            <a:noFill/>
          </a:ln>
        </p:spPr>
        <p:style>
          <a:lnRef idx="0"/>
          <a:fillRef idx="0"/>
          <a:effectRef idx="0"/>
          <a:fontRef idx="minor"/>
        </p:style>
        <p:txBody>
          <a:bodyPr lIns="0" tIns="0" rIns="0" bIns="0" anchor="t">
            <a:noAutofit/>
          </a:bodyPr>
          <a:p>
            <a:pPr>
              <a:lnSpc>
                <a:spcPct val="100000"/>
              </a:lnSpc>
              <a:tabLst>
                <a:tab pos="0" algn="l"/>
              </a:tabLst>
            </a:pPr>
            <a:r>
              <a:rPr lang="en-NG" sz="1100" b="1" u="none" strike="noStrike">
                <a:solidFill>
                  <a:srgbClr val="3B2C7A"/>
                </a:solidFill>
                <a:effectLst/>
                <a:uFillTx/>
                <a:latin typeface="Calibri"/>
                <a:ea typeface="Calibri"/>
              </a:rPr>
              <a:t>Upstash</a:t>
            </a:r>
            <a:endParaRPr lang="en-NG" sz="1100" b="0" u="none" strike="noStrike">
              <a:solidFill>
                <a:srgbClr val="000000"/>
              </a:solidFill>
              <a:effectLst/>
              <a:uFillTx/>
              <a:latin typeface="Arial"/>
            </a:endParaRPr>
          </a:p>
        </p:txBody>
      </p:sp>
      <p:sp>
        <p:nvSpPr>
          <p:cNvPr id="131" name="Text 42"/>
          <p:cNvSpPr/>
          <p:nvPr/>
        </p:nvSpPr>
        <p:spPr>
          <a:xfrm>
            <a:off x="8284320" y="3487680"/>
            <a:ext cx="3538440" cy="169560"/>
          </a:xfrm>
          <a:prstGeom prst="rect">
            <a:avLst/>
          </a:prstGeom>
          <a:noFill/>
          <a:ln w="0">
            <a:noFill/>
          </a:ln>
        </p:spPr>
        <p:style>
          <a:lnRef idx="0"/>
          <a:fillRef idx="0"/>
          <a:effectRef idx="0"/>
          <a:fontRef idx="minor"/>
        </p:style>
        <p:txBody>
          <a:bodyPr lIns="0" tIns="0" rIns="0" bIns="0" anchor="t">
            <a:noAutofit/>
          </a:bodyPr>
          <a:p>
            <a:pPr>
              <a:lnSpc>
                <a:spcPts val="1151"/>
              </a:lnSpc>
              <a:tabLst>
                <a:tab pos="0" algn="l"/>
              </a:tabLst>
            </a:pPr>
            <a:r>
              <a:rPr lang="en-NG" sz="950" b="0" u="none" strike="noStrike">
                <a:solidFill>
                  <a:srgbClr val="1A1A2E"/>
                </a:solidFill>
                <a:effectLst/>
                <a:uFillTx/>
                <a:latin typeface="Calibri"/>
                <a:ea typeface="Calibri"/>
              </a:rPr>
              <a:t>Managed Redis. us-east-1.</a:t>
            </a:r>
            <a:endParaRPr lang="en-NG" sz="950" b="0" u="none" strike="noStrike">
              <a:solidFill>
                <a:srgbClr val="000000"/>
              </a:solidFill>
              <a:effectLst/>
              <a:uFillTx/>
              <a:latin typeface="Arial"/>
            </a:endParaRPr>
          </a:p>
        </p:txBody>
      </p:sp>
      <p:sp>
        <p:nvSpPr>
          <p:cNvPr id="132" name="Text 43"/>
          <p:cNvSpPr/>
          <p:nvPr/>
        </p:nvSpPr>
        <p:spPr>
          <a:xfrm>
            <a:off x="8284320" y="3684960"/>
            <a:ext cx="3538440" cy="182520"/>
          </a:xfrm>
          <a:prstGeom prst="rect">
            <a:avLst/>
          </a:prstGeom>
          <a:noFill/>
          <a:ln w="0">
            <a:noFill/>
          </a:ln>
        </p:spPr>
        <p:style>
          <a:lnRef idx="0"/>
          <a:fillRef idx="0"/>
          <a:effectRef idx="0"/>
          <a:fontRef idx="minor"/>
        </p:style>
        <p:txBody>
          <a:bodyPr lIns="0" tIns="0" rIns="0" bIns="0" anchor="t">
            <a:noAutofit/>
          </a:bodyPr>
          <a:p>
            <a:pPr>
              <a:lnSpc>
                <a:spcPct val="100000"/>
              </a:lnSpc>
              <a:tabLst>
                <a:tab pos="0" algn="l"/>
              </a:tabLst>
            </a:pPr>
            <a:r>
              <a:rPr lang="en-NG" sz="1100" b="1" u="none" strike="noStrike">
                <a:solidFill>
                  <a:srgbClr val="3B2C7A"/>
                </a:solidFill>
                <a:effectLst/>
                <a:uFillTx/>
                <a:latin typeface="Calibri"/>
                <a:ea typeface="Calibri"/>
              </a:rPr>
              <a:t>Vercel</a:t>
            </a:r>
            <a:endParaRPr lang="en-NG" sz="1100" b="0" u="none" strike="noStrike">
              <a:solidFill>
                <a:srgbClr val="000000"/>
              </a:solidFill>
              <a:effectLst/>
              <a:uFillTx/>
              <a:latin typeface="Arial"/>
            </a:endParaRPr>
          </a:p>
        </p:txBody>
      </p:sp>
      <p:sp>
        <p:nvSpPr>
          <p:cNvPr id="133" name="Text 44"/>
          <p:cNvSpPr/>
          <p:nvPr/>
        </p:nvSpPr>
        <p:spPr>
          <a:xfrm>
            <a:off x="8284320" y="3858840"/>
            <a:ext cx="3538440" cy="169560"/>
          </a:xfrm>
          <a:prstGeom prst="rect">
            <a:avLst/>
          </a:prstGeom>
          <a:noFill/>
          <a:ln w="0">
            <a:noFill/>
          </a:ln>
        </p:spPr>
        <p:style>
          <a:lnRef idx="0"/>
          <a:fillRef idx="0"/>
          <a:effectRef idx="0"/>
          <a:fontRef idx="minor"/>
        </p:style>
        <p:txBody>
          <a:bodyPr lIns="0" tIns="0" rIns="0" bIns="0" anchor="t">
            <a:noAutofit/>
          </a:bodyPr>
          <a:p>
            <a:pPr>
              <a:lnSpc>
                <a:spcPts val="1151"/>
              </a:lnSpc>
              <a:tabLst>
                <a:tab pos="0" algn="l"/>
              </a:tabLst>
            </a:pPr>
            <a:r>
              <a:rPr lang="en-NG" sz="950" b="0" u="none" strike="noStrike">
                <a:solidFill>
                  <a:srgbClr val="1A1A2E"/>
                </a:solidFill>
                <a:effectLst/>
                <a:uFillTx/>
                <a:latin typeface="Calibri"/>
                <a:ea typeface="Calibri"/>
              </a:rPr>
              <a:t>Serves the front end at the edge.</a:t>
            </a:r>
            <a:endParaRPr lang="en-NG" sz="950" b="0" u="none" strike="noStrike">
              <a:solidFill>
                <a:srgbClr val="000000"/>
              </a:solidFill>
              <a:effectLst/>
              <a:uFillTx/>
              <a:latin typeface="Arial"/>
            </a:endParaRPr>
          </a:p>
        </p:txBody>
      </p:sp>
      <p:sp>
        <p:nvSpPr>
          <p:cNvPr id="134" name="Text 45"/>
          <p:cNvSpPr/>
          <p:nvPr/>
        </p:nvSpPr>
        <p:spPr>
          <a:xfrm>
            <a:off x="8284320" y="4056120"/>
            <a:ext cx="3538440" cy="182520"/>
          </a:xfrm>
          <a:prstGeom prst="rect">
            <a:avLst/>
          </a:prstGeom>
          <a:noFill/>
          <a:ln w="0">
            <a:noFill/>
          </a:ln>
        </p:spPr>
        <p:style>
          <a:lnRef idx="0"/>
          <a:fillRef idx="0"/>
          <a:effectRef idx="0"/>
          <a:fontRef idx="minor"/>
        </p:style>
        <p:txBody>
          <a:bodyPr lIns="0" tIns="0" rIns="0" bIns="0" anchor="t">
            <a:noAutofit/>
          </a:bodyPr>
          <a:p>
            <a:pPr>
              <a:lnSpc>
                <a:spcPct val="100000"/>
              </a:lnSpc>
              <a:tabLst>
                <a:tab pos="0" algn="l"/>
              </a:tabLst>
            </a:pPr>
            <a:r>
              <a:rPr lang="en-NG" sz="1100" b="1" u="none" strike="noStrike">
                <a:solidFill>
                  <a:srgbClr val="3B2C7A"/>
                </a:solidFill>
                <a:effectLst/>
                <a:uFillTx/>
                <a:latin typeface="Calibri"/>
                <a:ea typeface="Calibri"/>
              </a:rPr>
              <a:t>Cloudflare</a:t>
            </a:r>
            <a:endParaRPr lang="en-NG" sz="1100" b="0" u="none" strike="noStrike">
              <a:solidFill>
                <a:srgbClr val="000000"/>
              </a:solidFill>
              <a:effectLst/>
              <a:uFillTx/>
              <a:latin typeface="Arial"/>
            </a:endParaRPr>
          </a:p>
        </p:txBody>
      </p:sp>
      <p:sp>
        <p:nvSpPr>
          <p:cNvPr id="135" name="Text 46"/>
          <p:cNvSpPr/>
          <p:nvPr/>
        </p:nvSpPr>
        <p:spPr>
          <a:xfrm>
            <a:off x="8284320" y="4230000"/>
            <a:ext cx="3538440" cy="169560"/>
          </a:xfrm>
          <a:prstGeom prst="rect">
            <a:avLst/>
          </a:prstGeom>
          <a:noFill/>
          <a:ln w="0">
            <a:noFill/>
          </a:ln>
        </p:spPr>
        <p:style>
          <a:lnRef idx="0"/>
          <a:fillRef idx="0"/>
          <a:effectRef idx="0"/>
          <a:fontRef idx="minor"/>
        </p:style>
        <p:txBody>
          <a:bodyPr lIns="0" tIns="0" rIns="0" bIns="0" anchor="t">
            <a:noAutofit/>
          </a:bodyPr>
          <a:p>
            <a:pPr>
              <a:lnSpc>
                <a:spcPts val="1151"/>
              </a:lnSpc>
              <a:tabLst>
                <a:tab pos="0" algn="l"/>
              </a:tabLst>
            </a:pPr>
            <a:r>
              <a:rPr lang="en-NG" sz="950" b="0" u="none" strike="noStrike">
                <a:solidFill>
                  <a:srgbClr val="1A1A2E"/>
                </a:solidFill>
                <a:effectLst/>
                <a:uFillTx/>
                <a:latin typeface="Calibri"/>
                <a:ea typeface="Calibri"/>
              </a:rPr>
              <a:t>DNS and TLS for appmd.dev.</a:t>
            </a:r>
            <a:endParaRPr lang="en-NG" sz="950" b="0" u="none" strike="noStrike">
              <a:solidFill>
                <a:srgbClr val="000000"/>
              </a:solidFill>
              <a:effectLst/>
              <a:uFillTx/>
              <a:latin typeface="Arial"/>
            </a:endParaRPr>
          </a:p>
        </p:txBody>
      </p:sp>
      <p:sp>
        <p:nvSpPr>
          <p:cNvPr id="136" name="Text 47"/>
          <p:cNvSpPr/>
          <p:nvPr/>
        </p:nvSpPr>
        <p:spPr>
          <a:xfrm>
            <a:off x="8284320" y="4427640"/>
            <a:ext cx="3538440" cy="182520"/>
          </a:xfrm>
          <a:prstGeom prst="rect">
            <a:avLst/>
          </a:prstGeom>
          <a:noFill/>
          <a:ln w="0">
            <a:noFill/>
          </a:ln>
        </p:spPr>
        <p:style>
          <a:lnRef idx="0"/>
          <a:fillRef idx="0"/>
          <a:effectRef idx="0"/>
          <a:fontRef idx="minor"/>
        </p:style>
        <p:txBody>
          <a:bodyPr lIns="0" tIns="0" rIns="0" bIns="0" anchor="t">
            <a:noAutofit/>
          </a:bodyPr>
          <a:p>
            <a:pPr>
              <a:lnSpc>
                <a:spcPct val="100000"/>
              </a:lnSpc>
              <a:tabLst>
                <a:tab pos="0" algn="l"/>
              </a:tabLst>
            </a:pPr>
            <a:r>
              <a:rPr lang="en-NG" sz="1100" b="1" u="none" strike="noStrike">
                <a:solidFill>
                  <a:srgbClr val="3B2C7A"/>
                </a:solidFill>
                <a:effectLst/>
                <a:uFillTx/>
                <a:latin typeface="Calibri"/>
                <a:ea typeface="Calibri"/>
              </a:rPr>
              <a:t>Resend</a:t>
            </a:r>
            <a:endParaRPr lang="en-NG" sz="1100" b="0" u="none" strike="noStrike">
              <a:solidFill>
                <a:srgbClr val="000000"/>
              </a:solidFill>
              <a:effectLst/>
              <a:uFillTx/>
              <a:latin typeface="Arial"/>
            </a:endParaRPr>
          </a:p>
        </p:txBody>
      </p:sp>
      <p:sp>
        <p:nvSpPr>
          <p:cNvPr id="137" name="Text 48"/>
          <p:cNvSpPr/>
          <p:nvPr/>
        </p:nvSpPr>
        <p:spPr>
          <a:xfrm>
            <a:off x="8284320" y="4601160"/>
            <a:ext cx="3538440" cy="169560"/>
          </a:xfrm>
          <a:prstGeom prst="rect">
            <a:avLst/>
          </a:prstGeom>
          <a:noFill/>
          <a:ln w="0">
            <a:noFill/>
          </a:ln>
        </p:spPr>
        <p:style>
          <a:lnRef idx="0"/>
          <a:fillRef idx="0"/>
          <a:effectRef idx="0"/>
          <a:fontRef idx="minor"/>
        </p:style>
        <p:txBody>
          <a:bodyPr lIns="0" tIns="0" rIns="0" bIns="0" anchor="t">
            <a:noAutofit/>
          </a:bodyPr>
          <a:p>
            <a:pPr>
              <a:lnSpc>
                <a:spcPts val="1151"/>
              </a:lnSpc>
              <a:tabLst>
                <a:tab pos="0" algn="l"/>
              </a:tabLst>
            </a:pPr>
            <a:r>
              <a:rPr lang="en-NG" sz="950" b="0" u="none" strike="noStrike">
                <a:solidFill>
                  <a:srgbClr val="1A1A2E"/>
                </a:solidFill>
                <a:effectLst/>
                <a:uFillTx/>
                <a:latin typeface="Calibri"/>
                <a:ea typeface="Calibri"/>
              </a:rPr>
              <a:t>Transactional email from the verified domain.</a:t>
            </a:r>
            <a:endParaRPr lang="en-NG" sz="950" b="0" u="none" strike="noStrike">
              <a:solidFill>
                <a:srgbClr val="000000"/>
              </a:solidFill>
              <a:effectLst/>
              <a:uFillTx/>
              <a:latin typeface="Arial"/>
            </a:endParaRPr>
          </a:p>
        </p:txBody>
      </p:sp>
      <p:sp>
        <p:nvSpPr>
          <p:cNvPr id="138" name="Text 49"/>
          <p:cNvSpPr/>
          <p:nvPr/>
        </p:nvSpPr>
        <p:spPr>
          <a:xfrm>
            <a:off x="8284320" y="4798800"/>
            <a:ext cx="3538440" cy="182520"/>
          </a:xfrm>
          <a:prstGeom prst="rect">
            <a:avLst/>
          </a:prstGeom>
          <a:noFill/>
          <a:ln w="0">
            <a:noFill/>
          </a:ln>
        </p:spPr>
        <p:style>
          <a:lnRef idx="0"/>
          <a:fillRef idx="0"/>
          <a:effectRef idx="0"/>
          <a:fontRef idx="minor"/>
        </p:style>
        <p:txBody>
          <a:bodyPr lIns="0" tIns="0" rIns="0" bIns="0" anchor="t">
            <a:noAutofit/>
          </a:bodyPr>
          <a:p>
            <a:pPr>
              <a:lnSpc>
                <a:spcPct val="100000"/>
              </a:lnSpc>
              <a:tabLst>
                <a:tab pos="0" algn="l"/>
              </a:tabLst>
            </a:pPr>
            <a:r>
              <a:rPr lang="en-NG" sz="1100" b="1" u="none" strike="noStrike">
                <a:solidFill>
                  <a:srgbClr val="3B2C7A"/>
                </a:solidFill>
                <a:effectLst/>
                <a:uFillTx/>
                <a:latin typeface="Calibri"/>
                <a:ea typeface="Calibri"/>
              </a:rPr>
              <a:t>Firebase FCM</a:t>
            </a:r>
            <a:endParaRPr lang="en-NG" sz="1100" b="0" u="none" strike="noStrike">
              <a:solidFill>
                <a:srgbClr val="000000"/>
              </a:solidFill>
              <a:effectLst/>
              <a:uFillTx/>
              <a:latin typeface="Arial"/>
            </a:endParaRPr>
          </a:p>
        </p:txBody>
      </p:sp>
      <p:sp>
        <p:nvSpPr>
          <p:cNvPr id="139" name="Text 50"/>
          <p:cNvSpPr/>
          <p:nvPr/>
        </p:nvSpPr>
        <p:spPr>
          <a:xfrm>
            <a:off x="8284320" y="4972680"/>
            <a:ext cx="3538440" cy="169560"/>
          </a:xfrm>
          <a:prstGeom prst="rect">
            <a:avLst/>
          </a:prstGeom>
          <a:noFill/>
          <a:ln w="0">
            <a:noFill/>
          </a:ln>
        </p:spPr>
        <p:style>
          <a:lnRef idx="0"/>
          <a:fillRef idx="0"/>
          <a:effectRef idx="0"/>
          <a:fontRef idx="minor"/>
        </p:style>
        <p:txBody>
          <a:bodyPr lIns="0" tIns="0" rIns="0" bIns="0" anchor="t">
            <a:noAutofit/>
          </a:bodyPr>
          <a:p>
            <a:pPr>
              <a:lnSpc>
                <a:spcPts val="1151"/>
              </a:lnSpc>
              <a:tabLst>
                <a:tab pos="0" algn="l"/>
              </a:tabLst>
            </a:pPr>
            <a:r>
              <a:rPr lang="en-NG" sz="950" b="0" u="none" strike="noStrike">
                <a:solidFill>
                  <a:srgbClr val="1A1A2E"/>
                </a:solidFill>
                <a:effectLst/>
                <a:uFillTx/>
                <a:latin typeface="Calibri"/>
                <a:ea typeface="Calibri"/>
              </a:rPr>
              <a:t>Push notifications to registered devices.</a:t>
            </a:r>
            <a:endParaRPr lang="en-NG" sz="950" b="0" u="none" strike="noStrike">
              <a:solidFill>
                <a:srgbClr val="000000"/>
              </a:solidFill>
              <a:effectLst/>
              <a:uFillTx/>
              <a:latin typeface="Arial"/>
            </a:endParaRPr>
          </a:p>
        </p:txBody>
      </p:sp>
      <p:sp>
        <p:nvSpPr>
          <p:cNvPr id="140" name="Text 51"/>
          <p:cNvSpPr/>
          <p:nvPr/>
        </p:nvSpPr>
        <p:spPr>
          <a:xfrm>
            <a:off x="8284320" y="5169960"/>
            <a:ext cx="3538440" cy="182520"/>
          </a:xfrm>
          <a:prstGeom prst="rect">
            <a:avLst/>
          </a:prstGeom>
          <a:noFill/>
          <a:ln w="0">
            <a:noFill/>
          </a:ln>
        </p:spPr>
        <p:style>
          <a:lnRef idx="0"/>
          <a:fillRef idx="0"/>
          <a:effectRef idx="0"/>
          <a:fontRef idx="minor"/>
        </p:style>
        <p:txBody>
          <a:bodyPr lIns="0" tIns="0" rIns="0" bIns="0" anchor="t">
            <a:noAutofit/>
          </a:bodyPr>
          <a:p>
            <a:pPr>
              <a:lnSpc>
                <a:spcPct val="100000"/>
              </a:lnSpc>
              <a:tabLst>
                <a:tab pos="0" algn="l"/>
              </a:tabLst>
            </a:pPr>
            <a:r>
              <a:rPr lang="en-NG" sz="1100" b="1" u="none" strike="noStrike">
                <a:solidFill>
                  <a:srgbClr val="3B2C7A"/>
                </a:solidFill>
                <a:effectLst/>
                <a:uFillTx/>
                <a:latin typeface="Calibri"/>
                <a:ea typeface="Calibri"/>
              </a:rPr>
              <a:t>govulncheck</a:t>
            </a:r>
            <a:endParaRPr lang="en-NG" sz="1100" b="0" u="none" strike="noStrike">
              <a:solidFill>
                <a:srgbClr val="000000"/>
              </a:solidFill>
              <a:effectLst/>
              <a:uFillTx/>
              <a:latin typeface="Arial"/>
            </a:endParaRPr>
          </a:p>
        </p:txBody>
      </p:sp>
      <p:sp>
        <p:nvSpPr>
          <p:cNvPr id="141" name="Text 52"/>
          <p:cNvSpPr/>
          <p:nvPr/>
        </p:nvSpPr>
        <p:spPr>
          <a:xfrm>
            <a:off x="8284320" y="5343840"/>
            <a:ext cx="3538440" cy="169560"/>
          </a:xfrm>
          <a:prstGeom prst="rect">
            <a:avLst/>
          </a:prstGeom>
          <a:noFill/>
          <a:ln w="0">
            <a:noFill/>
          </a:ln>
        </p:spPr>
        <p:style>
          <a:lnRef idx="0"/>
          <a:fillRef idx="0"/>
          <a:effectRef idx="0"/>
          <a:fontRef idx="minor"/>
        </p:style>
        <p:txBody>
          <a:bodyPr lIns="0" tIns="0" rIns="0" bIns="0" anchor="t">
            <a:noAutofit/>
          </a:bodyPr>
          <a:p>
            <a:pPr>
              <a:lnSpc>
                <a:spcPts val="1151"/>
              </a:lnSpc>
              <a:tabLst>
                <a:tab pos="0" algn="l"/>
              </a:tabLst>
            </a:pPr>
            <a:r>
              <a:rPr lang="en-NG" sz="950" b="0" u="none" strike="noStrike">
                <a:solidFill>
                  <a:srgbClr val="1A1A2E"/>
                </a:solidFill>
                <a:effectLst/>
                <a:uFillTx/>
                <a:latin typeface="Calibri"/>
                <a:ea typeface="Calibri"/>
              </a:rPr>
              <a:t>Dependency vulnerability scanning in CI.</a:t>
            </a:r>
            <a:endParaRPr lang="en-NG" sz="9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42" name="Image 0"/>
          <p:cNvPicPr/>
          <p:nvPr/>
        </p:nvPicPr>
        <p:blipFill>
          <a:blip r:embed="rId1"/>
          <a:stretch/>
        </p:blipFill>
        <p:spPr>
          <a:xfrm>
            <a:off x="11149200" y="365760"/>
            <a:ext cx="475200" cy="465840"/>
          </a:xfrm>
          <a:prstGeom prst="rect">
            <a:avLst/>
          </a:prstGeom>
          <a:noFill/>
          <a:ln w="0">
            <a:noFill/>
          </a:ln>
        </p:spPr>
      </p:pic>
      <p:sp>
        <p:nvSpPr>
          <p:cNvPr id="143" name=""/>
          <p:cNvSpPr/>
          <p:nvPr/>
        </p:nvSpPr>
        <p:spPr>
          <a:xfrm>
            <a:off x="552600" y="228600"/>
            <a:ext cx="3142800" cy="190080"/>
          </a:xfrm>
          <a:prstGeom prst="rect">
            <a:avLst/>
          </a:prstGeom>
          <a:noFill/>
          <a:ln w="0">
            <a:noFill/>
          </a:ln>
        </p:spPr>
        <p:style>
          <a:lnRef idx="0"/>
          <a:fillRef idx="0"/>
          <a:effectRef idx="0"/>
          <a:fontRef idx="minor"/>
        </p:style>
        <p:txBody>
          <a:bodyPr lIns="90000" tIns="45000" rIns="90000" bIns="45000" anchor="t">
            <a:normAutofit fontScale="77500" lnSpcReduction="19999"/>
          </a:bodyPr>
          <a:p>
            <a:pPr>
              <a:lnSpc>
                <a:spcPct val="100000"/>
              </a:lnSpc>
            </a:pPr>
            <a:r>
              <a:rPr lang="en-NG" sz="980" b="1" u="none" strike="noStrike">
                <a:solidFill>
                  <a:srgbClr val="E9B33B"/>
                </a:solidFill>
                <a:effectLst/>
                <a:uFillTx/>
                <a:latin typeface="Calibri"/>
                <a:ea typeface="Calibri"/>
              </a:rPr>
              <a:t>THE CLIENT</a:t>
            </a:r>
            <a:endParaRPr lang="en-NG" sz="980" b="0" u="none" strike="noStrike">
              <a:solidFill>
                <a:srgbClr val="000000"/>
              </a:solidFill>
              <a:effectLst/>
              <a:uFillTx/>
              <a:latin typeface="Arial"/>
            </a:endParaRPr>
          </a:p>
        </p:txBody>
      </p:sp>
      <p:sp>
        <p:nvSpPr>
          <p:cNvPr id="144" name=""/>
          <p:cNvSpPr/>
          <p:nvPr/>
        </p:nvSpPr>
        <p:spPr>
          <a:xfrm>
            <a:off x="552600" y="457200"/>
            <a:ext cx="7619760" cy="380520"/>
          </a:xfrm>
          <a:prstGeom prst="rect">
            <a:avLst/>
          </a:prstGeom>
          <a:noFill/>
          <a:ln w="0">
            <a:noFill/>
          </a:ln>
        </p:spPr>
        <p:style>
          <a:lnRef idx="0"/>
          <a:fillRef idx="0"/>
          <a:effectRef idx="0"/>
          <a:fontRef idx="minor"/>
        </p:style>
        <p:txBody>
          <a:bodyPr lIns="90000" tIns="45000" rIns="90000" bIns="45000" anchor="t">
            <a:normAutofit fontScale="92500" lnSpcReduction="9999"/>
          </a:bodyPr>
          <a:p>
            <a:pPr>
              <a:lnSpc>
                <a:spcPct val="100000"/>
              </a:lnSpc>
            </a:pPr>
            <a:r>
              <a:rPr lang="en-NG" sz="2170" b="1" u="none" strike="noStrike">
                <a:solidFill>
                  <a:srgbClr val="28115B"/>
                </a:solidFill>
                <a:effectLst/>
                <a:uFillTx/>
                <a:latin typeface="Cambria"/>
                <a:ea typeface="Cambria"/>
              </a:rPr>
              <a:t>The catalogue page, explained</a:t>
            </a:r>
            <a:endParaRPr lang="en-NG" sz="2170" b="0" u="none" strike="noStrike">
              <a:solidFill>
                <a:srgbClr val="000000"/>
              </a:solidFill>
              <a:effectLst/>
              <a:uFillTx/>
              <a:latin typeface="Arial"/>
            </a:endParaRPr>
          </a:p>
        </p:txBody>
      </p:sp>
      <p:sp>
        <p:nvSpPr>
          <p:cNvPr id="145" name=""/>
          <p:cNvSpPr/>
          <p:nvPr/>
        </p:nvSpPr>
        <p:spPr>
          <a:xfrm>
            <a:off x="552600" y="828720"/>
            <a:ext cx="9334080" cy="190080"/>
          </a:xfrm>
          <a:prstGeom prst="rect">
            <a:avLst/>
          </a:prstGeom>
          <a:noFill/>
          <a:ln w="0">
            <a:noFill/>
          </a:ln>
        </p:spPr>
        <p:style>
          <a:lnRef idx="0"/>
          <a:fillRef idx="0"/>
          <a:effectRef idx="0"/>
          <a:fontRef idx="minor"/>
        </p:style>
        <p:txBody>
          <a:bodyPr lIns="90000" tIns="45000" rIns="90000" bIns="45000" anchor="t">
            <a:normAutofit fontScale="85000" lnSpcReduction="19999"/>
          </a:bodyPr>
          <a:p>
            <a:pPr>
              <a:lnSpc>
                <a:spcPct val="100000"/>
              </a:lnSpc>
            </a:pPr>
            <a:r>
              <a:rPr lang="en-NG" sz="900" b="0" u="none" strike="noStrike">
                <a:solidFill>
                  <a:srgbClr val="656A7B"/>
                </a:solidFill>
                <a:effectLst/>
                <a:uFillTx/>
                <a:latin typeface="Calibri"/>
                <a:ea typeface="Calibri"/>
              </a:rPr>
              <a:t>Hand-written HTML, token-based CSS and JavaScript work together in every screen.</a:t>
            </a:r>
            <a:endParaRPr lang="en-NG" sz="900" b="0" u="none" strike="noStrike">
              <a:solidFill>
                <a:srgbClr val="000000"/>
              </a:solidFill>
              <a:effectLst/>
              <a:uFillTx/>
              <a:latin typeface="Arial"/>
            </a:endParaRPr>
          </a:p>
        </p:txBody>
      </p:sp>
      <p:sp>
        <p:nvSpPr>
          <p:cNvPr id="146" name=""/>
          <p:cNvSpPr/>
          <p:nvPr/>
        </p:nvSpPr>
        <p:spPr>
          <a:xfrm>
            <a:off x="2762280" y="1123920"/>
            <a:ext cx="6667200" cy="5333760"/>
          </a:xfrm>
          <a:prstGeom prst="roundRect">
            <a:avLst>
              <a:gd name="adj" fmla="val 2143"/>
            </a:avLst>
          </a:prstGeom>
          <a:solidFill>
            <a:srgbClr val="FFFFFF"/>
          </a:solidFill>
          <a:ln w="11430">
            <a:solidFill>
              <a:srgbClr val="C6C8D5"/>
            </a:solidFill>
            <a:round/>
          </a:ln>
          <a:effectLst>
            <a:outerShdw algn="ctr" blurRad="57240" dir="5400000" dist="19080" rotWithShape="0">
              <a:srgbClr val="000000">
                <a:alpha val="63000"/>
              </a:srgbClr>
            </a:outerShdw>
          </a:effectLst>
        </p:spPr>
        <p:style>
          <a:lnRef idx="0"/>
          <a:fillRef idx="0"/>
          <a:effectRef idx="4"/>
          <a:fontRef idx="minor"/>
        </p:style>
        <p:txBody>
          <a:bodyPr lIns="90000" tIns="45000" rIns="90000" bIns="45000" anchor="t">
            <a:noAutofit/>
          </a:bodyPr>
          <a:p>
            <a:pPr/>
            <a:endParaRPr lang="en-NG" sz="1800" b="0" u="none" strike="noStrike">
              <a:solidFill>
                <a:srgbClr val="000000"/>
              </a:solidFill>
              <a:effectLst/>
              <a:uFillTx/>
              <a:latin typeface="Arial"/>
            </a:endParaRPr>
          </a:p>
        </p:txBody>
      </p:sp>
      <p:pic>
        <p:nvPicPr>
          <p:cNvPr id="147" name=""/>
          <p:cNvPicPr/>
          <p:nvPr/>
        </p:nvPicPr>
        <p:blipFill>
          <a:blip r:embed="rId2"/>
          <a:stretch/>
        </p:blipFill>
        <p:spPr>
          <a:xfrm>
            <a:off x="3012480" y="1123920"/>
            <a:ext cx="6167160" cy="5219280"/>
          </a:xfrm>
          <a:prstGeom prst="rect">
            <a:avLst/>
          </a:prstGeom>
          <a:noFill/>
          <a:ln w="0">
            <a:noFill/>
          </a:ln>
        </p:spPr>
      </p:pic>
      <p:sp>
        <p:nvSpPr>
          <p:cNvPr id="148" name=""/>
          <p:cNvSpPr/>
          <p:nvPr/>
        </p:nvSpPr>
        <p:spPr>
          <a:xfrm>
            <a:off x="209520" y="1162080"/>
            <a:ext cx="2400120" cy="723600"/>
          </a:xfrm>
          <a:prstGeom prst="roundRect">
            <a:avLst>
              <a:gd name="adj" fmla="val 10526"/>
            </a:avLst>
          </a:prstGeom>
          <a:solidFill>
            <a:srgbClr val="F7F7FB"/>
          </a:solidFill>
          <a:ln w="9525">
            <a:solidFill>
              <a:srgbClr val="D8DAE6"/>
            </a:solidFill>
            <a:round/>
          </a:ln>
          <a:effectLst>
            <a:outerShdw algn="ctr" blurRad="57240" dir="5400000" dist="19080" rotWithShape="0">
              <a:srgbClr val="000000">
                <a:alpha val="63000"/>
              </a:srgbClr>
            </a:outerShdw>
          </a:effectLst>
        </p:spPr>
        <p:style>
          <a:lnRef idx="0"/>
          <a:fillRef idx="0"/>
          <a:effectRef idx="4"/>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149" name=""/>
          <p:cNvSpPr/>
          <p:nvPr/>
        </p:nvSpPr>
        <p:spPr>
          <a:xfrm>
            <a:off x="219240" y="1257480"/>
            <a:ext cx="37800" cy="533160"/>
          </a:xfrm>
          <a:prstGeom prst="rect">
            <a:avLst/>
          </a:prstGeom>
          <a:solidFill>
            <a:srgbClr val="E9B33B"/>
          </a:solidFill>
          <a:ln w="0">
            <a:noFill/>
          </a:ln>
        </p:spPr>
        <p:style>
          <a:lnRef idx="0"/>
          <a:fillRef idx="0"/>
          <a:effectRef idx="0"/>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150" name=""/>
          <p:cNvSpPr/>
          <p:nvPr/>
        </p:nvSpPr>
        <p:spPr>
          <a:xfrm>
            <a:off x="352440" y="1257480"/>
            <a:ext cx="2133360" cy="171000"/>
          </a:xfrm>
          <a:prstGeom prst="rect">
            <a:avLst/>
          </a:prstGeom>
          <a:noFill/>
          <a:ln w="0">
            <a:noFill/>
          </a:ln>
        </p:spPr>
        <p:style>
          <a:lnRef idx="0"/>
          <a:fillRef idx="0"/>
          <a:effectRef idx="0"/>
          <a:fontRef idx="minor"/>
        </p:style>
        <p:txBody>
          <a:bodyPr lIns="90000" tIns="45000" rIns="90000" bIns="45000" anchor="t">
            <a:normAutofit fontScale="70000" lnSpcReduction="19999"/>
          </a:bodyPr>
          <a:p>
            <a:pPr>
              <a:lnSpc>
                <a:spcPct val="100000"/>
              </a:lnSpc>
            </a:pPr>
            <a:r>
              <a:rPr lang="en-NG" sz="939" b="1" u="none" strike="noStrike">
                <a:solidFill>
                  <a:srgbClr val="28115B"/>
                </a:solidFill>
                <a:effectLst/>
                <a:uFillTx/>
                <a:latin typeface="Calibri"/>
                <a:ea typeface="Calibri"/>
              </a:rPr>
              <a:t>Semantic structure</a:t>
            </a:r>
            <a:endParaRPr lang="en-NG" sz="939" b="0" u="none" strike="noStrike">
              <a:solidFill>
                <a:srgbClr val="000000"/>
              </a:solidFill>
              <a:effectLst/>
              <a:uFillTx/>
              <a:latin typeface="Arial"/>
            </a:endParaRPr>
          </a:p>
        </p:txBody>
      </p:sp>
      <p:sp>
        <p:nvSpPr>
          <p:cNvPr id="151" name=""/>
          <p:cNvSpPr/>
          <p:nvPr/>
        </p:nvSpPr>
        <p:spPr>
          <a:xfrm>
            <a:off x="352440" y="1457280"/>
            <a:ext cx="2133360" cy="342720"/>
          </a:xfrm>
          <a:prstGeom prst="rect">
            <a:avLst/>
          </a:prstGeom>
          <a:noFill/>
          <a:ln w="0">
            <a:noFill/>
          </a:ln>
        </p:spPr>
        <p:style>
          <a:lnRef idx="0"/>
          <a:fillRef idx="0"/>
          <a:effectRef idx="0"/>
          <a:fontRef idx="minor"/>
        </p:style>
        <p:txBody>
          <a:bodyPr lIns="90000" tIns="45000" rIns="90000" bIns="45000" anchor="t">
            <a:normAutofit/>
          </a:bodyPr>
          <a:p>
            <a:pPr>
              <a:lnSpc>
                <a:spcPct val="100000"/>
              </a:lnSpc>
            </a:pPr>
            <a:r>
              <a:rPr lang="en-NG" sz="720" b="0" u="none" strike="noStrike">
                <a:solidFill>
                  <a:srgbClr val="656A7B"/>
                </a:solidFill>
                <a:effectLst/>
                <a:uFillTx/>
                <a:latin typeface="Calibri"/>
                <a:ea typeface="Calibri"/>
              </a:rPr>
              <a:t>Native header, navigation, main content and footer give the page a clear structure.</a:t>
            </a:r>
            <a:endParaRPr lang="en-NG" sz="720" b="0" u="none" strike="noStrike">
              <a:solidFill>
                <a:srgbClr val="000000"/>
              </a:solidFill>
              <a:effectLst/>
              <a:uFillTx/>
              <a:latin typeface="Arial"/>
            </a:endParaRPr>
          </a:p>
        </p:txBody>
      </p:sp>
      <p:sp>
        <p:nvSpPr>
          <p:cNvPr id="152" name=""/>
          <p:cNvSpPr/>
          <p:nvPr/>
        </p:nvSpPr>
        <p:spPr>
          <a:xfrm>
            <a:off x="5524560" y="1962000"/>
            <a:ext cx="95040" cy="95040"/>
          </a:xfrm>
          <a:prstGeom prst="ellipse">
            <a:avLst/>
          </a:prstGeom>
          <a:solidFill>
            <a:srgbClr val="E9B33B"/>
          </a:solidFill>
          <a:ln w="9525">
            <a:solidFill>
              <a:srgbClr val="FFFFFF"/>
            </a:solidFill>
            <a:round/>
          </a:ln>
        </p:spPr>
        <p:style>
          <a:lnRef idx="0"/>
          <a:fillRef idx="0"/>
          <a:effectRef idx="0"/>
          <a:fontRef idx="minor"/>
        </p:style>
        <p:txBody>
          <a:bodyPr lIns="90000" tIns="22680" rIns="90000" bIns="22680" anchor="t">
            <a:noAutofit/>
          </a:bodyPr>
          <a:p>
            <a:pPr/>
            <a:endParaRPr lang="en-NG" sz="1800" b="0" u="none" strike="noStrike">
              <a:solidFill>
                <a:srgbClr val="000000"/>
              </a:solidFill>
              <a:effectLst/>
              <a:uFillTx/>
              <a:latin typeface="Arial"/>
            </a:endParaRPr>
          </a:p>
        </p:txBody>
      </p:sp>
      <p:cxnSp>
        <p:nvCxnSpPr>
          <p:cNvPr id="153" name=""/>
          <p:cNvCxnSpPr>
            <a:stCxn id="148" idx="3"/>
            <a:endCxn id="152" idx="2"/>
          </p:cNvCxnSpPr>
          <p:nvPr/>
        </p:nvCxnSpPr>
        <p:spPr>
          <a:xfrm>
            <a:off x="2609640" y="1523880"/>
            <a:ext cx="2915280" cy="486000"/>
          </a:xfrm>
          <a:prstGeom prst="bentConnector3">
            <a:avLst>
              <a:gd name="adj1" fmla="val 50006"/>
            </a:avLst>
          </a:prstGeom>
          <a:ln w="11906">
            <a:solidFill>
              <a:srgbClr val="E9B33B"/>
            </a:solidFill>
            <a:round/>
            <a:tailEnd len="sm" type="arrow" w="sm"/>
          </a:ln>
        </p:spPr>
      </p:cxnSp>
      <p:sp>
        <p:nvSpPr>
          <p:cNvPr id="154" name=""/>
          <p:cNvSpPr/>
          <p:nvPr/>
        </p:nvSpPr>
        <p:spPr>
          <a:xfrm>
            <a:off x="209520" y="2038320"/>
            <a:ext cx="2400120" cy="723600"/>
          </a:xfrm>
          <a:prstGeom prst="roundRect">
            <a:avLst>
              <a:gd name="adj" fmla="val 10526"/>
            </a:avLst>
          </a:prstGeom>
          <a:solidFill>
            <a:srgbClr val="F7F7FB"/>
          </a:solidFill>
          <a:ln w="9525">
            <a:solidFill>
              <a:srgbClr val="D8DAE6"/>
            </a:solidFill>
            <a:round/>
          </a:ln>
          <a:effectLst>
            <a:outerShdw algn="ctr" blurRad="57240" dir="5400000" dist="19080" rotWithShape="0">
              <a:srgbClr val="000000">
                <a:alpha val="63000"/>
              </a:srgbClr>
            </a:outerShdw>
          </a:effectLst>
        </p:spPr>
        <p:style>
          <a:lnRef idx="0"/>
          <a:fillRef idx="0"/>
          <a:effectRef idx="4"/>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155" name=""/>
          <p:cNvSpPr/>
          <p:nvPr/>
        </p:nvSpPr>
        <p:spPr>
          <a:xfrm>
            <a:off x="219240" y="2133720"/>
            <a:ext cx="37800" cy="533160"/>
          </a:xfrm>
          <a:prstGeom prst="rect">
            <a:avLst/>
          </a:prstGeom>
          <a:solidFill>
            <a:srgbClr val="E9B33B"/>
          </a:solidFill>
          <a:ln w="0">
            <a:noFill/>
          </a:ln>
        </p:spPr>
        <p:style>
          <a:lnRef idx="0"/>
          <a:fillRef idx="0"/>
          <a:effectRef idx="0"/>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156" name=""/>
          <p:cNvSpPr/>
          <p:nvPr/>
        </p:nvSpPr>
        <p:spPr>
          <a:xfrm>
            <a:off x="352440" y="2133720"/>
            <a:ext cx="2133360" cy="171000"/>
          </a:xfrm>
          <a:prstGeom prst="rect">
            <a:avLst/>
          </a:prstGeom>
          <a:noFill/>
          <a:ln w="0">
            <a:noFill/>
          </a:ln>
        </p:spPr>
        <p:style>
          <a:lnRef idx="0"/>
          <a:fillRef idx="0"/>
          <a:effectRef idx="0"/>
          <a:fontRef idx="minor"/>
        </p:style>
        <p:txBody>
          <a:bodyPr lIns="90000" tIns="45000" rIns="90000" bIns="45000" anchor="t">
            <a:normAutofit fontScale="70000" lnSpcReduction="19999"/>
          </a:bodyPr>
          <a:p>
            <a:pPr>
              <a:lnSpc>
                <a:spcPct val="100000"/>
              </a:lnSpc>
            </a:pPr>
            <a:r>
              <a:rPr lang="en-NG" sz="939" b="1" u="none" strike="noStrike">
                <a:solidFill>
                  <a:srgbClr val="28115B"/>
                </a:solidFill>
                <a:effectLst/>
                <a:uFillTx/>
                <a:latin typeface="Calibri"/>
                <a:ea typeface="Calibri"/>
              </a:rPr>
              <a:t>Labelled search form</a:t>
            </a:r>
            <a:endParaRPr lang="en-NG" sz="939" b="0" u="none" strike="noStrike">
              <a:solidFill>
                <a:srgbClr val="000000"/>
              </a:solidFill>
              <a:effectLst/>
              <a:uFillTx/>
              <a:latin typeface="Arial"/>
            </a:endParaRPr>
          </a:p>
        </p:txBody>
      </p:sp>
      <p:sp>
        <p:nvSpPr>
          <p:cNvPr id="157" name=""/>
          <p:cNvSpPr/>
          <p:nvPr/>
        </p:nvSpPr>
        <p:spPr>
          <a:xfrm>
            <a:off x="352440" y="2333520"/>
            <a:ext cx="2133360" cy="342720"/>
          </a:xfrm>
          <a:prstGeom prst="rect">
            <a:avLst/>
          </a:prstGeom>
          <a:noFill/>
          <a:ln w="0">
            <a:noFill/>
          </a:ln>
        </p:spPr>
        <p:style>
          <a:lnRef idx="0"/>
          <a:fillRef idx="0"/>
          <a:effectRef idx="0"/>
          <a:fontRef idx="minor"/>
        </p:style>
        <p:txBody>
          <a:bodyPr lIns="90000" tIns="45000" rIns="90000" bIns="45000" anchor="t">
            <a:normAutofit/>
          </a:bodyPr>
          <a:p>
            <a:pPr>
              <a:lnSpc>
                <a:spcPct val="100000"/>
              </a:lnSpc>
            </a:pPr>
            <a:r>
              <a:rPr lang="en-NG" sz="720" b="0" u="none" strike="noStrike">
                <a:solidFill>
                  <a:srgbClr val="656A7B"/>
                </a:solidFill>
                <a:effectLst/>
                <a:uFillTx/>
                <a:latin typeface="Calibri"/>
                <a:ea typeface="Calibri"/>
              </a:rPr>
              <a:t>The search field and button use a real form so readers can search by keyboard.</a:t>
            </a:r>
            <a:endParaRPr lang="en-NG" sz="720" b="0" u="none" strike="noStrike">
              <a:solidFill>
                <a:srgbClr val="000000"/>
              </a:solidFill>
              <a:effectLst/>
              <a:uFillTx/>
              <a:latin typeface="Arial"/>
            </a:endParaRPr>
          </a:p>
        </p:txBody>
      </p:sp>
      <p:sp>
        <p:nvSpPr>
          <p:cNvPr id="158" name=""/>
          <p:cNvSpPr/>
          <p:nvPr/>
        </p:nvSpPr>
        <p:spPr>
          <a:xfrm>
            <a:off x="4857840" y="2847960"/>
            <a:ext cx="95040" cy="95040"/>
          </a:xfrm>
          <a:prstGeom prst="ellipse">
            <a:avLst/>
          </a:prstGeom>
          <a:solidFill>
            <a:srgbClr val="E9B33B"/>
          </a:solidFill>
          <a:ln w="9525">
            <a:solidFill>
              <a:srgbClr val="FFFFFF"/>
            </a:solidFill>
            <a:round/>
          </a:ln>
        </p:spPr>
        <p:style>
          <a:lnRef idx="0"/>
          <a:fillRef idx="0"/>
          <a:effectRef idx="0"/>
          <a:fontRef idx="minor"/>
        </p:style>
        <p:txBody>
          <a:bodyPr lIns="90000" tIns="22680" rIns="90000" bIns="22680" anchor="t">
            <a:noAutofit/>
          </a:bodyPr>
          <a:p>
            <a:pPr/>
            <a:endParaRPr lang="en-NG" sz="1800" b="0" u="none" strike="noStrike">
              <a:solidFill>
                <a:srgbClr val="000000"/>
              </a:solidFill>
              <a:effectLst/>
              <a:uFillTx/>
              <a:latin typeface="Arial"/>
            </a:endParaRPr>
          </a:p>
        </p:txBody>
      </p:sp>
      <p:cxnSp>
        <p:nvCxnSpPr>
          <p:cNvPr id="159" name=""/>
          <p:cNvCxnSpPr>
            <a:stCxn id="154" idx="3"/>
            <a:endCxn id="158" idx="2"/>
          </p:cNvCxnSpPr>
          <p:nvPr/>
        </p:nvCxnSpPr>
        <p:spPr>
          <a:xfrm>
            <a:off x="2609640" y="2400120"/>
            <a:ext cx="2248560" cy="495720"/>
          </a:xfrm>
          <a:prstGeom prst="bentConnector3">
            <a:avLst>
              <a:gd name="adj1" fmla="val 50008"/>
            </a:avLst>
          </a:prstGeom>
          <a:ln w="11906">
            <a:solidFill>
              <a:srgbClr val="E9B33B"/>
            </a:solidFill>
            <a:round/>
            <a:tailEnd len="sm" type="arrow" w="sm"/>
          </a:ln>
        </p:spPr>
      </p:cxnSp>
      <p:sp>
        <p:nvSpPr>
          <p:cNvPr id="160" name=""/>
          <p:cNvSpPr/>
          <p:nvPr/>
        </p:nvSpPr>
        <p:spPr>
          <a:xfrm>
            <a:off x="209520" y="2914560"/>
            <a:ext cx="2400120" cy="723600"/>
          </a:xfrm>
          <a:prstGeom prst="roundRect">
            <a:avLst>
              <a:gd name="adj" fmla="val 10526"/>
            </a:avLst>
          </a:prstGeom>
          <a:solidFill>
            <a:srgbClr val="F7F7FB"/>
          </a:solidFill>
          <a:ln w="9525">
            <a:solidFill>
              <a:srgbClr val="D8DAE6"/>
            </a:solidFill>
            <a:round/>
          </a:ln>
          <a:effectLst>
            <a:outerShdw algn="ctr" blurRad="57240" dir="5400000" dist="19080" rotWithShape="0">
              <a:srgbClr val="000000">
                <a:alpha val="63000"/>
              </a:srgbClr>
            </a:outerShdw>
          </a:effectLst>
        </p:spPr>
        <p:style>
          <a:lnRef idx="0"/>
          <a:fillRef idx="0"/>
          <a:effectRef idx="4"/>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161" name=""/>
          <p:cNvSpPr/>
          <p:nvPr/>
        </p:nvSpPr>
        <p:spPr>
          <a:xfrm>
            <a:off x="219240" y="3009960"/>
            <a:ext cx="37800" cy="533160"/>
          </a:xfrm>
          <a:prstGeom prst="rect">
            <a:avLst/>
          </a:prstGeom>
          <a:solidFill>
            <a:srgbClr val="E9B33B"/>
          </a:solidFill>
          <a:ln w="0">
            <a:noFill/>
          </a:ln>
        </p:spPr>
        <p:style>
          <a:lnRef idx="0"/>
          <a:fillRef idx="0"/>
          <a:effectRef idx="0"/>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162" name=""/>
          <p:cNvSpPr/>
          <p:nvPr/>
        </p:nvSpPr>
        <p:spPr>
          <a:xfrm>
            <a:off x="352440" y="3009960"/>
            <a:ext cx="2133360" cy="171000"/>
          </a:xfrm>
          <a:prstGeom prst="rect">
            <a:avLst/>
          </a:prstGeom>
          <a:noFill/>
          <a:ln w="0">
            <a:noFill/>
          </a:ln>
        </p:spPr>
        <p:style>
          <a:lnRef idx="0"/>
          <a:fillRef idx="0"/>
          <a:effectRef idx="0"/>
          <a:fontRef idx="minor"/>
        </p:style>
        <p:txBody>
          <a:bodyPr lIns="90000" tIns="45000" rIns="90000" bIns="45000" anchor="t">
            <a:normAutofit fontScale="70000" lnSpcReduction="19999"/>
          </a:bodyPr>
          <a:p>
            <a:pPr>
              <a:lnSpc>
                <a:spcPct val="100000"/>
              </a:lnSpc>
            </a:pPr>
            <a:r>
              <a:rPr lang="en-NG" sz="939" b="1" u="none" strike="noStrike">
                <a:solidFill>
                  <a:srgbClr val="28115B"/>
                </a:solidFill>
                <a:effectLst/>
                <a:uFillTx/>
                <a:latin typeface="Calibri"/>
                <a:ea typeface="Calibri"/>
              </a:rPr>
              <a:t>Filter and browse</a:t>
            </a:r>
            <a:endParaRPr lang="en-NG" sz="939" b="0" u="none" strike="noStrike">
              <a:solidFill>
                <a:srgbClr val="000000"/>
              </a:solidFill>
              <a:effectLst/>
              <a:uFillTx/>
              <a:latin typeface="Arial"/>
            </a:endParaRPr>
          </a:p>
        </p:txBody>
      </p:sp>
      <p:sp>
        <p:nvSpPr>
          <p:cNvPr id="163" name=""/>
          <p:cNvSpPr/>
          <p:nvPr/>
        </p:nvSpPr>
        <p:spPr>
          <a:xfrm>
            <a:off x="352440" y="3209760"/>
            <a:ext cx="2133360" cy="342720"/>
          </a:xfrm>
          <a:prstGeom prst="rect">
            <a:avLst/>
          </a:prstGeom>
          <a:noFill/>
          <a:ln w="0">
            <a:noFill/>
          </a:ln>
        </p:spPr>
        <p:style>
          <a:lnRef idx="0"/>
          <a:fillRef idx="0"/>
          <a:effectRef idx="0"/>
          <a:fontRef idx="minor"/>
        </p:style>
        <p:txBody>
          <a:bodyPr lIns="90000" tIns="45000" rIns="90000" bIns="45000" anchor="t">
            <a:normAutofit/>
          </a:bodyPr>
          <a:p>
            <a:pPr>
              <a:lnSpc>
                <a:spcPct val="100000"/>
              </a:lnSpc>
            </a:pPr>
            <a:r>
              <a:rPr lang="en-NG" sz="720" b="0" u="none" strike="noStrike">
                <a:solidFill>
                  <a:srgbClr val="656A7B"/>
                </a:solidFill>
                <a:effectLst/>
                <a:uFillTx/>
                <a:latin typeface="Calibri"/>
                <a:ea typeface="Calibri"/>
              </a:rPr>
              <a:t>The expandable filter keeps the first view simple and provides a focused way to browse.</a:t>
            </a:r>
            <a:endParaRPr lang="en-NG" sz="720" b="0" u="none" strike="noStrike">
              <a:solidFill>
                <a:srgbClr val="000000"/>
              </a:solidFill>
              <a:effectLst/>
              <a:uFillTx/>
              <a:latin typeface="Arial"/>
            </a:endParaRPr>
          </a:p>
        </p:txBody>
      </p:sp>
      <p:sp>
        <p:nvSpPr>
          <p:cNvPr id="164" name=""/>
          <p:cNvSpPr/>
          <p:nvPr/>
        </p:nvSpPr>
        <p:spPr>
          <a:xfrm>
            <a:off x="4857840" y="3171960"/>
            <a:ext cx="95040" cy="95040"/>
          </a:xfrm>
          <a:prstGeom prst="ellipse">
            <a:avLst/>
          </a:prstGeom>
          <a:solidFill>
            <a:srgbClr val="E9B33B"/>
          </a:solidFill>
          <a:ln w="9525">
            <a:solidFill>
              <a:srgbClr val="FFFFFF"/>
            </a:solidFill>
            <a:round/>
          </a:ln>
        </p:spPr>
        <p:style>
          <a:lnRef idx="0"/>
          <a:fillRef idx="0"/>
          <a:effectRef idx="0"/>
          <a:fontRef idx="minor"/>
        </p:style>
        <p:txBody>
          <a:bodyPr lIns="90000" tIns="22680" rIns="90000" bIns="22680" anchor="t">
            <a:noAutofit/>
          </a:bodyPr>
          <a:p>
            <a:pPr/>
            <a:endParaRPr lang="en-NG" sz="1800" b="0" u="none" strike="noStrike">
              <a:solidFill>
                <a:srgbClr val="000000"/>
              </a:solidFill>
              <a:effectLst/>
              <a:uFillTx/>
              <a:latin typeface="Arial"/>
            </a:endParaRPr>
          </a:p>
        </p:txBody>
      </p:sp>
      <p:cxnSp>
        <p:nvCxnSpPr>
          <p:cNvPr id="165" name=""/>
          <p:cNvCxnSpPr>
            <a:stCxn id="160" idx="3"/>
            <a:endCxn id="164" idx="2"/>
          </p:cNvCxnSpPr>
          <p:nvPr/>
        </p:nvCxnSpPr>
        <p:spPr>
          <a:xfrm flipV="1">
            <a:off x="2609640" y="3219480"/>
            <a:ext cx="2248560" cy="57240"/>
          </a:xfrm>
          <a:prstGeom prst="bentConnector3">
            <a:avLst>
              <a:gd name="adj1" fmla="val 50008"/>
            </a:avLst>
          </a:prstGeom>
          <a:ln w="11906">
            <a:solidFill>
              <a:srgbClr val="E9B33B"/>
            </a:solidFill>
            <a:round/>
            <a:tailEnd len="sm" type="arrow" w="sm"/>
          </a:ln>
        </p:spPr>
      </p:cxnSp>
      <p:sp>
        <p:nvSpPr>
          <p:cNvPr id="166" name=""/>
          <p:cNvSpPr/>
          <p:nvPr/>
        </p:nvSpPr>
        <p:spPr>
          <a:xfrm>
            <a:off x="209520" y="3790800"/>
            <a:ext cx="2400120" cy="723600"/>
          </a:xfrm>
          <a:prstGeom prst="roundRect">
            <a:avLst>
              <a:gd name="adj" fmla="val 10526"/>
            </a:avLst>
          </a:prstGeom>
          <a:solidFill>
            <a:srgbClr val="F7F7FB"/>
          </a:solidFill>
          <a:ln w="9525">
            <a:solidFill>
              <a:srgbClr val="D8DAE6"/>
            </a:solidFill>
            <a:round/>
          </a:ln>
          <a:effectLst>
            <a:outerShdw algn="ctr" blurRad="57240" dir="5400000" dist="19080" rotWithShape="0">
              <a:srgbClr val="000000">
                <a:alpha val="63000"/>
              </a:srgbClr>
            </a:outerShdw>
          </a:effectLst>
        </p:spPr>
        <p:style>
          <a:lnRef idx="0"/>
          <a:fillRef idx="0"/>
          <a:effectRef idx="4"/>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167" name=""/>
          <p:cNvSpPr/>
          <p:nvPr/>
        </p:nvSpPr>
        <p:spPr>
          <a:xfrm>
            <a:off x="219240" y="3886200"/>
            <a:ext cx="37800" cy="533160"/>
          </a:xfrm>
          <a:prstGeom prst="rect">
            <a:avLst/>
          </a:prstGeom>
          <a:solidFill>
            <a:srgbClr val="E9B33B"/>
          </a:solidFill>
          <a:ln w="0">
            <a:noFill/>
          </a:ln>
        </p:spPr>
        <p:style>
          <a:lnRef idx="0"/>
          <a:fillRef idx="0"/>
          <a:effectRef idx="0"/>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168" name=""/>
          <p:cNvSpPr/>
          <p:nvPr/>
        </p:nvSpPr>
        <p:spPr>
          <a:xfrm>
            <a:off x="352440" y="3886200"/>
            <a:ext cx="2133360" cy="171000"/>
          </a:xfrm>
          <a:prstGeom prst="rect">
            <a:avLst/>
          </a:prstGeom>
          <a:noFill/>
          <a:ln w="0">
            <a:noFill/>
          </a:ln>
        </p:spPr>
        <p:style>
          <a:lnRef idx="0"/>
          <a:fillRef idx="0"/>
          <a:effectRef idx="0"/>
          <a:fontRef idx="minor"/>
        </p:style>
        <p:txBody>
          <a:bodyPr lIns="90000" tIns="45000" rIns="90000" bIns="45000" anchor="t">
            <a:normAutofit fontScale="70000" lnSpcReduction="19999"/>
          </a:bodyPr>
          <a:p>
            <a:pPr>
              <a:lnSpc>
                <a:spcPct val="100000"/>
              </a:lnSpc>
            </a:pPr>
            <a:r>
              <a:rPr lang="en-NG" sz="939" b="1" u="none" strike="noStrike">
                <a:solidFill>
                  <a:srgbClr val="28115B"/>
                </a:solidFill>
                <a:effectLst/>
                <a:uFillTx/>
                <a:latin typeface="Calibri"/>
                <a:ea typeface="Calibri"/>
              </a:rPr>
              <a:t>Availability language</a:t>
            </a:r>
            <a:endParaRPr lang="en-NG" sz="939" b="0" u="none" strike="noStrike">
              <a:solidFill>
                <a:srgbClr val="000000"/>
              </a:solidFill>
              <a:effectLst/>
              <a:uFillTx/>
              <a:latin typeface="Arial"/>
            </a:endParaRPr>
          </a:p>
        </p:txBody>
      </p:sp>
      <p:sp>
        <p:nvSpPr>
          <p:cNvPr id="169" name=""/>
          <p:cNvSpPr/>
          <p:nvPr/>
        </p:nvSpPr>
        <p:spPr>
          <a:xfrm>
            <a:off x="352440" y="4086360"/>
            <a:ext cx="2133360" cy="342720"/>
          </a:xfrm>
          <a:prstGeom prst="rect">
            <a:avLst/>
          </a:prstGeom>
          <a:noFill/>
          <a:ln w="0">
            <a:noFill/>
          </a:ln>
        </p:spPr>
        <p:style>
          <a:lnRef idx="0"/>
          <a:fillRef idx="0"/>
          <a:effectRef idx="0"/>
          <a:fontRef idx="minor"/>
        </p:style>
        <p:txBody>
          <a:bodyPr lIns="90000" tIns="45000" rIns="90000" bIns="45000" anchor="t">
            <a:normAutofit/>
          </a:bodyPr>
          <a:p>
            <a:pPr>
              <a:lnSpc>
                <a:spcPct val="100000"/>
              </a:lnSpc>
            </a:pPr>
            <a:r>
              <a:rPr lang="en-NG" sz="720" b="0" u="none" strike="noStrike">
                <a:solidFill>
                  <a:srgbClr val="656A7B"/>
                </a:solidFill>
                <a:effectLst/>
                <a:uFillTx/>
                <a:latin typeface="Calibri"/>
                <a:ea typeface="Calibri"/>
              </a:rPr>
              <a:t>The legend explains whether a copy can go home, stays in the library or is on loan.</a:t>
            </a:r>
            <a:endParaRPr lang="en-NG" sz="720" b="0" u="none" strike="noStrike">
              <a:solidFill>
                <a:srgbClr val="000000"/>
              </a:solidFill>
              <a:effectLst/>
              <a:uFillTx/>
              <a:latin typeface="Arial"/>
            </a:endParaRPr>
          </a:p>
        </p:txBody>
      </p:sp>
      <p:sp>
        <p:nvSpPr>
          <p:cNvPr id="170" name=""/>
          <p:cNvSpPr/>
          <p:nvPr/>
        </p:nvSpPr>
        <p:spPr>
          <a:xfrm>
            <a:off x="7210440" y="4124160"/>
            <a:ext cx="95040" cy="95040"/>
          </a:xfrm>
          <a:prstGeom prst="ellipse">
            <a:avLst/>
          </a:prstGeom>
          <a:solidFill>
            <a:srgbClr val="E9B33B"/>
          </a:solidFill>
          <a:ln w="9525">
            <a:solidFill>
              <a:srgbClr val="FFFFFF"/>
            </a:solidFill>
            <a:round/>
          </a:ln>
        </p:spPr>
        <p:style>
          <a:lnRef idx="0"/>
          <a:fillRef idx="0"/>
          <a:effectRef idx="0"/>
          <a:fontRef idx="minor"/>
        </p:style>
        <p:txBody>
          <a:bodyPr lIns="90000" tIns="22680" rIns="90000" bIns="22680" anchor="t">
            <a:noAutofit/>
          </a:bodyPr>
          <a:p>
            <a:pPr/>
            <a:endParaRPr lang="en-NG" sz="1800" b="0" u="none" strike="noStrike">
              <a:solidFill>
                <a:srgbClr val="000000"/>
              </a:solidFill>
              <a:effectLst/>
              <a:uFillTx/>
              <a:latin typeface="Arial"/>
            </a:endParaRPr>
          </a:p>
        </p:txBody>
      </p:sp>
      <p:cxnSp>
        <p:nvCxnSpPr>
          <p:cNvPr id="171" name=""/>
          <p:cNvCxnSpPr>
            <a:stCxn id="166" idx="3"/>
            <a:endCxn id="170" idx="2"/>
          </p:cNvCxnSpPr>
          <p:nvPr/>
        </p:nvCxnSpPr>
        <p:spPr>
          <a:xfrm>
            <a:off x="2609640" y="4152600"/>
            <a:ext cx="4601160" cy="19440"/>
          </a:xfrm>
          <a:prstGeom prst="bentConnector3">
            <a:avLst>
              <a:gd name="adj1" fmla="val 50000"/>
            </a:avLst>
          </a:prstGeom>
          <a:ln w="11906">
            <a:solidFill>
              <a:srgbClr val="E9B33B"/>
            </a:solidFill>
            <a:round/>
            <a:tailEnd len="sm" type="arrow" w="sm"/>
          </a:ln>
        </p:spPr>
      </p:cxnSp>
      <p:sp>
        <p:nvSpPr>
          <p:cNvPr id="172" name=""/>
          <p:cNvSpPr/>
          <p:nvPr/>
        </p:nvSpPr>
        <p:spPr>
          <a:xfrm>
            <a:off x="209520" y="4667400"/>
            <a:ext cx="2400120" cy="723600"/>
          </a:xfrm>
          <a:prstGeom prst="roundRect">
            <a:avLst>
              <a:gd name="adj" fmla="val 10526"/>
            </a:avLst>
          </a:prstGeom>
          <a:solidFill>
            <a:srgbClr val="F7F7FB"/>
          </a:solidFill>
          <a:ln w="9525">
            <a:solidFill>
              <a:srgbClr val="D8DAE6"/>
            </a:solidFill>
            <a:round/>
          </a:ln>
          <a:effectLst>
            <a:outerShdw algn="ctr" blurRad="57240" dir="5400000" dist="19080" rotWithShape="0">
              <a:srgbClr val="000000">
                <a:alpha val="63000"/>
              </a:srgbClr>
            </a:outerShdw>
          </a:effectLst>
        </p:spPr>
        <p:style>
          <a:lnRef idx="0"/>
          <a:fillRef idx="0"/>
          <a:effectRef idx="4"/>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173" name=""/>
          <p:cNvSpPr/>
          <p:nvPr/>
        </p:nvSpPr>
        <p:spPr>
          <a:xfrm>
            <a:off x="219240" y="4762440"/>
            <a:ext cx="37800" cy="533160"/>
          </a:xfrm>
          <a:prstGeom prst="rect">
            <a:avLst/>
          </a:prstGeom>
          <a:solidFill>
            <a:srgbClr val="E9B33B"/>
          </a:solidFill>
          <a:ln w="0">
            <a:noFill/>
          </a:ln>
        </p:spPr>
        <p:style>
          <a:lnRef idx="0"/>
          <a:fillRef idx="0"/>
          <a:effectRef idx="0"/>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174" name=""/>
          <p:cNvSpPr/>
          <p:nvPr/>
        </p:nvSpPr>
        <p:spPr>
          <a:xfrm>
            <a:off x="352440" y="4762440"/>
            <a:ext cx="2133360" cy="171000"/>
          </a:xfrm>
          <a:prstGeom prst="rect">
            <a:avLst/>
          </a:prstGeom>
          <a:noFill/>
          <a:ln w="0">
            <a:noFill/>
          </a:ln>
        </p:spPr>
        <p:style>
          <a:lnRef idx="0"/>
          <a:fillRef idx="0"/>
          <a:effectRef idx="0"/>
          <a:fontRef idx="minor"/>
        </p:style>
        <p:txBody>
          <a:bodyPr lIns="90000" tIns="45000" rIns="90000" bIns="45000" anchor="t">
            <a:normAutofit fontScale="70000" lnSpcReduction="19999"/>
          </a:bodyPr>
          <a:p>
            <a:pPr>
              <a:lnSpc>
                <a:spcPct val="100000"/>
              </a:lnSpc>
            </a:pPr>
            <a:r>
              <a:rPr lang="en-NG" sz="939" b="1" u="none" strike="noStrike">
                <a:solidFill>
                  <a:srgbClr val="28115B"/>
                </a:solidFill>
                <a:effectLst/>
                <a:uFillTx/>
                <a:latin typeface="Calibri"/>
                <a:ea typeface="Calibri"/>
              </a:rPr>
              <a:t>Footer navigation</a:t>
            </a:r>
            <a:endParaRPr lang="en-NG" sz="939" b="0" u="none" strike="noStrike">
              <a:solidFill>
                <a:srgbClr val="000000"/>
              </a:solidFill>
              <a:effectLst/>
              <a:uFillTx/>
              <a:latin typeface="Arial"/>
            </a:endParaRPr>
          </a:p>
        </p:txBody>
      </p:sp>
      <p:sp>
        <p:nvSpPr>
          <p:cNvPr id="175" name=""/>
          <p:cNvSpPr/>
          <p:nvPr/>
        </p:nvSpPr>
        <p:spPr>
          <a:xfrm>
            <a:off x="352440" y="4962600"/>
            <a:ext cx="2133360" cy="342720"/>
          </a:xfrm>
          <a:prstGeom prst="rect">
            <a:avLst/>
          </a:prstGeom>
          <a:noFill/>
          <a:ln w="0">
            <a:noFill/>
          </a:ln>
        </p:spPr>
        <p:style>
          <a:lnRef idx="0"/>
          <a:fillRef idx="0"/>
          <a:effectRef idx="0"/>
          <a:fontRef idx="minor"/>
        </p:style>
        <p:txBody>
          <a:bodyPr lIns="90000" tIns="45000" rIns="90000" bIns="45000" anchor="t">
            <a:normAutofit/>
          </a:bodyPr>
          <a:p>
            <a:pPr>
              <a:lnSpc>
                <a:spcPct val="100000"/>
              </a:lnSpc>
            </a:pPr>
            <a:r>
              <a:rPr lang="en-NG" sz="720" b="0" u="none" strike="noStrike">
                <a:solidFill>
                  <a:srgbClr val="656A7B"/>
                </a:solidFill>
                <a:effectLst/>
                <a:uFillTx/>
                <a:latin typeface="Calibri"/>
                <a:ea typeface="Calibri"/>
              </a:rPr>
              <a:t>Library, account and help links stay available at the end of every page.</a:t>
            </a:r>
            <a:endParaRPr lang="en-NG" sz="720" b="0" u="none" strike="noStrike">
              <a:solidFill>
                <a:srgbClr val="000000"/>
              </a:solidFill>
              <a:effectLst/>
              <a:uFillTx/>
              <a:latin typeface="Arial"/>
            </a:endParaRPr>
          </a:p>
        </p:txBody>
      </p:sp>
      <p:sp>
        <p:nvSpPr>
          <p:cNvPr id="176" name=""/>
          <p:cNvSpPr/>
          <p:nvPr/>
        </p:nvSpPr>
        <p:spPr>
          <a:xfrm>
            <a:off x="5572080" y="5857920"/>
            <a:ext cx="95040" cy="95040"/>
          </a:xfrm>
          <a:prstGeom prst="ellipse">
            <a:avLst/>
          </a:prstGeom>
          <a:solidFill>
            <a:srgbClr val="E9B33B"/>
          </a:solidFill>
          <a:ln w="9525">
            <a:solidFill>
              <a:srgbClr val="FFFFFF"/>
            </a:solidFill>
            <a:round/>
          </a:ln>
        </p:spPr>
        <p:style>
          <a:lnRef idx="0"/>
          <a:fillRef idx="0"/>
          <a:effectRef idx="0"/>
          <a:fontRef idx="minor"/>
        </p:style>
        <p:txBody>
          <a:bodyPr lIns="90000" tIns="22680" rIns="90000" bIns="22680" anchor="t">
            <a:noAutofit/>
          </a:bodyPr>
          <a:p>
            <a:pPr/>
            <a:endParaRPr lang="en-NG" sz="1800" b="0" u="none" strike="noStrike">
              <a:solidFill>
                <a:srgbClr val="000000"/>
              </a:solidFill>
              <a:effectLst/>
              <a:uFillTx/>
              <a:latin typeface="Arial"/>
            </a:endParaRPr>
          </a:p>
        </p:txBody>
      </p:sp>
      <p:cxnSp>
        <p:nvCxnSpPr>
          <p:cNvPr id="177" name=""/>
          <p:cNvCxnSpPr>
            <a:stCxn id="172" idx="3"/>
            <a:endCxn id="176" idx="2"/>
          </p:cNvCxnSpPr>
          <p:nvPr/>
        </p:nvCxnSpPr>
        <p:spPr>
          <a:xfrm>
            <a:off x="2609640" y="5029200"/>
            <a:ext cx="2962800" cy="876600"/>
          </a:xfrm>
          <a:prstGeom prst="bentConnector3">
            <a:avLst>
              <a:gd name="adj1" fmla="val 50006"/>
            </a:avLst>
          </a:prstGeom>
          <a:ln w="11906">
            <a:solidFill>
              <a:srgbClr val="E9B33B"/>
            </a:solidFill>
            <a:round/>
            <a:tailEnd len="sm" type="arrow" w="sm"/>
          </a:ln>
        </p:spPr>
      </p:cxnSp>
      <p:sp>
        <p:nvSpPr>
          <p:cNvPr id="178" name=""/>
          <p:cNvSpPr/>
          <p:nvPr/>
        </p:nvSpPr>
        <p:spPr>
          <a:xfrm>
            <a:off x="9582120" y="1162080"/>
            <a:ext cx="2400120" cy="723600"/>
          </a:xfrm>
          <a:prstGeom prst="roundRect">
            <a:avLst>
              <a:gd name="adj" fmla="val 10526"/>
            </a:avLst>
          </a:prstGeom>
          <a:solidFill>
            <a:srgbClr val="F7F7FB"/>
          </a:solidFill>
          <a:ln w="9525">
            <a:solidFill>
              <a:srgbClr val="D8DAE6"/>
            </a:solidFill>
            <a:round/>
          </a:ln>
          <a:effectLst>
            <a:outerShdw algn="ctr" blurRad="57240" dir="5400000" dist="19080" rotWithShape="0">
              <a:srgbClr val="000000">
                <a:alpha val="63000"/>
              </a:srgbClr>
            </a:outerShdw>
          </a:effectLst>
        </p:spPr>
        <p:style>
          <a:lnRef idx="0"/>
          <a:fillRef idx="0"/>
          <a:effectRef idx="4"/>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179" name=""/>
          <p:cNvSpPr/>
          <p:nvPr/>
        </p:nvSpPr>
        <p:spPr>
          <a:xfrm>
            <a:off x="9591840" y="1257480"/>
            <a:ext cx="37800" cy="533160"/>
          </a:xfrm>
          <a:prstGeom prst="rect">
            <a:avLst/>
          </a:prstGeom>
          <a:solidFill>
            <a:srgbClr val="E9B33B"/>
          </a:solidFill>
          <a:ln w="0">
            <a:noFill/>
          </a:ln>
        </p:spPr>
        <p:style>
          <a:lnRef idx="0"/>
          <a:fillRef idx="0"/>
          <a:effectRef idx="0"/>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180" name=""/>
          <p:cNvSpPr/>
          <p:nvPr/>
        </p:nvSpPr>
        <p:spPr>
          <a:xfrm>
            <a:off x="9725040" y="1257480"/>
            <a:ext cx="2133360" cy="171000"/>
          </a:xfrm>
          <a:prstGeom prst="rect">
            <a:avLst/>
          </a:prstGeom>
          <a:noFill/>
          <a:ln w="0">
            <a:noFill/>
          </a:ln>
        </p:spPr>
        <p:style>
          <a:lnRef idx="0"/>
          <a:fillRef idx="0"/>
          <a:effectRef idx="0"/>
          <a:fontRef idx="minor"/>
        </p:style>
        <p:txBody>
          <a:bodyPr lIns="90000" tIns="45000" rIns="90000" bIns="45000" anchor="t">
            <a:normAutofit fontScale="70000" lnSpcReduction="19999"/>
          </a:bodyPr>
          <a:p>
            <a:pPr>
              <a:lnSpc>
                <a:spcPct val="100000"/>
              </a:lnSpc>
            </a:pPr>
            <a:r>
              <a:rPr lang="en-NG" sz="939" b="1" u="none" strike="noStrike">
                <a:solidFill>
                  <a:srgbClr val="28115B"/>
                </a:solidFill>
                <a:effectLst/>
                <a:uFillTx/>
                <a:latin typeface="Calibri"/>
                <a:ea typeface="Calibri"/>
              </a:rPr>
              <a:t>Shared CSS tokens</a:t>
            </a:r>
            <a:endParaRPr lang="en-NG" sz="939" b="0" u="none" strike="noStrike">
              <a:solidFill>
                <a:srgbClr val="000000"/>
              </a:solidFill>
              <a:effectLst/>
              <a:uFillTx/>
              <a:latin typeface="Arial"/>
            </a:endParaRPr>
          </a:p>
        </p:txBody>
      </p:sp>
      <p:sp>
        <p:nvSpPr>
          <p:cNvPr id="181" name=""/>
          <p:cNvSpPr/>
          <p:nvPr/>
        </p:nvSpPr>
        <p:spPr>
          <a:xfrm>
            <a:off x="9725040" y="1457280"/>
            <a:ext cx="2133360" cy="342720"/>
          </a:xfrm>
          <a:prstGeom prst="rect">
            <a:avLst/>
          </a:prstGeom>
          <a:noFill/>
          <a:ln w="0">
            <a:noFill/>
          </a:ln>
        </p:spPr>
        <p:style>
          <a:lnRef idx="0"/>
          <a:fillRef idx="0"/>
          <a:effectRef idx="0"/>
          <a:fontRef idx="minor"/>
        </p:style>
        <p:txBody>
          <a:bodyPr lIns="90000" tIns="45000" rIns="90000" bIns="45000" anchor="t">
            <a:normAutofit/>
          </a:bodyPr>
          <a:p>
            <a:pPr>
              <a:lnSpc>
                <a:spcPct val="100000"/>
              </a:lnSpc>
            </a:pPr>
            <a:r>
              <a:rPr lang="en-NG" sz="720" b="0" u="none" strike="noStrike">
                <a:solidFill>
                  <a:srgbClr val="656A7B"/>
                </a:solidFill>
                <a:effectLst/>
                <a:uFillTx/>
                <a:latin typeface="Calibri"/>
                <a:ea typeface="Calibri"/>
              </a:rPr>
              <a:t>The purple and gold palette, spacing and type remain consistent across the interface.</a:t>
            </a:r>
            <a:endParaRPr lang="en-NG" sz="720" b="0" u="none" strike="noStrike">
              <a:solidFill>
                <a:srgbClr val="000000"/>
              </a:solidFill>
              <a:effectLst/>
              <a:uFillTx/>
              <a:latin typeface="Arial"/>
            </a:endParaRPr>
          </a:p>
        </p:txBody>
      </p:sp>
      <p:sp>
        <p:nvSpPr>
          <p:cNvPr id="182" name=""/>
          <p:cNvSpPr/>
          <p:nvPr/>
        </p:nvSpPr>
        <p:spPr>
          <a:xfrm>
            <a:off x="7572240" y="2400480"/>
            <a:ext cx="95040" cy="95040"/>
          </a:xfrm>
          <a:prstGeom prst="ellipse">
            <a:avLst/>
          </a:prstGeom>
          <a:solidFill>
            <a:srgbClr val="E9B33B"/>
          </a:solidFill>
          <a:ln w="9525">
            <a:solidFill>
              <a:srgbClr val="FFFFFF"/>
            </a:solidFill>
            <a:round/>
          </a:ln>
        </p:spPr>
        <p:style>
          <a:lnRef idx="0"/>
          <a:fillRef idx="0"/>
          <a:effectRef idx="0"/>
          <a:fontRef idx="minor"/>
        </p:style>
        <p:txBody>
          <a:bodyPr lIns="90000" tIns="22680" rIns="90000" bIns="22680" anchor="t">
            <a:noAutofit/>
          </a:bodyPr>
          <a:p>
            <a:pPr/>
            <a:endParaRPr lang="en-NG" sz="1800" b="0" u="none" strike="noStrike">
              <a:solidFill>
                <a:srgbClr val="000000"/>
              </a:solidFill>
              <a:effectLst/>
              <a:uFillTx/>
              <a:latin typeface="Arial"/>
            </a:endParaRPr>
          </a:p>
        </p:txBody>
      </p:sp>
      <p:cxnSp>
        <p:nvCxnSpPr>
          <p:cNvPr id="183" name=""/>
          <p:cNvCxnSpPr>
            <a:stCxn id="178" idx="1"/>
            <a:endCxn id="182" idx="6"/>
          </p:cNvCxnSpPr>
          <p:nvPr/>
        </p:nvCxnSpPr>
        <p:spPr>
          <a:xfrm flipV="1" rot="10800000">
            <a:off x="7666920" y="1523520"/>
            <a:ext cx="1915200" cy="924480"/>
          </a:xfrm>
          <a:prstGeom prst="bentConnector3">
            <a:avLst>
              <a:gd name="adj1" fmla="val 49990"/>
            </a:avLst>
          </a:prstGeom>
          <a:ln w="11906">
            <a:solidFill>
              <a:srgbClr val="E9B33B"/>
            </a:solidFill>
            <a:round/>
            <a:tailEnd len="sm" type="arrow" w="sm"/>
          </a:ln>
        </p:spPr>
      </p:cxnSp>
      <p:sp>
        <p:nvSpPr>
          <p:cNvPr id="184" name=""/>
          <p:cNvSpPr/>
          <p:nvPr/>
        </p:nvSpPr>
        <p:spPr>
          <a:xfrm>
            <a:off x="9582120" y="2038320"/>
            <a:ext cx="2400120" cy="723600"/>
          </a:xfrm>
          <a:prstGeom prst="roundRect">
            <a:avLst>
              <a:gd name="adj" fmla="val 10526"/>
            </a:avLst>
          </a:prstGeom>
          <a:solidFill>
            <a:srgbClr val="F7F7FB"/>
          </a:solidFill>
          <a:ln w="9525">
            <a:solidFill>
              <a:srgbClr val="D8DAE6"/>
            </a:solidFill>
            <a:round/>
          </a:ln>
          <a:effectLst>
            <a:outerShdw algn="ctr" blurRad="57240" dir="5400000" dist="19080" rotWithShape="0">
              <a:srgbClr val="000000">
                <a:alpha val="63000"/>
              </a:srgbClr>
            </a:outerShdw>
          </a:effectLst>
        </p:spPr>
        <p:style>
          <a:lnRef idx="0"/>
          <a:fillRef idx="0"/>
          <a:effectRef idx="4"/>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185" name=""/>
          <p:cNvSpPr/>
          <p:nvPr/>
        </p:nvSpPr>
        <p:spPr>
          <a:xfrm>
            <a:off x="9591840" y="2133720"/>
            <a:ext cx="37800" cy="533160"/>
          </a:xfrm>
          <a:prstGeom prst="rect">
            <a:avLst/>
          </a:prstGeom>
          <a:solidFill>
            <a:srgbClr val="E9B33B"/>
          </a:solidFill>
          <a:ln w="0">
            <a:noFill/>
          </a:ln>
        </p:spPr>
        <p:style>
          <a:lnRef idx="0"/>
          <a:fillRef idx="0"/>
          <a:effectRef idx="0"/>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186" name=""/>
          <p:cNvSpPr/>
          <p:nvPr/>
        </p:nvSpPr>
        <p:spPr>
          <a:xfrm>
            <a:off x="9725040" y="2133720"/>
            <a:ext cx="2133360" cy="171000"/>
          </a:xfrm>
          <a:prstGeom prst="rect">
            <a:avLst/>
          </a:prstGeom>
          <a:noFill/>
          <a:ln w="0">
            <a:noFill/>
          </a:ln>
        </p:spPr>
        <p:style>
          <a:lnRef idx="0"/>
          <a:fillRef idx="0"/>
          <a:effectRef idx="0"/>
          <a:fontRef idx="minor"/>
        </p:style>
        <p:txBody>
          <a:bodyPr lIns="90000" tIns="45000" rIns="90000" bIns="45000" anchor="t">
            <a:normAutofit fontScale="70000" lnSpcReduction="19999"/>
          </a:bodyPr>
          <a:p>
            <a:pPr>
              <a:lnSpc>
                <a:spcPct val="100000"/>
              </a:lnSpc>
            </a:pPr>
            <a:r>
              <a:rPr lang="en-NG" sz="939" b="1" u="none" strike="noStrike">
                <a:solidFill>
                  <a:srgbClr val="28115B"/>
                </a:solidFill>
                <a:effectLst/>
                <a:uFillTx/>
                <a:latin typeface="Calibri"/>
                <a:ea typeface="Calibri"/>
              </a:rPr>
              <a:t>Responsive layout</a:t>
            </a:r>
            <a:endParaRPr lang="en-NG" sz="939" b="0" u="none" strike="noStrike">
              <a:solidFill>
                <a:srgbClr val="000000"/>
              </a:solidFill>
              <a:effectLst/>
              <a:uFillTx/>
              <a:latin typeface="Arial"/>
            </a:endParaRPr>
          </a:p>
        </p:txBody>
      </p:sp>
      <p:sp>
        <p:nvSpPr>
          <p:cNvPr id="187" name=""/>
          <p:cNvSpPr/>
          <p:nvPr/>
        </p:nvSpPr>
        <p:spPr>
          <a:xfrm>
            <a:off x="9725040" y="2333520"/>
            <a:ext cx="2133360" cy="342720"/>
          </a:xfrm>
          <a:prstGeom prst="rect">
            <a:avLst/>
          </a:prstGeom>
          <a:noFill/>
          <a:ln w="0">
            <a:noFill/>
          </a:ln>
        </p:spPr>
        <p:style>
          <a:lnRef idx="0"/>
          <a:fillRef idx="0"/>
          <a:effectRef idx="0"/>
          <a:fontRef idx="minor"/>
        </p:style>
        <p:txBody>
          <a:bodyPr lIns="90000" tIns="45000" rIns="90000" bIns="45000" anchor="t">
            <a:normAutofit/>
          </a:bodyPr>
          <a:p>
            <a:pPr>
              <a:lnSpc>
                <a:spcPct val="100000"/>
              </a:lnSpc>
            </a:pPr>
            <a:r>
              <a:rPr lang="en-NG" sz="720" b="0" u="none" strike="noStrike">
                <a:solidFill>
                  <a:srgbClr val="656A7B"/>
                </a:solidFill>
                <a:effectLst/>
                <a:uFillTx/>
                <a:latin typeface="Calibri"/>
                <a:ea typeface="Calibri"/>
              </a:rPr>
              <a:t>CSS grid and flexbox keep the search, results and legend readable from phone to desk.</a:t>
            </a:r>
            <a:endParaRPr lang="en-NG" sz="720" b="0" u="none" strike="noStrike">
              <a:solidFill>
                <a:srgbClr val="000000"/>
              </a:solidFill>
              <a:effectLst/>
              <a:uFillTx/>
              <a:latin typeface="Arial"/>
            </a:endParaRPr>
          </a:p>
        </p:txBody>
      </p:sp>
      <p:sp>
        <p:nvSpPr>
          <p:cNvPr id="188" name=""/>
          <p:cNvSpPr/>
          <p:nvPr/>
        </p:nvSpPr>
        <p:spPr>
          <a:xfrm>
            <a:off x="6629400" y="4286160"/>
            <a:ext cx="95040" cy="95040"/>
          </a:xfrm>
          <a:prstGeom prst="ellipse">
            <a:avLst/>
          </a:prstGeom>
          <a:solidFill>
            <a:srgbClr val="E9B33B"/>
          </a:solidFill>
          <a:ln w="9525">
            <a:solidFill>
              <a:srgbClr val="FFFFFF"/>
            </a:solidFill>
            <a:round/>
          </a:ln>
        </p:spPr>
        <p:style>
          <a:lnRef idx="0"/>
          <a:fillRef idx="0"/>
          <a:effectRef idx="0"/>
          <a:fontRef idx="minor"/>
        </p:style>
        <p:txBody>
          <a:bodyPr lIns="90000" tIns="22680" rIns="90000" bIns="22680" anchor="t">
            <a:noAutofit/>
          </a:bodyPr>
          <a:p>
            <a:pPr/>
            <a:endParaRPr lang="en-NG" sz="1800" b="0" u="none" strike="noStrike">
              <a:solidFill>
                <a:srgbClr val="000000"/>
              </a:solidFill>
              <a:effectLst/>
              <a:uFillTx/>
              <a:latin typeface="Arial"/>
            </a:endParaRPr>
          </a:p>
        </p:txBody>
      </p:sp>
      <p:cxnSp>
        <p:nvCxnSpPr>
          <p:cNvPr id="189" name=""/>
          <p:cNvCxnSpPr>
            <a:stCxn id="184" idx="1"/>
            <a:endCxn id="188" idx="6"/>
          </p:cNvCxnSpPr>
          <p:nvPr/>
        </p:nvCxnSpPr>
        <p:spPr>
          <a:xfrm flipV="1" rot="10800000">
            <a:off x="6724440" y="2399760"/>
            <a:ext cx="2858040" cy="1933920"/>
          </a:xfrm>
          <a:prstGeom prst="bentConnector3">
            <a:avLst>
              <a:gd name="adj1" fmla="val 50000"/>
            </a:avLst>
          </a:prstGeom>
          <a:ln w="11906">
            <a:solidFill>
              <a:srgbClr val="E9B33B"/>
            </a:solidFill>
            <a:round/>
            <a:tailEnd len="sm" type="arrow" w="sm"/>
          </a:ln>
        </p:spPr>
      </p:cxnSp>
      <p:sp>
        <p:nvSpPr>
          <p:cNvPr id="190" name=""/>
          <p:cNvSpPr/>
          <p:nvPr/>
        </p:nvSpPr>
        <p:spPr>
          <a:xfrm>
            <a:off x="9582120" y="2914560"/>
            <a:ext cx="2400120" cy="723600"/>
          </a:xfrm>
          <a:prstGeom prst="roundRect">
            <a:avLst>
              <a:gd name="adj" fmla="val 10526"/>
            </a:avLst>
          </a:prstGeom>
          <a:solidFill>
            <a:srgbClr val="F7F7FB"/>
          </a:solidFill>
          <a:ln w="9525">
            <a:solidFill>
              <a:srgbClr val="D8DAE6"/>
            </a:solidFill>
            <a:round/>
          </a:ln>
          <a:effectLst>
            <a:outerShdw algn="ctr" blurRad="57240" dir="5400000" dist="19080" rotWithShape="0">
              <a:srgbClr val="000000">
                <a:alpha val="63000"/>
              </a:srgbClr>
            </a:outerShdw>
          </a:effectLst>
        </p:spPr>
        <p:style>
          <a:lnRef idx="0"/>
          <a:fillRef idx="0"/>
          <a:effectRef idx="4"/>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191" name=""/>
          <p:cNvSpPr/>
          <p:nvPr/>
        </p:nvSpPr>
        <p:spPr>
          <a:xfrm>
            <a:off x="9591840" y="3009960"/>
            <a:ext cx="37800" cy="533160"/>
          </a:xfrm>
          <a:prstGeom prst="rect">
            <a:avLst/>
          </a:prstGeom>
          <a:solidFill>
            <a:srgbClr val="E9B33B"/>
          </a:solidFill>
          <a:ln w="0">
            <a:noFill/>
          </a:ln>
        </p:spPr>
        <p:style>
          <a:lnRef idx="0"/>
          <a:fillRef idx="0"/>
          <a:effectRef idx="0"/>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192" name=""/>
          <p:cNvSpPr/>
          <p:nvPr/>
        </p:nvSpPr>
        <p:spPr>
          <a:xfrm>
            <a:off x="9725040" y="3009960"/>
            <a:ext cx="2133360" cy="171000"/>
          </a:xfrm>
          <a:prstGeom prst="rect">
            <a:avLst/>
          </a:prstGeom>
          <a:noFill/>
          <a:ln w="0">
            <a:noFill/>
          </a:ln>
        </p:spPr>
        <p:style>
          <a:lnRef idx="0"/>
          <a:fillRef idx="0"/>
          <a:effectRef idx="0"/>
          <a:fontRef idx="minor"/>
        </p:style>
        <p:txBody>
          <a:bodyPr lIns="90000" tIns="45000" rIns="90000" bIns="45000" anchor="t">
            <a:normAutofit fontScale="70000" lnSpcReduction="19999"/>
          </a:bodyPr>
          <a:p>
            <a:pPr>
              <a:lnSpc>
                <a:spcPct val="100000"/>
              </a:lnSpc>
            </a:pPr>
            <a:r>
              <a:rPr lang="en-NG" sz="939" b="1" u="none" strike="noStrike">
                <a:solidFill>
                  <a:srgbClr val="28115B"/>
                </a:solidFill>
                <a:effectLst/>
                <a:uFillTx/>
                <a:latin typeface="Calibri"/>
                <a:ea typeface="Calibri"/>
              </a:rPr>
              <a:t>DOM-rendered results</a:t>
            </a:r>
            <a:endParaRPr lang="en-NG" sz="939" b="0" u="none" strike="noStrike">
              <a:solidFill>
                <a:srgbClr val="000000"/>
              </a:solidFill>
              <a:effectLst/>
              <a:uFillTx/>
              <a:latin typeface="Arial"/>
            </a:endParaRPr>
          </a:p>
        </p:txBody>
      </p:sp>
      <p:sp>
        <p:nvSpPr>
          <p:cNvPr id="193" name=""/>
          <p:cNvSpPr/>
          <p:nvPr/>
        </p:nvSpPr>
        <p:spPr>
          <a:xfrm>
            <a:off x="9725040" y="3209760"/>
            <a:ext cx="2133360" cy="342720"/>
          </a:xfrm>
          <a:prstGeom prst="rect">
            <a:avLst/>
          </a:prstGeom>
          <a:noFill/>
          <a:ln w="0">
            <a:noFill/>
          </a:ln>
        </p:spPr>
        <p:style>
          <a:lnRef idx="0"/>
          <a:fillRef idx="0"/>
          <a:effectRef idx="0"/>
          <a:fontRef idx="minor"/>
        </p:style>
        <p:txBody>
          <a:bodyPr lIns="90000" tIns="45000" rIns="90000" bIns="45000" anchor="t">
            <a:normAutofit/>
          </a:bodyPr>
          <a:p>
            <a:pPr>
              <a:lnSpc>
                <a:spcPct val="100000"/>
              </a:lnSpc>
            </a:pPr>
            <a:r>
              <a:rPr lang="en-NG" sz="720" b="0" u="none" strike="noStrike">
                <a:solidFill>
                  <a:srgbClr val="656A7B"/>
                </a:solidFill>
                <a:effectLst/>
                <a:uFillTx/>
                <a:latin typeface="Calibri"/>
                <a:ea typeface="Calibri"/>
              </a:rPr>
              <a:t>JavaScript creates result content safely with textContent instead of innerHTML.</a:t>
            </a:r>
            <a:endParaRPr lang="en-NG" sz="720" b="0" u="none" strike="noStrike">
              <a:solidFill>
                <a:srgbClr val="000000"/>
              </a:solidFill>
              <a:effectLst/>
              <a:uFillTx/>
              <a:latin typeface="Arial"/>
            </a:endParaRPr>
          </a:p>
        </p:txBody>
      </p:sp>
      <p:sp>
        <p:nvSpPr>
          <p:cNvPr id="194" name=""/>
          <p:cNvSpPr/>
          <p:nvPr/>
        </p:nvSpPr>
        <p:spPr>
          <a:xfrm>
            <a:off x="5648400" y="4276800"/>
            <a:ext cx="95040" cy="95040"/>
          </a:xfrm>
          <a:prstGeom prst="ellipse">
            <a:avLst/>
          </a:prstGeom>
          <a:solidFill>
            <a:srgbClr val="E9B33B"/>
          </a:solidFill>
          <a:ln w="9525">
            <a:solidFill>
              <a:srgbClr val="FFFFFF"/>
            </a:solidFill>
            <a:round/>
          </a:ln>
        </p:spPr>
        <p:style>
          <a:lnRef idx="0"/>
          <a:fillRef idx="0"/>
          <a:effectRef idx="0"/>
          <a:fontRef idx="minor"/>
        </p:style>
        <p:txBody>
          <a:bodyPr lIns="90000" tIns="22680" rIns="90000" bIns="22680" anchor="t">
            <a:noAutofit/>
          </a:bodyPr>
          <a:p>
            <a:pPr/>
            <a:endParaRPr lang="en-NG" sz="1800" b="0" u="none" strike="noStrike">
              <a:solidFill>
                <a:srgbClr val="000000"/>
              </a:solidFill>
              <a:effectLst/>
              <a:uFillTx/>
              <a:latin typeface="Arial"/>
            </a:endParaRPr>
          </a:p>
        </p:txBody>
      </p:sp>
      <p:cxnSp>
        <p:nvCxnSpPr>
          <p:cNvPr id="195" name=""/>
          <p:cNvCxnSpPr>
            <a:stCxn id="190" idx="1"/>
            <a:endCxn id="194" idx="6"/>
          </p:cNvCxnSpPr>
          <p:nvPr/>
        </p:nvCxnSpPr>
        <p:spPr>
          <a:xfrm flipV="1" rot="10800000">
            <a:off x="5743080" y="3276000"/>
            <a:ext cx="3839040" cy="1048320"/>
          </a:xfrm>
          <a:prstGeom prst="bentConnector3">
            <a:avLst>
              <a:gd name="adj1" fmla="val 49995"/>
            </a:avLst>
          </a:prstGeom>
          <a:ln w="11906">
            <a:solidFill>
              <a:srgbClr val="E9B33B"/>
            </a:solidFill>
            <a:round/>
            <a:tailEnd len="sm" type="arrow" w="sm"/>
          </a:ln>
        </p:spPr>
      </p:cxnSp>
      <p:sp>
        <p:nvSpPr>
          <p:cNvPr id="196" name=""/>
          <p:cNvSpPr/>
          <p:nvPr/>
        </p:nvSpPr>
        <p:spPr>
          <a:xfrm>
            <a:off x="9582120" y="3790800"/>
            <a:ext cx="2400120" cy="723600"/>
          </a:xfrm>
          <a:prstGeom prst="roundRect">
            <a:avLst>
              <a:gd name="adj" fmla="val 10526"/>
            </a:avLst>
          </a:prstGeom>
          <a:solidFill>
            <a:srgbClr val="F7F7FB"/>
          </a:solidFill>
          <a:ln w="9525">
            <a:solidFill>
              <a:srgbClr val="D8DAE6"/>
            </a:solidFill>
            <a:round/>
          </a:ln>
          <a:effectLst>
            <a:outerShdw algn="ctr" blurRad="57240" dir="5400000" dist="19080" rotWithShape="0">
              <a:srgbClr val="000000">
                <a:alpha val="63000"/>
              </a:srgbClr>
            </a:outerShdw>
          </a:effectLst>
        </p:spPr>
        <p:style>
          <a:lnRef idx="0"/>
          <a:fillRef idx="0"/>
          <a:effectRef idx="4"/>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197" name=""/>
          <p:cNvSpPr/>
          <p:nvPr/>
        </p:nvSpPr>
        <p:spPr>
          <a:xfrm>
            <a:off x="9591840" y="3886200"/>
            <a:ext cx="37800" cy="533160"/>
          </a:xfrm>
          <a:prstGeom prst="rect">
            <a:avLst/>
          </a:prstGeom>
          <a:solidFill>
            <a:srgbClr val="E9B33B"/>
          </a:solidFill>
          <a:ln w="0">
            <a:noFill/>
          </a:ln>
        </p:spPr>
        <p:style>
          <a:lnRef idx="0"/>
          <a:fillRef idx="0"/>
          <a:effectRef idx="0"/>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198" name=""/>
          <p:cNvSpPr/>
          <p:nvPr/>
        </p:nvSpPr>
        <p:spPr>
          <a:xfrm>
            <a:off x="9725040" y="3886200"/>
            <a:ext cx="2133360" cy="171000"/>
          </a:xfrm>
          <a:prstGeom prst="rect">
            <a:avLst/>
          </a:prstGeom>
          <a:noFill/>
          <a:ln w="0">
            <a:noFill/>
          </a:ln>
        </p:spPr>
        <p:style>
          <a:lnRef idx="0"/>
          <a:fillRef idx="0"/>
          <a:effectRef idx="0"/>
          <a:fontRef idx="minor"/>
        </p:style>
        <p:txBody>
          <a:bodyPr lIns="90000" tIns="45000" rIns="90000" bIns="45000" anchor="t">
            <a:normAutofit fontScale="70000" lnSpcReduction="19999"/>
          </a:bodyPr>
          <a:p>
            <a:pPr>
              <a:lnSpc>
                <a:spcPct val="100000"/>
              </a:lnSpc>
            </a:pPr>
            <a:r>
              <a:rPr lang="en-NG" sz="939" b="1" u="none" strike="noStrike">
                <a:solidFill>
                  <a:srgbClr val="28115B"/>
                </a:solidFill>
                <a:effectLst/>
                <a:uFillTx/>
                <a:latin typeface="Calibri"/>
                <a:ea typeface="Calibri"/>
              </a:rPr>
              <a:t>One API module</a:t>
            </a:r>
            <a:endParaRPr lang="en-NG" sz="939" b="0" u="none" strike="noStrike">
              <a:solidFill>
                <a:srgbClr val="000000"/>
              </a:solidFill>
              <a:effectLst/>
              <a:uFillTx/>
              <a:latin typeface="Arial"/>
            </a:endParaRPr>
          </a:p>
        </p:txBody>
      </p:sp>
      <p:sp>
        <p:nvSpPr>
          <p:cNvPr id="199" name=""/>
          <p:cNvSpPr/>
          <p:nvPr/>
        </p:nvSpPr>
        <p:spPr>
          <a:xfrm>
            <a:off x="9725040" y="4086360"/>
            <a:ext cx="2133360" cy="342720"/>
          </a:xfrm>
          <a:prstGeom prst="rect">
            <a:avLst/>
          </a:prstGeom>
          <a:noFill/>
          <a:ln w="0">
            <a:noFill/>
          </a:ln>
        </p:spPr>
        <p:style>
          <a:lnRef idx="0"/>
          <a:fillRef idx="0"/>
          <a:effectRef idx="0"/>
          <a:fontRef idx="minor"/>
        </p:style>
        <p:txBody>
          <a:bodyPr lIns="90000" tIns="45000" rIns="90000" bIns="45000" anchor="t">
            <a:normAutofit/>
          </a:bodyPr>
          <a:p>
            <a:pPr>
              <a:lnSpc>
                <a:spcPct val="100000"/>
              </a:lnSpc>
            </a:pPr>
            <a:r>
              <a:rPr lang="en-NG" sz="720" b="0" u="none" strike="noStrike">
                <a:solidFill>
                  <a:srgbClr val="656A7B"/>
                </a:solidFill>
                <a:effectLst/>
                <a:uFillTx/>
                <a:latin typeface="Calibri"/>
                <a:ea typeface="Calibri"/>
              </a:rPr>
              <a:t>The search action uses one async module for requests, token renewal and errors.</a:t>
            </a:r>
            <a:endParaRPr lang="en-NG" sz="720" b="0" u="none" strike="noStrike">
              <a:solidFill>
                <a:srgbClr val="000000"/>
              </a:solidFill>
              <a:effectLst/>
              <a:uFillTx/>
              <a:latin typeface="Arial"/>
            </a:endParaRPr>
          </a:p>
        </p:txBody>
      </p:sp>
      <p:sp>
        <p:nvSpPr>
          <p:cNvPr id="200" name=""/>
          <p:cNvSpPr/>
          <p:nvPr/>
        </p:nvSpPr>
        <p:spPr>
          <a:xfrm>
            <a:off x="6267600" y="2857680"/>
            <a:ext cx="95040" cy="95040"/>
          </a:xfrm>
          <a:prstGeom prst="ellipse">
            <a:avLst/>
          </a:prstGeom>
          <a:solidFill>
            <a:srgbClr val="E9B33B"/>
          </a:solidFill>
          <a:ln w="9525">
            <a:solidFill>
              <a:srgbClr val="FFFFFF"/>
            </a:solidFill>
            <a:round/>
          </a:ln>
        </p:spPr>
        <p:style>
          <a:lnRef idx="0"/>
          <a:fillRef idx="0"/>
          <a:effectRef idx="0"/>
          <a:fontRef idx="minor"/>
        </p:style>
        <p:txBody>
          <a:bodyPr lIns="90000" tIns="22680" rIns="90000" bIns="22680" anchor="t">
            <a:noAutofit/>
          </a:bodyPr>
          <a:p>
            <a:pPr/>
            <a:endParaRPr lang="en-NG" sz="1800" b="0" u="none" strike="noStrike">
              <a:solidFill>
                <a:srgbClr val="000000"/>
              </a:solidFill>
              <a:effectLst/>
              <a:uFillTx/>
              <a:latin typeface="Arial"/>
            </a:endParaRPr>
          </a:p>
        </p:txBody>
      </p:sp>
      <p:cxnSp>
        <p:nvCxnSpPr>
          <p:cNvPr id="201" name=""/>
          <p:cNvCxnSpPr>
            <a:stCxn id="196" idx="1"/>
            <a:endCxn id="200" idx="6"/>
          </p:cNvCxnSpPr>
          <p:nvPr/>
        </p:nvCxnSpPr>
        <p:spPr>
          <a:xfrm rot="10800000">
            <a:off x="6362280" y="2904840"/>
            <a:ext cx="3219840" cy="1247760"/>
          </a:xfrm>
          <a:prstGeom prst="bentConnector3">
            <a:avLst>
              <a:gd name="adj1" fmla="val 49994"/>
            </a:avLst>
          </a:prstGeom>
          <a:ln w="11906">
            <a:solidFill>
              <a:srgbClr val="E9B33B"/>
            </a:solidFill>
            <a:round/>
            <a:tailEnd len="sm" type="arrow" w="sm"/>
          </a:ln>
        </p:spPr>
      </p:cxnSp>
      <p:sp>
        <p:nvSpPr>
          <p:cNvPr id="202" name=""/>
          <p:cNvSpPr/>
          <p:nvPr/>
        </p:nvSpPr>
        <p:spPr>
          <a:xfrm>
            <a:off x="9582120" y="4667400"/>
            <a:ext cx="2400120" cy="723600"/>
          </a:xfrm>
          <a:prstGeom prst="roundRect">
            <a:avLst>
              <a:gd name="adj" fmla="val 10526"/>
            </a:avLst>
          </a:prstGeom>
          <a:solidFill>
            <a:srgbClr val="F7F7FB"/>
          </a:solidFill>
          <a:ln w="9525">
            <a:solidFill>
              <a:srgbClr val="D8DAE6"/>
            </a:solidFill>
            <a:round/>
          </a:ln>
          <a:effectLst>
            <a:outerShdw algn="ctr" blurRad="57240" dir="5400000" dist="19080" rotWithShape="0">
              <a:srgbClr val="000000">
                <a:alpha val="63000"/>
              </a:srgbClr>
            </a:outerShdw>
          </a:effectLst>
        </p:spPr>
        <p:style>
          <a:lnRef idx="0"/>
          <a:fillRef idx="0"/>
          <a:effectRef idx="4"/>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203" name=""/>
          <p:cNvSpPr/>
          <p:nvPr/>
        </p:nvSpPr>
        <p:spPr>
          <a:xfrm>
            <a:off x="9591840" y="4762440"/>
            <a:ext cx="37800" cy="533160"/>
          </a:xfrm>
          <a:prstGeom prst="rect">
            <a:avLst/>
          </a:prstGeom>
          <a:solidFill>
            <a:srgbClr val="E9B33B"/>
          </a:solidFill>
          <a:ln w="0">
            <a:noFill/>
          </a:ln>
        </p:spPr>
        <p:style>
          <a:lnRef idx="0"/>
          <a:fillRef idx="0"/>
          <a:effectRef idx="0"/>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204" name=""/>
          <p:cNvSpPr/>
          <p:nvPr/>
        </p:nvSpPr>
        <p:spPr>
          <a:xfrm>
            <a:off x="9725040" y="4762440"/>
            <a:ext cx="2133360" cy="171000"/>
          </a:xfrm>
          <a:prstGeom prst="rect">
            <a:avLst/>
          </a:prstGeom>
          <a:noFill/>
          <a:ln w="0">
            <a:noFill/>
          </a:ln>
        </p:spPr>
        <p:style>
          <a:lnRef idx="0"/>
          <a:fillRef idx="0"/>
          <a:effectRef idx="0"/>
          <a:fontRef idx="minor"/>
        </p:style>
        <p:txBody>
          <a:bodyPr lIns="90000" tIns="45000" rIns="90000" bIns="45000" anchor="t">
            <a:normAutofit fontScale="70000" lnSpcReduction="19999"/>
          </a:bodyPr>
          <a:p>
            <a:pPr>
              <a:lnSpc>
                <a:spcPct val="100000"/>
              </a:lnSpc>
            </a:pPr>
            <a:r>
              <a:rPr lang="en-NG" sz="939" b="1" u="none" strike="noStrike">
                <a:solidFill>
                  <a:srgbClr val="28115B"/>
                </a:solidFill>
                <a:effectLst/>
                <a:uFillTx/>
                <a:latin typeface="Calibri"/>
                <a:ea typeface="Calibri"/>
              </a:rPr>
              <a:t>Accessibility built in</a:t>
            </a:r>
            <a:endParaRPr lang="en-NG" sz="939" b="0" u="none" strike="noStrike">
              <a:solidFill>
                <a:srgbClr val="000000"/>
              </a:solidFill>
              <a:effectLst/>
              <a:uFillTx/>
              <a:latin typeface="Arial"/>
            </a:endParaRPr>
          </a:p>
        </p:txBody>
      </p:sp>
      <p:sp>
        <p:nvSpPr>
          <p:cNvPr id="205" name=""/>
          <p:cNvSpPr/>
          <p:nvPr/>
        </p:nvSpPr>
        <p:spPr>
          <a:xfrm>
            <a:off x="9725040" y="4962600"/>
            <a:ext cx="2133360" cy="342720"/>
          </a:xfrm>
          <a:prstGeom prst="rect">
            <a:avLst/>
          </a:prstGeom>
          <a:noFill/>
          <a:ln w="0">
            <a:noFill/>
          </a:ln>
        </p:spPr>
        <p:style>
          <a:lnRef idx="0"/>
          <a:fillRef idx="0"/>
          <a:effectRef idx="0"/>
          <a:fontRef idx="minor"/>
        </p:style>
        <p:txBody>
          <a:bodyPr lIns="90000" tIns="45000" rIns="90000" bIns="45000" anchor="t">
            <a:normAutofit/>
          </a:bodyPr>
          <a:p>
            <a:pPr>
              <a:lnSpc>
                <a:spcPct val="100000"/>
              </a:lnSpc>
            </a:pPr>
            <a:r>
              <a:rPr lang="en-NG" sz="720" b="0" u="none" strike="noStrike">
                <a:solidFill>
                  <a:srgbClr val="656A7B"/>
                </a:solidFill>
                <a:effectLst/>
                <a:uFillTx/>
                <a:latin typeface="Calibri"/>
                <a:ea typeface="Calibri"/>
              </a:rPr>
              <a:t>Words support colour, controls work by keyboard and reduced-motion settings are respected.</a:t>
            </a:r>
            <a:endParaRPr lang="en-NG" sz="720" b="0" u="none" strike="noStrike">
              <a:solidFill>
                <a:srgbClr val="000000"/>
              </a:solidFill>
              <a:effectLst/>
              <a:uFillTx/>
              <a:latin typeface="Arial"/>
            </a:endParaRPr>
          </a:p>
        </p:txBody>
      </p:sp>
      <p:sp>
        <p:nvSpPr>
          <p:cNvPr id="206" name=""/>
          <p:cNvSpPr/>
          <p:nvPr/>
        </p:nvSpPr>
        <p:spPr>
          <a:xfrm>
            <a:off x="4753080" y="4648320"/>
            <a:ext cx="95040" cy="95040"/>
          </a:xfrm>
          <a:prstGeom prst="ellipse">
            <a:avLst/>
          </a:prstGeom>
          <a:solidFill>
            <a:srgbClr val="E9B33B"/>
          </a:solidFill>
          <a:ln w="9525">
            <a:solidFill>
              <a:srgbClr val="FFFFFF"/>
            </a:solidFill>
            <a:round/>
          </a:ln>
        </p:spPr>
        <p:style>
          <a:lnRef idx="0"/>
          <a:fillRef idx="0"/>
          <a:effectRef idx="0"/>
          <a:fontRef idx="minor"/>
        </p:style>
        <p:txBody>
          <a:bodyPr lIns="90000" tIns="22680" rIns="90000" bIns="22680" anchor="t">
            <a:noAutofit/>
          </a:bodyPr>
          <a:p>
            <a:pPr/>
            <a:endParaRPr lang="en-NG" sz="1800" b="0" u="none" strike="noStrike">
              <a:solidFill>
                <a:srgbClr val="000000"/>
              </a:solidFill>
              <a:effectLst/>
              <a:uFillTx/>
              <a:latin typeface="Arial"/>
            </a:endParaRPr>
          </a:p>
        </p:txBody>
      </p:sp>
      <p:cxnSp>
        <p:nvCxnSpPr>
          <p:cNvPr id="207" name=""/>
          <p:cNvCxnSpPr>
            <a:stCxn id="202" idx="1"/>
            <a:endCxn id="206" idx="6"/>
          </p:cNvCxnSpPr>
          <p:nvPr/>
        </p:nvCxnSpPr>
        <p:spPr>
          <a:xfrm rot="10800000">
            <a:off x="4848120" y="4695840"/>
            <a:ext cx="4734360" cy="333720"/>
          </a:xfrm>
          <a:prstGeom prst="bentConnector3">
            <a:avLst>
              <a:gd name="adj1" fmla="val 50000"/>
            </a:avLst>
          </a:prstGeom>
          <a:ln w="11906">
            <a:solidFill>
              <a:srgbClr val="E9B33B"/>
            </a:solidFill>
            <a:round/>
            <a:tailEnd len="sm" type="arrow" w="sm"/>
          </a:ln>
        </p:spPr>
      </p:cxnSp>
      <p:sp>
        <p:nvSpPr>
          <p:cNvPr id="208" name=""/>
          <p:cNvSpPr/>
          <p:nvPr/>
        </p:nvSpPr>
        <p:spPr>
          <a:xfrm>
            <a:off x="11334600" y="6524640"/>
            <a:ext cx="304560" cy="151920"/>
          </a:xfrm>
          <a:prstGeom prst="rect">
            <a:avLst/>
          </a:prstGeom>
          <a:noFill/>
          <a:ln w="0">
            <a:noFill/>
          </a:ln>
        </p:spPr>
        <p:style>
          <a:lnRef idx="0"/>
          <a:fillRef idx="0"/>
          <a:effectRef idx="0"/>
          <a:fontRef idx="minor"/>
        </p:style>
        <p:txBody>
          <a:bodyPr lIns="90000" tIns="45000" rIns="90000" bIns="45000" anchor="t">
            <a:normAutofit fontScale="55000" lnSpcReduction="19999"/>
          </a:bodyPr>
          <a:p>
            <a:pPr>
              <a:lnSpc>
                <a:spcPct val="100000"/>
              </a:lnSpc>
            </a:pPr>
            <a:r>
              <a:rPr lang="en-NG" sz="900" b="0" u="none" strike="noStrike">
                <a:solidFill>
                  <a:srgbClr val="656A7B"/>
                </a:solidFill>
                <a:effectLst/>
                <a:uFillTx/>
                <a:latin typeface="Calibri"/>
                <a:ea typeface="Calibri"/>
              </a:rPr>
              <a:t>5</a:t>
            </a:r>
            <a:endParaRPr lang="en-NG"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9" name="Text 0"/>
          <p:cNvSpPr/>
          <p:nvPr/>
        </p:nvSpPr>
        <p:spPr>
          <a:xfrm>
            <a:off x="567000" y="384120"/>
            <a:ext cx="8229240" cy="2372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100" b="1" u="none" spc="221" strike="noStrike">
                <a:solidFill>
                  <a:srgbClr val="E4B454"/>
                </a:solidFill>
                <a:effectLst/>
                <a:uFillTx/>
                <a:latin typeface="Calibri"/>
                <a:ea typeface="Calibri"/>
              </a:rPr>
              <a:t>SYSTEM DESIGN</a:t>
            </a:r>
            <a:endParaRPr lang="en-NG" sz="1100" b="0" u="none" strike="noStrike">
              <a:solidFill>
                <a:srgbClr val="000000"/>
              </a:solidFill>
              <a:effectLst/>
              <a:uFillTx/>
              <a:latin typeface="Arial"/>
            </a:endParaRPr>
          </a:p>
        </p:txBody>
      </p:sp>
      <p:sp>
        <p:nvSpPr>
          <p:cNvPr id="210" name="Text 1"/>
          <p:cNvSpPr/>
          <p:nvPr/>
        </p:nvSpPr>
        <p:spPr>
          <a:xfrm>
            <a:off x="567000" y="640080"/>
            <a:ext cx="9692280" cy="5666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3000" b="1" u="none" strike="noStrike">
                <a:solidFill>
                  <a:srgbClr val="240C54"/>
                </a:solidFill>
                <a:effectLst/>
                <a:uFillTx/>
                <a:latin typeface="Cambria"/>
                <a:ea typeface="Cambria"/>
              </a:rPr>
              <a:t>How a request travels through the system</a:t>
            </a:r>
            <a:endParaRPr lang="en-NG" sz="3000" b="0" u="none" strike="noStrike">
              <a:solidFill>
                <a:srgbClr val="000000"/>
              </a:solidFill>
              <a:effectLst/>
              <a:uFillTx/>
              <a:latin typeface="Arial"/>
            </a:endParaRPr>
          </a:p>
        </p:txBody>
      </p:sp>
      <p:pic>
        <p:nvPicPr>
          <p:cNvPr id="211" name="Image 0"/>
          <p:cNvPicPr/>
          <p:nvPr/>
        </p:nvPicPr>
        <p:blipFill>
          <a:blip r:embed="rId1"/>
          <a:stretch/>
        </p:blipFill>
        <p:spPr>
          <a:xfrm>
            <a:off x="11149200" y="365760"/>
            <a:ext cx="475200" cy="465840"/>
          </a:xfrm>
          <a:prstGeom prst="rect">
            <a:avLst/>
          </a:prstGeom>
          <a:noFill/>
          <a:ln w="0">
            <a:noFill/>
          </a:ln>
        </p:spPr>
      </p:pic>
      <p:sp>
        <p:nvSpPr>
          <p:cNvPr id="212" name="Text 2"/>
          <p:cNvSpPr/>
          <p:nvPr/>
        </p:nvSpPr>
        <p:spPr>
          <a:xfrm>
            <a:off x="11149200" y="6382440"/>
            <a:ext cx="475200" cy="219240"/>
          </a:xfrm>
          <a:prstGeom prst="rect">
            <a:avLst/>
          </a:prstGeom>
          <a:noFill/>
          <a:ln w="0">
            <a:noFill/>
          </a:ln>
        </p:spPr>
        <p:style>
          <a:lnRef idx="0"/>
          <a:fillRef idx="0"/>
          <a:effectRef idx="0"/>
          <a:fontRef idx="minor"/>
        </p:style>
        <p:txBody>
          <a:bodyPr lIns="0" tIns="0" rIns="0" bIns="0" anchor="ctr">
            <a:noAutofit/>
          </a:bodyPr>
          <a:p>
            <a:pPr algn="r">
              <a:lnSpc>
                <a:spcPct val="100000"/>
              </a:lnSpc>
              <a:tabLst>
                <a:tab pos="0" algn="l"/>
              </a:tabLst>
            </a:pPr>
            <a:r>
              <a:rPr lang="en-NG" sz="1000" b="0" u="none" strike="noStrike">
                <a:solidFill>
                  <a:srgbClr val="5B5B6B"/>
                </a:solidFill>
                <a:effectLst/>
                <a:uFillTx/>
                <a:latin typeface="Calibri"/>
                <a:ea typeface="Calibri"/>
              </a:rPr>
              <a:t>6</a:t>
            </a:r>
            <a:endParaRPr lang="en-NG" sz="1000" b="0" u="none" strike="noStrike">
              <a:solidFill>
                <a:srgbClr val="000000"/>
              </a:solidFill>
              <a:effectLst/>
              <a:uFillTx/>
              <a:latin typeface="Arial"/>
            </a:endParaRPr>
          </a:p>
        </p:txBody>
      </p:sp>
      <p:sp>
        <p:nvSpPr>
          <p:cNvPr id="213" name="Text 3"/>
          <p:cNvSpPr/>
          <p:nvPr/>
        </p:nvSpPr>
        <p:spPr>
          <a:xfrm>
            <a:off x="567000" y="1316880"/>
            <a:ext cx="10058040" cy="328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350" b="0" u="none" strike="noStrike">
                <a:solidFill>
                  <a:srgbClr val="1A1A2E"/>
                </a:solidFill>
                <a:effectLst/>
                <a:uFillTx/>
                <a:latin typeface="Calibri"/>
                <a:ea typeface="Calibri"/>
              </a:rPr>
              <a:t>Following one action end to end: a member presses Borrow, and a due-date reminder arrives three days later.</a:t>
            </a:r>
            <a:endParaRPr lang="en-NG" sz="1350" b="0" u="none" strike="noStrike">
              <a:solidFill>
                <a:srgbClr val="000000"/>
              </a:solidFill>
              <a:effectLst/>
              <a:uFillTx/>
              <a:latin typeface="Arial"/>
            </a:endParaRPr>
          </a:p>
        </p:txBody>
      </p:sp>
      <p:sp>
        <p:nvSpPr>
          <p:cNvPr id="214" name="Shape 4"/>
          <p:cNvSpPr/>
          <p:nvPr/>
        </p:nvSpPr>
        <p:spPr>
          <a:xfrm>
            <a:off x="567000" y="1828800"/>
            <a:ext cx="1846800" cy="1170000"/>
          </a:xfrm>
          <a:prstGeom prst="roundRect">
            <a:avLst>
              <a:gd name="adj" fmla="val 5469"/>
            </a:avLst>
          </a:prstGeom>
          <a:solidFill>
            <a:srgbClr val="1D4ED8"/>
          </a:solidFill>
          <a:ln w="12700">
            <a:solidFill>
              <a:srgbClr val="1D4ED8"/>
            </a:solidFill>
            <a:round/>
          </a:ln>
          <a:effectLst>
            <a:outerShdw algn="bl" blurRad="127080" dir="5400000" dist="25560" kx="0" ky="0" rotWithShape="0" sx="100000" sy="100000">
              <a:srgbClr val="9098B0">
                <a:alpha val="22000"/>
              </a:srgbClr>
            </a:outerShdw>
          </a:effectLst>
        </p:spPr>
        <p:style>
          <a:lnRef idx="0"/>
          <a:fillRef idx="0"/>
          <a:effectRef idx="0"/>
          <a:fontRef idx="minor"/>
        </p:style>
        <p:txBody>
          <a:bodyPr lIns="90000" tIns="45000" rIns="90000" bIns="45000" anchor="t">
            <a:noAutofit/>
          </a:bodyPr>
          <a:p>
            <a:pPr/>
            <a:endParaRPr lang="en-NG" sz="1800" b="0" u="none" strike="noStrike">
              <a:solidFill>
                <a:srgbClr val="FFFFFF"/>
              </a:solidFill>
              <a:effectLst/>
              <a:uFillTx/>
              <a:latin typeface="Arial"/>
            </a:endParaRPr>
          </a:p>
        </p:txBody>
      </p:sp>
      <p:sp>
        <p:nvSpPr>
          <p:cNvPr id="215" name="Text 5"/>
          <p:cNvSpPr/>
          <p:nvPr/>
        </p:nvSpPr>
        <p:spPr>
          <a:xfrm>
            <a:off x="658440" y="1974960"/>
            <a:ext cx="1663920" cy="25560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NG" sz="1300" b="1" u="none" strike="noStrike">
                <a:solidFill>
                  <a:srgbClr val="E4B454"/>
                </a:solidFill>
                <a:effectLst/>
                <a:uFillTx/>
                <a:latin typeface="Calibri"/>
                <a:ea typeface="Calibri"/>
              </a:rPr>
              <a:t>Browser</a:t>
            </a:r>
            <a:endParaRPr lang="en-NG" sz="1300" b="0" u="none" strike="noStrike">
              <a:solidFill>
                <a:srgbClr val="000000"/>
              </a:solidFill>
              <a:effectLst/>
              <a:uFillTx/>
              <a:latin typeface="Arial"/>
            </a:endParaRPr>
          </a:p>
        </p:txBody>
      </p:sp>
      <p:sp>
        <p:nvSpPr>
          <p:cNvPr id="216" name="Text 6"/>
          <p:cNvSpPr/>
          <p:nvPr/>
        </p:nvSpPr>
        <p:spPr>
          <a:xfrm>
            <a:off x="640080" y="2249280"/>
            <a:ext cx="1700280" cy="603000"/>
          </a:xfrm>
          <a:prstGeom prst="rect">
            <a:avLst/>
          </a:prstGeom>
          <a:noFill/>
          <a:ln w="0">
            <a:noFill/>
          </a:ln>
        </p:spPr>
        <p:style>
          <a:lnRef idx="0"/>
          <a:fillRef idx="0"/>
          <a:effectRef idx="0"/>
          <a:fontRef idx="minor"/>
        </p:style>
        <p:txBody>
          <a:bodyPr lIns="0" tIns="0" rIns="0" bIns="0" anchor="ctr">
            <a:noAutofit/>
          </a:bodyPr>
          <a:p>
            <a:pPr algn="ctr">
              <a:lnSpc>
                <a:spcPts val="1301"/>
              </a:lnSpc>
              <a:tabLst>
                <a:tab pos="0" algn="l"/>
              </a:tabLst>
            </a:pPr>
            <a:r>
              <a:rPr lang="en-NG" sz="1000" b="0" u="none" strike="noStrike">
                <a:solidFill>
                  <a:srgbClr val="E2DEF2"/>
                </a:solidFill>
                <a:effectLst/>
                <a:uFillTx/>
                <a:latin typeface="Calibri"/>
                <a:ea typeface="Calibri"/>
              </a:rPr>
              <a:t>HTML, CSS and</a:t>
            </a:r>
            <a:endParaRPr lang="en-NG" sz="1000" b="0" u="none" strike="noStrike">
              <a:solidFill>
                <a:srgbClr val="000000"/>
              </a:solidFill>
              <a:effectLst/>
              <a:uFillTx/>
              <a:latin typeface="Arial"/>
            </a:endParaRPr>
          </a:p>
          <a:p>
            <a:pPr algn="ctr">
              <a:lnSpc>
                <a:spcPts val="1301"/>
              </a:lnSpc>
              <a:tabLst>
                <a:tab pos="0" algn="l"/>
              </a:tabLst>
            </a:pPr>
            <a:r>
              <a:rPr lang="en-NG" sz="1000" b="0" u="none" strike="noStrike">
                <a:solidFill>
                  <a:srgbClr val="E2DEF2"/>
                </a:solidFill>
                <a:effectLst/>
                <a:uFillTx/>
                <a:latin typeface="Calibri"/>
                <a:ea typeface="Calibri"/>
              </a:rPr>
              <a:t>JavaScript</a:t>
            </a:r>
            <a:endParaRPr lang="en-NG" sz="1000" b="0" u="none" strike="noStrike">
              <a:solidFill>
                <a:srgbClr val="000000"/>
              </a:solidFill>
              <a:effectLst/>
              <a:uFillTx/>
              <a:latin typeface="Arial"/>
            </a:endParaRPr>
          </a:p>
        </p:txBody>
      </p:sp>
      <p:sp>
        <p:nvSpPr>
          <p:cNvPr id="217" name="Shape 7"/>
          <p:cNvSpPr/>
          <p:nvPr/>
        </p:nvSpPr>
        <p:spPr>
          <a:xfrm>
            <a:off x="2450520" y="2340720"/>
            <a:ext cx="200880" cy="164160"/>
          </a:xfrm>
          <a:prstGeom prst="chevron">
            <a:avLst>
              <a:gd name="adj" fmla="val 50000"/>
            </a:avLst>
          </a:prstGeom>
          <a:solidFill>
            <a:srgbClr val="D8DAE5"/>
          </a:solidFill>
          <a:ln w="12700">
            <a:solidFill>
              <a:srgbClr val="D8DAE5"/>
            </a:solidFill>
            <a:round/>
          </a:ln>
        </p:spPr>
        <p:style>
          <a:lnRef idx="0"/>
          <a:fillRef idx="0"/>
          <a:effectRef idx="0"/>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218" name="Shape 8"/>
          <p:cNvSpPr/>
          <p:nvPr/>
        </p:nvSpPr>
        <p:spPr>
          <a:xfrm>
            <a:off x="2715840" y="1828800"/>
            <a:ext cx="1846800" cy="1170000"/>
          </a:xfrm>
          <a:prstGeom prst="roundRect">
            <a:avLst>
              <a:gd name="adj" fmla="val 5469"/>
            </a:avLst>
          </a:prstGeom>
          <a:solidFill>
            <a:srgbClr val="3B82F6"/>
          </a:solidFill>
          <a:ln w="12700">
            <a:solidFill>
              <a:srgbClr val="3B82F6"/>
            </a:solidFill>
            <a:round/>
          </a:ln>
          <a:effectLst>
            <a:outerShdw algn="bl" blurRad="127080" dir="5400000" dist="25560" kx="0" ky="0" rotWithShape="0" sx="100000" sy="100000">
              <a:srgbClr val="9098B0">
                <a:alpha val="22000"/>
              </a:srgbClr>
            </a:outerShdw>
          </a:effectLst>
        </p:spPr>
        <p:style>
          <a:lnRef idx="0"/>
          <a:fillRef idx="0"/>
          <a:effectRef idx="0"/>
          <a:fontRef idx="minor"/>
        </p:style>
        <p:txBody>
          <a:bodyPr lIns="90000" tIns="45000" rIns="90000" bIns="45000" anchor="t">
            <a:noAutofit/>
          </a:bodyPr>
          <a:p>
            <a:pPr/>
            <a:endParaRPr lang="en-NG" sz="1800" b="0" u="none" strike="noStrike">
              <a:solidFill>
                <a:srgbClr val="FFFFFF"/>
              </a:solidFill>
              <a:effectLst/>
              <a:uFillTx/>
              <a:latin typeface="Arial"/>
            </a:endParaRPr>
          </a:p>
        </p:txBody>
      </p:sp>
      <p:sp>
        <p:nvSpPr>
          <p:cNvPr id="219" name="Text 9"/>
          <p:cNvSpPr/>
          <p:nvPr/>
        </p:nvSpPr>
        <p:spPr>
          <a:xfrm>
            <a:off x="2807280" y="1974960"/>
            <a:ext cx="1663920" cy="25560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NG" sz="1300" b="1" u="none" strike="noStrike">
                <a:solidFill>
                  <a:srgbClr val="E4B454"/>
                </a:solidFill>
                <a:effectLst/>
                <a:uFillTx/>
                <a:latin typeface="Calibri"/>
                <a:ea typeface="Calibri"/>
              </a:rPr>
              <a:t>Cloudflare</a:t>
            </a:r>
            <a:endParaRPr lang="en-NG" sz="1300" b="0" u="none" strike="noStrike">
              <a:solidFill>
                <a:srgbClr val="000000"/>
              </a:solidFill>
              <a:effectLst/>
              <a:uFillTx/>
              <a:latin typeface="Arial"/>
            </a:endParaRPr>
          </a:p>
        </p:txBody>
      </p:sp>
      <p:sp>
        <p:nvSpPr>
          <p:cNvPr id="220" name="Text 10"/>
          <p:cNvSpPr/>
          <p:nvPr/>
        </p:nvSpPr>
        <p:spPr>
          <a:xfrm>
            <a:off x="2788920" y="2249280"/>
            <a:ext cx="1700280" cy="603000"/>
          </a:xfrm>
          <a:prstGeom prst="rect">
            <a:avLst/>
          </a:prstGeom>
          <a:noFill/>
          <a:ln w="0">
            <a:noFill/>
          </a:ln>
        </p:spPr>
        <p:style>
          <a:lnRef idx="0"/>
          <a:fillRef idx="0"/>
          <a:effectRef idx="0"/>
          <a:fontRef idx="minor"/>
        </p:style>
        <p:txBody>
          <a:bodyPr lIns="0" tIns="0" rIns="0" bIns="0" anchor="ctr">
            <a:noAutofit/>
          </a:bodyPr>
          <a:p>
            <a:pPr algn="ctr">
              <a:lnSpc>
                <a:spcPts val="1301"/>
              </a:lnSpc>
              <a:tabLst>
                <a:tab pos="0" algn="l"/>
              </a:tabLst>
            </a:pPr>
            <a:r>
              <a:rPr lang="en-NG" sz="1000" b="0" u="none" strike="noStrike">
                <a:solidFill>
                  <a:srgbClr val="E2DEF2"/>
                </a:solidFill>
                <a:effectLst/>
                <a:uFillTx/>
                <a:latin typeface="Calibri"/>
                <a:ea typeface="Calibri"/>
              </a:rPr>
              <a:t>DNS and TLS</a:t>
            </a:r>
            <a:endParaRPr lang="en-NG" sz="1000" b="0" u="none" strike="noStrike">
              <a:solidFill>
                <a:srgbClr val="000000"/>
              </a:solidFill>
              <a:effectLst/>
              <a:uFillTx/>
              <a:latin typeface="Arial"/>
            </a:endParaRPr>
          </a:p>
          <a:p>
            <a:pPr algn="ctr">
              <a:lnSpc>
                <a:spcPts val="1301"/>
              </a:lnSpc>
              <a:tabLst>
                <a:tab pos="0" algn="l"/>
              </a:tabLst>
            </a:pPr>
            <a:r>
              <a:rPr lang="en-NG" sz="1000" b="0" u="none" strike="noStrike">
                <a:solidFill>
                  <a:srgbClr val="E2DEF2"/>
                </a:solidFill>
                <a:effectLst/>
                <a:uFillTx/>
                <a:latin typeface="Calibri"/>
                <a:ea typeface="Calibri"/>
              </a:rPr>
              <a:t>for the domain</a:t>
            </a:r>
            <a:endParaRPr lang="en-NG" sz="1000" b="0" u="none" strike="noStrike">
              <a:solidFill>
                <a:srgbClr val="000000"/>
              </a:solidFill>
              <a:effectLst/>
              <a:uFillTx/>
              <a:latin typeface="Arial"/>
            </a:endParaRPr>
          </a:p>
        </p:txBody>
      </p:sp>
      <p:sp>
        <p:nvSpPr>
          <p:cNvPr id="221" name="Shape 11"/>
          <p:cNvSpPr/>
          <p:nvPr/>
        </p:nvSpPr>
        <p:spPr>
          <a:xfrm>
            <a:off x="4599360" y="2340720"/>
            <a:ext cx="200880" cy="164160"/>
          </a:xfrm>
          <a:prstGeom prst="chevron">
            <a:avLst>
              <a:gd name="adj" fmla="val 50000"/>
            </a:avLst>
          </a:prstGeom>
          <a:solidFill>
            <a:srgbClr val="D8DAE5"/>
          </a:solidFill>
          <a:ln w="12700">
            <a:solidFill>
              <a:srgbClr val="D8DAE5"/>
            </a:solidFill>
            <a:round/>
          </a:ln>
        </p:spPr>
        <p:style>
          <a:lnRef idx="0"/>
          <a:fillRef idx="0"/>
          <a:effectRef idx="0"/>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222" name="Shape 12"/>
          <p:cNvSpPr/>
          <p:nvPr/>
        </p:nvSpPr>
        <p:spPr>
          <a:xfrm>
            <a:off x="4864680" y="1828800"/>
            <a:ext cx="1846800" cy="1170000"/>
          </a:xfrm>
          <a:prstGeom prst="roundRect">
            <a:avLst>
              <a:gd name="adj" fmla="val 5469"/>
            </a:avLst>
          </a:prstGeom>
          <a:solidFill>
            <a:srgbClr val="240C54"/>
          </a:solidFill>
          <a:ln w="12700">
            <a:solidFill>
              <a:srgbClr val="240C54"/>
            </a:solidFill>
            <a:round/>
          </a:ln>
          <a:effectLst>
            <a:outerShdw algn="bl" blurRad="127080" dir="5400000" dist="25560" kx="0" ky="0" rotWithShape="0" sx="100000" sy="100000">
              <a:srgbClr val="9098B0">
                <a:alpha val="22000"/>
              </a:srgbClr>
            </a:outerShdw>
          </a:effectLst>
        </p:spPr>
        <p:style>
          <a:lnRef idx="0"/>
          <a:fillRef idx="0"/>
          <a:effectRef idx="0"/>
          <a:fontRef idx="minor"/>
        </p:style>
        <p:txBody>
          <a:bodyPr lIns="90000" tIns="45000" rIns="90000" bIns="45000" anchor="t">
            <a:noAutofit/>
          </a:bodyPr>
          <a:p>
            <a:pPr/>
            <a:endParaRPr lang="en-NG" sz="1800" b="0" u="none" strike="noStrike">
              <a:solidFill>
                <a:srgbClr val="FFFFFF"/>
              </a:solidFill>
              <a:effectLst/>
              <a:uFillTx/>
              <a:latin typeface="Arial"/>
            </a:endParaRPr>
          </a:p>
        </p:txBody>
      </p:sp>
      <p:sp>
        <p:nvSpPr>
          <p:cNvPr id="223" name="Text 13"/>
          <p:cNvSpPr/>
          <p:nvPr/>
        </p:nvSpPr>
        <p:spPr>
          <a:xfrm>
            <a:off x="4956120" y="1974960"/>
            <a:ext cx="1663920" cy="25560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NG" sz="1300" b="1" u="none" strike="noStrike">
                <a:solidFill>
                  <a:srgbClr val="E4B454"/>
                </a:solidFill>
                <a:effectLst/>
                <a:uFillTx/>
                <a:latin typeface="Calibri"/>
                <a:ea typeface="Calibri"/>
              </a:rPr>
              <a:t>Render</a:t>
            </a:r>
            <a:endParaRPr lang="en-NG" sz="1300" b="0" u="none" strike="noStrike">
              <a:solidFill>
                <a:srgbClr val="000000"/>
              </a:solidFill>
              <a:effectLst/>
              <a:uFillTx/>
              <a:latin typeface="Arial"/>
            </a:endParaRPr>
          </a:p>
        </p:txBody>
      </p:sp>
      <p:sp>
        <p:nvSpPr>
          <p:cNvPr id="224" name="Text 14"/>
          <p:cNvSpPr/>
          <p:nvPr/>
        </p:nvSpPr>
        <p:spPr>
          <a:xfrm>
            <a:off x="4937760" y="2249280"/>
            <a:ext cx="1700280" cy="603000"/>
          </a:xfrm>
          <a:prstGeom prst="rect">
            <a:avLst/>
          </a:prstGeom>
          <a:noFill/>
          <a:ln w="0">
            <a:noFill/>
          </a:ln>
        </p:spPr>
        <p:style>
          <a:lnRef idx="0"/>
          <a:fillRef idx="0"/>
          <a:effectRef idx="0"/>
          <a:fontRef idx="minor"/>
        </p:style>
        <p:txBody>
          <a:bodyPr lIns="0" tIns="0" rIns="0" bIns="0" anchor="ctr">
            <a:noAutofit/>
          </a:bodyPr>
          <a:p>
            <a:pPr algn="ctr">
              <a:lnSpc>
                <a:spcPts val="1301"/>
              </a:lnSpc>
              <a:tabLst>
                <a:tab pos="0" algn="l"/>
              </a:tabLst>
            </a:pPr>
            <a:r>
              <a:rPr lang="en-NG" sz="1000" b="0" u="none" strike="noStrike">
                <a:solidFill>
                  <a:srgbClr val="E2DEF2"/>
                </a:solidFill>
                <a:effectLst/>
                <a:uFillTx/>
                <a:latin typeface="Calibri"/>
                <a:ea typeface="Calibri"/>
              </a:rPr>
              <a:t>The Go binary,</a:t>
            </a:r>
            <a:endParaRPr lang="en-NG" sz="1000" b="0" u="none" strike="noStrike">
              <a:solidFill>
                <a:srgbClr val="000000"/>
              </a:solidFill>
              <a:effectLst/>
              <a:uFillTx/>
              <a:latin typeface="Arial"/>
            </a:endParaRPr>
          </a:p>
          <a:p>
            <a:pPr algn="ctr">
              <a:lnSpc>
                <a:spcPts val="1301"/>
              </a:lnSpc>
              <a:tabLst>
                <a:tab pos="0" algn="l"/>
              </a:tabLst>
            </a:pPr>
            <a:r>
              <a:rPr lang="en-NG" sz="1000" b="0" u="none" strike="noStrike">
                <a:solidFill>
                  <a:srgbClr val="E2DEF2"/>
                </a:solidFill>
                <a:effectLst/>
                <a:uFillTx/>
                <a:latin typeface="Calibri"/>
                <a:ea typeface="Calibri"/>
              </a:rPr>
              <a:t>one container</a:t>
            </a:r>
            <a:endParaRPr lang="en-NG" sz="1000" b="0" u="none" strike="noStrike">
              <a:solidFill>
                <a:srgbClr val="000000"/>
              </a:solidFill>
              <a:effectLst/>
              <a:uFillTx/>
              <a:latin typeface="Arial"/>
            </a:endParaRPr>
          </a:p>
        </p:txBody>
      </p:sp>
      <p:sp>
        <p:nvSpPr>
          <p:cNvPr id="225" name="Shape 15"/>
          <p:cNvSpPr/>
          <p:nvPr/>
        </p:nvSpPr>
        <p:spPr>
          <a:xfrm>
            <a:off x="6748200" y="2340720"/>
            <a:ext cx="200880" cy="164160"/>
          </a:xfrm>
          <a:prstGeom prst="chevron">
            <a:avLst>
              <a:gd name="adj" fmla="val 50000"/>
            </a:avLst>
          </a:prstGeom>
          <a:solidFill>
            <a:srgbClr val="D8DAE5"/>
          </a:solidFill>
          <a:ln w="12700">
            <a:solidFill>
              <a:srgbClr val="D8DAE5"/>
            </a:solidFill>
            <a:round/>
          </a:ln>
        </p:spPr>
        <p:style>
          <a:lnRef idx="0"/>
          <a:fillRef idx="0"/>
          <a:effectRef idx="0"/>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226" name="Shape 16"/>
          <p:cNvSpPr/>
          <p:nvPr/>
        </p:nvSpPr>
        <p:spPr>
          <a:xfrm>
            <a:off x="7013520" y="1828800"/>
            <a:ext cx="1846800" cy="1170000"/>
          </a:xfrm>
          <a:prstGeom prst="roundRect">
            <a:avLst>
              <a:gd name="adj" fmla="val 5469"/>
            </a:avLst>
          </a:prstGeom>
          <a:solidFill>
            <a:srgbClr val="3B2C7A"/>
          </a:solidFill>
          <a:ln w="12700">
            <a:solidFill>
              <a:srgbClr val="3B2C7A"/>
            </a:solidFill>
            <a:round/>
          </a:ln>
          <a:effectLst>
            <a:outerShdw algn="bl" blurRad="127080" dir="5400000" dist="25560" kx="0" ky="0" rotWithShape="0" sx="100000" sy="100000">
              <a:srgbClr val="9098B0">
                <a:alpha val="22000"/>
              </a:srgbClr>
            </a:outerShdw>
          </a:effectLst>
        </p:spPr>
        <p:style>
          <a:lnRef idx="0"/>
          <a:fillRef idx="0"/>
          <a:effectRef idx="0"/>
          <a:fontRef idx="minor"/>
        </p:style>
        <p:txBody>
          <a:bodyPr lIns="90000" tIns="45000" rIns="90000" bIns="45000" anchor="t">
            <a:noAutofit/>
          </a:bodyPr>
          <a:p>
            <a:pPr/>
            <a:endParaRPr lang="en-NG" sz="1800" b="0" u="none" strike="noStrike">
              <a:solidFill>
                <a:srgbClr val="FFFFFF"/>
              </a:solidFill>
              <a:effectLst/>
              <a:uFillTx/>
              <a:latin typeface="Arial"/>
            </a:endParaRPr>
          </a:p>
        </p:txBody>
      </p:sp>
      <p:sp>
        <p:nvSpPr>
          <p:cNvPr id="227" name="Text 17"/>
          <p:cNvSpPr/>
          <p:nvPr/>
        </p:nvSpPr>
        <p:spPr>
          <a:xfrm>
            <a:off x="7104960" y="1974960"/>
            <a:ext cx="1663920" cy="25560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NG" sz="1300" b="1" u="none" strike="noStrike">
                <a:solidFill>
                  <a:srgbClr val="E4B454"/>
                </a:solidFill>
                <a:effectLst/>
                <a:uFillTx/>
                <a:latin typeface="Calibri"/>
                <a:ea typeface="Calibri"/>
              </a:rPr>
              <a:t>Postgres</a:t>
            </a:r>
            <a:endParaRPr lang="en-NG" sz="1300" b="0" u="none" strike="noStrike">
              <a:solidFill>
                <a:srgbClr val="000000"/>
              </a:solidFill>
              <a:effectLst/>
              <a:uFillTx/>
              <a:latin typeface="Arial"/>
            </a:endParaRPr>
          </a:p>
        </p:txBody>
      </p:sp>
      <p:sp>
        <p:nvSpPr>
          <p:cNvPr id="228" name="Text 18"/>
          <p:cNvSpPr/>
          <p:nvPr/>
        </p:nvSpPr>
        <p:spPr>
          <a:xfrm>
            <a:off x="7086600" y="2249280"/>
            <a:ext cx="1700280" cy="603000"/>
          </a:xfrm>
          <a:prstGeom prst="rect">
            <a:avLst/>
          </a:prstGeom>
          <a:noFill/>
          <a:ln w="0">
            <a:noFill/>
          </a:ln>
        </p:spPr>
        <p:style>
          <a:lnRef idx="0"/>
          <a:fillRef idx="0"/>
          <a:effectRef idx="0"/>
          <a:fontRef idx="minor"/>
        </p:style>
        <p:txBody>
          <a:bodyPr lIns="0" tIns="0" rIns="0" bIns="0" anchor="ctr">
            <a:noAutofit/>
          </a:bodyPr>
          <a:p>
            <a:pPr algn="ctr">
              <a:lnSpc>
                <a:spcPts val="1301"/>
              </a:lnSpc>
              <a:tabLst>
                <a:tab pos="0" algn="l"/>
              </a:tabLst>
            </a:pPr>
            <a:r>
              <a:rPr lang="en-NG" sz="1000" b="0" u="none" strike="noStrike">
                <a:solidFill>
                  <a:srgbClr val="E2DEF2"/>
                </a:solidFill>
                <a:effectLst/>
                <a:uFillTx/>
                <a:latin typeface="Calibri"/>
                <a:ea typeface="Calibri"/>
              </a:rPr>
              <a:t>Locks, rows,</a:t>
            </a:r>
            <a:endParaRPr lang="en-NG" sz="1000" b="0" u="none" strike="noStrike">
              <a:solidFill>
                <a:srgbClr val="000000"/>
              </a:solidFill>
              <a:effectLst/>
              <a:uFillTx/>
              <a:latin typeface="Arial"/>
            </a:endParaRPr>
          </a:p>
          <a:p>
            <a:pPr algn="ctr">
              <a:lnSpc>
                <a:spcPts val="1301"/>
              </a:lnSpc>
              <a:tabLst>
                <a:tab pos="0" algn="l"/>
              </a:tabLst>
            </a:pPr>
            <a:r>
              <a:rPr lang="en-NG" sz="1000" b="0" u="none" strike="noStrike">
                <a:solidFill>
                  <a:srgbClr val="E2DEF2"/>
                </a:solidFill>
                <a:effectLst/>
                <a:uFillTx/>
                <a:latin typeface="Calibri"/>
                <a:ea typeface="Calibri"/>
              </a:rPr>
              <a:t>the truth</a:t>
            </a:r>
            <a:endParaRPr lang="en-NG" sz="1000" b="0" u="none" strike="noStrike">
              <a:solidFill>
                <a:srgbClr val="000000"/>
              </a:solidFill>
              <a:effectLst/>
              <a:uFillTx/>
              <a:latin typeface="Arial"/>
            </a:endParaRPr>
          </a:p>
        </p:txBody>
      </p:sp>
      <p:sp>
        <p:nvSpPr>
          <p:cNvPr id="229" name="Shape 19"/>
          <p:cNvSpPr/>
          <p:nvPr/>
        </p:nvSpPr>
        <p:spPr>
          <a:xfrm>
            <a:off x="4864680" y="3163680"/>
            <a:ext cx="1846800" cy="785880"/>
          </a:xfrm>
          <a:prstGeom prst="roundRect">
            <a:avLst>
              <a:gd name="adj" fmla="val 8140"/>
            </a:avLst>
          </a:prstGeom>
          <a:solidFill>
            <a:srgbClr val="F4F5F9"/>
          </a:solidFill>
          <a:ln w="12700">
            <a:solidFill>
              <a:srgbClr val="D8DAE5"/>
            </a:solidFill>
            <a:round/>
          </a:ln>
        </p:spPr>
        <p:style>
          <a:lnRef idx="0"/>
          <a:fillRef idx="0"/>
          <a:effectRef idx="0"/>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230" name="Text 20"/>
          <p:cNvSpPr/>
          <p:nvPr/>
        </p:nvSpPr>
        <p:spPr>
          <a:xfrm>
            <a:off x="4956120" y="3246120"/>
            <a:ext cx="1663920" cy="21924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NG" sz="1200" b="1" u="none" strike="noStrike">
                <a:solidFill>
                  <a:srgbClr val="240C54"/>
                </a:solidFill>
                <a:effectLst/>
                <a:uFillTx/>
                <a:latin typeface="Calibri"/>
                <a:ea typeface="Calibri"/>
              </a:rPr>
              <a:t>Redis</a:t>
            </a:r>
            <a:endParaRPr lang="en-NG" sz="1200" b="0" u="none" strike="noStrike">
              <a:solidFill>
                <a:srgbClr val="000000"/>
              </a:solidFill>
              <a:effectLst/>
              <a:uFillTx/>
              <a:latin typeface="Arial"/>
            </a:endParaRPr>
          </a:p>
        </p:txBody>
      </p:sp>
      <p:sp>
        <p:nvSpPr>
          <p:cNvPr id="231" name="Text 21"/>
          <p:cNvSpPr/>
          <p:nvPr/>
        </p:nvSpPr>
        <p:spPr>
          <a:xfrm>
            <a:off x="4937760" y="3465720"/>
            <a:ext cx="1700280" cy="21924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NG" sz="950" b="0" u="none" strike="noStrike">
                <a:solidFill>
                  <a:srgbClr val="5B5B6B"/>
                </a:solidFill>
                <a:effectLst/>
                <a:uFillTx/>
                <a:latin typeface="Calibri"/>
                <a:ea typeface="Calibri"/>
              </a:rPr>
              <a:t>rate limits only</a:t>
            </a:r>
            <a:endParaRPr lang="en-NG" sz="950" b="0" u="none" strike="noStrike">
              <a:solidFill>
                <a:srgbClr val="000000"/>
              </a:solidFill>
              <a:effectLst/>
              <a:uFillTx/>
              <a:latin typeface="Arial"/>
            </a:endParaRPr>
          </a:p>
        </p:txBody>
      </p:sp>
      <p:sp>
        <p:nvSpPr>
          <p:cNvPr id="232" name="Shape 22"/>
          <p:cNvSpPr/>
          <p:nvPr/>
        </p:nvSpPr>
        <p:spPr>
          <a:xfrm>
            <a:off x="5788080" y="2999160"/>
            <a:ext cx="360" cy="164520"/>
          </a:xfrm>
          <a:prstGeom prst="line">
            <a:avLst/>
          </a:prstGeom>
          <a:ln w="12700">
            <a:solidFill>
              <a:srgbClr val="D8DAE5"/>
            </a:solidFill>
            <a:prstDash val="dash"/>
            <a:round/>
          </a:ln>
        </p:spPr>
        <p:style>
          <a:lnRef idx="0"/>
          <a:fillRef idx="0"/>
          <a:effectRef idx="0"/>
          <a:fontRef idx="minor"/>
        </p:style>
        <p:txBody>
          <a:bodyPr lIns="90000" tIns="45000" rIns="90000" bIns="45000" anchor="t" anchorCtr="1">
            <a:noAutofit/>
          </a:bodyPr>
          <a:p>
            <a:pPr/>
            <a:endParaRPr lang="en-NG" sz="1800" b="0" u="none" strike="noStrike">
              <a:solidFill>
                <a:srgbClr val="000000"/>
              </a:solidFill>
              <a:effectLst/>
              <a:uFillTx/>
              <a:latin typeface="Arial"/>
            </a:endParaRPr>
          </a:p>
        </p:txBody>
      </p:sp>
      <p:sp>
        <p:nvSpPr>
          <p:cNvPr id="233" name="Shape 23"/>
          <p:cNvSpPr/>
          <p:nvPr/>
        </p:nvSpPr>
        <p:spPr>
          <a:xfrm>
            <a:off x="567000" y="4590360"/>
            <a:ext cx="2559960" cy="1316520"/>
          </a:xfrm>
          <a:prstGeom prst="roundRect">
            <a:avLst>
              <a:gd name="adj" fmla="val 4861"/>
            </a:avLst>
          </a:prstGeom>
          <a:solidFill>
            <a:srgbClr val="3B2C7A"/>
          </a:solidFill>
          <a:ln w="12700">
            <a:solidFill>
              <a:srgbClr val="3B2C7A"/>
            </a:solidFill>
            <a:round/>
          </a:ln>
          <a:effectLst>
            <a:outerShdw algn="bl" blurRad="127080" dir="5400000" dist="25560" kx="0" ky="0" rotWithShape="0" sx="100000" sy="100000">
              <a:srgbClr val="9098B0">
                <a:alpha val="22000"/>
              </a:srgbClr>
            </a:outerShdw>
          </a:effectLst>
        </p:spPr>
        <p:style>
          <a:lnRef idx="0"/>
          <a:fillRef idx="0"/>
          <a:effectRef idx="0"/>
          <a:fontRef idx="minor"/>
        </p:style>
        <p:txBody>
          <a:bodyPr lIns="90000" tIns="45000" rIns="90000" bIns="45000" anchor="t">
            <a:noAutofit/>
          </a:bodyPr>
          <a:p>
            <a:pPr/>
            <a:endParaRPr lang="en-NG" sz="1800" b="0" u="none" strike="noStrike">
              <a:solidFill>
                <a:srgbClr val="FFFFFF"/>
              </a:solidFill>
              <a:effectLst/>
              <a:uFillTx/>
              <a:latin typeface="Arial"/>
            </a:endParaRPr>
          </a:p>
        </p:txBody>
      </p:sp>
      <p:sp>
        <p:nvSpPr>
          <p:cNvPr id="234" name="Text 24"/>
          <p:cNvSpPr/>
          <p:nvPr/>
        </p:nvSpPr>
        <p:spPr>
          <a:xfrm>
            <a:off x="694800" y="4736520"/>
            <a:ext cx="2304000" cy="25560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300" b="1" u="none" strike="noStrike">
                <a:solidFill>
                  <a:srgbClr val="E4B454"/>
                </a:solidFill>
                <a:effectLst/>
                <a:uFillTx/>
                <a:latin typeface="Calibri"/>
                <a:ea typeface="Calibri"/>
              </a:rPr>
              <a:t>Outbox</a:t>
            </a:r>
            <a:endParaRPr lang="en-NG" sz="1300" b="0" u="none" strike="noStrike">
              <a:solidFill>
                <a:srgbClr val="000000"/>
              </a:solidFill>
              <a:effectLst/>
              <a:uFillTx/>
              <a:latin typeface="Arial"/>
            </a:endParaRPr>
          </a:p>
        </p:txBody>
      </p:sp>
      <p:sp>
        <p:nvSpPr>
          <p:cNvPr id="235" name="Text 25"/>
          <p:cNvSpPr/>
          <p:nvPr/>
        </p:nvSpPr>
        <p:spPr>
          <a:xfrm>
            <a:off x="694800" y="5029200"/>
            <a:ext cx="2304000" cy="749520"/>
          </a:xfrm>
          <a:prstGeom prst="rect">
            <a:avLst/>
          </a:prstGeom>
          <a:noFill/>
          <a:ln w="0">
            <a:noFill/>
          </a:ln>
        </p:spPr>
        <p:style>
          <a:lnRef idx="0"/>
          <a:fillRef idx="0"/>
          <a:effectRef idx="0"/>
          <a:fontRef idx="minor"/>
        </p:style>
        <p:txBody>
          <a:bodyPr lIns="0" tIns="0" rIns="0" bIns="0" anchor="ctr">
            <a:noAutofit/>
          </a:bodyPr>
          <a:p>
            <a:pPr>
              <a:lnSpc>
                <a:spcPts val="1349"/>
              </a:lnSpc>
              <a:tabLst>
                <a:tab pos="0" algn="l"/>
              </a:tabLst>
            </a:pPr>
            <a:r>
              <a:rPr lang="en-NG" sz="1050" b="0" u="none" strike="noStrike">
                <a:solidFill>
                  <a:srgbClr val="E4E0F2"/>
                </a:solidFill>
                <a:effectLst/>
                <a:uFillTx/>
                <a:latin typeface="Calibri"/>
                <a:ea typeface="Calibri"/>
              </a:rPr>
              <a:t>The intention is written</a:t>
            </a:r>
            <a:endParaRPr lang="en-NG" sz="1050" b="0" u="none" strike="noStrike">
              <a:solidFill>
                <a:srgbClr val="000000"/>
              </a:solidFill>
              <a:effectLst/>
              <a:uFillTx/>
              <a:latin typeface="Arial"/>
            </a:endParaRPr>
          </a:p>
          <a:p>
            <a:pPr>
              <a:lnSpc>
                <a:spcPts val="1349"/>
              </a:lnSpc>
              <a:tabLst>
                <a:tab pos="0" algn="l"/>
              </a:tabLst>
            </a:pPr>
            <a:r>
              <a:rPr lang="en-NG" sz="1050" b="0" u="none" strike="noStrike">
                <a:solidFill>
                  <a:srgbClr val="E4E0F2"/>
                </a:solidFill>
                <a:effectLst/>
                <a:uFillTx/>
                <a:latin typeface="Calibri"/>
                <a:ea typeface="Calibri"/>
              </a:rPr>
              <a:t>in the SAME transaction</a:t>
            </a:r>
            <a:endParaRPr lang="en-NG" sz="1050" b="0" u="none" strike="noStrike">
              <a:solidFill>
                <a:srgbClr val="000000"/>
              </a:solidFill>
              <a:effectLst/>
              <a:uFillTx/>
              <a:latin typeface="Arial"/>
            </a:endParaRPr>
          </a:p>
        </p:txBody>
      </p:sp>
      <p:sp>
        <p:nvSpPr>
          <p:cNvPr id="236" name="Shape 26"/>
          <p:cNvSpPr/>
          <p:nvPr/>
        </p:nvSpPr>
        <p:spPr>
          <a:xfrm>
            <a:off x="3163680" y="5175360"/>
            <a:ext cx="182520" cy="155160"/>
          </a:xfrm>
          <a:prstGeom prst="chevron">
            <a:avLst>
              <a:gd name="adj" fmla="val 50000"/>
            </a:avLst>
          </a:prstGeom>
          <a:solidFill>
            <a:srgbClr val="D8DAE5"/>
          </a:solidFill>
          <a:ln w="12700">
            <a:solidFill>
              <a:srgbClr val="D8DAE5"/>
            </a:solidFill>
            <a:round/>
          </a:ln>
        </p:spPr>
        <p:style>
          <a:lnRef idx="0"/>
          <a:fillRef idx="0"/>
          <a:effectRef idx="0"/>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237" name="Shape 27"/>
          <p:cNvSpPr/>
          <p:nvPr/>
        </p:nvSpPr>
        <p:spPr>
          <a:xfrm>
            <a:off x="3401640" y="4590360"/>
            <a:ext cx="2559960" cy="1316520"/>
          </a:xfrm>
          <a:prstGeom prst="roundRect">
            <a:avLst>
              <a:gd name="adj" fmla="val 4861"/>
            </a:avLst>
          </a:prstGeom>
          <a:solidFill>
            <a:srgbClr val="240C54"/>
          </a:solidFill>
          <a:ln w="12700">
            <a:solidFill>
              <a:srgbClr val="240C54"/>
            </a:solidFill>
            <a:round/>
          </a:ln>
          <a:effectLst>
            <a:outerShdw algn="bl" blurRad="127080" dir="5400000" dist="25560" kx="0" ky="0" rotWithShape="0" sx="100000" sy="100000">
              <a:srgbClr val="9098B0">
                <a:alpha val="22000"/>
              </a:srgbClr>
            </a:outerShdw>
          </a:effectLst>
        </p:spPr>
        <p:style>
          <a:lnRef idx="0"/>
          <a:fillRef idx="0"/>
          <a:effectRef idx="0"/>
          <a:fontRef idx="minor"/>
        </p:style>
        <p:txBody>
          <a:bodyPr lIns="90000" tIns="45000" rIns="90000" bIns="45000" anchor="t">
            <a:noAutofit/>
          </a:bodyPr>
          <a:p>
            <a:pPr/>
            <a:endParaRPr lang="en-NG" sz="1800" b="0" u="none" strike="noStrike">
              <a:solidFill>
                <a:srgbClr val="FFFFFF"/>
              </a:solidFill>
              <a:effectLst/>
              <a:uFillTx/>
              <a:latin typeface="Arial"/>
            </a:endParaRPr>
          </a:p>
        </p:txBody>
      </p:sp>
      <p:sp>
        <p:nvSpPr>
          <p:cNvPr id="238" name="Text 28"/>
          <p:cNvSpPr/>
          <p:nvPr/>
        </p:nvSpPr>
        <p:spPr>
          <a:xfrm>
            <a:off x="3529440" y="4736520"/>
            <a:ext cx="2304000" cy="25560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300" b="1" u="none" strike="noStrike">
                <a:solidFill>
                  <a:srgbClr val="E4B454"/>
                </a:solidFill>
                <a:effectLst/>
                <a:uFillTx/>
                <a:latin typeface="Calibri"/>
                <a:ea typeface="Calibri"/>
              </a:rPr>
              <a:t>Worker</a:t>
            </a:r>
            <a:endParaRPr lang="en-NG" sz="1300" b="0" u="none" strike="noStrike">
              <a:solidFill>
                <a:srgbClr val="000000"/>
              </a:solidFill>
              <a:effectLst/>
              <a:uFillTx/>
              <a:latin typeface="Arial"/>
            </a:endParaRPr>
          </a:p>
        </p:txBody>
      </p:sp>
      <p:sp>
        <p:nvSpPr>
          <p:cNvPr id="239" name="Text 29"/>
          <p:cNvSpPr/>
          <p:nvPr/>
        </p:nvSpPr>
        <p:spPr>
          <a:xfrm>
            <a:off x="3529440" y="5029200"/>
            <a:ext cx="2304000" cy="749520"/>
          </a:xfrm>
          <a:prstGeom prst="rect">
            <a:avLst/>
          </a:prstGeom>
          <a:noFill/>
          <a:ln w="0">
            <a:noFill/>
          </a:ln>
        </p:spPr>
        <p:style>
          <a:lnRef idx="0"/>
          <a:fillRef idx="0"/>
          <a:effectRef idx="0"/>
          <a:fontRef idx="minor"/>
        </p:style>
        <p:txBody>
          <a:bodyPr lIns="0" tIns="0" rIns="0" bIns="0" anchor="ctr">
            <a:noAutofit/>
          </a:bodyPr>
          <a:p>
            <a:pPr>
              <a:lnSpc>
                <a:spcPts val="1349"/>
              </a:lnSpc>
              <a:tabLst>
                <a:tab pos="0" algn="l"/>
              </a:tabLst>
            </a:pPr>
            <a:r>
              <a:rPr lang="en-NG" sz="1050" b="0" u="none" strike="noStrike">
                <a:solidFill>
                  <a:srgbClr val="E4E0F2"/>
                </a:solidFill>
                <a:effectLst/>
                <a:uFillTx/>
                <a:latin typeface="Calibri"/>
                <a:ea typeface="Calibri"/>
              </a:rPr>
              <a:t>Wakes every 30s and</a:t>
            </a:r>
            <a:endParaRPr lang="en-NG" sz="1050" b="0" u="none" strike="noStrike">
              <a:solidFill>
                <a:srgbClr val="000000"/>
              </a:solidFill>
              <a:effectLst/>
              <a:uFillTx/>
              <a:latin typeface="Arial"/>
            </a:endParaRPr>
          </a:p>
          <a:p>
            <a:pPr>
              <a:lnSpc>
                <a:spcPts val="1349"/>
              </a:lnSpc>
              <a:tabLst>
                <a:tab pos="0" algn="l"/>
              </a:tabLst>
            </a:pPr>
            <a:r>
              <a:rPr lang="en-NG" sz="1050" b="0" u="none" strike="noStrike">
                <a:solidFill>
                  <a:srgbClr val="E4E0F2"/>
                </a:solidFill>
                <a:effectLst/>
                <a:uFillTx/>
                <a:latin typeface="Calibri"/>
                <a:ea typeface="Calibri"/>
              </a:rPr>
              <a:t>re-checks the database</a:t>
            </a:r>
            <a:endParaRPr lang="en-NG" sz="1050" b="0" u="none" strike="noStrike">
              <a:solidFill>
                <a:srgbClr val="000000"/>
              </a:solidFill>
              <a:effectLst/>
              <a:uFillTx/>
              <a:latin typeface="Arial"/>
            </a:endParaRPr>
          </a:p>
        </p:txBody>
      </p:sp>
      <p:sp>
        <p:nvSpPr>
          <p:cNvPr id="240" name="Shape 30"/>
          <p:cNvSpPr/>
          <p:nvPr/>
        </p:nvSpPr>
        <p:spPr>
          <a:xfrm>
            <a:off x="5998320" y="5175360"/>
            <a:ext cx="182520" cy="155160"/>
          </a:xfrm>
          <a:prstGeom prst="chevron">
            <a:avLst>
              <a:gd name="adj" fmla="val 50000"/>
            </a:avLst>
          </a:prstGeom>
          <a:solidFill>
            <a:srgbClr val="D8DAE5"/>
          </a:solidFill>
          <a:ln w="12700">
            <a:solidFill>
              <a:srgbClr val="D8DAE5"/>
            </a:solidFill>
            <a:round/>
          </a:ln>
        </p:spPr>
        <p:style>
          <a:lnRef idx="0"/>
          <a:fillRef idx="0"/>
          <a:effectRef idx="0"/>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241" name="Shape 31"/>
          <p:cNvSpPr/>
          <p:nvPr/>
        </p:nvSpPr>
        <p:spPr>
          <a:xfrm>
            <a:off x="6236280" y="4590360"/>
            <a:ext cx="2559960" cy="1316520"/>
          </a:xfrm>
          <a:prstGeom prst="roundRect">
            <a:avLst>
              <a:gd name="adj" fmla="val 4861"/>
            </a:avLst>
          </a:prstGeom>
          <a:solidFill>
            <a:srgbClr val="1E7A46"/>
          </a:solidFill>
          <a:ln w="12700">
            <a:solidFill>
              <a:srgbClr val="1E7A46"/>
            </a:solidFill>
            <a:round/>
          </a:ln>
          <a:effectLst>
            <a:outerShdw algn="bl" blurRad="127080" dir="5400000" dist="25560" kx="0" ky="0" rotWithShape="0" sx="100000" sy="100000">
              <a:srgbClr val="9098B0">
                <a:alpha val="22000"/>
              </a:srgbClr>
            </a:outerShdw>
          </a:effectLst>
        </p:spPr>
        <p:style>
          <a:lnRef idx="0"/>
          <a:fillRef idx="0"/>
          <a:effectRef idx="0"/>
          <a:fontRef idx="minor"/>
        </p:style>
        <p:txBody>
          <a:bodyPr lIns="90000" tIns="45000" rIns="90000" bIns="45000" anchor="t">
            <a:noAutofit/>
          </a:bodyPr>
          <a:p>
            <a:pPr/>
            <a:endParaRPr lang="en-NG" sz="1800" b="0" u="none" strike="noStrike">
              <a:solidFill>
                <a:srgbClr val="FFFFFF"/>
              </a:solidFill>
              <a:effectLst/>
              <a:uFillTx/>
              <a:latin typeface="Arial"/>
            </a:endParaRPr>
          </a:p>
        </p:txBody>
      </p:sp>
      <p:sp>
        <p:nvSpPr>
          <p:cNvPr id="242" name="Text 32"/>
          <p:cNvSpPr/>
          <p:nvPr/>
        </p:nvSpPr>
        <p:spPr>
          <a:xfrm>
            <a:off x="6364080" y="4736520"/>
            <a:ext cx="2304000" cy="25560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300" b="1" u="none" strike="noStrike">
                <a:solidFill>
                  <a:srgbClr val="E4B454"/>
                </a:solidFill>
                <a:effectLst/>
                <a:uFillTx/>
                <a:latin typeface="Calibri"/>
                <a:ea typeface="Calibri"/>
              </a:rPr>
              <a:t>Resend</a:t>
            </a:r>
            <a:endParaRPr lang="en-NG" sz="1300" b="0" u="none" strike="noStrike">
              <a:solidFill>
                <a:srgbClr val="000000"/>
              </a:solidFill>
              <a:effectLst/>
              <a:uFillTx/>
              <a:latin typeface="Arial"/>
            </a:endParaRPr>
          </a:p>
        </p:txBody>
      </p:sp>
      <p:sp>
        <p:nvSpPr>
          <p:cNvPr id="243" name="Text 33"/>
          <p:cNvSpPr/>
          <p:nvPr/>
        </p:nvSpPr>
        <p:spPr>
          <a:xfrm>
            <a:off x="6364080" y="5029200"/>
            <a:ext cx="2304000" cy="749520"/>
          </a:xfrm>
          <a:prstGeom prst="rect">
            <a:avLst/>
          </a:prstGeom>
          <a:noFill/>
          <a:ln w="0">
            <a:noFill/>
          </a:ln>
        </p:spPr>
        <p:style>
          <a:lnRef idx="0"/>
          <a:fillRef idx="0"/>
          <a:effectRef idx="0"/>
          <a:fontRef idx="minor"/>
        </p:style>
        <p:txBody>
          <a:bodyPr lIns="0" tIns="0" rIns="0" bIns="0" anchor="ctr">
            <a:noAutofit/>
          </a:bodyPr>
          <a:p>
            <a:pPr>
              <a:lnSpc>
                <a:spcPts val="1349"/>
              </a:lnSpc>
              <a:tabLst>
                <a:tab pos="0" algn="l"/>
              </a:tabLst>
            </a:pPr>
            <a:r>
              <a:rPr lang="en-NG" sz="1050" b="0" u="none" strike="noStrike">
                <a:solidFill>
                  <a:srgbClr val="E4E0F2"/>
                </a:solidFill>
                <a:effectLst/>
                <a:uFillTx/>
                <a:latin typeface="Calibri"/>
                <a:ea typeface="Calibri"/>
              </a:rPr>
              <a:t>Email to the member's</a:t>
            </a:r>
            <a:endParaRPr lang="en-NG" sz="1050" b="0" u="none" strike="noStrike">
              <a:solidFill>
                <a:srgbClr val="000000"/>
              </a:solidFill>
              <a:effectLst/>
              <a:uFillTx/>
              <a:latin typeface="Arial"/>
            </a:endParaRPr>
          </a:p>
          <a:p>
            <a:pPr>
              <a:lnSpc>
                <a:spcPts val="1349"/>
              </a:lnSpc>
              <a:tabLst>
                <a:tab pos="0" algn="l"/>
              </a:tabLst>
            </a:pPr>
            <a:r>
              <a:rPr lang="en-NG" sz="1050" b="0" u="none" strike="noStrike">
                <a:solidFill>
                  <a:srgbClr val="E4E0F2"/>
                </a:solidFill>
                <a:effectLst/>
                <a:uFillTx/>
                <a:latin typeface="Calibri"/>
                <a:ea typeface="Calibri"/>
              </a:rPr>
              <a:t>real address</a:t>
            </a:r>
            <a:endParaRPr lang="en-NG" sz="1050" b="0" u="none" strike="noStrike">
              <a:solidFill>
                <a:srgbClr val="000000"/>
              </a:solidFill>
              <a:effectLst/>
              <a:uFillTx/>
              <a:latin typeface="Arial"/>
            </a:endParaRPr>
          </a:p>
        </p:txBody>
      </p:sp>
      <p:sp>
        <p:nvSpPr>
          <p:cNvPr id="244" name="Shape 34"/>
          <p:cNvSpPr/>
          <p:nvPr/>
        </p:nvSpPr>
        <p:spPr>
          <a:xfrm>
            <a:off x="8832960" y="5175360"/>
            <a:ext cx="182520" cy="155160"/>
          </a:xfrm>
          <a:prstGeom prst="chevron">
            <a:avLst>
              <a:gd name="adj" fmla="val 50000"/>
            </a:avLst>
          </a:prstGeom>
          <a:solidFill>
            <a:srgbClr val="D8DAE5"/>
          </a:solidFill>
          <a:ln w="12700">
            <a:solidFill>
              <a:srgbClr val="D8DAE5"/>
            </a:solidFill>
            <a:round/>
          </a:ln>
        </p:spPr>
        <p:style>
          <a:lnRef idx="0"/>
          <a:fillRef idx="0"/>
          <a:effectRef idx="0"/>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245" name="Shape 35"/>
          <p:cNvSpPr/>
          <p:nvPr/>
        </p:nvSpPr>
        <p:spPr>
          <a:xfrm>
            <a:off x="9070920" y="4590360"/>
            <a:ext cx="2559960" cy="1316520"/>
          </a:xfrm>
          <a:prstGeom prst="roundRect">
            <a:avLst>
              <a:gd name="adj" fmla="val 4861"/>
            </a:avLst>
          </a:prstGeom>
          <a:solidFill>
            <a:srgbClr val="6D28D9"/>
          </a:solidFill>
          <a:ln w="12700">
            <a:solidFill>
              <a:srgbClr val="6D28D9"/>
            </a:solidFill>
            <a:round/>
          </a:ln>
          <a:effectLst>
            <a:outerShdw algn="bl" blurRad="127080" dir="5400000" dist="25560" kx="0" ky="0" rotWithShape="0" sx="100000" sy="100000">
              <a:srgbClr val="9098B0">
                <a:alpha val="22000"/>
              </a:srgbClr>
            </a:outerShdw>
          </a:effectLst>
        </p:spPr>
        <p:style>
          <a:lnRef idx="0"/>
          <a:fillRef idx="0"/>
          <a:effectRef idx="0"/>
          <a:fontRef idx="minor"/>
        </p:style>
        <p:txBody>
          <a:bodyPr lIns="90000" tIns="45000" rIns="90000" bIns="45000" anchor="t">
            <a:noAutofit/>
          </a:bodyPr>
          <a:p>
            <a:pPr/>
            <a:endParaRPr lang="en-NG" sz="1800" b="0" u="none" strike="noStrike">
              <a:solidFill>
                <a:srgbClr val="FFFFFF"/>
              </a:solidFill>
              <a:effectLst/>
              <a:uFillTx/>
              <a:latin typeface="Arial"/>
            </a:endParaRPr>
          </a:p>
        </p:txBody>
      </p:sp>
      <p:sp>
        <p:nvSpPr>
          <p:cNvPr id="246" name="Text 36"/>
          <p:cNvSpPr/>
          <p:nvPr/>
        </p:nvSpPr>
        <p:spPr>
          <a:xfrm>
            <a:off x="9198720" y="4736520"/>
            <a:ext cx="2304000" cy="25560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300" b="1" u="none" strike="noStrike">
                <a:solidFill>
                  <a:srgbClr val="E4B454"/>
                </a:solidFill>
                <a:effectLst/>
                <a:uFillTx/>
                <a:latin typeface="Calibri"/>
                <a:ea typeface="Calibri"/>
              </a:rPr>
              <a:t>Firebase</a:t>
            </a:r>
            <a:endParaRPr lang="en-NG" sz="1300" b="0" u="none" strike="noStrike">
              <a:solidFill>
                <a:srgbClr val="000000"/>
              </a:solidFill>
              <a:effectLst/>
              <a:uFillTx/>
              <a:latin typeface="Arial"/>
            </a:endParaRPr>
          </a:p>
        </p:txBody>
      </p:sp>
      <p:sp>
        <p:nvSpPr>
          <p:cNvPr id="247" name="Text 37"/>
          <p:cNvSpPr/>
          <p:nvPr/>
        </p:nvSpPr>
        <p:spPr>
          <a:xfrm>
            <a:off x="9198720" y="5029200"/>
            <a:ext cx="2304000" cy="749520"/>
          </a:xfrm>
          <a:prstGeom prst="rect">
            <a:avLst/>
          </a:prstGeom>
          <a:noFill/>
          <a:ln w="0">
            <a:noFill/>
          </a:ln>
        </p:spPr>
        <p:style>
          <a:lnRef idx="0"/>
          <a:fillRef idx="0"/>
          <a:effectRef idx="0"/>
          <a:fontRef idx="minor"/>
        </p:style>
        <p:txBody>
          <a:bodyPr lIns="0" tIns="0" rIns="0" bIns="0" anchor="ctr">
            <a:noAutofit/>
          </a:bodyPr>
          <a:p>
            <a:pPr>
              <a:lnSpc>
                <a:spcPts val="1349"/>
              </a:lnSpc>
              <a:tabLst>
                <a:tab pos="0" algn="l"/>
              </a:tabLst>
            </a:pPr>
            <a:r>
              <a:rPr lang="en-NG" sz="1050" b="0" u="none" strike="noStrike">
                <a:solidFill>
                  <a:srgbClr val="E4E0F2"/>
                </a:solidFill>
                <a:effectLst/>
                <a:uFillTx/>
                <a:latin typeface="Calibri"/>
                <a:ea typeface="Calibri"/>
              </a:rPr>
              <a:t>Push to any device</a:t>
            </a:r>
            <a:endParaRPr lang="en-NG" sz="1050" b="0" u="none" strike="noStrike">
              <a:solidFill>
                <a:srgbClr val="000000"/>
              </a:solidFill>
              <a:effectLst/>
              <a:uFillTx/>
              <a:latin typeface="Arial"/>
            </a:endParaRPr>
          </a:p>
          <a:p>
            <a:pPr>
              <a:lnSpc>
                <a:spcPts val="1349"/>
              </a:lnSpc>
              <a:tabLst>
                <a:tab pos="0" algn="l"/>
              </a:tabLst>
            </a:pPr>
            <a:r>
              <a:rPr lang="en-NG" sz="1050" b="0" u="none" strike="noStrike">
                <a:solidFill>
                  <a:srgbClr val="E4E0F2"/>
                </a:solidFill>
                <a:effectLst/>
                <a:uFillTx/>
                <a:latin typeface="Calibri"/>
                <a:ea typeface="Calibri"/>
              </a:rPr>
              <a:t>they registered</a:t>
            </a:r>
            <a:endParaRPr lang="en-NG" sz="1050" b="0" u="none" strike="noStrike">
              <a:solidFill>
                <a:srgbClr val="000000"/>
              </a:solidFill>
              <a:effectLst/>
              <a:uFillTx/>
              <a:latin typeface="Arial"/>
            </a:endParaRPr>
          </a:p>
        </p:txBody>
      </p:sp>
      <p:sp>
        <p:nvSpPr>
          <p:cNvPr id="248" name="Shape 38"/>
          <p:cNvSpPr/>
          <p:nvPr/>
        </p:nvSpPr>
        <p:spPr>
          <a:xfrm>
            <a:off x="9345240" y="1828800"/>
            <a:ext cx="2279160" cy="1462680"/>
          </a:xfrm>
          <a:prstGeom prst="roundRect">
            <a:avLst>
              <a:gd name="adj" fmla="val 4375"/>
            </a:avLst>
          </a:prstGeom>
          <a:solidFill>
            <a:srgbClr val="FBF4E4"/>
          </a:solidFill>
          <a:ln w="9525">
            <a:solidFill>
              <a:srgbClr val="E8D9AE"/>
            </a:solidFill>
            <a:round/>
          </a:ln>
          <a:effectLst>
            <a:outerShdw algn="bl" blurRad="127080" dir="5400000" dist="25560" kx="0" ky="0" rotWithShape="0" sx="100000" sy="100000">
              <a:srgbClr val="9098B0">
                <a:alpha val="22000"/>
              </a:srgbClr>
            </a:outerShdw>
          </a:effectLst>
        </p:spPr>
        <p:style>
          <a:lnRef idx="0"/>
          <a:fillRef idx="0"/>
          <a:effectRef idx="0"/>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249" name="Text 39"/>
          <p:cNvSpPr/>
          <p:nvPr/>
        </p:nvSpPr>
        <p:spPr>
          <a:xfrm>
            <a:off x="9564480" y="2002680"/>
            <a:ext cx="1840320" cy="328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250" b="1" u="none" strike="noStrike">
                <a:solidFill>
                  <a:srgbClr val="240C54"/>
                </a:solidFill>
                <a:effectLst/>
                <a:uFillTx/>
                <a:latin typeface="Calibri"/>
                <a:ea typeface="Calibri"/>
              </a:rPr>
              <a:t>Why an outbox</a:t>
            </a:r>
            <a:endParaRPr lang="en-NG" sz="1250" b="0" u="none" strike="noStrike">
              <a:solidFill>
                <a:srgbClr val="000000"/>
              </a:solidFill>
              <a:effectLst/>
              <a:uFillTx/>
              <a:latin typeface="Arial"/>
            </a:endParaRPr>
          </a:p>
        </p:txBody>
      </p:sp>
      <p:sp>
        <p:nvSpPr>
          <p:cNvPr id="250" name="Text 40"/>
          <p:cNvSpPr/>
          <p:nvPr/>
        </p:nvSpPr>
        <p:spPr>
          <a:xfrm>
            <a:off x="9564480" y="2395800"/>
            <a:ext cx="1840320" cy="749520"/>
          </a:xfrm>
          <a:prstGeom prst="rect">
            <a:avLst/>
          </a:prstGeom>
          <a:noFill/>
          <a:ln w="0">
            <a:noFill/>
          </a:ln>
        </p:spPr>
        <p:style>
          <a:lnRef idx="0"/>
          <a:fillRef idx="0"/>
          <a:effectRef idx="0"/>
          <a:fontRef idx="minor"/>
        </p:style>
        <p:txBody>
          <a:bodyPr lIns="0" tIns="0" rIns="0" bIns="0" anchor="t">
            <a:noAutofit/>
          </a:bodyPr>
          <a:p>
            <a:pPr>
              <a:lnSpc>
                <a:spcPts val="1301"/>
              </a:lnSpc>
              <a:tabLst>
                <a:tab pos="0" algn="l"/>
              </a:tabLst>
            </a:pPr>
            <a:r>
              <a:rPr lang="en-NG" sz="1000" b="0" u="none" strike="noStrike">
                <a:solidFill>
                  <a:srgbClr val="1A1A2E"/>
                </a:solidFill>
                <a:effectLst/>
                <a:uFillTx/>
                <a:latin typeface="Calibri"/>
                <a:ea typeface="Calibri"/>
              </a:rPr>
              <a:t>The loan and the intention to notify are written in one transaction. Neither can exist without the other.</a:t>
            </a:r>
            <a:endParaRPr lang="en-NG" sz="1000" b="0" u="none" strike="noStrike">
              <a:solidFill>
                <a:srgbClr val="000000"/>
              </a:solidFill>
              <a:effectLst/>
              <a:uFillTx/>
              <a:latin typeface="Arial"/>
            </a:endParaRPr>
          </a:p>
        </p:txBody>
      </p:sp>
      <p:sp>
        <p:nvSpPr>
          <p:cNvPr id="251" name="Text 41"/>
          <p:cNvSpPr/>
          <p:nvPr/>
        </p:nvSpPr>
        <p:spPr>
          <a:xfrm>
            <a:off x="567000" y="4133160"/>
            <a:ext cx="11054880" cy="310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150" b="0" i="1" u="none" strike="noStrike">
                <a:solidFill>
                  <a:srgbClr val="5B5B6B"/>
                </a:solidFill>
                <a:effectLst/>
                <a:uFillTx/>
                <a:latin typeface="Calibri"/>
                <a:ea typeface="Calibri"/>
              </a:rPr>
              <a:t>The worker re-reads the database before sending, so a reminder queued last night for a book returned this morning is marked superseded and never sent.</a:t>
            </a:r>
            <a:endParaRPr lang="en-NG" sz="11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2" name="Text 0"/>
          <p:cNvSpPr/>
          <p:nvPr/>
        </p:nvSpPr>
        <p:spPr>
          <a:xfrm>
            <a:off x="567000" y="384120"/>
            <a:ext cx="8229240" cy="2372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100" b="1" u="none" spc="221" strike="noStrike">
                <a:solidFill>
                  <a:srgbClr val="E4B454"/>
                </a:solidFill>
                <a:effectLst/>
                <a:uFillTx/>
                <a:latin typeface="Calibri"/>
                <a:ea typeface="Calibri"/>
              </a:rPr>
              <a:t>ARCHITECTURE</a:t>
            </a:r>
            <a:endParaRPr lang="en-NG" sz="1100" b="0" u="none" strike="noStrike">
              <a:solidFill>
                <a:srgbClr val="000000"/>
              </a:solidFill>
              <a:effectLst/>
              <a:uFillTx/>
              <a:latin typeface="Arial"/>
            </a:endParaRPr>
          </a:p>
        </p:txBody>
      </p:sp>
      <p:sp>
        <p:nvSpPr>
          <p:cNvPr id="253" name="Text 1"/>
          <p:cNvSpPr/>
          <p:nvPr/>
        </p:nvSpPr>
        <p:spPr>
          <a:xfrm>
            <a:off x="567000" y="640080"/>
            <a:ext cx="9692280" cy="5666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3000" b="1" u="none" strike="noStrike">
                <a:solidFill>
                  <a:srgbClr val="240C54"/>
                </a:solidFill>
                <a:effectLst/>
                <a:uFillTx/>
                <a:latin typeface="Cambria"/>
                <a:ea typeface="Cambria"/>
              </a:rPr>
              <a:t>A layered monolith, deployed as one binary</a:t>
            </a:r>
            <a:endParaRPr lang="en-NG" sz="3000" b="0" u="none" strike="noStrike">
              <a:solidFill>
                <a:srgbClr val="000000"/>
              </a:solidFill>
              <a:effectLst/>
              <a:uFillTx/>
              <a:latin typeface="Arial"/>
            </a:endParaRPr>
          </a:p>
        </p:txBody>
      </p:sp>
      <p:pic>
        <p:nvPicPr>
          <p:cNvPr id="254" name="Image 0"/>
          <p:cNvPicPr/>
          <p:nvPr/>
        </p:nvPicPr>
        <p:blipFill>
          <a:blip r:embed="rId1"/>
          <a:stretch/>
        </p:blipFill>
        <p:spPr>
          <a:xfrm>
            <a:off x="11149200" y="365760"/>
            <a:ext cx="475200" cy="465840"/>
          </a:xfrm>
          <a:prstGeom prst="rect">
            <a:avLst/>
          </a:prstGeom>
          <a:noFill/>
          <a:ln w="0">
            <a:noFill/>
          </a:ln>
        </p:spPr>
      </p:pic>
      <p:sp>
        <p:nvSpPr>
          <p:cNvPr id="255" name="Text 2"/>
          <p:cNvSpPr/>
          <p:nvPr/>
        </p:nvSpPr>
        <p:spPr>
          <a:xfrm>
            <a:off x="11149200" y="6382440"/>
            <a:ext cx="475200" cy="219240"/>
          </a:xfrm>
          <a:prstGeom prst="rect">
            <a:avLst/>
          </a:prstGeom>
          <a:noFill/>
          <a:ln w="0">
            <a:noFill/>
          </a:ln>
        </p:spPr>
        <p:style>
          <a:lnRef idx="0"/>
          <a:fillRef idx="0"/>
          <a:effectRef idx="0"/>
          <a:fontRef idx="minor"/>
        </p:style>
        <p:txBody>
          <a:bodyPr lIns="0" tIns="0" rIns="0" bIns="0" anchor="ctr">
            <a:noAutofit/>
          </a:bodyPr>
          <a:p>
            <a:pPr algn="r">
              <a:lnSpc>
                <a:spcPct val="100000"/>
              </a:lnSpc>
              <a:tabLst>
                <a:tab pos="0" algn="l"/>
              </a:tabLst>
            </a:pPr>
            <a:r>
              <a:rPr lang="en-NG" sz="1000" b="0" u="none" strike="noStrike">
                <a:solidFill>
                  <a:srgbClr val="5B5B6B"/>
                </a:solidFill>
                <a:effectLst/>
                <a:uFillTx/>
                <a:latin typeface="Calibri"/>
                <a:ea typeface="Calibri"/>
              </a:rPr>
              <a:t>7</a:t>
            </a:r>
            <a:endParaRPr lang="en-NG" sz="1000" b="0" u="none" strike="noStrike">
              <a:solidFill>
                <a:srgbClr val="000000"/>
              </a:solidFill>
              <a:effectLst/>
              <a:uFillTx/>
              <a:latin typeface="Arial"/>
            </a:endParaRPr>
          </a:p>
        </p:txBody>
      </p:sp>
      <p:sp>
        <p:nvSpPr>
          <p:cNvPr id="256" name="Shape 3"/>
          <p:cNvSpPr/>
          <p:nvPr/>
        </p:nvSpPr>
        <p:spPr>
          <a:xfrm>
            <a:off x="567000" y="1389960"/>
            <a:ext cx="6903360" cy="877320"/>
          </a:xfrm>
          <a:prstGeom prst="roundRect">
            <a:avLst>
              <a:gd name="adj" fmla="val 6250"/>
            </a:avLst>
          </a:prstGeom>
          <a:solidFill>
            <a:srgbClr val="3B82F6"/>
          </a:solidFill>
          <a:ln w="12700">
            <a:solidFill>
              <a:srgbClr val="3B82F6"/>
            </a:solidFill>
            <a:round/>
          </a:ln>
          <a:effectLst>
            <a:outerShdw algn="bl" blurRad="127080" dir="5400000" dist="25560" kx="0" ky="0" rotWithShape="0" sx="100000" sy="100000">
              <a:srgbClr val="9098B0">
                <a:alpha val="22000"/>
              </a:srgbClr>
            </a:outerShdw>
          </a:effectLst>
        </p:spPr>
        <p:style>
          <a:lnRef idx="0"/>
          <a:fillRef idx="0"/>
          <a:effectRef idx="0"/>
          <a:fontRef idx="minor"/>
        </p:style>
        <p:txBody>
          <a:bodyPr lIns="90000" tIns="45000" rIns="90000" bIns="45000" anchor="t">
            <a:noAutofit/>
          </a:bodyPr>
          <a:p>
            <a:pPr/>
            <a:endParaRPr lang="en-NG" sz="1800" b="0" u="none" strike="noStrike">
              <a:solidFill>
                <a:srgbClr val="FFFFFF"/>
              </a:solidFill>
              <a:effectLst/>
              <a:uFillTx/>
              <a:latin typeface="Arial"/>
            </a:endParaRPr>
          </a:p>
        </p:txBody>
      </p:sp>
      <p:sp>
        <p:nvSpPr>
          <p:cNvPr id="257" name="Text 4"/>
          <p:cNvSpPr/>
          <p:nvPr/>
        </p:nvSpPr>
        <p:spPr>
          <a:xfrm>
            <a:off x="822960" y="1389960"/>
            <a:ext cx="1481040" cy="8773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500" b="1" u="none" strike="noStrike">
                <a:solidFill>
                  <a:srgbClr val="FFFFFF"/>
                </a:solidFill>
                <a:effectLst/>
                <a:uFillTx/>
                <a:latin typeface="Calibri"/>
                <a:ea typeface="Calibri"/>
              </a:rPr>
              <a:t>Browser</a:t>
            </a:r>
            <a:endParaRPr lang="en-NG" sz="1500" b="0" u="none" strike="noStrike">
              <a:solidFill>
                <a:srgbClr val="000000"/>
              </a:solidFill>
              <a:effectLst/>
              <a:uFillTx/>
              <a:latin typeface="Arial"/>
            </a:endParaRPr>
          </a:p>
        </p:txBody>
      </p:sp>
      <p:sp>
        <p:nvSpPr>
          <p:cNvPr id="258" name="Text 5"/>
          <p:cNvSpPr/>
          <p:nvPr/>
        </p:nvSpPr>
        <p:spPr>
          <a:xfrm>
            <a:off x="2359080" y="1389960"/>
            <a:ext cx="4919040" cy="877320"/>
          </a:xfrm>
          <a:prstGeom prst="rect">
            <a:avLst/>
          </a:prstGeom>
          <a:noFill/>
          <a:ln w="0">
            <a:noFill/>
          </a:ln>
        </p:spPr>
        <p:style>
          <a:lnRef idx="0"/>
          <a:fillRef idx="0"/>
          <a:effectRef idx="0"/>
          <a:fontRef idx="minor"/>
        </p:style>
        <p:txBody>
          <a:bodyPr lIns="0" tIns="0" rIns="0" bIns="0" anchor="ctr">
            <a:noAutofit/>
          </a:bodyPr>
          <a:p>
            <a:pPr>
              <a:lnSpc>
                <a:spcPts val="1551"/>
              </a:lnSpc>
              <a:tabLst>
                <a:tab pos="0" algn="l"/>
              </a:tabLst>
            </a:pPr>
            <a:r>
              <a:rPr lang="en-NG" sz="1200" b="0" u="none" strike="noStrike">
                <a:solidFill>
                  <a:srgbClr val="E8E6F4"/>
                </a:solidFill>
                <a:effectLst/>
                <a:uFillTx/>
                <a:latin typeface="Calibri"/>
                <a:ea typeface="Calibri"/>
              </a:rPr>
              <a:t>HTML, CSS, JavaScript. Renders results and collects input. Trusted with nothing.</a:t>
            </a:r>
            <a:endParaRPr lang="en-NG" sz="1200" b="0" u="none" strike="noStrike">
              <a:solidFill>
                <a:srgbClr val="000000"/>
              </a:solidFill>
              <a:effectLst/>
              <a:uFillTx/>
              <a:latin typeface="Arial"/>
            </a:endParaRPr>
          </a:p>
        </p:txBody>
      </p:sp>
      <p:sp>
        <p:nvSpPr>
          <p:cNvPr id="259" name="Shape 6"/>
          <p:cNvSpPr/>
          <p:nvPr/>
        </p:nvSpPr>
        <p:spPr>
          <a:xfrm rot="5400000">
            <a:off x="3794760" y="2295000"/>
            <a:ext cx="402120" cy="136800"/>
          </a:xfrm>
          <a:prstGeom prst="chevron">
            <a:avLst>
              <a:gd name="adj" fmla="val 50000"/>
            </a:avLst>
          </a:prstGeom>
          <a:solidFill>
            <a:srgbClr val="D8DAE5"/>
          </a:solidFill>
          <a:ln w="12700">
            <a:solidFill>
              <a:srgbClr val="D8DAE5"/>
            </a:solidFill>
            <a:round/>
          </a:ln>
        </p:spPr>
        <p:style>
          <a:lnRef idx="0"/>
          <a:fillRef idx="0"/>
          <a:effectRef idx="0"/>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260" name="Shape 7"/>
          <p:cNvSpPr/>
          <p:nvPr/>
        </p:nvSpPr>
        <p:spPr>
          <a:xfrm>
            <a:off x="567000" y="2432160"/>
            <a:ext cx="6903360" cy="877320"/>
          </a:xfrm>
          <a:prstGeom prst="roundRect">
            <a:avLst>
              <a:gd name="adj" fmla="val 6250"/>
            </a:avLst>
          </a:prstGeom>
          <a:solidFill>
            <a:srgbClr val="1D4ED8"/>
          </a:solidFill>
          <a:ln w="12700">
            <a:solidFill>
              <a:srgbClr val="1D4ED8"/>
            </a:solidFill>
            <a:round/>
          </a:ln>
          <a:effectLst>
            <a:outerShdw algn="bl" blurRad="127080" dir="5400000" dist="25560" kx="0" ky="0" rotWithShape="0" sx="100000" sy="100000">
              <a:srgbClr val="9098B0">
                <a:alpha val="22000"/>
              </a:srgbClr>
            </a:outerShdw>
          </a:effectLst>
        </p:spPr>
        <p:style>
          <a:lnRef idx="0"/>
          <a:fillRef idx="0"/>
          <a:effectRef idx="0"/>
          <a:fontRef idx="minor"/>
        </p:style>
        <p:txBody>
          <a:bodyPr lIns="90000" tIns="45000" rIns="90000" bIns="45000" anchor="t">
            <a:noAutofit/>
          </a:bodyPr>
          <a:p>
            <a:pPr/>
            <a:endParaRPr lang="en-NG" sz="1800" b="0" u="none" strike="noStrike">
              <a:solidFill>
                <a:srgbClr val="FFFFFF"/>
              </a:solidFill>
              <a:effectLst/>
              <a:uFillTx/>
              <a:latin typeface="Arial"/>
            </a:endParaRPr>
          </a:p>
        </p:txBody>
      </p:sp>
      <p:sp>
        <p:nvSpPr>
          <p:cNvPr id="261" name="Text 8"/>
          <p:cNvSpPr/>
          <p:nvPr/>
        </p:nvSpPr>
        <p:spPr>
          <a:xfrm>
            <a:off x="822960" y="2432160"/>
            <a:ext cx="1481040" cy="8773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500" b="1" u="none" strike="noStrike">
                <a:solidFill>
                  <a:srgbClr val="FFFFFF"/>
                </a:solidFill>
                <a:effectLst/>
                <a:uFillTx/>
                <a:latin typeface="Calibri"/>
                <a:ea typeface="Calibri"/>
              </a:rPr>
              <a:t>Handler</a:t>
            </a:r>
            <a:endParaRPr lang="en-NG" sz="1500" b="0" u="none" strike="noStrike">
              <a:solidFill>
                <a:srgbClr val="000000"/>
              </a:solidFill>
              <a:effectLst/>
              <a:uFillTx/>
              <a:latin typeface="Arial"/>
            </a:endParaRPr>
          </a:p>
        </p:txBody>
      </p:sp>
      <p:sp>
        <p:nvSpPr>
          <p:cNvPr id="262" name="Text 9"/>
          <p:cNvSpPr/>
          <p:nvPr/>
        </p:nvSpPr>
        <p:spPr>
          <a:xfrm>
            <a:off x="2359080" y="2432160"/>
            <a:ext cx="4919040" cy="877320"/>
          </a:xfrm>
          <a:prstGeom prst="rect">
            <a:avLst/>
          </a:prstGeom>
          <a:noFill/>
          <a:ln w="0">
            <a:noFill/>
          </a:ln>
        </p:spPr>
        <p:style>
          <a:lnRef idx="0"/>
          <a:fillRef idx="0"/>
          <a:effectRef idx="0"/>
          <a:fontRef idx="minor"/>
        </p:style>
        <p:txBody>
          <a:bodyPr lIns="0" tIns="0" rIns="0" bIns="0" anchor="ctr">
            <a:noAutofit/>
          </a:bodyPr>
          <a:p>
            <a:pPr>
              <a:lnSpc>
                <a:spcPts val="1551"/>
              </a:lnSpc>
              <a:tabLst>
                <a:tab pos="0" algn="l"/>
              </a:tabLst>
            </a:pPr>
            <a:r>
              <a:rPr lang="en-NG" sz="1200" b="0" u="none" strike="noStrike">
                <a:solidFill>
                  <a:srgbClr val="E8E6F4"/>
                </a:solidFill>
                <a:effectLst/>
                <a:uFillTx/>
                <a:latin typeface="Calibri"/>
                <a:ea typeface="Calibri"/>
              </a:rPr>
              <a:t>Parses HTTP, validates shape, checks the token. No library rules live here.</a:t>
            </a:r>
            <a:endParaRPr lang="en-NG" sz="1200" b="0" u="none" strike="noStrike">
              <a:solidFill>
                <a:srgbClr val="000000"/>
              </a:solidFill>
              <a:effectLst/>
              <a:uFillTx/>
              <a:latin typeface="Arial"/>
            </a:endParaRPr>
          </a:p>
        </p:txBody>
      </p:sp>
      <p:sp>
        <p:nvSpPr>
          <p:cNvPr id="263" name="Shape 10"/>
          <p:cNvSpPr/>
          <p:nvPr/>
        </p:nvSpPr>
        <p:spPr>
          <a:xfrm rot="5400000">
            <a:off x="3794760" y="3337560"/>
            <a:ext cx="402120" cy="136800"/>
          </a:xfrm>
          <a:prstGeom prst="chevron">
            <a:avLst>
              <a:gd name="adj" fmla="val 50000"/>
            </a:avLst>
          </a:prstGeom>
          <a:solidFill>
            <a:srgbClr val="D8DAE5"/>
          </a:solidFill>
          <a:ln w="12700">
            <a:solidFill>
              <a:srgbClr val="D8DAE5"/>
            </a:solidFill>
            <a:round/>
          </a:ln>
        </p:spPr>
        <p:style>
          <a:lnRef idx="0"/>
          <a:fillRef idx="0"/>
          <a:effectRef idx="0"/>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264" name="Shape 11"/>
          <p:cNvSpPr/>
          <p:nvPr/>
        </p:nvSpPr>
        <p:spPr>
          <a:xfrm>
            <a:off x="567000" y="3474720"/>
            <a:ext cx="6903360" cy="877320"/>
          </a:xfrm>
          <a:prstGeom prst="roundRect">
            <a:avLst>
              <a:gd name="adj" fmla="val 6250"/>
            </a:avLst>
          </a:prstGeom>
          <a:solidFill>
            <a:srgbClr val="3B2C7A"/>
          </a:solidFill>
          <a:ln w="12700">
            <a:solidFill>
              <a:srgbClr val="3B2C7A"/>
            </a:solidFill>
            <a:round/>
          </a:ln>
          <a:effectLst>
            <a:outerShdw algn="bl" blurRad="127080" dir="5400000" dist="25560" kx="0" ky="0" rotWithShape="0" sx="100000" sy="100000">
              <a:srgbClr val="9098B0">
                <a:alpha val="22000"/>
              </a:srgbClr>
            </a:outerShdw>
          </a:effectLst>
        </p:spPr>
        <p:style>
          <a:lnRef idx="0"/>
          <a:fillRef idx="0"/>
          <a:effectRef idx="0"/>
          <a:fontRef idx="minor"/>
        </p:style>
        <p:txBody>
          <a:bodyPr lIns="90000" tIns="45000" rIns="90000" bIns="45000" anchor="t">
            <a:noAutofit/>
          </a:bodyPr>
          <a:p>
            <a:pPr/>
            <a:endParaRPr lang="en-NG" sz="1800" b="0" u="none" strike="noStrike">
              <a:solidFill>
                <a:srgbClr val="FFFFFF"/>
              </a:solidFill>
              <a:effectLst/>
              <a:uFillTx/>
              <a:latin typeface="Arial"/>
            </a:endParaRPr>
          </a:p>
        </p:txBody>
      </p:sp>
      <p:sp>
        <p:nvSpPr>
          <p:cNvPr id="265" name="Text 12"/>
          <p:cNvSpPr/>
          <p:nvPr/>
        </p:nvSpPr>
        <p:spPr>
          <a:xfrm>
            <a:off x="822960" y="3474720"/>
            <a:ext cx="1481040" cy="8773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500" b="1" u="none" strike="noStrike">
                <a:solidFill>
                  <a:srgbClr val="FFFFFF"/>
                </a:solidFill>
                <a:effectLst/>
                <a:uFillTx/>
                <a:latin typeface="Calibri"/>
                <a:ea typeface="Calibri"/>
              </a:rPr>
              <a:t>Service</a:t>
            </a:r>
            <a:endParaRPr lang="en-NG" sz="1500" b="0" u="none" strike="noStrike">
              <a:solidFill>
                <a:srgbClr val="000000"/>
              </a:solidFill>
              <a:effectLst/>
              <a:uFillTx/>
              <a:latin typeface="Arial"/>
            </a:endParaRPr>
          </a:p>
        </p:txBody>
      </p:sp>
      <p:sp>
        <p:nvSpPr>
          <p:cNvPr id="266" name="Text 13"/>
          <p:cNvSpPr/>
          <p:nvPr/>
        </p:nvSpPr>
        <p:spPr>
          <a:xfrm>
            <a:off x="2359080" y="3474720"/>
            <a:ext cx="4919040" cy="877320"/>
          </a:xfrm>
          <a:prstGeom prst="rect">
            <a:avLst/>
          </a:prstGeom>
          <a:noFill/>
          <a:ln w="0">
            <a:noFill/>
          </a:ln>
        </p:spPr>
        <p:style>
          <a:lnRef idx="0"/>
          <a:fillRef idx="0"/>
          <a:effectRef idx="0"/>
          <a:fontRef idx="minor"/>
        </p:style>
        <p:txBody>
          <a:bodyPr lIns="0" tIns="0" rIns="0" bIns="0" anchor="ctr">
            <a:noAutofit/>
          </a:bodyPr>
          <a:p>
            <a:pPr>
              <a:lnSpc>
                <a:spcPts val="1551"/>
              </a:lnSpc>
              <a:tabLst>
                <a:tab pos="0" algn="l"/>
              </a:tabLst>
            </a:pPr>
            <a:r>
              <a:rPr lang="en-NG" sz="1200" b="0" u="none" strike="noStrike">
                <a:solidFill>
                  <a:srgbClr val="E8E6F4"/>
                </a:solidFill>
                <a:effectLst/>
                <a:uFillTx/>
                <a:latin typeface="Calibri"/>
                <a:ea typeface="Calibri"/>
              </a:rPr>
              <a:t>The library's rules: who may borrow, how many, for how long, what is overdue.</a:t>
            </a:r>
            <a:endParaRPr lang="en-NG" sz="1200" b="0" u="none" strike="noStrike">
              <a:solidFill>
                <a:srgbClr val="000000"/>
              </a:solidFill>
              <a:effectLst/>
              <a:uFillTx/>
              <a:latin typeface="Arial"/>
            </a:endParaRPr>
          </a:p>
        </p:txBody>
      </p:sp>
      <p:sp>
        <p:nvSpPr>
          <p:cNvPr id="267" name="Shape 14"/>
          <p:cNvSpPr/>
          <p:nvPr/>
        </p:nvSpPr>
        <p:spPr>
          <a:xfrm rot="5400000">
            <a:off x="3794760" y="4379760"/>
            <a:ext cx="402120" cy="136800"/>
          </a:xfrm>
          <a:prstGeom prst="chevron">
            <a:avLst>
              <a:gd name="adj" fmla="val 50000"/>
            </a:avLst>
          </a:prstGeom>
          <a:solidFill>
            <a:srgbClr val="D8DAE5"/>
          </a:solidFill>
          <a:ln w="12700">
            <a:solidFill>
              <a:srgbClr val="D8DAE5"/>
            </a:solidFill>
            <a:round/>
          </a:ln>
        </p:spPr>
        <p:style>
          <a:lnRef idx="0"/>
          <a:fillRef idx="0"/>
          <a:effectRef idx="0"/>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268" name="Shape 15"/>
          <p:cNvSpPr/>
          <p:nvPr/>
        </p:nvSpPr>
        <p:spPr>
          <a:xfrm>
            <a:off x="567000" y="4517280"/>
            <a:ext cx="6903360" cy="877320"/>
          </a:xfrm>
          <a:prstGeom prst="roundRect">
            <a:avLst>
              <a:gd name="adj" fmla="val 6250"/>
            </a:avLst>
          </a:prstGeom>
          <a:solidFill>
            <a:srgbClr val="240C54"/>
          </a:solidFill>
          <a:ln w="12700">
            <a:solidFill>
              <a:srgbClr val="240C54"/>
            </a:solidFill>
            <a:round/>
          </a:ln>
          <a:effectLst>
            <a:outerShdw algn="bl" blurRad="127080" dir="5400000" dist="25560" kx="0" ky="0" rotWithShape="0" sx="100000" sy="100000">
              <a:srgbClr val="9098B0">
                <a:alpha val="22000"/>
              </a:srgbClr>
            </a:outerShdw>
          </a:effectLst>
        </p:spPr>
        <p:style>
          <a:lnRef idx="0"/>
          <a:fillRef idx="0"/>
          <a:effectRef idx="0"/>
          <a:fontRef idx="minor"/>
        </p:style>
        <p:txBody>
          <a:bodyPr lIns="90000" tIns="45000" rIns="90000" bIns="45000" anchor="t">
            <a:noAutofit/>
          </a:bodyPr>
          <a:p>
            <a:pPr/>
            <a:endParaRPr lang="en-NG" sz="1800" b="0" u="none" strike="noStrike">
              <a:solidFill>
                <a:srgbClr val="FFFFFF"/>
              </a:solidFill>
              <a:effectLst/>
              <a:uFillTx/>
              <a:latin typeface="Arial"/>
            </a:endParaRPr>
          </a:p>
        </p:txBody>
      </p:sp>
      <p:sp>
        <p:nvSpPr>
          <p:cNvPr id="269" name="Text 16"/>
          <p:cNvSpPr/>
          <p:nvPr/>
        </p:nvSpPr>
        <p:spPr>
          <a:xfrm>
            <a:off x="822960" y="4517280"/>
            <a:ext cx="1481040" cy="8773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500" b="1" u="none" strike="noStrike">
                <a:solidFill>
                  <a:srgbClr val="FFFFFF"/>
                </a:solidFill>
                <a:effectLst/>
                <a:uFillTx/>
                <a:latin typeface="Calibri"/>
                <a:ea typeface="Calibri"/>
              </a:rPr>
              <a:t>Repository</a:t>
            </a:r>
            <a:endParaRPr lang="en-NG" sz="1500" b="0" u="none" strike="noStrike">
              <a:solidFill>
                <a:srgbClr val="000000"/>
              </a:solidFill>
              <a:effectLst/>
              <a:uFillTx/>
              <a:latin typeface="Arial"/>
            </a:endParaRPr>
          </a:p>
        </p:txBody>
      </p:sp>
      <p:sp>
        <p:nvSpPr>
          <p:cNvPr id="270" name="Text 17"/>
          <p:cNvSpPr/>
          <p:nvPr/>
        </p:nvSpPr>
        <p:spPr>
          <a:xfrm>
            <a:off x="2359080" y="4517280"/>
            <a:ext cx="4919040" cy="877320"/>
          </a:xfrm>
          <a:prstGeom prst="rect">
            <a:avLst/>
          </a:prstGeom>
          <a:noFill/>
          <a:ln w="0">
            <a:noFill/>
          </a:ln>
        </p:spPr>
        <p:style>
          <a:lnRef idx="0"/>
          <a:fillRef idx="0"/>
          <a:effectRef idx="0"/>
          <a:fontRef idx="minor"/>
        </p:style>
        <p:txBody>
          <a:bodyPr lIns="0" tIns="0" rIns="0" bIns="0" anchor="ctr">
            <a:noAutofit/>
          </a:bodyPr>
          <a:p>
            <a:pPr>
              <a:lnSpc>
                <a:spcPts val="1551"/>
              </a:lnSpc>
              <a:tabLst>
                <a:tab pos="0" algn="l"/>
              </a:tabLst>
            </a:pPr>
            <a:r>
              <a:rPr lang="en-NG" sz="1200" b="0" u="none" strike="noStrike">
                <a:solidFill>
                  <a:srgbClr val="E8E6F4"/>
                </a:solidFill>
                <a:effectLst/>
                <a:uFillTx/>
                <a:latin typeface="Calibri"/>
                <a:ea typeface="Calibri"/>
              </a:rPr>
              <a:t>SQL, transactions and row locks. The only layer that knows Postgres exists.</a:t>
            </a:r>
            <a:endParaRPr lang="en-NG" sz="1200" b="0" u="none" strike="noStrike">
              <a:solidFill>
                <a:srgbClr val="000000"/>
              </a:solidFill>
              <a:effectLst/>
              <a:uFillTx/>
              <a:latin typeface="Arial"/>
            </a:endParaRPr>
          </a:p>
        </p:txBody>
      </p:sp>
      <p:sp>
        <p:nvSpPr>
          <p:cNvPr id="271" name="Shape 18"/>
          <p:cNvSpPr/>
          <p:nvPr/>
        </p:nvSpPr>
        <p:spPr>
          <a:xfrm>
            <a:off x="7699320" y="1389960"/>
            <a:ext cx="3925080" cy="2048040"/>
          </a:xfrm>
          <a:prstGeom prst="roundRect">
            <a:avLst>
              <a:gd name="adj" fmla="val 3125"/>
            </a:avLst>
          </a:prstGeom>
          <a:solidFill>
            <a:srgbClr val="F4F5F9"/>
          </a:solidFill>
          <a:ln w="9525">
            <a:solidFill>
              <a:srgbClr val="D8DAE5"/>
            </a:solidFill>
            <a:round/>
          </a:ln>
          <a:effectLst>
            <a:outerShdw algn="bl" blurRad="127080" dir="5400000" dist="25560" kx="0" ky="0" rotWithShape="0" sx="100000" sy="100000">
              <a:srgbClr val="9098B0">
                <a:alpha val="22000"/>
              </a:srgbClr>
            </a:outerShdw>
          </a:effectLst>
        </p:spPr>
        <p:style>
          <a:lnRef idx="0"/>
          <a:fillRef idx="0"/>
          <a:effectRef idx="0"/>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272" name="Text 19"/>
          <p:cNvSpPr/>
          <p:nvPr/>
        </p:nvSpPr>
        <p:spPr>
          <a:xfrm>
            <a:off x="7918560" y="1563480"/>
            <a:ext cx="3486240" cy="328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400" b="1" u="none" strike="noStrike">
                <a:solidFill>
                  <a:srgbClr val="240C54"/>
                </a:solidFill>
                <a:effectLst/>
                <a:uFillTx/>
                <a:latin typeface="Calibri"/>
                <a:ea typeface="Calibri"/>
              </a:rPr>
              <a:t>Dependencies point one way</a:t>
            </a:r>
            <a:endParaRPr lang="en-NG" sz="1400" b="0" u="none" strike="noStrike">
              <a:solidFill>
                <a:srgbClr val="000000"/>
              </a:solidFill>
              <a:effectLst/>
              <a:uFillTx/>
              <a:latin typeface="Arial"/>
            </a:endParaRPr>
          </a:p>
        </p:txBody>
      </p:sp>
      <p:sp>
        <p:nvSpPr>
          <p:cNvPr id="273" name="Text 20"/>
          <p:cNvSpPr/>
          <p:nvPr/>
        </p:nvSpPr>
        <p:spPr>
          <a:xfrm>
            <a:off x="7918560" y="1956960"/>
            <a:ext cx="3486240" cy="1334520"/>
          </a:xfrm>
          <a:prstGeom prst="rect">
            <a:avLst/>
          </a:prstGeom>
          <a:noFill/>
          <a:ln w="0">
            <a:noFill/>
          </a:ln>
        </p:spPr>
        <p:style>
          <a:lnRef idx="0"/>
          <a:fillRef idx="0"/>
          <a:effectRef idx="0"/>
          <a:fontRef idx="minor"/>
        </p:style>
        <p:txBody>
          <a:bodyPr lIns="0" tIns="0" rIns="0" bIns="0" anchor="t">
            <a:noAutofit/>
          </a:bodyPr>
          <a:p>
            <a:pPr>
              <a:lnSpc>
                <a:spcPts val="1650"/>
              </a:lnSpc>
              <a:tabLst>
                <a:tab pos="0" algn="l"/>
              </a:tabLst>
            </a:pPr>
            <a:r>
              <a:rPr lang="en-NG" sz="1200" b="0" u="none" strike="noStrike">
                <a:solidFill>
                  <a:srgbClr val="1A1A2E"/>
                </a:solidFill>
                <a:effectLst/>
                <a:uFillTx/>
                <a:latin typeface="Calibri"/>
                <a:ea typeface="Calibri"/>
              </a:rPr>
              <a:t>A layer may call the one beneath it and never the one above. The domain package at the centre imports nothing from this project at all, so the library's rules can be tested without a database, a server or a network.</a:t>
            </a:r>
            <a:endParaRPr lang="en-NG" sz="1200" b="0" u="none" strike="noStrike">
              <a:solidFill>
                <a:srgbClr val="000000"/>
              </a:solidFill>
              <a:effectLst/>
              <a:uFillTx/>
              <a:latin typeface="Arial"/>
            </a:endParaRPr>
          </a:p>
        </p:txBody>
      </p:sp>
      <p:sp>
        <p:nvSpPr>
          <p:cNvPr id="274" name="Shape 21"/>
          <p:cNvSpPr/>
          <p:nvPr/>
        </p:nvSpPr>
        <p:spPr>
          <a:xfrm>
            <a:off x="7699320" y="3602880"/>
            <a:ext cx="3925080" cy="1992960"/>
          </a:xfrm>
          <a:prstGeom prst="roundRect">
            <a:avLst>
              <a:gd name="adj" fmla="val 3211"/>
            </a:avLst>
          </a:prstGeom>
          <a:solidFill>
            <a:srgbClr val="FBF4E4"/>
          </a:solidFill>
          <a:ln w="9525">
            <a:solidFill>
              <a:srgbClr val="E8D9AE"/>
            </a:solidFill>
            <a:round/>
          </a:ln>
          <a:effectLst>
            <a:outerShdw algn="bl" blurRad="127080" dir="5400000" dist="25560" kx="0" ky="0" rotWithShape="0" sx="100000" sy="100000">
              <a:srgbClr val="9098B0">
                <a:alpha val="22000"/>
              </a:srgbClr>
            </a:outerShdw>
          </a:effectLst>
        </p:spPr>
        <p:style>
          <a:lnRef idx="0"/>
          <a:fillRef idx="0"/>
          <a:effectRef idx="0"/>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275" name="Text 22"/>
          <p:cNvSpPr/>
          <p:nvPr/>
        </p:nvSpPr>
        <p:spPr>
          <a:xfrm>
            <a:off x="7918560" y="3776400"/>
            <a:ext cx="3486240" cy="328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400" b="1" u="none" strike="noStrike">
                <a:solidFill>
                  <a:srgbClr val="240C54"/>
                </a:solidFill>
                <a:effectLst/>
                <a:uFillTx/>
                <a:latin typeface="Calibri"/>
                <a:ea typeface="Calibri"/>
              </a:rPr>
              <a:t>Why not microservices?</a:t>
            </a:r>
            <a:endParaRPr lang="en-NG" sz="1400" b="0" u="none" strike="noStrike">
              <a:solidFill>
                <a:srgbClr val="000000"/>
              </a:solidFill>
              <a:effectLst/>
              <a:uFillTx/>
              <a:latin typeface="Arial"/>
            </a:endParaRPr>
          </a:p>
        </p:txBody>
      </p:sp>
      <p:sp>
        <p:nvSpPr>
          <p:cNvPr id="276" name="Text 23"/>
          <p:cNvSpPr/>
          <p:nvPr/>
        </p:nvSpPr>
        <p:spPr>
          <a:xfrm>
            <a:off x="7918560" y="4169520"/>
            <a:ext cx="3486240" cy="1279800"/>
          </a:xfrm>
          <a:prstGeom prst="rect">
            <a:avLst/>
          </a:prstGeom>
          <a:noFill/>
          <a:ln w="0">
            <a:noFill/>
          </a:ln>
        </p:spPr>
        <p:style>
          <a:lnRef idx="0"/>
          <a:fillRef idx="0"/>
          <a:effectRef idx="0"/>
          <a:fontRef idx="minor"/>
        </p:style>
        <p:txBody>
          <a:bodyPr lIns="0" tIns="0" rIns="0" bIns="0" anchor="t">
            <a:noAutofit/>
          </a:bodyPr>
          <a:p>
            <a:pPr>
              <a:lnSpc>
                <a:spcPts val="1650"/>
              </a:lnSpc>
              <a:tabLst>
                <a:tab pos="0" algn="l"/>
              </a:tabLst>
            </a:pPr>
            <a:r>
              <a:rPr lang="en-NG" sz="1200" b="0" u="none" strike="noStrike">
                <a:solidFill>
                  <a:srgbClr val="1A1A2E"/>
                </a:solidFill>
                <a:effectLst/>
                <a:uFillTx/>
                <a:latin typeface="Calibri"/>
                <a:ea typeface="Calibri"/>
              </a:rPr>
              <a:t>Borrowing touches the copy, the loan and the member in one atomic step. Split across services that becomes a distributed transaction. One database and one transaction is not a compromise here; it is the correct design.</a:t>
            </a:r>
            <a:endParaRPr lang="en-NG"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77" name="Text 0"/>
          <p:cNvSpPr/>
          <p:nvPr/>
        </p:nvSpPr>
        <p:spPr>
          <a:xfrm>
            <a:off x="567000" y="384120"/>
            <a:ext cx="8229240" cy="2372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100" b="1" u="none" spc="221" strike="noStrike">
                <a:solidFill>
                  <a:srgbClr val="E4B454"/>
                </a:solidFill>
                <a:effectLst/>
                <a:uFillTx/>
                <a:latin typeface="Calibri"/>
                <a:ea typeface="Calibri"/>
              </a:rPr>
              <a:t>DATA MODEL</a:t>
            </a:r>
            <a:endParaRPr lang="en-NG" sz="1100" b="0" u="none" strike="noStrike">
              <a:solidFill>
                <a:srgbClr val="000000"/>
              </a:solidFill>
              <a:effectLst/>
              <a:uFillTx/>
              <a:latin typeface="Arial"/>
            </a:endParaRPr>
          </a:p>
        </p:txBody>
      </p:sp>
      <p:sp>
        <p:nvSpPr>
          <p:cNvPr id="278" name="Text 1"/>
          <p:cNvSpPr/>
          <p:nvPr/>
        </p:nvSpPr>
        <p:spPr>
          <a:xfrm>
            <a:off x="567000" y="640080"/>
            <a:ext cx="9692280" cy="5666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3000" b="1" u="none" strike="noStrike">
                <a:solidFill>
                  <a:srgbClr val="240C54"/>
                </a:solidFill>
                <a:effectLst/>
                <a:uFillTx/>
                <a:latin typeface="Cambria"/>
                <a:ea typeface="Cambria"/>
              </a:rPr>
              <a:t>The member record, and what it deliberately holds</a:t>
            </a:r>
            <a:endParaRPr lang="en-NG" sz="3000" b="0" u="none" strike="noStrike">
              <a:solidFill>
                <a:srgbClr val="000000"/>
              </a:solidFill>
              <a:effectLst/>
              <a:uFillTx/>
              <a:latin typeface="Arial"/>
            </a:endParaRPr>
          </a:p>
        </p:txBody>
      </p:sp>
      <p:pic>
        <p:nvPicPr>
          <p:cNvPr id="279" name="Image 0"/>
          <p:cNvPicPr/>
          <p:nvPr/>
        </p:nvPicPr>
        <p:blipFill>
          <a:blip r:embed="rId1"/>
          <a:stretch/>
        </p:blipFill>
        <p:spPr>
          <a:xfrm>
            <a:off x="11149200" y="365760"/>
            <a:ext cx="475200" cy="465840"/>
          </a:xfrm>
          <a:prstGeom prst="rect">
            <a:avLst/>
          </a:prstGeom>
          <a:noFill/>
          <a:ln w="0">
            <a:noFill/>
          </a:ln>
        </p:spPr>
      </p:pic>
      <p:sp>
        <p:nvSpPr>
          <p:cNvPr id="280" name="Text 2"/>
          <p:cNvSpPr/>
          <p:nvPr/>
        </p:nvSpPr>
        <p:spPr>
          <a:xfrm>
            <a:off x="11149200" y="6382440"/>
            <a:ext cx="475200" cy="219240"/>
          </a:xfrm>
          <a:prstGeom prst="rect">
            <a:avLst/>
          </a:prstGeom>
          <a:noFill/>
          <a:ln w="0">
            <a:noFill/>
          </a:ln>
        </p:spPr>
        <p:style>
          <a:lnRef idx="0"/>
          <a:fillRef idx="0"/>
          <a:effectRef idx="0"/>
          <a:fontRef idx="minor"/>
        </p:style>
        <p:txBody>
          <a:bodyPr lIns="0" tIns="0" rIns="0" bIns="0" anchor="ctr">
            <a:noAutofit/>
          </a:bodyPr>
          <a:p>
            <a:pPr algn="r">
              <a:lnSpc>
                <a:spcPct val="100000"/>
              </a:lnSpc>
              <a:tabLst>
                <a:tab pos="0" algn="l"/>
              </a:tabLst>
            </a:pPr>
            <a:r>
              <a:rPr lang="en-NG" sz="1000" b="0" u="none" strike="noStrike">
                <a:solidFill>
                  <a:srgbClr val="5B5B6B"/>
                </a:solidFill>
                <a:effectLst/>
                <a:uFillTx/>
                <a:latin typeface="Calibri"/>
                <a:ea typeface="Calibri"/>
              </a:rPr>
              <a:t>8</a:t>
            </a:r>
            <a:endParaRPr lang="en-NG" sz="1000" b="0" u="none" strike="noStrike">
              <a:solidFill>
                <a:srgbClr val="000000"/>
              </a:solidFill>
              <a:effectLst/>
              <a:uFillTx/>
              <a:latin typeface="Arial"/>
            </a:endParaRPr>
          </a:p>
        </p:txBody>
      </p:sp>
      <p:sp>
        <p:nvSpPr>
          <p:cNvPr id="281" name="Shape 3"/>
          <p:cNvSpPr/>
          <p:nvPr/>
        </p:nvSpPr>
        <p:spPr>
          <a:xfrm>
            <a:off x="567000" y="1316880"/>
            <a:ext cx="7003800" cy="4278960"/>
          </a:xfrm>
          <a:prstGeom prst="roundRect">
            <a:avLst>
              <a:gd name="adj" fmla="val 1282"/>
            </a:avLst>
          </a:prstGeom>
          <a:solidFill>
            <a:srgbClr val="10131F"/>
          </a:solidFill>
          <a:ln w="12700">
            <a:solidFill>
              <a:srgbClr val="10131F"/>
            </a:solidFill>
            <a:round/>
          </a:ln>
          <a:effectLst>
            <a:outerShdw algn="bl" blurRad="127080" dir="5400000" dist="25560" kx="0" ky="0" rotWithShape="0" sx="100000" sy="100000">
              <a:srgbClr val="9098B0">
                <a:alpha val="22000"/>
              </a:srgbClr>
            </a:outerShdw>
          </a:effectLst>
        </p:spPr>
        <p:style>
          <a:lnRef idx="0"/>
          <a:fillRef idx="0"/>
          <a:effectRef idx="0"/>
          <a:fontRef idx="minor"/>
        </p:style>
        <p:txBody>
          <a:bodyPr lIns="90000" tIns="45000" rIns="90000" bIns="45000" anchor="t">
            <a:noAutofit/>
          </a:bodyPr>
          <a:p>
            <a:pPr/>
            <a:endParaRPr lang="en-NG" sz="1800" b="0" u="none" strike="noStrike">
              <a:solidFill>
                <a:srgbClr val="FFFFFF"/>
              </a:solidFill>
              <a:effectLst/>
              <a:uFillTx/>
              <a:latin typeface="Arial"/>
            </a:endParaRPr>
          </a:p>
        </p:txBody>
      </p:sp>
      <p:sp>
        <p:nvSpPr>
          <p:cNvPr id="282" name="Text 4"/>
          <p:cNvSpPr/>
          <p:nvPr/>
        </p:nvSpPr>
        <p:spPr>
          <a:xfrm>
            <a:off x="749880" y="1463040"/>
            <a:ext cx="6638040" cy="3986280"/>
          </a:xfrm>
          <a:prstGeom prst="rect">
            <a:avLst/>
          </a:prstGeom>
          <a:noFill/>
          <a:ln w="0">
            <a:noFill/>
          </a:ln>
        </p:spPr>
        <p:style>
          <a:lnRef idx="0"/>
          <a:fillRef idx="0"/>
          <a:effectRef idx="0"/>
          <a:fontRef idx="minor"/>
        </p:style>
        <p:txBody>
          <a:bodyPr lIns="0" tIns="0" rIns="0" bIns="0" anchor="t">
            <a:noAutofit/>
          </a:bodyPr>
          <a:p>
            <a:pPr>
              <a:lnSpc>
                <a:spcPts val="1349"/>
              </a:lnSpc>
              <a:tabLst>
                <a:tab pos="0" algn="l"/>
              </a:tabLst>
            </a:pPr>
            <a:r>
              <a:rPr lang="en-NG" sz="1000" b="0" u="none" strike="noStrike">
                <a:solidFill>
                  <a:srgbClr val="C792EA"/>
                </a:solidFill>
                <a:effectLst/>
                <a:uFillTx/>
                <a:latin typeface="Courier New"/>
                <a:ea typeface="Courier New"/>
              </a:rPr>
              <a:t>type Member struct {</a:t>
            </a:r>
            <a:endParaRPr lang="en-NG" sz="1000" b="0" u="none" strike="noStrike">
              <a:solidFill>
                <a:srgbClr val="000000"/>
              </a:solidFill>
              <a:effectLst/>
              <a:uFillTx/>
              <a:latin typeface="Arial"/>
            </a:endParaRPr>
          </a:p>
          <a:p>
            <a:pPr>
              <a:lnSpc>
                <a:spcPts val="1349"/>
              </a:lnSpc>
              <a:tabLst>
                <a:tab pos="0" algn="l"/>
              </a:tabLst>
            </a:pPr>
            <a:r>
              <a:rPr lang="en-NG" sz="1000" b="0" u="none" strike="noStrike">
                <a:solidFill>
                  <a:srgbClr val="D6DAE8"/>
                </a:solidFill>
                <a:effectLst/>
                <a:uFillTx/>
                <a:latin typeface="Courier New"/>
                <a:ea typeface="Courier New"/>
              </a:rPr>
              <a:t> </a:t>
            </a:r>
            <a:endParaRPr lang="en-NG" sz="1000" b="0" u="none" strike="noStrike">
              <a:solidFill>
                <a:srgbClr val="000000"/>
              </a:solidFill>
              <a:effectLst/>
              <a:uFillTx/>
              <a:latin typeface="Arial"/>
            </a:endParaRPr>
          </a:p>
          <a:p>
            <a:pPr>
              <a:lnSpc>
                <a:spcPts val="1349"/>
              </a:lnSpc>
              <a:tabLst>
                <a:tab pos="0" algn="l"/>
              </a:tabLst>
            </a:pPr>
            <a:r>
              <a:rPr lang="en-NG" sz="1000" b="0" u="none" strike="noStrike">
                <a:solidFill>
                  <a:srgbClr val="6F7C99"/>
                </a:solidFill>
                <a:effectLst/>
                <a:uFillTx/>
                <a:latin typeface="Courier New"/>
                <a:ea typeface="Courier New"/>
              </a:rPr>
              <a:t>    // --- identity ---</a:t>
            </a:r>
            <a:endParaRPr lang="en-NG" sz="1000" b="0" u="none" strike="noStrike">
              <a:solidFill>
                <a:srgbClr val="000000"/>
              </a:solidFill>
              <a:effectLst/>
              <a:uFillTx/>
              <a:latin typeface="Arial"/>
            </a:endParaRPr>
          </a:p>
          <a:p>
            <a:pPr>
              <a:lnSpc>
                <a:spcPts val="1349"/>
              </a:lnSpc>
              <a:tabLst>
                <a:tab pos="0" algn="l"/>
              </a:tabLst>
            </a:pPr>
            <a:r>
              <a:rPr lang="en-NG" sz="1000" b="0" u="none" strike="noStrike">
                <a:solidFill>
                  <a:srgbClr val="82AAFF"/>
                </a:solidFill>
                <a:effectLst/>
                <a:uFillTx/>
                <a:latin typeface="Courier New"/>
                <a:ea typeface="Courier New"/>
              </a:rPr>
              <a:t>    ID         string  </a:t>
            </a:r>
            <a:endParaRPr lang="en-NG" sz="1000" b="0" u="none" strike="noStrike">
              <a:solidFill>
                <a:srgbClr val="000000"/>
              </a:solidFill>
              <a:effectLst/>
              <a:uFillTx/>
              <a:latin typeface="Arial"/>
            </a:endParaRPr>
          </a:p>
          <a:p>
            <a:pPr>
              <a:lnSpc>
                <a:spcPts val="1349"/>
              </a:lnSpc>
              <a:tabLst>
                <a:tab pos="0" algn="l"/>
              </a:tabLst>
            </a:pPr>
            <a:r>
              <a:rPr lang="en-NG" sz="1000" b="0" u="none" strike="noStrike">
                <a:solidFill>
                  <a:srgbClr val="82AAFF"/>
                </a:solidFill>
                <a:effectLst/>
                <a:uFillTx/>
                <a:latin typeface="Courier New"/>
                <a:ea typeface="Courier New"/>
              </a:rPr>
              <a:t>    Identifier string  // matric or staff no., UNIQUE</a:t>
            </a:r>
            <a:endParaRPr lang="en-NG" sz="1000" b="0" u="none" strike="noStrike">
              <a:solidFill>
                <a:srgbClr val="000000"/>
              </a:solidFill>
              <a:effectLst/>
              <a:uFillTx/>
              <a:latin typeface="Arial"/>
            </a:endParaRPr>
          </a:p>
          <a:p>
            <a:pPr>
              <a:lnSpc>
                <a:spcPts val="1349"/>
              </a:lnSpc>
              <a:tabLst>
                <a:tab pos="0" algn="l"/>
              </a:tabLst>
            </a:pPr>
            <a:r>
              <a:rPr lang="en-NG" sz="1000" b="0" u="none" strike="noStrike">
                <a:solidFill>
                  <a:srgbClr val="82AAFF"/>
                </a:solidFill>
                <a:effectLst/>
                <a:uFillTx/>
                <a:latin typeface="Courier New"/>
                <a:ea typeface="Courier New"/>
              </a:rPr>
              <a:t>    Email      string  // citext: Ada@ and ada@ are one</a:t>
            </a:r>
            <a:endParaRPr lang="en-NG" sz="1000" b="0" u="none" strike="noStrike">
              <a:solidFill>
                <a:srgbClr val="000000"/>
              </a:solidFill>
              <a:effectLst/>
              <a:uFillTx/>
              <a:latin typeface="Arial"/>
            </a:endParaRPr>
          </a:p>
          <a:p>
            <a:pPr>
              <a:lnSpc>
                <a:spcPts val="1349"/>
              </a:lnSpc>
              <a:tabLst>
                <a:tab pos="0" algn="l"/>
              </a:tabLst>
            </a:pPr>
            <a:r>
              <a:rPr lang="en-NG" sz="1000" b="0" u="none" strike="noStrike">
                <a:solidFill>
                  <a:srgbClr val="82AAFF"/>
                </a:solidFill>
                <a:effectLst/>
                <a:uFillTx/>
                <a:latin typeface="Courier New"/>
                <a:ea typeface="Courier New"/>
              </a:rPr>
              <a:t>    Faculty, Department, Level string</a:t>
            </a:r>
            <a:endParaRPr lang="en-NG" sz="1000" b="0" u="none" strike="noStrike">
              <a:solidFill>
                <a:srgbClr val="000000"/>
              </a:solidFill>
              <a:effectLst/>
              <a:uFillTx/>
              <a:latin typeface="Arial"/>
            </a:endParaRPr>
          </a:p>
          <a:p>
            <a:pPr>
              <a:lnSpc>
                <a:spcPts val="1349"/>
              </a:lnSpc>
              <a:tabLst>
                <a:tab pos="0" algn="l"/>
              </a:tabLst>
            </a:pPr>
            <a:r>
              <a:rPr lang="en-NG" sz="1000" b="0" u="none" strike="noStrike">
                <a:solidFill>
                  <a:srgbClr val="D6DAE8"/>
                </a:solidFill>
                <a:effectLst/>
                <a:uFillTx/>
                <a:latin typeface="Courier New"/>
                <a:ea typeface="Courier New"/>
              </a:rPr>
              <a:t> </a:t>
            </a:r>
            <a:endParaRPr lang="en-NG" sz="1000" b="0" u="none" strike="noStrike">
              <a:solidFill>
                <a:srgbClr val="000000"/>
              </a:solidFill>
              <a:effectLst/>
              <a:uFillTx/>
              <a:latin typeface="Arial"/>
            </a:endParaRPr>
          </a:p>
          <a:p>
            <a:pPr>
              <a:lnSpc>
                <a:spcPts val="1349"/>
              </a:lnSpc>
              <a:tabLst>
                <a:tab pos="0" algn="l"/>
              </a:tabLst>
            </a:pPr>
            <a:r>
              <a:rPr lang="en-NG" sz="1000" b="0" u="none" strike="noStrike">
                <a:solidFill>
                  <a:srgbClr val="6F7C99"/>
                </a:solidFill>
                <a:effectLst/>
                <a:uFillTx/>
                <a:latin typeface="Courier New"/>
                <a:ea typeface="Courier New"/>
              </a:rPr>
              <a:t>    // --- entitlement ---</a:t>
            </a:r>
            <a:endParaRPr lang="en-NG" sz="1000" b="0" u="none" strike="noStrike">
              <a:solidFill>
                <a:srgbClr val="000000"/>
              </a:solidFill>
              <a:effectLst/>
              <a:uFillTx/>
              <a:latin typeface="Arial"/>
            </a:endParaRPr>
          </a:p>
          <a:p>
            <a:pPr>
              <a:lnSpc>
                <a:spcPts val="1349"/>
              </a:lnSpc>
              <a:tabLst>
                <a:tab pos="0" algn="l"/>
              </a:tabLst>
            </a:pPr>
            <a:r>
              <a:rPr lang="en-NG" sz="1000" b="0" u="none" strike="noStrike">
                <a:solidFill>
                  <a:srgbClr val="7FDBCA"/>
                </a:solidFill>
                <a:effectLst/>
                <a:uFillTx/>
                <a:latin typeface="Courier New"/>
                <a:ea typeface="Courier New"/>
              </a:rPr>
              <a:t>    Role     Role             // checked on the SERVER</a:t>
            </a:r>
            <a:endParaRPr lang="en-NG" sz="1000" b="0" u="none" strike="noStrike">
              <a:solidFill>
                <a:srgbClr val="000000"/>
              </a:solidFill>
              <a:effectLst/>
              <a:uFillTx/>
              <a:latin typeface="Arial"/>
            </a:endParaRPr>
          </a:p>
          <a:p>
            <a:pPr>
              <a:lnSpc>
                <a:spcPts val="1349"/>
              </a:lnSpc>
              <a:tabLst>
                <a:tab pos="0" algn="l"/>
              </a:tabLst>
            </a:pPr>
            <a:r>
              <a:rPr lang="en-NG" sz="1000" b="0" u="none" strike="noStrike">
                <a:solidFill>
                  <a:srgbClr val="7FDBCA"/>
                </a:solidFill>
                <a:effectLst/>
                <a:uFillTx/>
                <a:latin typeface="Courier New"/>
                <a:ea typeface="Courier New"/>
              </a:rPr>
              <a:t>    Category *MemberCategory  // null for staff</a:t>
            </a:r>
            <a:endParaRPr lang="en-NG" sz="1000" b="0" u="none" strike="noStrike">
              <a:solidFill>
                <a:srgbClr val="000000"/>
              </a:solidFill>
              <a:effectLst/>
              <a:uFillTx/>
              <a:latin typeface="Arial"/>
            </a:endParaRPr>
          </a:p>
          <a:p>
            <a:pPr>
              <a:lnSpc>
                <a:spcPts val="1349"/>
              </a:lnSpc>
              <a:tabLst>
                <a:tab pos="0" algn="l"/>
              </a:tabLst>
            </a:pPr>
            <a:r>
              <a:rPr lang="en-NG" sz="1000" b="0" u="none" strike="noStrike">
                <a:solidFill>
                  <a:srgbClr val="7FDBCA"/>
                </a:solidFill>
                <a:effectLst/>
                <a:uFillTx/>
                <a:latin typeface="Courier New"/>
                <a:ea typeface="Courier New"/>
              </a:rPr>
              <a:t>    Status   UserStatus       // suspended cannot sign in</a:t>
            </a:r>
            <a:endParaRPr lang="en-NG" sz="1000" b="0" u="none" strike="noStrike">
              <a:solidFill>
                <a:srgbClr val="000000"/>
              </a:solidFill>
              <a:effectLst/>
              <a:uFillTx/>
              <a:latin typeface="Arial"/>
            </a:endParaRPr>
          </a:p>
          <a:p>
            <a:pPr>
              <a:lnSpc>
                <a:spcPts val="1349"/>
              </a:lnSpc>
              <a:tabLst>
                <a:tab pos="0" algn="l"/>
              </a:tabLst>
            </a:pPr>
            <a:r>
              <a:rPr lang="en-NG" sz="1000" b="0" u="none" strike="noStrike">
                <a:solidFill>
                  <a:srgbClr val="D6DAE8"/>
                </a:solidFill>
                <a:effectLst/>
                <a:uFillTx/>
                <a:latin typeface="Courier New"/>
                <a:ea typeface="Courier New"/>
              </a:rPr>
              <a:t> </a:t>
            </a:r>
            <a:endParaRPr lang="en-NG" sz="1000" b="0" u="none" strike="noStrike">
              <a:solidFill>
                <a:srgbClr val="000000"/>
              </a:solidFill>
              <a:effectLst/>
              <a:uFillTx/>
              <a:latin typeface="Arial"/>
            </a:endParaRPr>
          </a:p>
          <a:p>
            <a:pPr>
              <a:lnSpc>
                <a:spcPts val="1349"/>
              </a:lnSpc>
              <a:tabLst>
                <a:tab pos="0" algn="l"/>
              </a:tabLst>
            </a:pPr>
            <a:r>
              <a:rPr lang="en-NG" sz="1000" b="0" u="none" strike="noStrike">
                <a:solidFill>
                  <a:srgbClr val="6F7C99"/>
                </a:solidFill>
                <a:effectLst/>
                <a:uFillTx/>
                <a:latin typeface="Courier New"/>
                <a:ea typeface="Courier New"/>
              </a:rPr>
              <a:t>    // --- credentials ---</a:t>
            </a:r>
            <a:endParaRPr lang="en-NG" sz="1000" b="0" u="none" strike="noStrike">
              <a:solidFill>
                <a:srgbClr val="000000"/>
              </a:solidFill>
              <a:effectLst/>
              <a:uFillTx/>
              <a:latin typeface="Arial"/>
            </a:endParaRPr>
          </a:p>
          <a:p>
            <a:pPr>
              <a:lnSpc>
                <a:spcPts val="1349"/>
              </a:lnSpc>
              <a:tabLst>
                <a:tab pos="0" algn="l"/>
              </a:tabLst>
            </a:pPr>
            <a:r>
              <a:rPr lang="en-NG" sz="1000" b="0" u="none" strike="noStrike">
                <a:solidFill>
                  <a:srgbClr val="82AAFF"/>
                </a:solidFill>
                <a:effectLst/>
                <a:uFillTx/>
                <a:latin typeface="Courier New"/>
                <a:ea typeface="Courier New"/>
              </a:rPr>
              <a:t>    PasswordHash        string  // Argon2id. Never sent.</a:t>
            </a:r>
            <a:endParaRPr lang="en-NG" sz="1000" b="0" u="none" strike="noStrike">
              <a:solidFill>
                <a:srgbClr val="000000"/>
              </a:solidFill>
              <a:effectLst/>
              <a:uFillTx/>
              <a:latin typeface="Arial"/>
            </a:endParaRPr>
          </a:p>
          <a:p>
            <a:pPr>
              <a:lnSpc>
                <a:spcPts val="1349"/>
              </a:lnSpc>
              <a:tabLst>
                <a:tab pos="0" algn="l"/>
              </a:tabLst>
            </a:pPr>
            <a:r>
              <a:rPr lang="en-NG" sz="1000" b="0" u="none" strike="noStrike">
                <a:solidFill>
                  <a:srgbClr val="82AAFF"/>
                </a:solidFill>
                <a:effectLst/>
                <a:uFillTx/>
                <a:latin typeface="Courier New"/>
                <a:ea typeface="Courier New"/>
              </a:rPr>
              <a:t>    MustChangePassword  bool    // travels in the token</a:t>
            </a:r>
            <a:endParaRPr lang="en-NG" sz="1000" b="0" u="none" strike="noStrike">
              <a:solidFill>
                <a:srgbClr val="000000"/>
              </a:solidFill>
              <a:effectLst/>
              <a:uFillTx/>
              <a:latin typeface="Arial"/>
            </a:endParaRPr>
          </a:p>
          <a:p>
            <a:pPr>
              <a:lnSpc>
                <a:spcPts val="1349"/>
              </a:lnSpc>
              <a:tabLst>
                <a:tab pos="0" algn="l"/>
              </a:tabLst>
            </a:pPr>
            <a:r>
              <a:rPr lang="en-NG" sz="1000" b="0" u="none" strike="noStrike">
                <a:solidFill>
                  <a:srgbClr val="82AAFF"/>
                </a:solidFill>
                <a:effectLst/>
                <a:uFillTx/>
                <a:latin typeface="Courier New"/>
                <a:ea typeface="Courier New"/>
              </a:rPr>
              <a:t>    TokensInvalidBefore time.Time</a:t>
            </a:r>
            <a:endParaRPr lang="en-NG" sz="1000" b="0" u="none" strike="noStrike">
              <a:solidFill>
                <a:srgbClr val="000000"/>
              </a:solidFill>
              <a:effectLst/>
              <a:uFillTx/>
              <a:latin typeface="Arial"/>
            </a:endParaRPr>
          </a:p>
          <a:p>
            <a:pPr>
              <a:lnSpc>
                <a:spcPts val="1349"/>
              </a:lnSpc>
              <a:tabLst>
                <a:tab pos="0" algn="l"/>
              </a:tabLst>
            </a:pPr>
            <a:r>
              <a:rPr lang="en-NG" sz="1000" b="0" u="none" strike="noStrike">
                <a:solidFill>
                  <a:srgbClr val="D6DAE8"/>
                </a:solidFill>
                <a:effectLst/>
                <a:uFillTx/>
                <a:latin typeface="Courier New"/>
                <a:ea typeface="Courier New"/>
              </a:rPr>
              <a:t> </a:t>
            </a:r>
            <a:endParaRPr lang="en-NG" sz="1000" b="0" u="none" strike="noStrike">
              <a:solidFill>
                <a:srgbClr val="000000"/>
              </a:solidFill>
              <a:effectLst/>
              <a:uFillTx/>
              <a:latin typeface="Arial"/>
            </a:endParaRPr>
          </a:p>
          <a:p>
            <a:pPr>
              <a:lnSpc>
                <a:spcPts val="1349"/>
              </a:lnSpc>
              <a:tabLst>
                <a:tab pos="0" algn="l"/>
              </a:tabLst>
            </a:pPr>
            <a:r>
              <a:rPr lang="en-NG" sz="1000" b="0" u="none" strike="noStrike">
                <a:solidFill>
                  <a:srgbClr val="6F7C99"/>
                </a:solidFill>
                <a:effectLst/>
                <a:uFillTx/>
                <a:latin typeface="Courier New"/>
                <a:ea typeface="Courier New"/>
              </a:rPr>
              <a:t>    // --- provenance ---</a:t>
            </a:r>
            <a:endParaRPr lang="en-NG" sz="1000" b="0" u="none" strike="noStrike">
              <a:solidFill>
                <a:srgbClr val="000000"/>
              </a:solidFill>
              <a:effectLst/>
              <a:uFillTx/>
              <a:latin typeface="Arial"/>
            </a:endParaRPr>
          </a:p>
          <a:p>
            <a:pPr>
              <a:lnSpc>
                <a:spcPts val="1349"/>
              </a:lnSpc>
              <a:tabLst>
                <a:tab pos="0" algn="l"/>
              </a:tabLst>
            </a:pPr>
            <a:r>
              <a:rPr lang="en-NG" sz="1000" b="0" u="none" strike="noStrike">
                <a:solidFill>
                  <a:srgbClr val="82AAFF"/>
                </a:solidFill>
                <a:effectLst/>
                <a:uFillTx/>
                <a:latin typeface="Courier New"/>
                <a:ea typeface="Courier New"/>
              </a:rPr>
              <a:t>    IsSynthetic bool  // simulator-created</a:t>
            </a:r>
            <a:endParaRPr lang="en-NG" sz="1000" b="0" u="none" strike="noStrike">
              <a:solidFill>
                <a:srgbClr val="000000"/>
              </a:solidFill>
              <a:effectLst/>
              <a:uFillTx/>
              <a:latin typeface="Arial"/>
            </a:endParaRPr>
          </a:p>
          <a:p>
            <a:pPr>
              <a:lnSpc>
                <a:spcPts val="1349"/>
              </a:lnSpc>
              <a:tabLst>
                <a:tab pos="0" algn="l"/>
              </a:tabLst>
            </a:pPr>
            <a:r>
              <a:rPr lang="en-NG" sz="1000" b="0" u="none" strike="noStrike">
                <a:solidFill>
                  <a:srgbClr val="82AAFF"/>
                </a:solidFill>
                <a:effectLst/>
                <a:uFillTx/>
                <a:latin typeface="Courier New"/>
                <a:ea typeface="Courier New"/>
              </a:rPr>
              <a:t>    CreatedAt, UpdatedAt time.Time  // TIMESTAMPTZ</a:t>
            </a:r>
            <a:endParaRPr lang="en-NG" sz="1000" b="0" u="none" strike="noStrike">
              <a:solidFill>
                <a:srgbClr val="000000"/>
              </a:solidFill>
              <a:effectLst/>
              <a:uFillTx/>
              <a:latin typeface="Arial"/>
            </a:endParaRPr>
          </a:p>
          <a:p>
            <a:pPr>
              <a:lnSpc>
                <a:spcPts val="1349"/>
              </a:lnSpc>
              <a:tabLst>
                <a:tab pos="0" algn="l"/>
              </a:tabLst>
            </a:pPr>
            <a:r>
              <a:rPr lang="en-NG" sz="1000" b="0" u="none" strike="noStrike">
                <a:solidFill>
                  <a:srgbClr val="C792EA"/>
                </a:solidFill>
                <a:effectLst/>
                <a:uFillTx/>
                <a:latin typeface="Courier New"/>
                <a:ea typeface="Courier New"/>
              </a:rPr>
              <a:t>}</a:t>
            </a:r>
            <a:endParaRPr lang="en-NG" sz="1000" b="0" u="none" strike="noStrike">
              <a:solidFill>
                <a:srgbClr val="000000"/>
              </a:solidFill>
              <a:effectLst/>
              <a:uFillTx/>
              <a:latin typeface="Arial"/>
            </a:endParaRPr>
          </a:p>
        </p:txBody>
      </p:sp>
      <p:sp>
        <p:nvSpPr>
          <p:cNvPr id="283" name="Shape 5"/>
          <p:cNvSpPr/>
          <p:nvPr/>
        </p:nvSpPr>
        <p:spPr>
          <a:xfrm>
            <a:off x="7863840" y="1316880"/>
            <a:ext cx="3760560" cy="2084400"/>
          </a:xfrm>
          <a:prstGeom prst="roundRect">
            <a:avLst>
              <a:gd name="adj" fmla="val 3070"/>
            </a:avLst>
          </a:prstGeom>
          <a:solidFill>
            <a:srgbClr val="F4F5F9"/>
          </a:solidFill>
          <a:ln w="9525">
            <a:solidFill>
              <a:srgbClr val="D8DAE5"/>
            </a:solidFill>
            <a:round/>
          </a:ln>
          <a:effectLst>
            <a:outerShdw algn="bl" blurRad="127080" dir="5400000" dist="25560" kx="0" ky="0" rotWithShape="0" sx="100000" sy="100000">
              <a:srgbClr val="9098B0">
                <a:alpha val="22000"/>
              </a:srgbClr>
            </a:outerShdw>
          </a:effectLst>
        </p:spPr>
        <p:style>
          <a:lnRef idx="0"/>
          <a:fillRef idx="0"/>
          <a:effectRef idx="0"/>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284" name="Text 6"/>
          <p:cNvSpPr/>
          <p:nvPr/>
        </p:nvSpPr>
        <p:spPr>
          <a:xfrm>
            <a:off x="8083440" y="1490400"/>
            <a:ext cx="3321720" cy="328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400" b="1" u="none" strike="noStrike">
                <a:solidFill>
                  <a:srgbClr val="240C54"/>
                </a:solidFill>
                <a:effectLst/>
                <a:uFillTx/>
                <a:latin typeface="Calibri"/>
                <a:ea typeface="Calibri"/>
              </a:rPr>
              <a:t>Identity</a:t>
            </a:r>
            <a:endParaRPr lang="en-NG" sz="1400" b="0" u="none" strike="noStrike">
              <a:solidFill>
                <a:srgbClr val="000000"/>
              </a:solidFill>
              <a:effectLst/>
              <a:uFillTx/>
              <a:latin typeface="Arial"/>
            </a:endParaRPr>
          </a:p>
        </p:txBody>
      </p:sp>
      <p:sp>
        <p:nvSpPr>
          <p:cNvPr id="285" name="Text 7"/>
          <p:cNvSpPr/>
          <p:nvPr/>
        </p:nvSpPr>
        <p:spPr>
          <a:xfrm>
            <a:off x="8083440" y="1883520"/>
            <a:ext cx="3321720" cy="1371240"/>
          </a:xfrm>
          <a:prstGeom prst="rect">
            <a:avLst/>
          </a:prstGeom>
          <a:noFill/>
          <a:ln w="0">
            <a:noFill/>
          </a:ln>
        </p:spPr>
        <p:style>
          <a:lnRef idx="0"/>
          <a:fillRef idx="0"/>
          <a:effectRef idx="0"/>
          <a:fontRef idx="minor"/>
        </p:style>
        <p:txBody>
          <a:bodyPr lIns="0" tIns="0" rIns="0" bIns="0" anchor="t">
            <a:noAutofit/>
          </a:bodyPr>
          <a:p>
            <a:pPr>
              <a:lnSpc>
                <a:spcPts val="1650"/>
              </a:lnSpc>
              <a:tabLst>
                <a:tab pos="0" algn="l"/>
              </a:tabLst>
            </a:pPr>
            <a:r>
              <a:rPr lang="en-NG" sz="1200" b="0" u="none" strike="noStrike">
                <a:solidFill>
                  <a:srgbClr val="1A1A2E"/>
                </a:solidFill>
                <a:effectLst/>
                <a:uFillTx/>
                <a:latin typeface="Calibri"/>
                <a:ea typeface="Calibri"/>
              </a:rPr>
              <a:t>The id is a UUID, not a running number: a sequential id invites walking the list. Email is citext, so Ada@ and ada@ are one person and cannot register twice.</a:t>
            </a:r>
            <a:endParaRPr lang="en-NG" sz="1200" b="0" u="none" strike="noStrike">
              <a:solidFill>
                <a:srgbClr val="000000"/>
              </a:solidFill>
              <a:effectLst/>
              <a:uFillTx/>
              <a:latin typeface="Arial"/>
            </a:endParaRPr>
          </a:p>
        </p:txBody>
      </p:sp>
      <p:sp>
        <p:nvSpPr>
          <p:cNvPr id="286" name="Shape 8"/>
          <p:cNvSpPr/>
          <p:nvPr/>
        </p:nvSpPr>
        <p:spPr>
          <a:xfrm>
            <a:off x="7863840" y="3566160"/>
            <a:ext cx="3760560" cy="2029680"/>
          </a:xfrm>
          <a:prstGeom prst="roundRect">
            <a:avLst>
              <a:gd name="adj" fmla="val 3153"/>
            </a:avLst>
          </a:prstGeom>
          <a:solidFill>
            <a:srgbClr val="240C54"/>
          </a:solidFill>
          <a:ln w="9525">
            <a:solidFill>
              <a:srgbClr val="240C54"/>
            </a:solidFill>
            <a:round/>
          </a:ln>
          <a:effectLst>
            <a:outerShdw algn="bl" blurRad="127080" dir="5400000" dist="25560" kx="0" ky="0" rotWithShape="0" sx="100000" sy="100000">
              <a:srgbClr val="9098B0">
                <a:alpha val="22000"/>
              </a:srgbClr>
            </a:outerShdw>
          </a:effectLst>
        </p:spPr>
        <p:style>
          <a:lnRef idx="0"/>
          <a:fillRef idx="0"/>
          <a:effectRef idx="0"/>
          <a:fontRef idx="minor"/>
        </p:style>
        <p:txBody>
          <a:bodyPr lIns="90000" tIns="45000" rIns="90000" bIns="45000" anchor="t">
            <a:noAutofit/>
          </a:bodyPr>
          <a:p>
            <a:pPr/>
            <a:endParaRPr lang="en-NG" sz="1800" b="0" u="none" strike="noStrike">
              <a:solidFill>
                <a:srgbClr val="FFFFFF"/>
              </a:solidFill>
              <a:effectLst/>
              <a:uFillTx/>
              <a:latin typeface="Arial"/>
            </a:endParaRPr>
          </a:p>
        </p:txBody>
      </p:sp>
      <p:sp>
        <p:nvSpPr>
          <p:cNvPr id="287" name="Text 9"/>
          <p:cNvSpPr/>
          <p:nvPr/>
        </p:nvSpPr>
        <p:spPr>
          <a:xfrm>
            <a:off x="8083440" y="3740040"/>
            <a:ext cx="3321720" cy="328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400" b="1" u="none" strike="noStrike">
                <a:solidFill>
                  <a:srgbClr val="E4B454"/>
                </a:solidFill>
                <a:effectLst/>
                <a:uFillTx/>
                <a:latin typeface="Calibri"/>
                <a:ea typeface="Calibri"/>
              </a:rPr>
              <a:t>Credentials</a:t>
            </a:r>
            <a:endParaRPr lang="en-NG" sz="1400" b="0" u="none" strike="noStrike">
              <a:solidFill>
                <a:srgbClr val="000000"/>
              </a:solidFill>
              <a:effectLst/>
              <a:uFillTx/>
              <a:latin typeface="Arial"/>
            </a:endParaRPr>
          </a:p>
        </p:txBody>
      </p:sp>
      <p:sp>
        <p:nvSpPr>
          <p:cNvPr id="288" name="Text 10"/>
          <p:cNvSpPr/>
          <p:nvPr/>
        </p:nvSpPr>
        <p:spPr>
          <a:xfrm>
            <a:off x="8083440" y="4133160"/>
            <a:ext cx="3321720" cy="1316520"/>
          </a:xfrm>
          <a:prstGeom prst="rect">
            <a:avLst/>
          </a:prstGeom>
          <a:noFill/>
          <a:ln w="0">
            <a:noFill/>
          </a:ln>
        </p:spPr>
        <p:style>
          <a:lnRef idx="0"/>
          <a:fillRef idx="0"/>
          <a:effectRef idx="0"/>
          <a:fontRef idx="minor"/>
        </p:style>
        <p:txBody>
          <a:bodyPr lIns="0" tIns="0" rIns="0" bIns="0" anchor="t">
            <a:noAutofit/>
          </a:bodyPr>
          <a:p>
            <a:pPr>
              <a:lnSpc>
                <a:spcPts val="1650"/>
              </a:lnSpc>
              <a:tabLst>
                <a:tab pos="0" algn="l"/>
              </a:tabLst>
            </a:pPr>
            <a:r>
              <a:rPr lang="en-NG" sz="1200" b="0" u="none" strike="noStrike">
                <a:solidFill>
                  <a:srgbClr val="E4E0F2"/>
                </a:solidFill>
                <a:effectLst/>
                <a:uFillTx/>
                <a:latin typeface="Calibri"/>
                <a:ea typeface="Calibri"/>
              </a:rPr>
              <a:t>TokensInvalidBefore voids every session issued before a password change. It is stamped in the same statement as the new hash, so a refresh arriving mid-change cannot slip through.</a:t>
            </a:r>
            <a:endParaRPr lang="en-NG"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9" name="Text 0"/>
          <p:cNvSpPr/>
          <p:nvPr/>
        </p:nvSpPr>
        <p:spPr>
          <a:xfrm>
            <a:off x="567000" y="384120"/>
            <a:ext cx="8229240" cy="2372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100" b="1" u="none" spc="221" strike="noStrike">
                <a:solidFill>
                  <a:srgbClr val="E4B454"/>
                </a:solidFill>
                <a:effectLst/>
                <a:uFillTx/>
                <a:latin typeface="Calibri"/>
                <a:ea typeface="Calibri"/>
              </a:rPr>
              <a:t>BORROWING BEHAVIOUR</a:t>
            </a:r>
            <a:endParaRPr lang="en-NG" sz="1100" b="0" u="none" strike="noStrike">
              <a:solidFill>
                <a:srgbClr val="000000"/>
              </a:solidFill>
              <a:effectLst/>
              <a:uFillTx/>
              <a:latin typeface="Arial"/>
            </a:endParaRPr>
          </a:p>
        </p:txBody>
      </p:sp>
      <p:sp>
        <p:nvSpPr>
          <p:cNvPr id="290" name="Text 1"/>
          <p:cNvSpPr/>
          <p:nvPr/>
        </p:nvSpPr>
        <p:spPr>
          <a:xfrm>
            <a:off x="567000" y="640080"/>
            <a:ext cx="9692280" cy="5666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3000" b="1" u="none" strike="noStrike">
                <a:solidFill>
                  <a:srgbClr val="240C54"/>
                </a:solidFill>
                <a:effectLst/>
                <a:uFillTx/>
                <a:latin typeface="Cambria"/>
                <a:ea typeface="Cambria"/>
              </a:rPr>
              <a:t>Entitlement is data, not scattered conditionals</a:t>
            </a:r>
            <a:endParaRPr lang="en-NG" sz="3000" b="0" u="none" strike="noStrike">
              <a:solidFill>
                <a:srgbClr val="000000"/>
              </a:solidFill>
              <a:effectLst/>
              <a:uFillTx/>
              <a:latin typeface="Arial"/>
            </a:endParaRPr>
          </a:p>
        </p:txBody>
      </p:sp>
      <p:pic>
        <p:nvPicPr>
          <p:cNvPr id="291" name="Image 0"/>
          <p:cNvPicPr/>
          <p:nvPr/>
        </p:nvPicPr>
        <p:blipFill>
          <a:blip r:embed="rId1"/>
          <a:stretch/>
        </p:blipFill>
        <p:spPr>
          <a:xfrm>
            <a:off x="11149200" y="365760"/>
            <a:ext cx="475200" cy="465840"/>
          </a:xfrm>
          <a:prstGeom prst="rect">
            <a:avLst/>
          </a:prstGeom>
          <a:noFill/>
          <a:ln w="0">
            <a:noFill/>
          </a:ln>
        </p:spPr>
      </p:pic>
      <p:sp>
        <p:nvSpPr>
          <p:cNvPr id="292" name="Text 2"/>
          <p:cNvSpPr/>
          <p:nvPr/>
        </p:nvSpPr>
        <p:spPr>
          <a:xfrm>
            <a:off x="11149200" y="6382440"/>
            <a:ext cx="475200" cy="219240"/>
          </a:xfrm>
          <a:prstGeom prst="rect">
            <a:avLst/>
          </a:prstGeom>
          <a:noFill/>
          <a:ln w="0">
            <a:noFill/>
          </a:ln>
        </p:spPr>
        <p:style>
          <a:lnRef idx="0"/>
          <a:fillRef idx="0"/>
          <a:effectRef idx="0"/>
          <a:fontRef idx="minor"/>
        </p:style>
        <p:txBody>
          <a:bodyPr lIns="0" tIns="0" rIns="0" bIns="0" anchor="ctr">
            <a:noAutofit/>
          </a:bodyPr>
          <a:p>
            <a:pPr algn="r">
              <a:lnSpc>
                <a:spcPct val="100000"/>
              </a:lnSpc>
              <a:tabLst>
                <a:tab pos="0" algn="l"/>
              </a:tabLst>
            </a:pPr>
            <a:r>
              <a:rPr lang="en-NG" sz="1000" b="0" u="none" strike="noStrike">
                <a:solidFill>
                  <a:srgbClr val="5B5B6B"/>
                </a:solidFill>
                <a:effectLst/>
                <a:uFillTx/>
                <a:latin typeface="Calibri"/>
                <a:ea typeface="Calibri"/>
              </a:rPr>
              <a:t>9</a:t>
            </a:r>
            <a:endParaRPr lang="en-NG" sz="1000" b="0" u="none" strike="noStrike">
              <a:solidFill>
                <a:srgbClr val="000000"/>
              </a:solidFill>
              <a:effectLst/>
              <a:uFillTx/>
              <a:latin typeface="Arial"/>
            </a:endParaRPr>
          </a:p>
        </p:txBody>
      </p:sp>
      <p:sp>
        <p:nvSpPr>
          <p:cNvPr id="293" name="Shape 3"/>
          <p:cNvSpPr/>
          <p:nvPr/>
        </p:nvSpPr>
        <p:spPr>
          <a:xfrm>
            <a:off x="567000" y="1316880"/>
            <a:ext cx="7003800" cy="4278960"/>
          </a:xfrm>
          <a:prstGeom prst="roundRect">
            <a:avLst>
              <a:gd name="adj" fmla="val 1282"/>
            </a:avLst>
          </a:prstGeom>
          <a:solidFill>
            <a:srgbClr val="10131F"/>
          </a:solidFill>
          <a:ln w="12700">
            <a:solidFill>
              <a:srgbClr val="10131F"/>
            </a:solidFill>
            <a:round/>
          </a:ln>
          <a:effectLst>
            <a:outerShdw algn="bl" blurRad="127080" dir="5400000" dist="25560" kx="0" ky="0" rotWithShape="0" sx="100000" sy="100000">
              <a:srgbClr val="9098B0">
                <a:alpha val="22000"/>
              </a:srgbClr>
            </a:outerShdw>
          </a:effectLst>
        </p:spPr>
        <p:style>
          <a:lnRef idx="0"/>
          <a:fillRef idx="0"/>
          <a:effectRef idx="0"/>
          <a:fontRef idx="minor"/>
        </p:style>
        <p:txBody>
          <a:bodyPr lIns="90000" tIns="45000" rIns="90000" bIns="45000" anchor="t">
            <a:noAutofit/>
          </a:bodyPr>
          <a:p>
            <a:pPr/>
            <a:endParaRPr lang="en-NG" sz="1800" b="0" u="none" strike="noStrike">
              <a:solidFill>
                <a:srgbClr val="FFFFFF"/>
              </a:solidFill>
              <a:effectLst/>
              <a:uFillTx/>
              <a:latin typeface="Arial"/>
            </a:endParaRPr>
          </a:p>
        </p:txBody>
      </p:sp>
      <p:sp>
        <p:nvSpPr>
          <p:cNvPr id="294" name="Text 4"/>
          <p:cNvSpPr/>
          <p:nvPr/>
        </p:nvSpPr>
        <p:spPr>
          <a:xfrm>
            <a:off x="749880" y="1463040"/>
            <a:ext cx="6638040" cy="3986280"/>
          </a:xfrm>
          <a:prstGeom prst="rect">
            <a:avLst/>
          </a:prstGeom>
          <a:noFill/>
          <a:ln w="0">
            <a:noFill/>
          </a:ln>
        </p:spPr>
        <p:style>
          <a:lnRef idx="0"/>
          <a:fillRef idx="0"/>
          <a:effectRef idx="0"/>
          <a:fontRef idx="minor"/>
        </p:style>
        <p:txBody>
          <a:bodyPr lIns="0" tIns="0" rIns="0" bIns="0" anchor="t">
            <a:noAutofit/>
          </a:bodyPr>
          <a:p>
            <a:pPr>
              <a:lnSpc>
                <a:spcPts val="1349"/>
              </a:lnSpc>
              <a:tabLst>
                <a:tab pos="0" algn="l"/>
              </a:tabLst>
            </a:pPr>
            <a:r>
              <a:rPr lang="en-NG" sz="1000" b="0" u="none" strike="noStrike">
                <a:solidFill>
                  <a:srgbClr val="6F7C99"/>
                </a:solidFill>
                <a:effectLst/>
                <a:uFillTx/>
                <a:latin typeface="Courier New"/>
                <a:ea typeface="Courier New"/>
              </a:rPr>
              <a:t>// What a category is allowed to do.</a:t>
            </a:r>
            <a:endParaRPr lang="en-NG" sz="1000" b="0" u="none" strike="noStrike">
              <a:solidFill>
                <a:srgbClr val="000000"/>
              </a:solidFill>
              <a:effectLst/>
              <a:uFillTx/>
              <a:latin typeface="Arial"/>
            </a:endParaRPr>
          </a:p>
          <a:p>
            <a:pPr>
              <a:lnSpc>
                <a:spcPts val="1349"/>
              </a:lnSpc>
              <a:tabLst>
                <a:tab pos="0" algn="l"/>
              </a:tabLst>
            </a:pPr>
            <a:r>
              <a:rPr lang="en-NG" sz="1000" b="0" u="none" strike="noStrike">
                <a:solidFill>
                  <a:srgbClr val="C792EA"/>
                </a:solidFill>
                <a:effectLst/>
                <a:uFillTx/>
                <a:latin typeface="Courier New"/>
                <a:ea typeface="Courier New"/>
              </a:rPr>
              <a:t>const (</a:t>
            </a:r>
            <a:endParaRPr lang="en-NG" sz="1000" b="0" u="none" strike="noStrike">
              <a:solidFill>
                <a:srgbClr val="000000"/>
              </a:solidFill>
              <a:effectLst/>
              <a:uFillTx/>
              <a:latin typeface="Arial"/>
            </a:endParaRPr>
          </a:p>
          <a:p>
            <a:pPr>
              <a:lnSpc>
                <a:spcPts val="1349"/>
              </a:lnSpc>
              <a:tabLst>
                <a:tab pos="0" algn="l"/>
              </a:tabLst>
            </a:pPr>
            <a:r>
              <a:rPr lang="en-NG" sz="1000" b="0" u="none" strike="noStrike">
                <a:solidFill>
                  <a:srgbClr val="ECC48D"/>
                </a:solidFill>
                <a:effectLst/>
                <a:uFillTx/>
                <a:latin typeface="Courier New"/>
                <a:ea typeface="Courier New"/>
              </a:rPr>
              <a:t>    Undergraduate MemberCategory = "undergraduate"</a:t>
            </a:r>
            <a:endParaRPr lang="en-NG" sz="1000" b="0" u="none" strike="noStrike">
              <a:solidFill>
                <a:srgbClr val="000000"/>
              </a:solidFill>
              <a:effectLst/>
              <a:uFillTx/>
              <a:latin typeface="Arial"/>
            </a:endParaRPr>
          </a:p>
          <a:p>
            <a:pPr>
              <a:lnSpc>
                <a:spcPts val="1349"/>
              </a:lnSpc>
              <a:tabLst>
                <a:tab pos="0" algn="l"/>
              </a:tabLst>
            </a:pPr>
            <a:r>
              <a:rPr lang="en-NG" sz="1000" b="0" u="none" strike="noStrike">
                <a:solidFill>
                  <a:srgbClr val="ECC48D"/>
                </a:solidFill>
                <a:effectLst/>
                <a:uFillTx/>
                <a:latin typeface="Courier New"/>
                <a:ea typeface="Courier New"/>
              </a:rPr>
              <a:t>    Postgraduate  MemberCategory = "postgraduate"</a:t>
            </a:r>
            <a:endParaRPr lang="en-NG" sz="1000" b="0" u="none" strike="noStrike">
              <a:solidFill>
                <a:srgbClr val="000000"/>
              </a:solidFill>
              <a:effectLst/>
              <a:uFillTx/>
              <a:latin typeface="Arial"/>
            </a:endParaRPr>
          </a:p>
          <a:p>
            <a:pPr>
              <a:lnSpc>
                <a:spcPts val="1349"/>
              </a:lnSpc>
              <a:tabLst>
                <a:tab pos="0" algn="l"/>
              </a:tabLst>
            </a:pPr>
            <a:r>
              <a:rPr lang="en-NG" sz="1000" b="0" u="none" strike="noStrike">
                <a:solidFill>
                  <a:srgbClr val="ECC48D"/>
                </a:solidFill>
                <a:effectLst/>
                <a:uFillTx/>
                <a:latin typeface="Courier New"/>
                <a:ea typeface="Courier New"/>
              </a:rPr>
              <a:t>    Staff         MemberCategory = "staff"</a:t>
            </a:r>
            <a:endParaRPr lang="en-NG" sz="1000" b="0" u="none" strike="noStrike">
              <a:solidFill>
                <a:srgbClr val="000000"/>
              </a:solidFill>
              <a:effectLst/>
              <a:uFillTx/>
              <a:latin typeface="Arial"/>
            </a:endParaRPr>
          </a:p>
          <a:p>
            <a:pPr>
              <a:lnSpc>
                <a:spcPts val="1349"/>
              </a:lnSpc>
              <a:tabLst>
                <a:tab pos="0" algn="l"/>
              </a:tabLst>
            </a:pPr>
            <a:r>
              <a:rPr lang="en-NG" sz="1000" b="0" u="none" strike="noStrike">
                <a:solidFill>
                  <a:srgbClr val="C792EA"/>
                </a:solidFill>
                <a:effectLst/>
                <a:uFillTx/>
                <a:latin typeface="Courier New"/>
                <a:ea typeface="Courier New"/>
              </a:rPr>
              <a:t>)</a:t>
            </a:r>
            <a:endParaRPr lang="en-NG" sz="1000" b="0" u="none" strike="noStrike">
              <a:solidFill>
                <a:srgbClr val="000000"/>
              </a:solidFill>
              <a:effectLst/>
              <a:uFillTx/>
              <a:latin typeface="Arial"/>
            </a:endParaRPr>
          </a:p>
          <a:p>
            <a:pPr>
              <a:lnSpc>
                <a:spcPts val="1349"/>
              </a:lnSpc>
              <a:tabLst>
                <a:tab pos="0" algn="l"/>
              </a:tabLst>
            </a:pPr>
            <a:r>
              <a:rPr lang="en-NG" sz="1000" b="0" u="none" strike="noStrike">
                <a:solidFill>
                  <a:srgbClr val="D6DAE8"/>
                </a:solidFill>
                <a:effectLst/>
                <a:uFillTx/>
                <a:latin typeface="Courier New"/>
                <a:ea typeface="Courier New"/>
              </a:rPr>
              <a:t> </a:t>
            </a:r>
            <a:endParaRPr lang="en-NG" sz="1000" b="0" u="none" strike="noStrike">
              <a:solidFill>
                <a:srgbClr val="000000"/>
              </a:solidFill>
              <a:effectLst/>
              <a:uFillTx/>
              <a:latin typeface="Arial"/>
            </a:endParaRPr>
          </a:p>
          <a:p>
            <a:pPr>
              <a:lnSpc>
                <a:spcPts val="1349"/>
              </a:lnSpc>
              <a:tabLst>
                <a:tab pos="0" algn="l"/>
              </a:tabLst>
            </a:pPr>
            <a:r>
              <a:rPr lang="en-NG" sz="1000" b="0" u="none" strike="noStrike">
                <a:solidFill>
                  <a:srgbClr val="6F7C99"/>
                </a:solidFill>
                <a:effectLst/>
                <a:uFillTx/>
                <a:latin typeface="Courier New"/>
                <a:ea typeface="Courier New"/>
              </a:rPr>
              <a:t>// Limits live in one table, not in the handlers.</a:t>
            </a:r>
            <a:endParaRPr lang="en-NG" sz="1000" b="0" u="none" strike="noStrike">
              <a:solidFill>
                <a:srgbClr val="000000"/>
              </a:solidFill>
              <a:effectLst/>
              <a:uFillTx/>
              <a:latin typeface="Arial"/>
            </a:endParaRPr>
          </a:p>
          <a:p>
            <a:pPr>
              <a:lnSpc>
                <a:spcPts val="1349"/>
              </a:lnSpc>
              <a:tabLst>
                <a:tab pos="0" algn="l"/>
              </a:tabLst>
            </a:pPr>
            <a:r>
              <a:rPr lang="en-NG" sz="1000" b="0" u="none" strike="noStrike">
                <a:solidFill>
                  <a:srgbClr val="C792EA"/>
                </a:solidFill>
                <a:effectLst/>
                <a:uFillTx/>
                <a:latin typeface="Courier New"/>
                <a:ea typeface="Courier New"/>
              </a:rPr>
              <a:t>var Terms = map[MemberCategory]LoanTerm{</a:t>
            </a:r>
            <a:endParaRPr lang="en-NG" sz="1000" b="0" u="none" strike="noStrike">
              <a:solidFill>
                <a:srgbClr val="000000"/>
              </a:solidFill>
              <a:effectLst/>
              <a:uFillTx/>
              <a:latin typeface="Arial"/>
            </a:endParaRPr>
          </a:p>
          <a:p>
            <a:pPr>
              <a:lnSpc>
                <a:spcPts val="1349"/>
              </a:lnSpc>
              <a:tabLst>
                <a:tab pos="0" algn="l"/>
              </a:tabLst>
            </a:pPr>
            <a:r>
              <a:rPr lang="en-NG" sz="1000" b="0" u="none" strike="noStrike">
                <a:solidFill>
                  <a:srgbClr val="82AAFF"/>
                </a:solidFill>
                <a:effectLst/>
                <a:uFillTx/>
                <a:latin typeface="Courier New"/>
                <a:ea typeface="Courier New"/>
              </a:rPr>
              <a:t>    Undergraduate: {MaxLoans: 2, Days: 14},</a:t>
            </a:r>
            <a:endParaRPr lang="en-NG" sz="1000" b="0" u="none" strike="noStrike">
              <a:solidFill>
                <a:srgbClr val="000000"/>
              </a:solidFill>
              <a:effectLst/>
              <a:uFillTx/>
              <a:latin typeface="Arial"/>
            </a:endParaRPr>
          </a:p>
          <a:p>
            <a:pPr>
              <a:lnSpc>
                <a:spcPts val="1349"/>
              </a:lnSpc>
              <a:tabLst>
                <a:tab pos="0" algn="l"/>
              </a:tabLst>
            </a:pPr>
            <a:r>
              <a:rPr lang="en-NG" sz="1000" b="0" u="none" strike="noStrike">
                <a:solidFill>
                  <a:srgbClr val="82AAFF"/>
                </a:solidFill>
                <a:effectLst/>
                <a:uFillTx/>
                <a:latin typeface="Courier New"/>
                <a:ea typeface="Courier New"/>
              </a:rPr>
              <a:t>    Postgraduate:  {MaxLoans: 4, Days: 21},</a:t>
            </a:r>
            <a:endParaRPr lang="en-NG" sz="1000" b="0" u="none" strike="noStrike">
              <a:solidFill>
                <a:srgbClr val="000000"/>
              </a:solidFill>
              <a:effectLst/>
              <a:uFillTx/>
              <a:latin typeface="Arial"/>
            </a:endParaRPr>
          </a:p>
          <a:p>
            <a:pPr>
              <a:lnSpc>
                <a:spcPts val="1349"/>
              </a:lnSpc>
              <a:tabLst>
                <a:tab pos="0" algn="l"/>
              </a:tabLst>
            </a:pPr>
            <a:r>
              <a:rPr lang="en-NG" sz="1000" b="0" u="none" strike="noStrike">
                <a:solidFill>
                  <a:srgbClr val="82AAFF"/>
                </a:solidFill>
                <a:effectLst/>
                <a:uFillTx/>
                <a:latin typeface="Courier New"/>
                <a:ea typeface="Courier New"/>
              </a:rPr>
              <a:t>    Staff:         {MaxLoans: 6, Days: 28},</a:t>
            </a:r>
            <a:endParaRPr lang="en-NG" sz="1000" b="0" u="none" strike="noStrike">
              <a:solidFill>
                <a:srgbClr val="000000"/>
              </a:solidFill>
              <a:effectLst/>
              <a:uFillTx/>
              <a:latin typeface="Arial"/>
            </a:endParaRPr>
          </a:p>
          <a:p>
            <a:pPr>
              <a:lnSpc>
                <a:spcPts val="1349"/>
              </a:lnSpc>
              <a:tabLst>
                <a:tab pos="0" algn="l"/>
              </a:tabLst>
            </a:pPr>
            <a:r>
              <a:rPr lang="en-NG" sz="1000" b="0" u="none" strike="noStrike">
                <a:solidFill>
                  <a:srgbClr val="C792EA"/>
                </a:solidFill>
                <a:effectLst/>
                <a:uFillTx/>
                <a:latin typeface="Courier New"/>
                <a:ea typeface="Courier New"/>
              </a:rPr>
              <a:t>}</a:t>
            </a:r>
            <a:endParaRPr lang="en-NG" sz="1000" b="0" u="none" strike="noStrike">
              <a:solidFill>
                <a:srgbClr val="000000"/>
              </a:solidFill>
              <a:effectLst/>
              <a:uFillTx/>
              <a:latin typeface="Arial"/>
            </a:endParaRPr>
          </a:p>
          <a:p>
            <a:pPr>
              <a:lnSpc>
                <a:spcPts val="1349"/>
              </a:lnSpc>
              <a:tabLst>
                <a:tab pos="0" algn="l"/>
              </a:tabLst>
            </a:pPr>
            <a:r>
              <a:rPr lang="en-NG" sz="1000" b="0" u="none" strike="noStrike">
                <a:solidFill>
                  <a:srgbClr val="D6DAE8"/>
                </a:solidFill>
                <a:effectLst/>
                <a:uFillTx/>
                <a:latin typeface="Courier New"/>
                <a:ea typeface="Courier New"/>
              </a:rPr>
              <a:t> </a:t>
            </a:r>
            <a:endParaRPr lang="en-NG" sz="1000" b="0" u="none" strike="noStrike">
              <a:solidFill>
                <a:srgbClr val="000000"/>
              </a:solidFill>
              <a:effectLst/>
              <a:uFillTx/>
              <a:latin typeface="Arial"/>
            </a:endParaRPr>
          </a:p>
          <a:p>
            <a:pPr>
              <a:lnSpc>
                <a:spcPts val="1349"/>
              </a:lnSpc>
              <a:tabLst>
                <a:tab pos="0" algn="l"/>
              </a:tabLst>
            </a:pPr>
            <a:r>
              <a:rPr lang="en-NG" sz="1000" b="0" u="none" strike="noStrike">
                <a:solidFill>
                  <a:srgbClr val="C792EA"/>
                </a:solidFill>
                <a:effectLst/>
                <a:uFillTx/>
                <a:latin typeface="Courier New"/>
                <a:ea typeface="Courier New"/>
              </a:rPr>
              <a:t>type Loan struct {</a:t>
            </a:r>
            <a:endParaRPr lang="en-NG" sz="1000" b="0" u="none" strike="noStrike">
              <a:solidFill>
                <a:srgbClr val="000000"/>
              </a:solidFill>
              <a:effectLst/>
              <a:uFillTx/>
              <a:latin typeface="Arial"/>
            </a:endParaRPr>
          </a:p>
          <a:p>
            <a:pPr>
              <a:lnSpc>
                <a:spcPts val="1349"/>
              </a:lnSpc>
              <a:tabLst>
                <a:tab pos="0" algn="l"/>
              </a:tabLst>
            </a:pPr>
            <a:r>
              <a:rPr lang="en-NG" sz="1000" b="0" u="none" strike="noStrike">
                <a:solidFill>
                  <a:srgbClr val="82AAFF"/>
                </a:solidFill>
                <a:effectLst/>
                <a:uFillTx/>
                <a:latin typeface="Courier New"/>
                <a:ea typeface="Courier New"/>
              </a:rPr>
              <a:t>    CopyID, UserID string</a:t>
            </a:r>
            <a:endParaRPr lang="en-NG" sz="1000" b="0" u="none" strike="noStrike">
              <a:solidFill>
                <a:srgbClr val="000000"/>
              </a:solidFill>
              <a:effectLst/>
              <a:uFillTx/>
              <a:latin typeface="Arial"/>
            </a:endParaRPr>
          </a:p>
          <a:p>
            <a:pPr>
              <a:lnSpc>
                <a:spcPts val="1349"/>
              </a:lnSpc>
              <a:tabLst>
                <a:tab pos="0" algn="l"/>
              </a:tabLst>
            </a:pPr>
            <a:r>
              <a:rPr lang="en-NG" sz="1000" b="0" u="none" strike="noStrike">
                <a:solidFill>
                  <a:srgbClr val="82AAFF"/>
                </a:solidFill>
                <a:effectLst/>
                <a:uFillTx/>
                <a:latin typeface="Courier New"/>
                <a:ea typeface="Courier New"/>
              </a:rPr>
              <a:t>    BorrowedAt, DueAt time.Time</a:t>
            </a:r>
            <a:endParaRPr lang="en-NG" sz="1000" b="0" u="none" strike="noStrike">
              <a:solidFill>
                <a:srgbClr val="000000"/>
              </a:solidFill>
              <a:effectLst/>
              <a:uFillTx/>
              <a:latin typeface="Arial"/>
            </a:endParaRPr>
          </a:p>
          <a:p>
            <a:pPr>
              <a:lnSpc>
                <a:spcPts val="1349"/>
              </a:lnSpc>
              <a:tabLst>
                <a:tab pos="0" algn="l"/>
              </a:tabLst>
            </a:pPr>
            <a:r>
              <a:rPr lang="en-NG" sz="1000" b="0" u="none" strike="noStrike">
                <a:solidFill>
                  <a:srgbClr val="82AAFF"/>
                </a:solidFill>
                <a:effectLst/>
                <a:uFillTx/>
                <a:latin typeface="Courier New"/>
                <a:ea typeface="Courier New"/>
              </a:rPr>
              <a:t>    ReturnedAt *time.Time  // nil means still out</a:t>
            </a:r>
            <a:endParaRPr lang="en-NG" sz="1000" b="0" u="none" strike="noStrike">
              <a:solidFill>
                <a:srgbClr val="000000"/>
              </a:solidFill>
              <a:effectLst/>
              <a:uFillTx/>
              <a:latin typeface="Arial"/>
            </a:endParaRPr>
          </a:p>
          <a:p>
            <a:pPr>
              <a:lnSpc>
                <a:spcPts val="1349"/>
              </a:lnSpc>
              <a:tabLst>
                <a:tab pos="0" algn="l"/>
              </a:tabLst>
            </a:pPr>
            <a:r>
              <a:rPr lang="en-NG" sz="1000" b="0" u="none" strike="noStrike">
                <a:solidFill>
                  <a:srgbClr val="D6DAE8"/>
                </a:solidFill>
                <a:effectLst/>
                <a:uFillTx/>
                <a:latin typeface="Courier New"/>
                <a:ea typeface="Courier New"/>
              </a:rPr>
              <a:t> </a:t>
            </a:r>
            <a:endParaRPr lang="en-NG" sz="1000" b="0" u="none" strike="noStrike">
              <a:solidFill>
                <a:srgbClr val="000000"/>
              </a:solidFill>
              <a:effectLst/>
              <a:uFillTx/>
              <a:latin typeface="Arial"/>
            </a:endParaRPr>
          </a:p>
          <a:p>
            <a:pPr>
              <a:lnSpc>
                <a:spcPts val="1349"/>
              </a:lnSpc>
              <a:tabLst>
                <a:tab pos="0" algn="l"/>
              </a:tabLst>
            </a:pPr>
            <a:r>
              <a:rPr lang="en-NG" sz="1000" b="0" u="none" strike="noStrike">
                <a:solidFill>
                  <a:srgbClr val="6F7C99"/>
                </a:solidFill>
                <a:effectLst/>
                <a:uFillTx/>
                <a:latin typeface="Courier New"/>
                <a:ea typeface="Courier New"/>
              </a:rPr>
              <a:t>    // Note what is ABSENT: no IsOverdue flag.</a:t>
            </a:r>
            <a:endParaRPr lang="en-NG" sz="1000" b="0" u="none" strike="noStrike">
              <a:solidFill>
                <a:srgbClr val="000000"/>
              </a:solidFill>
              <a:effectLst/>
              <a:uFillTx/>
              <a:latin typeface="Arial"/>
            </a:endParaRPr>
          </a:p>
          <a:p>
            <a:pPr>
              <a:lnSpc>
                <a:spcPts val="1349"/>
              </a:lnSpc>
              <a:tabLst>
                <a:tab pos="0" algn="l"/>
              </a:tabLst>
            </a:pPr>
            <a:r>
              <a:rPr lang="en-NG" sz="1000" b="0" u="none" strike="noStrike">
                <a:solidFill>
                  <a:srgbClr val="6F7C99"/>
                </a:solidFill>
                <a:effectLst/>
                <a:uFillTx/>
                <a:latin typeface="Courier New"/>
                <a:ea typeface="Courier New"/>
              </a:rPr>
              <a:t>    // Overdue is DueAt &lt; now, computed on read.</a:t>
            </a:r>
            <a:endParaRPr lang="en-NG" sz="1000" b="0" u="none" strike="noStrike">
              <a:solidFill>
                <a:srgbClr val="000000"/>
              </a:solidFill>
              <a:effectLst/>
              <a:uFillTx/>
              <a:latin typeface="Arial"/>
            </a:endParaRPr>
          </a:p>
          <a:p>
            <a:pPr>
              <a:lnSpc>
                <a:spcPts val="1349"/>
              </a:lnSpc>
              <a:tabLst>
                <a:tab pos="0" algn="l"/>
              </a:tabLst>
            </a:pPr>
            <a:r>
              <a:rPr lang="en-NG" sz="1000" b="0" u="none" strike="noStrike">
                <a:solidFill>
                  <a:srgbClr val="C792EA"/>
                </a:solidFill>
                <a:effectLst/>
                <a:uFillTx/>
                <a:latin typeface="Courier New"/>
                <a:ea typeface="Courier New"/>
              </a:rPr>
              <a:t>}</a:t>
            </a:r>
            <a:endParaRPr lang="en-NG" sz="1000" b="0" u="none" strike="noStrike">
              <a:solidFill>
                <a:srgbClr val="000000"/>
              </a:solidFill>
              <a:effectLst/>
              <a:uFillTx/>
              <a:latin typeface="Arial"/>
            </a:endParaRPr>
          </a:p>
        </p:txBody>
      </p:sp>
      <p:sp>
        <p:nvSpPr>
          <p:cNvPr id="295" name="Shape 5"/>
          <p:cNvSpPr/>
          <p:nvPr/>
        </p:nvSpPr>
        <p:spPr>
          <a:xfrm>
            <a:off x="7863840" y="1316880"/>
            <a:ext cx="3760560" cy="2395440"/>
          </a:xfrm>
          <a:prstGeom prst="roundRect">
            <a:avLst>
              <a:gd name="adj" fmla="val 2672"/>
            </a:avLst>
          </a:prstGeom>
          <a:solidFill>
            <a:srgbClr val="F4F5F9"/>
          </a:solidFill>
          <a:ln w="9525">
            <a:solidFill>
              <a:srgbClr val="D8DAE5"/>
            </a:solidFill>
            <a:round/>
          </a:ln>
          <a:effectLst>
            <a:outerShdw algn="bl" blurRad="127080" dir="5400000" dist="25560" kx="0" ky="0" rotWithShape="0" sx="100000" sy="100000">
              <a:srgbClr val="9098B0">
                <a:alpha val="22000"/>
              </a:srgbClr>
            </a:outerShdw>
          </a:effectLst>
        </p:spPr>
        <p:style>
          <a:lnRef idx="0"/>
          <a:fillRef idx="0"/>
          <a:effectRef idx="0"/>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296" name="Text 6"/>
          <p:cNvSpPr/>
          <p:nvPr/>
        </p:nvSpPr>
        <p:spPr>
          <a:xfrm>
            <a:off x="8083440" y="1490400"/>
            <a:ext cx="3321720" cy="328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450" b="1" u="none" strike="noStrike">
                <a:solidFill>
                  <a:srgbClr val="240C54"/>
                </a:solidFill>
                <a:effectLst/>
                <a:uFillTx/>
                <a:latin typeface="Calibri"/>
                <a:ea typeface="Calibri"/>
              </a:rPr>
              <a:t>Loan entitlement</a:t>
            </a:r>
            <a:endParaRPr lang="en-NG" sz="1450" b="0" u="none" strike="noStrike">
              <a:solidFill>
                <a:srgbClr val="000000"/>
              </a:solidFill>
              <a:effectLst/>
              <a:uFillTx/>
              <a:latin typeface="Arial"/>
            </a:endParaRPr>
          </a:p>
        </p:txBody>
      </p:sp>
      <p:sp>
        <p:nvSpPr>
          <p:cNvPr id="297" name="Text 7"/>
          <p:cNvSpPr/>
          <p:nvPr/>
        </p:nvSpPr>
        <p:spPr>
          <a:xfrm>
            <a:off x="8083440" y="1883520"/>
            <a:ext cx="3291480" cy="2372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250" b="1" u="none" strike="noStrike">
                <a:solidFill>
                  <a:srgbClr val="1D4ED8"/>
                </a:solidFill>
                <a:effectLst/>
                <a:uFillTx/>
                <a:latin typeface="Calibri"/>
                <a:ea typeface="Calibri"/>
              </a:rPr>
              <a:t>Undergraduate</a:t>
            </a:r>
            <a:endParaRPr lang="en-NG" sz="1250" b="0" u="none" strike="noStrike">
              <a:solidFill>
                <a:srgbClr val="000000"/>
              </a:solidFill>
              <a:effectLst/>
              <a:uFillTx/>
              <a:latin typeface="Arial"/>
            </a:endParaRPr>
          </a:p>
        </p:txBody>
      </p:sp>
      <p:sp>
        <p:nvSpPr>
          <p:cNvPr id="298" name="Text 8"/>
          <p:cNvSpPr/>
          <p:nvPr/>
        </p:nvSpPr>
        <p:spPr>
          <a:xfrm>
            <a:off x="8083440" y="2112120"/>
            <a:ext cx="3291480" cy="2372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200" b="0" u="none" strike="noStrike">
                <a:solidFill>
                  <a:srgbClr val="1A1A2E"/>
                </a:solidFill>
                <a:effectLst/>
                <a:uFillTx/>
                <a:latin typeface="Calibri"/>
                <a:ea typeface="Calibri"/>
              </a:rPr>
              <a:t>2 books  ·  14 days</a:t>
            </a:r>
            <a:endParaRPr lang="en-NG" sz="1200" b="0" u="none" strike="noStrike">
              <a:solidFill>
                <a:srgbClr val="000000"/>
              </a:solidFill>
              <a:effectLst/>
              <a:uFillTx/>
              <a:latin typeface="Arial"/>
            </a:endParaRPr>
          </a:p>
        </p:txBody>
      </p:sp>
      <p:sp>
        <p:nvSpPr>
          <p:cNvPr id="299" name="Text 9"/>
          <p:cNvSpPr/>
          <p:nvPr/>
        </p:nvSpPr>
        <p:spPr>
          <a:xfrm>
            <a:off x="8083440" y="2450520"/>
            <a:ext cx="3291480" cy="2372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250" b="1" u="none" strike="noStrike">
                <a:solidFill>
                  <a:srgbClr val="1D4ED8"/>
                </a:solidFill>
                <a:effectLst/>
                <a:uFillTx/>
                <a:latin typeface="Calibri"/>
                <a:ea typeface="Calibri"/>
              </a:rPr>
              <a:t>Postgraduate</a:t>
            </a:r>
            <a:endParaRPr lang="en-NG" sz="1250" b="0" u="none" strike="noStrike">
              <a:solidFill>
                <a:srgbClr val="000000"/>
              </a:solidFill>
              <a:effectLst/>
              <a:uFillTx/>
              <a:latin typeface="Arial"/>
            </a:endParaRPr>
          </a:p>
        </p:txBody>
      </p:sp>
      <p:sp>
        <p:nvSpPr>
          <p:cNvPr id="300" name="Text 10"/>
          <p:cNvSpPr/>
          <p:nvPr/>
        </p:nvSpPr>
        <p:spPr>
          <a:xfrm>
            <a:off x="8083440" y="2679120"/>
            <a:ext cx="3291480" cy="2372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200" b="0" u="none" strike="noStrike">
                <a:solidFill>
                  <a:srgbClr val="1A1A2E"/>
                </a:solidFill>
                <a:effectLst/>
                <a:uFillTx/>
                <a:latin typeface="Calibri"/>
                <a:ea typeface="Calibri"/>
              </a:rPr>
              <a:t>4 books  ·  21 days</a:t>
            </a:r>
            <a:endParaRPr lang="en-NG" sz="1200" b="0" u="none" strike="noStrike">
              <a:solidFill>
                <a:srgbClr val="000000"/>
              </a:solidFill>
              <a:effectLst/>
              <a:uFillTx/>
              <a:latin typeface="Arial"/>
            </a:endParaRPr>
          </a:p>
        </p:txBody>
      </p:sp>
      <p:sp>
        <p:nvSpPr>
          <p:cNvPr id="301" name="Text 11"/>
          <p:cNvSpPr/>
          <p:nvPr/>
        </p:nvSpPr>
        <p:spPr>
          <a:xfrm>
            <a:off x="8083440" y="3017520"/>
            <a:ext cx="3291480" cy="2372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250" b="1" u="none" strike="noStrike">
                <a:solidFill>
                  <a:srgbClr val="1D4ED8"/>
                </a:solidFill>
                <a:effectLst/>
                <a:uFillTx/>
                <a:latin typeface="Calibri"/>
                <a:ea typeface="Calibri"/>
              </a:rPr>
              <a:t>Staff</a:t>
            </a:r>
            <a:endParaRPr lang="en-NG" sz="1250" b="0" u="none" strike="noStrike">
              <a:solidFill>
                <a:srgbClr val="000000"/>
              </a:solidFill>
              <a:effectLst/>
              <a:uFillTx/>
              <a:latin typeface="Arial"/>
            </a:endParaRPr>
          </a:p>
        </p:txBody>
      </p:sp>
      <p:sp>
        <p:nvSpPr>
          <p:cNvPr id="302" name="Text 12"/>
          <p:cNvSpPr/>
          <p:nvPr/>
        </p:nvSpPr>
        <p:spPr>
          <a:xfrm>
            <a:off x="8083440" y="3246120"/>
            <a:ext cx="3291480" cy="2372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200" b="0" u="none" strike="noStrike">
                <a:solidFill>
                  <a:srgbClr val="1A1A2E"/>
                </a:solidFill>
                <a:effectLst/>
                <a:uFillTx/>
                <a:latin typeface="Calibri"/>
                <a:ea typeface="Calibri"/>
              </a:rPr>
              <a:t>6 books  ·  28 days</a:t>
            </a:r>
            <a:endParaRPr lang="en-NG" sz="1200" b="0" u="none" strike="noStrike">
              <a:solidFill>
                <a:srgbClr val="000000"/>
              </a:solidFill>
              <a:effectLst/>
              <a:uFillTx/>
              <a:latin typeface="Arial"/>
            </a:endParaRPr>
          </a:p>
        </p:txBody>
      </p:sp>
      <p:sp>
        <p:nvSpPr>
          <p:cNvPr id="303" name="Shape 13"/>
          <p:cNvSpPr/>
          <p:nvPr/>
        </p:nvSpPr>
        <p:spPr>
          <a:xfrm>
            <a:off x="7863840" y="3877200"/>
            <a:ext cx="3760560" cy="1718640"/>
          </a:xfrm>
          <a:prstGeom prst="roundRect">
            <a:avLst>
              <a:gd name="adj" fmla="val 3723"/>
            </a:avLst>
          </a:prstGeom>
          <a:solidFill>
            <a:srgbClr val="FBF4E4"/>
          </a:solidFill>
          <a:ln w="9525">
            <a:solidFill>
              <a:srgbClr val="E8D9AE"/>
            </a:solidFill>
            <a:round/>
          </a:ln>
          <a:effectLst>
            <a:outerShdw algn="bl" blurRad="127080" dir="5400000" dist="25560" kx="0" ky="0" rotWithShape="0" sx="100000" sy="100000">
              <a:srgbClr val="9098B0">
                <a:alpha val="22000"/>
              </a:srgbClr>
            </a:outerShdw>
          </a:effectLst>
        </p:spPr>
        <p:style>
          <a:lnRef idx="0"/>
          <a:fillRef idx="0"/>
          <a:effectRef idx="0"/>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304" name="Text 14"/>
          <p:cNvSpPr/>
          <p:nvPr/>
        </p:nvSpPr>
        <p:spPr>
          <a:xfrm>
            <a:off x="8083440" y="4050720"/>
            <a:ext cx="3321720" cy="328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400" b="1" u="none" strike="noStrike">
                <a:solidFill>
                  <a:srgbClr val="240C54"/>
                </a:solidFill>
                <a:effectLst/>
                <a:uFillTx/>
                <a:latin typeface="Calibri"/>
                <a:ea typeface="Calibri"/>
              </a:rPr>
              <a:t>No IsOverdue column</a:t>
            </a:r>
            <a:endParaRPr lang="en-NG" sz="1400" b="0" u="none" strike="noStrike">
              <a:solidFill>
                <a:srgbClr val="000000"/>
              </a:solidFill>
              <a:effectLst/>
              <a:uFillTx/>
              <a:latin typeface="Arial"/>
            </a:endParaRPr>
          </a:p>
        </p:txBody>
      </p:sp>
      <p:sp>
        <p:nvSpPr>
          <p:cNvPr id="305" name="Text 15"/>
          <p:cNvSpPr/>
          <p:nvPr/>
        </p:nvSpPr>
        <p:spPr>
          <a:xfrm>
            <a:off x="8083440" y="4443840"/>
            <a:ext cx="3321720" cy="1005480"/>
          </a:xfrm>
          <a:prstGeom prst="rect">
            <a:avLst/>
          </a:prstGeom>
          <a:noFill/>
          <a:ln w="0">
            <a:noFill/>
          </a:ln>
        </p:spPr>
        <p:style>
          <a:lnRef idx="0"/>
          <a:fillRef idx="0"/>
          <a:effectRef idx="0"/>
          <a:fontRef idx="minor"/>
        </p:style>
        <p:txBody>
          <a:bodyPr lIns="0" tIns="0" rIns="0" bIns="0" anchor="t">
            <a:noAutofit/>
          </a:bodyPr>
          <a:p>
            <a:pPr>
              <a:lnSpc>
                <a:spcPts val="1650"/>
              </a:lnSpc>
              <a:tabLst>
                <a:tab pos="0" algn="l"/>
              </a:tabLst>
            </a:pPr>
            <a:r>
              <a:rPr lang="en-NG" sz="1200" b="0" u="none" strike="noStrike">
                <a:solidFill>
                  <a:srgbClr val="1A1A2E"/>
                </a:solidFill>
                <a:effectLst/>
                <a:uFillTx/>
                <a:latin typeface="Calibri"/>
                <a:ea typeface="Calibri"/>
              </a:rPr>
              <a:t>A stored flag is only true until the clock moves past it. Overdue is derived on every read, so it can never be stale.</a:t>
            </a:r>
            <a:endParaRPr lang="en-NG"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06" name="Text 0"/>
          <p:cNvSpPr/>
          <p:nvPr/>
        </p:nvSpPr>
        <p:spPr>
          <a:xfrm>
            <a:off x="567000" y="384120"/>
            <a:ext cx="8229240" cy="2372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100" b="1" u="none" spc="221" strike="noStrike">
                <a:solidFill>
                  <a:srgbClr val="E4B454"/>
                </a:solidFill>
                <a:effectLst/>
                <a:uFillTx/>
                <a:latin typeface="Calibri"/>
                <a:ea typeface="Calibri"/>
              </a:rPr>
              <a:t>BOOK AND COPY</a:t>
            </a:r>
            <a:endParaRPr lang="en-NG" sz="1100" b="0" u="none" strike="noStrike">
              <a:solidFill>
                <a:srgbClr val="000000"/>
              </a:solidFill>
              <a:effectLst/>
              <a:uFillTx/>
              <a:latin typeface="Arial"/>
            </a:endParaRPr>
          </a:p>
        </p:txBody>
      </p:sp>
      <p:sp>
        <p:nvSpPr>
          <p:cNvPr id="307" name="Text 1"/>
          <p:cNvSpPr/>
          <p:nvPr/>
        </p:nvSpPr>
        <p:spPr>
          <a:xfrm>
            <a:off x="567000" y="640080"/>
            <a:ext cx="9692280" cy="5666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3000" b="1" u="none" strike="noStrike">
                <a:solidFill>
                  <a:srgbClr val="240C54"/>
                </a:solidFill>
                <a:effectLst/>
                <a:uFillTx/>
                <a:latin typeface="Cambria"/>
                <a:ea typeface="Cambria"/>
              </a:rPr>
              <a:t>A book is a title. A copy is an object on a shelf.</a:t>
            </a:r>
            <a:endParaRPr lang="en-NG" sz="3000" b="0" u="none" strike="noStrike">
              <a:solidFill>
                <a:srgbClr val="000000"/>
              </a:solidFill>
              <a:effectLst/>
              <a:uFillTx/>
              <a:latin typeface="Arial"/>
            </a:endParaRPr>
          </a:p>
        </p:txBody>
      </p:sp>
      <p:pic>
        <p:nvPicPr>
          <p:cNvPr id="308" name="Image 0"/>
          <p:cNvPicPr/>
          <p:nvPr/>
        </p:nvPicPr>
        <p:blipFill>
          <a:blip r:embed="rId1"/>
          <a:stretch/>
        </p:blipFill>
        <p:spPr>
          <a:xfrm>
            <a:off x="11149200" y="365760"/>
            <a:ext cx="475200" cy="465840"/>
          </a:xfrm>
          <a:prstGeom prst="rect">
            <a:avLst/>
          </a:prstGeom>
          <a:noFill/>
          <a:ln w="0">
            <a:noFill/>
          </a:ln>
        </p:spPr>
      </p:pic>
      <p:sp>
        <p:nvSpPr>
          <p:cNvPr id="309" name="Text 2"/>
          <p:cNvSpPr/>
          <p:nvPr/>
        </p:nvSpPr>
        <p:spPr>
          <a:xfrm>
            <a:off x="11149200" y="6382440"/>
            <a:ext cx="475200" cy="219240"/>
          </a:xfrm>
          <a:prstGeom prst="rect">
            <a:avLst/>
          </a:prstGeom>
          <a:noFill/>
          <a:ln w="0">
            <a:noFill/>
          </a:ln>
        </p:spPr>
        <p:style>
          <a:lnRef idx="0"/>
          <a:fillRef idx="0"/>
          <a:effectRef idx="0"/>
          <a:fontRef idx="minor"/>
        </p:style>
        <p:txBody>
          <a:bodyPr lIns="0" tIns="0" rIns="0" bIns="0" anchor="ctr">
            <a:noAutofit/>
          </a:bodyPr>
          <a:p>
            <a:pPr algn="r">
              <a:lnSpc>
                <a:spcPct val="100000"/>
              </a:lnSpc>
              <a:tabLst>
                <a:tab pos="0" algn="l"/>
              </a:tabLst>
            </a:pPr>
            <a:r>
              <a:rPr lang="en-NG" sz="1000" b="0" u="none" strike="noStrike">
                <a:solidFill>
                  <a:srgbClr val="5B5B6B"/>
                </a:solidFill>
                <a:effectLst/>
                <a:uFillTx/>
                <a:latin typeface="Calibri"/>
                <a:ea typeface="Calibri"/>
              </a:rPr>
              <a:t>10</a:t>
            </a:r>
            <a:endParaRPr lang="en-NG" sz="1000" b="0" u="none" strike="noStrike">
              <a:solidFill>
                <a:srgbClr val="000000"/>
              </a:solidFill>
              <a:effectLst/>
              <a:uFillTx/>
              <a:latin typeface="Arial"/>
            </a:endParaRPr>
          </a:p>
        </p:txBody>
      </p:sp>
      <p:sp>
        <p:nvSpPr>
          <p:cNvPr id="310" name="Text 3"/>
          <p:cNvSpPr/>
          <p:nvPr/>
        </p:nvSpPr>
        <p:spPr>
          <a:xfrm>
            <a:off x="567000" y="1353240"/>
            <a:ext cx="10058040" cy="475200"/>
          </a:xfrm>
          <a:prstGeom prst="rect">
            <a:avLst/>
          </a:prstGeom>
          <a:noFill/>
          <a:ln w="0">
            <a:noFill/>
          </a:ln>
        </p:spPr>
        <p:style>
          <a:lnRef idx="0"/>
          <a:fillRef idx="0"/>
          <a:effectRef idx="0"/>
          <a:fontRef idx="minor"/>
        </p:style>
        <p:txBody>
          <a:bodyPr lIns="0" tIns="0" rIns="0" bIns="0" anchor="ctr">
            <a:noAutofit/>
          </a:bodyPr>
          <a:p>
            <a:pPr>
              <a:lnSpc>
                <a:spcPts val="2001"/>
              </a:lnSpc>
              <a:tabLst>
                <a:tab pos="0" algn="l"/>
              </a:tabLst>
            </a:pPr>
            <a:r>
              <a:rPr lang="en-NG" sz="1400" b="0" u="none" strike="noStrike">
                <a:solidFill>
                  <a:srgbClr val="1A1A2E"/>
                </a:solidFill>
                <a:effectLst/>
                <a:uFillTx/>
                <a:latin typeface="Calibri"/>
                <a:ea typeface="Calibri"/>
              </a:rPr>
              <a:t>This distinction runs through the whole system. You cannot borrow a book, you borrow one numbered copy of it, and that copy is the thing that has a location and a state.</a:t>
            </a:r>
            <a:endParaRPr lang="en-NG" sz="1400" b="0" u="none" strike="noStrike">
              <a:solidFill>
                <a:srgbClr val="000000"/>
              </a:solidFill>
              <a:effectLst/>
              <a:uFillTx/>
              <a:latin typeface="Arial"/>
            </a:endParaRPr>
          </a:p>
        </p:txBody>
      </p:sp>
      <p:sp>
        <p:nvSpPr>
          <p:cNvPr id="311" name="Shape 4"/>
          <p:cNvSpPr/>
          <p:nvPr/>
        </p:nvSpPr>
        <p:spPr>
          <a:xfrm>
            <a:off x="567000" y="1974960"/>
            <a:ext cx="5303160" cy="1700280"/>
          </a:xfrm>
          <a:prstGeom prst="roundRect">
            <a:avLst>
              <a:gd name="adj" fmla="val 3763"/>
            </a:avLst>
          </a:prstGeom>
          <a:solidFill>
            <a:srgbClr val="F4F5F9"/>
          </a:solidFill>
          <a:ln w="9525">
            <a:solidFill>
              <a:srgbClr val="D8DAE5"/>
            </a:solidFill>
            <a:round/>
          </a:ln>
          <a:effectLst>
            <a:outerShdw algn="bl" blurRad="127080" dir="5400000" dist="25560" kx="0" ky="0" rotWithShape="0" sx="100000" sy="100000">
              <a:srgbClr val="9098B0">
                <a:alpha val="22000"/>
              </a:srgbClr>
            </a:outerShdw>
          </a:effectLst>
        </p:spPr>
        <p:style>
          <a:lnRef idx="0"/>
          <a:fillRef idx="0"/>
          <a:effectRef idx="0"/>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312" name="Text 5"/>
          <p:cNvSpPr/>
          <p:nvPr/>
        </p:nvSpPr>
        <p:spPr>
          <a:xfrm>
            <a:off x="786240" y="2148840"/>
            <a:ext cx="4864320" cy="328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500" b="1" u="none" strike="noStrike">
                <a:solidFill>
                  <a:srgbClr val="240C54"/>
                </a:solidFill>
                <a:effectLst/>
                <a:uFillTx/>
                <a:latin typeface="Calibri"/>
                <a:ea typeface="Calibri"/>
              </a:rPr>
              <a:t>Book, the title</a:t>
            </a:r>
            <a:endParaRPr lang="en-NG" sz="1500" b="0" u="none" strike="noStrike">
              <a:solidFill>
                <a:srgbClr val="000000"/>
              </a:solidFill>
              <a:effectLst/>
              <a:uFillTx/>
              <a:latin typeface="Arial"/>
            </a:endParaRPr>
          </a:p>
        </p:txBody>
      </p:sp>
      <p:sp>
        <p:nvSpPr>
          <p:cNvPr id="313" name="Text 6"/>
          <p:cNvSpPr/>
          <p:nvPr/>
        </p:nvSpPr>
        <p:spPr>
          <a:xfrm>
            <a:off x="786240" y="2541960"/>
            <a:ext cx="4864320" cy="987120"/>
          </a:xfrm>
          <a:prstGeom prst="rect">
            <a:avLst/>
          </a:prstGeom>
          <a:noFill/>
          <a:ln w="0">
            <a:noFill/>
          </a:ln>
        </p:spPr>
        <p:style>
          <a:lnRef idx="0"/>
          <a:fillRef idx="0"/>
          <a:effectRef idx="0"/>
          <a:fontRef idx="minor"/>
        </p:style>
        <p:txBody>
          <a:bodyPr lIns="0" tIns="0" rIns="0" bIns="0" anchor="t">
            <a:noAutofit/>
          </a:bodyPr>
          <a:p>
            <a:pPr>
              <a:lnSpc>
                <a:spcPts val="1701"/>
              </a:lnSpc>
              <a:tabLst>
                <a:tab pos="0" algn="l"/>
              </a:tabLst>
            </a:pPr>
            <a:r>
              <a:rPr lang="en-NG" sz="1250" b="0" u="none" strike="noStrike">
                <a:solidFill>
                  <a:srgbClr val="1A1A2E"/>
                </a:solidFill>
                <a:effectLst/>
                <a:uFillTx/>
                <a:latin typeface="Calibri"/>
                <a:ea typeface="Calibri"/>
              </a:rPr>
              <a:t>Shares one call number, LIB 001. Holds the ISBN, the author and the subject. It is a description, and it is never on a shelf.</a:t>
            </a:r>
            <a:endParaRPr lang="en-NG" sz="1250" b="0" u="none" strike="noStrike">
              <a:solidFill>
                <a:srgbClr val="000000"/>
              </a:solidFill>
              <a:effectLst/>
              <a:uFillTx/>
              <a:latin typeface="Arial"/>
            </a:endParaRPr>
          </a:p>
        </p:txBody>
      </p:sp>
      <p:sp>
        <p:nvSpPr>
          <p:cNvPr id="314" name="Shape 7"/>
          <p:cNvSpPr/>
          <p:nvPr/>
        </p:nvSpPr>
        <p:spPr>
          <a:xfrm>
            <a:off x="6309360" y="1974960"/>
            <a:ext cx="5312160" cy="1700280"/>
          </a:xfrm>
          <a:prstGeom prst="roundRect">
            <a:avLst>
              <a:gd name="adj" fmla="val 3763"/>
            </a:avLst>
          </a:prstGeom>
          <a:solidFill>
            <a:srgbClr val="F4F5F9"/>
          </a:solidFill>
          <a:ln w="9525">
            <a:solidFill>
              <a:srgbClr val="D8DAE5"/>
            </a:solidFill>
            <a:round/>
          </a:ln>
          <a:effectLst>
            <a:outerShdw algn="bl" blurRad="127080" dir="5400000" dist="25560" kx="0" ky="0" rotWithShape="0" sx="100000" sy="100000">
              <a:srgbClr val="9098B0">
                <a:alpha val="22000"/>
              </a:srgbClr>
            </a:outerShdw>
          </a:effectLst>
        </p:spPr>
        <p:style>
          <a:lnRef idx="0"/>
          <a:fillRef idx="0"/>
          <a:effectRef idx="0"/>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315" name="Text 8"/>
          <p:cNvSpPr/>
          <p:nvPr/>
        </p:nvSpPr>
        <p:spPr>
          <a:xfrm>
            <a:off x="6528960" y="2148840"/>
            <a:ext cx="4873320" cy="328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500" b="1" u="none" strike="noStrike">
                <a:solidFill>
                  <a:srgbClr val="240C54"/>
                </a:solidFill>
                <a:effectLst/>
                <a:uFillTx/>
                <a:latin typeface="Calibri"/>
                <a:ea typeface="Calibri"/>
              </a:rPr>
              <a:t>Copy, the physical object</a:t>
            </a:r>
            <a:endParaRPr lang="en-NG" sz="1500" b="0" u="none" strike="noStrike">
              <a:solidFill>
                <a:srgbClr val="000000"/>
              </a:solidFill>
              <a:effectLst/>
              <a:uFillTx/>
              <a:latin typeface="Arial"/>
            </a:endParaRPr>
          </a:p>
        </p:txBody>
      </p:sp>
      <p:sp>
        <p:nvSpPr>
          <p:cNvPr id="316" name="Text 9"/>
          <p:cNvSpPr/>
          <p:nvPr/>
        </p:nvSpPr>
        <p:spPr>
          <a:xfrm>
            <a:off x="6528960" y="2541960"/>
            <a:ext cx="4873320" cy="987120"/>
          </a:xfrm>
          <a:prstGeom prst="rect">
            <a:avLst/>
          </a:prstGeom>
          <a:noFill/>
          <a:ln w="0">
            <a:noFill/>
          </a:ln>
        </p:spPr>
        <p:style>
          <a:lnRef idx="0"/>
          <a:fillRef idx="0"/>
          <a:effectRef idx="0"/>
          <a:fontRef idx="minor"/>
        </p:style>
        <p:txBody>
          <a:bodyPr lIns="0" tIns="0" rIns="0" bIns="0" anchor="t">
            <a:noAutofit/>
          </a:bodyPr>
          <a:p>
            <a:pPr>
              <a:lnSpc>
                <a:spcPts val="1701"/>
              </a:lnSpc>
              <a:tabLst>
                <a:tab pos="0" algn="l"/>
              </a:tabLst>
            </a:pPr>
            <a:r>
              <a:rPr lang="en-NG" sz="1250" b="0" u="none" strike="noStrike">
                <a:solidFill>
                  <a:srgbClr val="1A1A2E"/>
                </a:solidFill>
                <a:effectLst/>
                <a:uFillTx/>
                <a:latin typeface="Calibri"/>
                <a:ea typeface="Calibri"/>
              </a:rPr>
              <a:t>Has its own accession number, unique across the whole library. It has a state: available, on loan, reserved, lost or withdrawn.</a:t>
            </a:r>
            <a:endParaRPr lang="en-NG" sz="1250" b="0" u="none" strike="noStrike">
              <a:solidFill>
                <a:srgbClr val="000000"/>
              </a:solidFill>
              <a:effectLst/>
              <a:uFillTx/>
              <a:latin typeface="Arial"/>
            </a:endParaRPr>
          </a:p>
        </p:txBody>
      </p:sp>
      <p:sp>
        <p:nvSpPr>
          <p:cNvPr id="317" name="Shape 10"/>
          <p:cNvSpPr/>
          <p:nvPr/>
        </p:nvSpPr>
        <p:spPr>
          <a:xfrm>
            <a:off x="567000" y="3895200"/>
            <a:ext cx="11054880" cy="1718640"/>
          </a:xfrm>
          <a:prstGeom prst="roundRect">
            <a:avLst>
              <a:gd name="adj" fmla="val 3723"/>
            </a:avLst>
          </a:prstGeom>
          <a:solidFill>
            <a:srgbClr val="240C54"/>
          </a:solidFill>
          <a:ln w="9525">
            <a:solidFill>
              <a:srgbClr val="240C54"/>
            </a:solidFill>
            <a:round/>
          </a:ln>
          <a:effectLst>
            <a:outerShdw algn="bl" blurRad="127080" dir="5400000" dist="25560" kx="0" ky="0" rotWithShape="0" sx="100000" sy="100000">
              <a:srgbClr val="9098B0">
                <a:alpha val="22000"/>
              </a:srgbClr>
            </a:outerShdw>
          </a:effectLst>
        </p:spPr>
        <p:style>
          <a:lnRef idx="0"/>
          <a:fillRef idx="0"/>
          <a:effectRef idx="0"/>
          <a:fontRef idx="minor"/>
        </p:style>
        <p:txBody>
          <a:bodyPr lIns="90000" tIns="45000" rIns="90000" bIns="45000" anchor="t">
            <a:noAutofit/>
          </a:bodyPr>
          <a:p>
            <a:pPr/>
            <a:endParaRPr lang="en-NG" sz="1800" b="0" u="none" strike="noStrike">
              <a:solidFill>
                <a:srgbClr val="FFFFFF"/>
              </a:solidFill>
              <a:effectLst/>
              <a:uFillTx/>
              <a:latin typeface="Arial"/>
            </a:endParaRPr>
          </a:p>
        </p:txBody>
      </p:sp>
      <p:sp>
        <p:nvSpPr>
          <p:cNvPr id="318" name="Text 11"/>
          <p:cNvSpPr/>
          <p:nvPr/>
        </p:nvSpPr>
        <p:spPr>
          <a:xfrm>
            <a:off x="786240" y="4069080"/>
            <a:ext cx="10615680" cy="328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500" b="1" u="none" strike="noStrike">
                <a:solidFill>
                  <a:srgbClr val="E4B454"/>
                </a:solidFill>
                <a:effectLst/>
                <a:uFillTx/>
                <a:latin typeface="Calibri"/>
                <a:ea typeface="Calibri"/>
              </a:rPr>
              <a:t>Last-copy retention: the final copy stays in the building</a:t>
            </a:r>
            <a:endParaRPr lang="en-NG" sz="1500" b="0" u="none" strike="noStrike">
              <a:solidFill>
                <a:srgbClr val="000000"/>
              </a:solidFill>
              <a:effectLst/>
              <a:uFillTx/>
              <a:latin typeface="Arial"/>
            </a:endParaRPr>
          </a:p>
        </p:txBody>
      </p:sp>
      <p:sp>
        <p:nvSpPr>
          <p:cNvPr id="319" name="Text 12"/>
          <p:cNvSpPr/>
          <p:nvPr/>
        </p:nvSpPr>
        <p:spPr>
          <a:xfrm>
            <a:off x="822960" y="4590360"/>
            <a:ext cx="3382920" cy="2372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200" b="1" u="none" strike="noStrike">
                <a:solidFill>
                  <a:srgbClr val="AFA4D8"/>
                </a:solidFill>
                <a:effectLst/>
                <a:uFillTx/>
                <a:latin typeface="Courier New"/>
                <a:ea typeface="Courier New"/>
              </a:rPr>
              <a:t>5 copies, 3 free</a:t>
            </a:r>
            <a:endParaRPr lang="en-NG" sz="1200" b="0" u="none" strike="noStrike">
              <a:solidFill>
                <a:srgbClr val="000000"/>
              </a:solidFill>
              <a:effectLst/>
              <a:uFillTx/>
              <a:latin typeface="Arial"/>
            </a:endParaRPr>
          </a:p>
        </p:txBody>
      </p:sp>
      <p:sp>
        <p:nvSpPr>
          <p:cNvPr id="320" name="Text 13"/>
          <p:cNvSpPr/>
          <p:nvPr/>
        </p:nvSpPr>
        <p:spPr>
          <a:xfrm>
            <a:off x="822960" y="4827960"/>
            <a:ext cx="3382920" cy="25560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400" b="1" u="none" strike="noStrike">
                <a:solidFill>
                  <a:srgbClr val="9FD9BC"/>
                </a:solidFill>
                <a:effectLst/>
                <a:uFillTx/>
                <a:latin typeface="Calibri"/>
                <a:ea typeface="Calibri"/>
              </a:rPr>
              <a:t>2 borrowable</a:t>
            </a:r>
            <a:endParaRPr lang="en-NG" sz="1400" b="0" u="none" strike="noStrike">
              <a:solidFill>
                <a:srgbClr val="000000"/>
              </a:solidFill>
              <a:effectLst/>
              <a:uFillTx/>
              <a:latin typeface="Arial"/>
            </a:endParaRPr>
          </a:p>
        </p:txBody>
      </p:sp>
      <p:sp>
        <p:nvSpPr>
          <p:cNvPr id="321" name="Text 14"/>
          <p:cNvSpPr/>
          <p:nvPr/>
        </p:nvSpPr>
        <p:spPr>
          <a:xfrm>
            <a:off x="822960" y="5102280"/>
            <a:ext cx="3382920" cy="402120"/>
          </a:xfrm>
          <a:prstGeom prst="rect">
            <a:avLst/>
          </a:prstGeom>
          <a:noFill/>
          <a:ln w="0">
            <a:noFill/>
          </a:ln>
        </p:spPr>
        <p:style>
          <a:lnRef idx="0"/>
          <a:fillRef idx="0"/>
          <a:effectRef idx="0"/>
          <a:fontRef idx="minor"/>
        </p:style>
        <p:txBody>
          <a:bodyPr lIns="0" tIns="0" rIns="0" bIns="0" anchor="ctr">
            <a:noAutofit/>
          </a:bodyPr>
          <a:p>
            <a:pPr>
              <a:lnSpc>
                <a:spcPts val="1500"/>
              </a:lnSpc>
              <a:tabLst>
                <a:tab pos="0" algn="l"/>
              </a:tabLst>
            </a:pPr>
            <a:r>
              <a:rPr lang="en-NG" sz="1150" b="0" u="none" strike="noStrike">
                <a:solidFill>
                  <a:srgbClr val="D3CDE9"/>
                </a:solidFill>
                <a:effectLst/>
                <a:uFillTx/>
                <a:latin typeface="Calibri"/>
                <a:ea typeface="Calibri"/>
              </a:rPr>
              <a:t>One is held back for reading inside the library.</a:t>
            </a:r>
            <a:endParaRPr lang="en-NG" sz="1150" b="0" u="none" strike="noStrike">
              <a:solidFill>
                <a:srgbClr val="000000"/>
              </a:solidFill>
              <a:effectLst/>
              <a:uFillTx/>
              <a:latin typeface="Arial"/>
            </a:endParaRPr>
          </a:p>
        </p:txBody>
      </p:sp>
      <p:sp>
        <p:nvSpPr>
          <p:cNvPr id="322" name="Text 15"/>
          <p:cNvSpPr/>
          <p:nvPr/>
        </p:nvSpPr>
        <p:spPr>
          <a:xfrm>
            <a:off x="4443840" y="4590360"/>
            <a:ext cx="3382920" cy="2372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200" b="1" u="none" strike="noStrike">
                <a:solidFill>
                  <a:srgbClr val="AFA4D8"/>
                </a:solidFill>
                <a:effectLst/>
                <a:uFillTx/>
                <a:latin typeface="Courier New"/>
                <a:ea typeface="Courier New"/>
              </a:rPr>
              <a:t>2 copies, 1 free</a:t>
            </a:r>
            <a:endParaRPr lang="en-NG" sz="1200" b="0" u="none" strike="noStrike">
              <a:solidFill>
                <a:srgbClr val="000000"/>
              </a:solidFill>
              <a:effectLst/>
              <a:uFillTx/>
              <a:latin typeface="Arial"/>
            </a:endParaRPr>
          </a:p>
        </p:txBody>
      </p:sp>
      <p:sp>
        <p:nvSpPr>
          <p:cNvPr id="323" name="Text 16"/>
          <p:cNvSpPr/>
          <p:nvPr/>
        </p:nvSpPr>
        <p:spPr>
          <a:xfrm>
            <a:off x="4443840" y="4827960"/>
            <a:ext cx="3382920" cy="25560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400" b="1" u="none" strike="noStrike">
                <a:solidFill>
                  <a:srgbClr val="F0C0C0"/>
                </a:solidFill>
                <a:effectLst/>
                <a:uFillTx/>
                <a:latin typeface="Calibri"/>
                <a:ea typeface="Calibri"/>
              </a:rPr>
              <a:t>0 borrowable</a:t>
            </a:r>
            <a:endParaRPr lang="en-NG" sz="1400" b="0" u="none" strike="noStrike">
              <a:solidFill>
                <a:srgbClr val="000000"/>
              </a:solidFill>
              <a:effectLst/>
              <a:uFillTx/>
              <a:latin typeface="Arial"/>
            </a:endParaRPr>
          </a:p>
        </p:txBody>
      </p:sp>
      <p:sp>
        <p:nvSpPr>
          <p:cNvPr id="324" name="Text 17"/>
          <p:cNvSpPr/>
          <p:nvPr/>
        </p:nvSpPr>
        <p:spPr>
          <a:xfrm>
            <a:off x="4443840" y="5102280"/>
            <a:ext cx="3382920" cy="402120"/>
          </a:xfrm>
          <a:prstGeom prst="rect">
            <a:avLst/>
          </a:prstGeom>
          <a:noFill/>
          <a:ln w="0">
            <a:noFill/>
          </a:ln>
        </p:spPr>
        <p:style>
          <a:lnRef idx="0"/>
          <a:fillRef idx="0"/>
          <a:effectRef idx="0"/>
          <a:fontRef idx="minor"/>
        </p:style>
        <p:txBody>
          <a:bodyPr lIns="0" tIns="0" rIns="0" bIns="0" anchor="ctr">
            <a:noAutofit/>
          </a:bodyPr>
          <a:p>
            <a:pPr>
              <a:lnSpc>
                <a:spcPts val="1500"/>
              </a:lnSpc>
              <a:tabLst>
                <a:tab pos="0" algn="l"/>
              </a:tabLst>
            </a:pPr>
            <a:r>
              <a:rPr lang="en-NG" sz="1150" b="0" u="none" strike="noStrike">
                <a:solidFill>
                  <a:srgbClr val="D3CDE9"/>
                </a:solidFill>
                <a:effectLst/>
                <a:uFillTx/>
                <a:latin typeface="Calibri"/>
                <a:ea typeface="Calibri"/>
              </a:rPr>
              <a:t>That free copy is the last one. It stays.</a:t>
            </a:r>
            <a:endParaRPr lang="en-NG" sz="1150" b="0" u="none" strike="noStrike">
              <a:solidFill>
                <a:srgbClr val="000000"/>
              </a:solidFill>
              <a:effectLst/>
              <a:uFillTx/>
              <a:latin typeface="Arial"/>
            </a:endParaRPr>
          </a:p>
        </p:txBody>
      </p:sp>
      <p:sp>
        <p:nvSpPr>
          <p:cNvPr id="325" name="Text 18"/>
          <p:cNvSpPr/>
          <p:nvPr/>
        </p:nvSpPr>
        <p:spPr>
          <a:xfrm>
            <a:off x="8065080" y="4590360"/>
            <a:ext cx="3382920" cy="2372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200" b="1" u="none" strike="noStrike">
                <a:solidFill>
                  <a:srgbClr val="AFA4D8"/>
                </a:solidFill>
                <a:effectLst/>
                <a:uFillTx/>
                <a:latin typeface="Courier New"/>
                <a:ea typeface="Courier New"/>
              </a:rPr>
              <a:t>1 copy, 1 free</a:t>
            </a:r>
            <a:endParaRPr lang="en-NG" sz="1200" b="0" u="none" strike="noStrike">
              <a:solidFill>
                <a:srgbClr val="000000"/>
              </a:solidFill>
              <a:effectLst/>
              <a:uFillTx/>
              <a:latin typeface="Arial"/>
            </a:endParaRPr>
          </a:p>
        </p:txBody>
      </p:sp>
      <p:sp>
        <p:nvSpPr>
          <p:cNvPr id="326" name="Text 19"/>
          <p:cNvSpPr/>
          <p:nvPr/>
        </p:nvSpPr>
        <p:spPr>
          <a:xfrm>
            <a:off x="8065080" y="4827960"/>
            <a:ext cx="3382920" cy="25560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400" b="1" u="none" strike="noStrike">
                <a:solidFill>
                  <a:srgbClr val="9FD9BC"/>
                </a:solidFill>
                <a:effectLst/>
                <a:uFillTx/>
                <a:latin typeface="Calibri"/>
                <a:ea typeface="Calibri"/>
              </a:rPr>
              <a:t>1 borrowable</a:t>
            </a:r>
            <a:endParaRPr lang="en-NG" sz="1400" b="0" u="none" strike="noStrike">
              <a:solidFill>
                <a:srgbClr val="000000"/>
              </a:solidFill>
              <a:effectLst/>
              <a:uFillTx/>
              <a:latin typeface="Arial"/>
            </a:endParaRPr>
          </a:p>
        </p:txBody>
      </p:sp>
      <p:sp>
        <p:nvSpPr>
          <p:cNvPr id="327" name="Text 20"/>
          <p:cNvSpPr/>
          <p:nvPr/>
        </p:nvSpPr>
        <p:spPr>
          <a:xfrm>
            <a:off x="8065080" y="5102280"/>
            <a:ext cx="3382920" cy="402120"/>
          </a:xfrm>
          <a:prstGeom prst="rect">
            <a:avLst/>
          </a:prstGeom>
          <a:noFill/>
          <a:ln w="0">
            <a:noFill/>
          </a:ln>
        </p:spPr>
        <p:style>
          <a:lnRef idx="0"/>
          <a:fillRef idx="0"/>
          <a:effectRef idx="0"/>
          <a:fontRef idx="minor"/>
        </p:style>
        <p:txBody>
          <a:bodyPr lIns="0" tIns="0" rIns="0" bIns="0" anchor="ctr">
            <a:noAutofit/>
          </a:bodyPr>
          <a:p>
            <a:pPr>
              <a:lnSpc>
                <a:spcPts val="1500"/>
              </a:lnSpc>
              <a:tabLst>
                <a:tab pos="0" algn="l"/>
              </a:tabLst>
            </a:pPr>
            <a:r>
              <a:rPr lang="en-NG" sz="1150" b="0" u="none" strike="noStrike">
                <a:solidFill>
                  <a:srgbClr val="D3CDE9"/>
                </a:solidFill>
                <a:effectLst/>
                <a:uFillTx/>
                <a:latin typeface="Calibri"/>
                <a:ea typeface="Calibri"/>
              </a:rPr>
              <a:t>A single circulating copy is lent, or nobody could read it.</a:t>
            </a:r>
            <a:endParaRPr lang="en-NG" sz="11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28" name="Text 0"/>
          <p:cNvSpPr/>
          <p:nvPr/>
        </p:nvSpPr>
        <p:spPr>
          <a:xfrm>
            <a:off x="567000" y="384120"/>
            <a:ext cx="8229240" cy="2372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100" b="1" u="none" spc="221" strike="noStrike">
                <a:solidFill>
                  <a:srgbClr val="E4B454"/>
                </a:solidFill>
                <a:effectLst/>
                <a:uFillTx/>
                <a:latin typeface="Calibri"/>
                <a:ea typeface="Calibri"/>
              </a:rPr>
              <a:t>CONCURRENCY AND IDEMPOTENCY</a:t>
            </a:r>
            <a:endParaRPr lang="en-NG" sz="1100" b="0" u="none" strike="noStrike">
              <a:solidFill>
                <a:srgbClr val="000000"/>
              </a:solidFill>
              <a:effectLst/>
              <a:uFillTx/>
              <a:latin typeface="Arial"/>
            </a:endParaRPr>
          </a:p>
        </p:txBody>
      </p:sp>
      <p:sp>
        <p:nvSpPr>
          <p:cNvPr id="329" name="Text 1"/>
          <p:cNvSpPr/>
          <p:nvPr/>
        </p:nvSpPr>
        <p:spPr>
          <a:xfrm>
            <a:off x="567000" y="640080"/>
            <a:ext cx="9692280" cy="5666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3000" b="1" u="none" strike="noStrike">
                <a:solidFill>
                  <a:srgbClr val="240C54"/>
                </a:solidFill>
                <a:effectLst/>
                <a:uFillTx/>
                <a:latin typeface="Cambria"/>
                <a:ea typeface="Cambria"/>
              </a:rPr>
              <a:t>What happens when the same request arrives twice</a:t>
            </a:r>
            <a:endParaRPr lang="en-NG" sz="3000" b="0" u="none" strike="noStrike">
              <a:solidFill>
                <a:srgbClr val="000000"/>
              </a:solidFill>
              <a:effectLst/>
              <a:uFillTx/>
              <a:latin typeface="Arial"/>
            </a:endParaRPr>
          </a:p>
        </p:txBody>
      </p:sp>
      <p:pic>
        <p:nvPicPr>
          <p:cNvPr id="330" name="Image 0"/>
          <p:cNvPicPr/>
          <p:nvPr/>
        </p:nvPicPr>
        <p:blipFill>
          <a:blip r:embed="rId1"/>
          <a:stretch/>
        </p:blipFill>
        <p:spPr>
          <a:xfrm>
            <a:off x="11149200" y="365760"/>
            <a:ext cx="475200" cy="465840"/>
          </a:xfrm>
          <a:prstGeom prst="rect">
            <a:avLst/>
          </a:prstGeom>
          <a:noFill/>
          <a:ln w="0">
            <a:noFill/>
          </a:ln>
        </p:spPr>
      </p:pic>
      <p:sp>
        <p:nvSpPr>
          <p:cNvPr id="331" name="Text 2"/>
          <p:cNvSpPr/>
          <p:nvPr/>
        </p:nvSpPr>
        <p:spPr>
          <a:xfrm>
            <a:off x="11149200" y="6382440"/>
            <a:ext cx="475200" cy="219240"/>
          </a:xfrm>
          <a:prstGeom prst="rect">
            <a:avLst/>
          </a:prstGeom>
          <a:noFill/>
          <a:ln w="0">
            <a:noFill/>
          </a:ln>
        </p:spPr>
        <p:style>
          <a:lnRef idx="0"/>
          <a:fillRef idx="0"/>
          <a:effectRef idx="0"/>
          <a:fontRef idx="minor"/>
        </p:style>
        <p:txBody>
          <a:bodyPr lIns="0" tIns="0" rIns="0" bIns="0" anchor="ctr">
            <a:noAutofit/>
          </a:bodyPr>
          <a:p>
            <a:pPr algn="r">
              <a:lnSpc>
                <a:spcPct val="100000"/>
              </a:lnSpc>
              <a:tabLst>
                <a:tab pos="0" algn="l"/>
              </a:tabLst>
            </a:pPr>
            <a:r>
              <a:rPr lang="en-NG" sz="1000" b="0" u="none" strike="noStrike">
                <a:solidFill>
                  <a:srgbClr val="5B5B6B"/>
                </a:solidFill>
                <a:effectLst/>
                <a:uFillTx/>
                <a:latin typeface="Calibri"/>
                <a:ea typeface="Calibri"/>
              </a:rPr>
              <a:t>11</a:t>
            </a:r>
            <a:endParaRPr lang="en-NG" sz="1000" b="0" u="none" strike="noStrike">
              <a:solidFill>
                <a:srgbClr val="000000"/>
              </a:solidFill>
              <a:effectLst/>
              <a:uFillTx/>
              <a:latin typeface="Arial"/>
            </a:endParaRPr>
          </a:p>
        </p:txBody>
      </p:sp>
      <p:sp>
        <p:nvSpPr>
          <p:cNvPr id="332" name="Text 3"/>
          <p:cNvSpPr/>
          <p:nvPr/>
        </p:nvSpPr>
        <p:spPr>
          <a:xfrm>
            <a:off x="567000" y="1298520"/>
            <a:ext cx="11054880" cy="475200"/>
          </a:xfrm>
          <a:prstGeom prst="rect">
            <a:avLst/>
          </a:prstGeom>
          <a:noFill/>
          <a:ln w="0">
            <a:noFill/>
          </a:ln>
        </p:spPr>
        <p:style>
          <a:lnRef idx="0"/>
          <a:fillRef idx="0"/>
          <a:effectRef idx="0"/>
          <a:fontRef idx="minor"/>
        </p:style>
        <p:txBody>
          <a:bodyPr lIns="0" tIns="0" rIns="0" bIns="0" anchor="ctr">
            <a:noAutofit/>
          </a:bodyPr>
          <a:p>
            <a:pPr>
              <a:lnSpc>
                <a:spcPts val="1800"/>
              </a:lnSpc>
              <a:tabLst>
                <a:tab pos="0" algn="l"/>
              </a:tabLst>
            </a:pPr>
            <a:r>
              <a:rPr lang="en-NG" sz="1300" b="0" u="none" strike="noStrike">
                <a:solidFill>
                  <a:srgbClr val="1A1A2E"/>
                </a:solidFill>
                <a:effectLst/>
                <a:uFillTx/>
                <a:latin typeface="Calibri"/>
                <a:ea typeface="Calibri"/>
              </a:rPr>
              <a:t>Two students pressing Borrow at once, and one student pressing Save five times because the network is slow, are the same problem wearing different clothes. Both are answered in the database, never in the application.</a:t>
            </a:r>
            <a:endParaRPr lang="en-NG" sz="1300" b="0" u="none" strike="noStrike">
              <a:solidFill>
                <a:srgbClr val="000000"/>
              </a:solidFill>
              <a:effectLst/>
              <a:uFillTx/>
              <a:latin typeface="Arial"/>
            </a:endParaRPr>
          </a:p>
        </p:txBody>
      </p:sp>
      <p:sp>
        <p:nvSpPr>
          <p:cNvPr id="333" name="Shape 4"/>
          <p:cNvSpPr/>
          <p:nvPr/>
        </p:nvSpPr>
        <p:spPr>
          <a:xfrm>
            <a:off x="567000" y="1865520"/>
            <a:ext cx="5412960" cy="1938240"/>
          </a:xfrm>
          <a:prstGeom prst="roundRect">
            <a:avLst>
              <a:gd name="adj" fmla="val 3302"/>
            </a:avLst>
          </a:prstGeom>
          <a:solidFill>
            <a:srgbClr val="240C54"/>
          </a:solidFill>
          <a:ln w="9525">
            <a:solidFill>
              <a:srgbClr val="240C54"/>
            </a:solidFill>
            <a:round/>
          </a:ln>
          <a:effectLst>
            <a:outerShdw algn="bl" blurRad="127080" dir="5400000" dist="25560" kx="0" ky="0" rotWithShape="0" sx="100000" sy="100000">
              <a:srgbClr val="9098B0">
                <a:alpha val="22000"/>
              </a:srgbClr>
            </a:outerShdw>
          </a:effectLst>
        </p:spPr>
        <p:style>
          <a:lnRef idx="0"/>
          <a:fillRef idx="0"/>
          <a:effectRef idx="0"/>
          <a:fontRef idx="minor"/>
        </p:style>
        <p:txBody>
          <a:bodyPr lIns="90000" tIns="45000" rIns="90000" bIns="45000" anchor="t">
            <a:noAutofit/>
          </a:bodyPr>
          <a:p>
            <a:pPr/>
            <a:endParaRPr lang="en-NG" sz="1800" b="0" u="none" strike="noStrike">
              <a:solidFill>
                <a:srgbClr val="FFFFFF"/>
              </a:solidFill>
              <a:effectLst/>
              <a:uFillTx/>
              <a:latin typeface="Arial"/>
            </a:endParaRPr>
          </a:p>
        </p:txBody>
      </p:sp>
      <p:sp>
        <p:nvSpPr>
          <p:cNvPr id="334" name="Text 5"/>
          <p:cNvSpPr/>
          <p:nvPr/>
        </p:nvSpPr>
        <p:spPr>
          <a:xfrm>
            <a:off x="786240" y="2039040"/>
            <a:ext cx="4974120" cy="328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350" b="1" u="none" strike="noStrike">
                <a:solidFill>
                  <a:srgbClr val="E4B454"/>
                </a:solidFill>
                <a:effectLst/>
                <a:uFillTx/>
                <a:latin typeface="Calibri"/>
                <a:ea typeface="Calibri"/>
              </a:rPr>
              <a:t>Borrowing must happen at most once</a:t>
            </a:r>
            <a:endParaRPr lang="en-NG" sz="1350" b="0" u="none" strike="noStrike">
              <a:solidFill>
                <a:srgbClr val="000000"/>
              </a:solidFill>
              <a:effectLst/>
              <a:uFillTx/>
              <a:latin typeface="Arial"/>
            </a:endParaRPr>
          </a:p>
        </p:txBody>
      </p:sp>
      <p:sp>
        <p:nvSpPr>
          <p:cNvPr id="335" name="Text 6"/>
          <p:cNvSpPr/>
          <p:nvPr/>
        </p:nvSpPr>
        <p:spPr>
          <a:xfrm>
            <a:off x="786240" y="2359080"/>
            <a:ext cx="4974120" cy="2192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100" b="0" u="none" strike="noStrike">
                <a:solidFill>
                  <a:srgbClr val="D6D0EC"/>
                </a:solidFill>
                <a:effectLst/>
                <a:uFillTx/>
                <a:latin typeface="Calibri"/>
                <a:ea typeface="Calibri"/>
              </a:rPr>
              <a:t>Twenty simultaneous requests for one available copy:</a:t>
            </a:r>
            <a:endParaRPr lang="en-NG" sz="1100" b="0" u="none" strike="noStrike">
              <a:solidFill>
                <a:srgbClr val="000000"/>
              </a:solidFill>
              <a:effectLst/>
              <a:uFillTx/>
              <a:latin typeface="Arial"/>
            </a:endParaRPr>
          </a:p>
        </p:txBody>
      </p:sp>
      <p:sp>
        <p:nvSpPr>
          <p:cNvPr id="336" name="Text 7"/>
          <p:cNvSpPr/>
          <p:nvPr/>
        </p:nvSpPr>
        <p:spPr>
          <a:xfrm>
            <a:off x="841320" y="2633400"/>
            <a:ext cx="1554120" cy="5115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3000" b="1" u="none" strike="noStrike">
                <a:solidFill>
                  <a:srgbClr val="AFA4D8"/>
                </a:solidFill>
                <a:effectLst/>
                <a:uFillTx/>
                <a:latin typeface="Cambria"/>
                <a:ea typeface="Cambria"/>
              </a:rPr>
              <a:t>20</a:t>
            </a:r>
            <a:endParaRPr lang="en-NG" sz="3000" b="0" u="none" strike="noStrike">
              <a:solidFill>
                <a:srgbClr val="000000"/>
              </a:solidFill>
              <a:effectLst/>
              <a:uFillTx/>
              <a:latin typeface="Arial"/>
            </a:endParaRPr>
          </a:p>
        </p:txBody>
      </p:sp>
      <p:sp>
        <p:nvSpPr>
          <p:cNvPr id="337" name="Text 8"/>
          <p:cNvSpPr/>
          <p:nvPr/>
        </p:nvSpPr>
        <p:spPr>
          <a:xfrm>
            <a:off x="841320" y="3145680"/>
            <a:ext cx="1608840" cy="2192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000" b="0" u="none" strike="noStrike">
                <a:solidFill>
                  <a:srgbClr val="BBB2DC"/>
                </a:solidFill>
                <a:effectLst/>
                <a:uFillTx/>
                <a:latin typeface="Calibri"/>
                <a:ea typeface="Calibri"/>
              </a:rPr>
              <a:t>sent</a:t>
            </a:r>
            <a:endParaRPr lang="en-NG" sz="1000" b="0" u="none" strike="noStrike">
              <a:solidFill>
                <a:srgbClr val="000000"/>
              </a:solidFill>
              <a:effectLst/>
              <a:uFillTx/>
              <a:latin typeface="Arial"/>
            </a:endParaRPr>
          </a:p>
        </p:txBody>
      </p:sp>
      <p:sp>
        <p:nvSpPr>
          <p:cNvPr id="338" name="Text 9"/>
          <p:cNvSpPr/>
          <p:nvPr/>
        </p:nvSpPr>
        <p:spPr>
          <a:xfrm>
            <a:off x="2541960" y="2633400"/>
            <a:ext cx="1554120" cy="5115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3000" b="1" u="none" strike="noStrike">
                <a:solidFill>
                  <a:srgbClr val="9FD9BC"/>
                </a:solidFill>
                <a:effectLst/>
                <a:uFillTx/>
                <a:latin typeface="Cambria"/>
                <a:ea typeface="Cambria"/>
              </a:rPr>
              <a:t>1</a:t>
            </a:r>
            <a:endParaRPr lang="en-NG" sz="3000" b="0" u="none" strike="noStrike">
              <a:solidFill>
                <a:srgbClr val="000000"/>
              </a:solidFill>
              <a:effectLst/>
              <a:uFillTx/>
              <a:latin typeface="Arial"/>
            </a:endParaRPr>
          </a:p>
        </p:txBody>
      </p:sp>
      <p:sp>
        <p:nvSpPr>
          <p:cNvPr id="339" name="Text 10"/>
          <p:cNvSpPr/>
          <p:nvPr/>
        </p:nvSpPr>
        <p:spPr>
          <a:xfrm>
            <a:off x="2541960" y="3145680"/>
            <a:ext cx="1608840" cy="2192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000" b="0" u="none" strike="noStrike">
                <a:solidFill>
                  <a:srgbClr val="BBB2DC"/>
                </a:solidFill>
                <a:effectLst/>
                <a:uFillTx/>
                <a:latin typeface="Calibri"/>
                <a:ea typeface="Calibri"/>
              </a:rPr>
              <a:t>created, 201</a:t>
            </a:r>
            <a:endParaRPr lang="en-NG" sz="1000" b="0" u="none" strike="noStrike">
              <a:solidFill>
                <a:srgbClr val="000000"/>
              </a:solidFill>
              <a:effectLst/>
              <a:uFillTx/>
              <a:latin typeface="Arial"/>
            </a:endParaRPr>
          </a:p>
        </p:txBody>
      </p:sp>
      <p:sp>
        <p:nvSpPr>
          <p:cNvPr id="340" name="Text 11"/>
          <p:cNvSpPr/>
          <p:nvPr/>
        </p:nvSpPr>
        <p:spPr>
          <a:xfrm>
            <a:off x="4242960" y="2633400"/>
            <a:ext cx="1554120" cy="5115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3000" b="1" u="none" strike="noStrike">
                <a:solidFill>
                  <a:srgbClr val="F0BFBF"/>
                </a:solidFill>
                <a:effectLst/>
                <a:uFillTx/>
                <a:latin typeface="Cambria"/>
                <a:ea typeface="Cambria"/>
              </a:rPr>
              <a:t>19</a:t>
            </a:r>
            <a:endParaRPr lang="en-NG" sz="3000" b="0" u="none" strike="noStrike">
              <a:solidFill>
                <a:srgbClr val="000000"/>
              </a:solidFill>
              <a:effectLst/>
              <a:uFillTx/>
              <a:latin typeface="Arial"/>
            </a:endParaRPr>
          </a:p>
        </p:txBody>
      </p:sp>
      <p:sp>
        <p:nvSpPr>
          <p:cNvPr id="341" name="Text 12"/>
          <p:cNvSpPr/>
          <p:nvPr/>
        </p:nvSpPr>
        <p:spPr>
          <a:xfrm>
            <a:off x="4242960" y="3145680"/>
            <a:ext cx="1608840" cy="2192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000" b="0" u="none" strike="noStrike">
                <a:solidFill>
                  <a:srgbClr val="BBB2DC"/>
                </a:solidFill>
                <a:effectLst/>
                <a:uFillTx/>
                <a:latin typeface="Calibri"/>
                <a:ea typeface="Calibri"/>
              </a:rPr>
              <a:t>refused, 409</a:t>
            </a:r>
            <a:endParaRPr lang="en-NG" sz="1000" b="0" u="none" strike="noStrike">
              <a:solidFill>
                <a:srgbClr val="000000"/>
              </a:solidFill>
              <a:effectLst/>
              <a:uFillTx/>
              <a:latin typeface="Arial"/>
            </a:endParaRPr>
          </a:p>
        </p:txBody>
      </p:sp>
      <p:sp>
        <p:nvSpPr>
          <p:cNvPr id="342" name="Text 13"/>
          <p:cNvSpPr/>
          <p:nvPr/>
        </p:nvSpPr>
        <p:spPr>
          <a:xfrm>
            <a:off x="786240" y="3438000"/>
            <a:ext cx="4974120" cy="25560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000" b="0" i="1" u="none" strike="noStrike">
                <a:solidFill>
                  <a:srgbClr val="AFA4D8"/>
                </a:solidFill>
                <a:effectLst/>
                <a:uFillTx/>
                <a:latin typeface="Calibri"/>
                <a:ea typeface="Calibri"/>
              </a:rPr>
              <a:t>A partial unique index refuses the second one. Not a check, which could be raced.</a:t>
            </a:r>
            <a:endParaRPr lang="en-NG" sz="1000" b="0" u="none" strike="noStrike">
              <a:solidFill>
                <a:srgbClr val="000000"/>
              </a:solidFill>
              <a:effectLst/>
              <a:uFillTx/>
              <a:latin typeface="Arial"/>
            </a:endParaRPr>
          </a:p>
        </p:txBody>
      </p:sp>
      <p:sp>
        <p:nvSpPr>
          <p:cNvPr id="343" name="Shape 14"/>
          <p:cNvSpPr/>
          <p:nvPr/>
        </p:nvSpPr>
        <p:spPr>
          <a:xfrm>
            <a:off x="6199560" y="1865520"/>
            <a:ext cx="5421960" cy="1938240"/>
          </a:xfrm>
          <a:prstGeom prst="roundRect">
            <a:avLst>
              <a:gd name="adj" fmla="val 3302"/>
            </a:avLst>
          </a:prstGeom>
          <a:solidFill>
            <a:srgbClr val="1F5F42"/>
          </a:solidFill>
          <a:ln w="9525">
            <a:solidFill>
              <a:srgbClr val="1F5F42"/>
            </a:solidFill>
            <a:round/>
          </a:ln>
          <a:effectLst>
            <a:outerShdw algn="bl" blurRad="127080" dir="5400000" dist="25560" kx="0" ky="0" rotWithShape="0" sx="100000" sy="100000">
              <a:srgbClr val="9098B0">
                <a:alpha val="22000"/>
              </a:srgbClr>
            </a:outerShdw>
          </a:effectLst>
        </p:spPr>
        <p:style>
          <a:lnRef idx="0"/>
          <a:fillRef idx="0"/>
          <a:effectRef idx="0"/>
          <a:fontRef idx="minor"/>
        </p:style>
        <p:txBody>
          <a:bodyPr lIns="90000" tIns="45000" rIns="90000" bIns="45000" anchor="t">
            <a:noAutofit/>
          </a:bodyPr>
          <a:p>
            <a:pPr/>
            <a:endParaRPr lang="en-NG" sz="1800" b="0" u="none" strike="noStrike">
              <a:solidFill>
                <a:srgbClr val="FFFFFF"/>
              </a:solidFill>
              <a:effectLst/>
              <a:uFillTx/>
              <a:latin typeface="Arial"/>
            </a:endParaRPr>
          </a:p>
        </p:txBody>
      </p:sp>
      <p:sp>
        <p:nvSpPr>
          <p:cNvPr id="344" name="Text 15"/>
          <p:cNvSpPr/>
          <p:nvPr/>
        </p:nvSpPr>
        <p:spPr>
          <a:xfrm>
            <a:off x="6419160" y="2039040"/>
            <a:ext cx="4983120" cy="328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350" b="1" u="none" strike="noStrike">
                <a:solidFill>
                  <a:srgbClr val="BFE8D0"/>
                </a:solidFill>
                <a:effectLst/>
                <a:uFillTx/>
                <a:latin typeface="Calibri"/>
                <a:ea typeface="Calibri"/>
              </a:rPr>
              <a:t>Saving may happen any number of times</a:t>
            </a:r>
            <a:endParaRPr lang="en-NG" sz="1350" b="0" u="none" strike="noStrike">
              <a:solidFill>
                <a:srgbClr val="000000"/>
              </a:solidFill>
              <a:effectLst/>
              <a:uFillTx/>
              <a:latin typeface="Arial"/>
            </a:endParaRPr>
          </a:p>
        </p:txBody>
      </p:sp>
      <p:sp>
        <p:nvSpPr>
          <p:cNvPr id="345" name="Text 16"/>
          <p:cNvSpPr/>
          <p:nvPr/>
        </p:nvSpPr>
        <p:spPr>
          <a:xfrm>
            <a:off x="6419160" y="2359080"/>
            <a:ext cx="4983120" cy="2192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100" b="0" u="none" strike="noStrike">
                <a:solidFill>
                  <a:srgbClr val="CDE8DA"/>
                </a:solidFill>
                <a:effectLst/>
                <a:uFillTx/>
                <a:latin typeface="Calibri"/>
                <a:ea typeface="Calibri"/>
              </a:rPr>
              <a:t>Twenty simultaneous saves of one title by one member:</a:t>
            </a:r>
            <a:endParaRPr lang="en-NG" sz="1100" b="0" u="none" strike="noStrike">
              <a:solidFill>
                <a:srgbClr val="000000"/>
              </a:solidFill>
              <a:effectLst/>
              <a:uFillTx/>
              <a:latin typeface="Arial"/>
            </a:endParaRPr>
          </a:p>
        </p:txBody>
      </p:sp>
      <p:sp>
        <p:nvSpPr>
          <p:cNvPr id="346" name="Text 17"/>
          <p:cNvSpPr/>
          <p:nvPr/>
        </p:nvSpPr>
        <p:spPr>
          <a:xfrm>
            <a:off x="6473880" y="2633400"/>
            <a:ext cx="1554120" cy="5115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3000" b="1" u="none" strike="noStrike">
                <a:solidFill>
                  <a:srgbClr val="9FD3B8"/>
                </a:solidFill>
                <a:effectLst/>
                <a:uFillTx/>
                <a:latin typeface="Cambria"/>
                <a:ea typeface="Cambria"/>
              </a:rPr>
              <a:t>20</a:t>
            </a:r>
            <a:endParaRPr lang="en-NG" sz="3000" b="0" u="none" strike="noStrike">
              <a:solidFill>
                <a:srgbClr val="000000"/>
              </a:solidFill>
              <a:effectLst/>
              <a:uFillTx/>
              <a:latin typeface="Arial"/>
            </a:endParaRPr>
          </a:p>
        </p:txBody>
      </p:sp>
      <p:sp>
        <p:nvSpPr>
          <p:cNvPr id="347" name="Text 18"/>
          <p:cNvSpPr/>
          <p:nvPr/>
        </p:nvSpPr>
        <p:spPr>
          <a:xfrm>
            <a:off x="6473880" y="3145680"/>
            <a:ext cx="1608840" cy="2192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000" b="0" u="none" strike="noStrike">
                <a:solidFill>
                  <a:srgbClr val="A9CFBB"/>
                </a:solidFill>
                <a:effectLst/>
                <a:uFillTx/>
                <a:latin typeface="Calibri"/>
                <a:ea typeface="Calibri"/>
              </a:rPr>
              <a:t>sent</a:t>
            </a:r>
            <a:endParaRPr lang="en-NG" sz="1000" b="0" u="none" strike="noStrike">
              <a:solidFill>
                <a:srgbClr val="000000"/>
              </a:solidFill>
              <a:effectLst/>
              <a:uFillTx/>
              <a:latin typeface="Arial"/>
            </a:endParaRPr>
          </a:p>
        </p:txBody>
      </p:sp>
      <p:sp>
        <p:nvSpPr>
          <p:cNvPr id="348" name="Text 19"/>
          <p:cNvSpPr/>
          <p:nvPr/>
        </p:nvSpPr>
        <p:spPr>
          <a:xfrm>
            <a:off x="8174880" y="2633400"/>
            <a:ext cx="1554120" cy="5115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3000" b="1" u="none" strike="noStrike">
                <a:solidFill>
                  <a:srgbClr val="DFF3E7"/>
                </a:solidFill>
                <a:effectLst/>
                <a:uFillTx/>
                <a:latin typeface="Cambria"/>
                <a:ea typeface="Cambria"/>
              </a:rPr>
              <a:t>0</a:t>
            </a:r>
            <a:endParaRPr lang="en-NG" sz="3000" b="0" u="none" strike="noStrike">
              <a:solidFill>
                <a:srgbClr val="000000"/>
              </a:solidFill>
              <a:effectLst/>
              <a:uFillTx/>
              <a:latin typeface="Arial"/>
            </a:endParaRPr>
          </a:p>
        </p:txBody>
      </p:sp>
      <p:sp>
        <p:nvSpPr>
          <p:cNvPr id="349" name="Text 20"/>
          <p:cNvSpPr/>
          <p:nvPr/>
        </p:nvSpPr>
        <p:spPr>
          <a:xfrm>
            <a:off x="8174880" y="3145680"/>
            <a:ext cx="1608840" cy="2192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000" b="0" u="none" strike="noStrike">
                <a:solidFill>
                  <a:srgbClr val="A9CFBB"/>
                </a:solidFill>
                <a:effectLst/>
                <a:uFillTx/>
                <a:latin typeface="Calibri"/>
                <a:ea typeface="Calibri"/>
              </a:rPr>
              <a:t>errors</a:t>
            </a:r>
            <a:endParaRPr lang="en-NG" sz="1000" b="0" u="none" strike="noStrike">
              <a:solidFill>
                <a:srgbClr val="000000"/>
              </a:solidFill>
              <a:effectLst/>
              <a:uFillTx/>
              <a:latin typeface="Arial"/>
            </a:endParaRPr>
          </a:p>
        </p:txBody>
      </p:sp>
      <p:sp>
        <p:nvSpPr>
          <p:cNvPr id="350" name="Text 21"/>
          <p:cNvSpPr/>
          <p:nvPr/>
        </p:nvSpPr>
        <p:spPr>
          <a:xfrm>
            <a:off x="9875520" y="2633400"/>
            <a:ext cx="1554120" cy="5115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3000" b="1" u="none" strike="noStrike">
                <a:solidFill>
                  <a:srgbClr val="DFF3E7"/>
                </a:solidFill>
                <a:effectLst/>
                <a:uFillTx/>
                <a:latin typeface="Cambria"/>
                <a:ea typeface="Cambria"/>
              </a:rPr>
              <a:t>1</a:t>
            </a:r>
            <a:endParaRPr lang="en-NG" sz="3000" b="0" u="none" strike="noStrike">
              <a:solidFill>
                <a:srgbClr val="000000"/>
              </a:solidFill>
              <a:effectLst/>
              <a:uFillTx/>
              <a:latin typeface="Arial"/>
            </a:endParaRPr>
          </a:p>
        </p:txBody>
      </p:sp>
      <p:sp>
        <p:nvSpPr>
          <p:cNvPr id="351" name="Text 22"/>
          <p:cNvSpPr/>
          <p:nvPr/>
        </p:nvSpPr>
        <p:spPr>
          <a:xfrm>
            <a:off x="9875520" y="3145680"/>
            <a:ext cx="1608840" cy="2192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000" b="0" u="none" strike="noStrike">
                <a:solidFill>
                  <a:srgbClr val="A9CFBB"/>
                </a:solidFill>
                <a:effectLst/>
                <a:uFillTx/>
                <a:latin typeface="Calibri"/>
                <a:ea typeface="Calibri"/>
              </a:rPr>
              <a:t>row stored</a:t>
            </a:r>
            <a:endParaRPr lang="en-NG" sz="1000" b="0" u="none" strike="noStrike">
              <a:solidFill>
                <a:srgbClr val="000000"/>
              </a:solidFill>
              <a:effectLst/>
              <a:uFillTx/>
              <a:latin typeface="Arial"/>
            </a:endParaRPr>
          </a:p>
        </p:txBody>
      </p:sp>
      <p:sp>
        <p:nvSpPr>
          <p:cNvPr id="352" name="Text 23"/>
          <p:cNvSpPr/>
          <p:nvPr/>
        </p:nvSpPr>
        <p:spPr>
          <a:xfrm>
            <a:off x="6419160" y="3438000"/>
            <a:ext cx="4983120" cy="25560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000" b="0" i="1" u="none" strike="noStrike">
                <a:solidFill>
                  <a:srgbClr val="A9CFBB"/>
                </a:solidFill>
                <a:effectLst/>
                <a:uFillTx/>
                <a:latin typeface="Calibri"/>
                <a:ea typeface="Calibri"/>
              </a:rPr>
              <a:t>ON CONFLICT absorbs the repeat, so the client never has to ask first.</a:t>
            </a:r>
            <a:endParaRPr lang="en-NG" sz="1000" b="0" u="none" strike="noStrike">
              <a:solidFill>
                <a:srgbClr val="000000"/>
              </a:solidFill>
              <a:effectLst/>
              <a:uFillTx/>
              <a:latin typeface="Arial"/>
            </a:endParaRPr>
          </a:p>
        </p:txBody>
      </p:sp>
      <p:sp>
        <p:nvSpPr>
          <p:cNvPr id="353" name="Text 24"/>
          <p:cNvSpPr/>
          <p:nvPr/>
        </p:nvSpPr>
        <p:spPr>
          <a:xfrm>
            <a:off x="567000" y="3950280"/>
            <a:ext cx="11054880" cy="25560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150" b="1" u="none" strike="noStrike">
                <a:solidFill>
                  <a:srgbClr val="240C54"/>
                </a:solidFill>
                <a:effectLst/>
                <a:uFillTx/>
                <a:latin typeface="Calibri"/>
                <a:ea typeface="Calibri"/>
              </a:rPr>
              <a:t>Idempotency is not applied everywhere. It is a question asked of each action: if this arrives twice, should the second one change anything?</a:t>
            </a:r>
            <a:endParaRPr lang="en-NG" sz="1150" b="0" u="none" strike="noStrike">
              <a:solidFill>
                <a:srgbClr val="000000"/>
              </a:solidFill>
              <a:effectLst/>
              <a:uFillTx/>
              <a:latin typeface="Arial"/>
            </a:endParaRPr>
          </a:p>
        </p:txBody>
      </p:sp>
      <p:sp>
        <p:nvSpPr>
          <p:cNvPr id="354" name="Shape 25"/>
          <p:cNvSpPr/>
          <p:nvPr/>
        </p:nvSpPr>
        <p:spPr>
          <a:xfrm>
            <a:off x="567000" y="4279320"/>
            <a:ext cx="11054880" cy="310680"/>
          </a:xfrm>
          <a:prstGeom prst="roundRect">
            <a:avLst>
              <a:gd name="adj" fmla="val 11765"/>
            </a:avLst>
          </a:prstGeom>
          <a:solidFill>
            <a:srgbClr val="FFFFFF"/>
          </a:solidFill>
          <a:ln w="6350">
            <a:solidFill>
              <a:srgbClr val="D8DAE5"/>
            </a:solidFill>
            <a:round/>
          </a:ln>
        </p:spPr>
        <p:style>
          <a:lnRef idx="0"/>
          <a:fillRef idx="0"/>
          <a:effectRef idx="0"/>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355" name="Text 26"/>
          <p:cNvSpPr/>
          <p:nvPr/>
        </p:nvSpPr>
        <p:spPr>
          <a:xfrm>
            <a:off x="731520" y="4279320"/>
            <a:ext cx="2331360" cy="310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050" b="1" u="none" strike="noStrike">
                <a:solidFill>
                  <a:srgbClr val="240C54"/>
                </a:solidFill>
                <a:effectLst/>
                <a:uFillTx/>
                <a:latin typeface="Calibri"/>
                <a:ea typeface="Calibri"/>
              </a:rPr>
              <a:t>Borrow a copy</a:t>
            </a:r>
            <a:endParaRPr lang="en-NG" sz="1050" b="0" u="none" strike="noStrike">
              <a:solidFill>
                <a:srgbClr val="000000"/>
              </a:solidFill>
              <a:effectLst/>
              <a:uFillTx/>
              <a:latin typeface="Arial"/>
            </a:endParaRPr>
          </a:p>
        </p:txBody>
      </p:sp>
      <p:sp>
        <p:nvSpPr>
          <p:cNvPr id="356" name="Text 27"/>
          <p:cNvSpPr/>
          <p:nvPr/>
        </p:nvSpPr>
        <p:spPr>
          <a:xfrm>
            <a:off x="3127320" y="4279320"/>
            <a:ext cx="1691280" cy="310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050" b="1" u="none" strike="noStrike">
                <a:solidFill>
                  <a:srgbClr val="A32020"/>
                </a:solidFill>
                <a:effectLst/>
                <a:uFillTx/>
                <a:latin typeface="Calibri"/>
                <a:ea typeface="Calibri"/>
              </a:rPr>
              <a:t>No, at most once</a:t>
            </a:r>
            <a:endParaRPr lang="en-NG" sz="1050" b="0" u="none" strike="noStrike">
              <a:solidFill>
                <a:srgbClr val="000000"/>
              </a:solidFill>
              <a:effectLst/>
              <a:uFillTx/>
              <a:latin typeface="Arial"/>
            </a:endParaRPr>
          </a:p>
        </p:txBody>
      </p:sp>
      <p:sp>
        <p:nvSpPr>
          <p:cNvPr id="357" name="Text 28"/>
          <p:cNvSpPr/>
          <p:nvPr/>
        </p:nvSpPr>
        <p:spPr>
          <a:xfrm>
            <a:off x="4883040" y="4279320"/>
            <a:ext cx="6537600" cy="310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050" b="0" u="none" strike="noStrike">
                <a:solidFill>
                  <a:srgbClr val="1A1A2E"/>
                </a:solidFill>
                <a:effectLst/>
                <a:uFillTx/>
                <a:latin typeface="Calibri"/>
                <a:ea typeface="Calibri"/>
              </a:rPr>
              <a:t>A second loan on one copy is impossible. Refused with 409.</a:t>
            </a:r>
            <a:endParaRPr lang="en-NG" sz="1050" b="0" u="none" strike="noStrike">
              <a:solidFill>
                <a:srgbClr val="000000"/>
              </a:solidFill>
              <a:effectLst/>
              <a:uFillTx/>
              <a:latin typeface="Arial"/>
            </a:endParaRPr>
          </a:p>
        </p:txBody>
      </p:sp>
      <p:sp>
        <p:nvSpPr>
          <p:cNvPr id="358" name="Shape 29"/>
          <p:cNvSpPr/>
          <p:nvPr/>
        </p:nvSpPr>
        <p:spPr>
          <a:xfrm>
            <a:off x="567000" y="4645080"/>
            <a:ext cx="11054880" cy="310680"/>
          </a:xfrm>
          <a:prstGeom prst="roundRect">
            <a:avLst>
              <a:gd name="adj" fmla="val 11765"/>
            </a:avLst>
          </a:prstGeom>
          <a:solidFill>
            <a:srgbClr val="F4F5F9"/>
          </a:solidFill>
          <a:ln w="6350">
            <a:solidFill>
              <a:srgbClr val="D8DAE5"/>
            </a:solidFill>
            <a:round/>
          </a:ln>
        </p:spPr>
        <p:style>
          <a:lnRef idx="0"/>
          <a:fillRef idx="0"/>
          <a:effectRef idx="0"/>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359" name="Text 30"/>
          <p:cNvSpPr/>
          <p:nvPr/>
        </p:nvSpPr>
        <p:spPr>
          <a:xfrm>
            <a:off x="731520" y="4645080"/>
            <a:ext cx="2331360" cy="310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050" b="1" u="none" strike="noStrike">
                <a:solidFill>
                  <a:srgbClr val="240C54"/>
                </a:solidFill>
                <a:effectLst/>
                <a:uFillTx/>
                <a:latin typeface="Calibri"/>
                <a:ea typeface="Calibri"/>
              </a:rPr>
              <a:t>Return a copy</a:t>
            </a:r>
            <a:endParaRPr lang="en-NG" sz="1050" b="0" u="none" strike="noStrike">
              <a:solidFill>
                <a:srgbClr val="000000"/>
              </a:solidFill>
              <a:effectLst/>
              <a:uFillTx/>
              <a:latin typeface="Arial"/>
            </a:endParaRPr>
          </a:p>
        </p:txBody>
      </p:sp>
      <p:sp>
        <p:nvSpPr>
          <p:cNvPr id="360" name="Text 31"/>
          <p:cNvSpPr/>
          <p:nvPr/>
        </p:nvSpPr>
        <p:spPr>
          <a:xfrm>
            <a:off x="3127320" y="4645080"/>
            <a:ext cx="1691280" cy="310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050" b="1" u="none" strike="noStrike">
                <a:solidFill>
                  <a:srgbClr val="1E7A46"/>
                </a:solidFill>
                <a:effectLst/>
                <a:uFillTx/>
                <a:latin typeface="Calibri"/>
                <a:ea typeface="Calibri"/>
              </a:rPr>
              <a:t>Yes</a:t>
            </a:r>
            <a:endParaRPr lang="en-NG" sz="1050" b="0" u="none" strike="noStrike">
              <a:solidFill>
                <a:srgbClr val="000000"/>
              </a:solidFill>
              <a:effectLst/>
              <a:uFillTx/>
              <a:latin typeface="Arial"/>
            </a:endParaRPr>
          </a:p>
        </p:txBody>
      </p:sp>
      <p:sp>
        <p:nvSpPr>
          <p:cNvPr id="361" name="Text 32"/>
          <p:cNvSpPr/>
          <p:nvPr/>
        </p:nvSpPr>
        <p:spPr>
          <a:xfrm>
            <a:off x="4883040" y="4645080"/>
            <a:ext cx="6537600" cy="310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050" b="0" u="none" strike="noStrike">
                <a:solidFill>
                  <a:srgbClr val="1A1A2E"/>
                </a:solidFill>
                <a:effectLst/>
                <a:uFillTx/>
                <a:latin typeface="Calibri"/>
                <a:ea typeface="Calibri"/>
              </a:rPr>
              <a:t>The loan is already closed. Saying so again changes nothing.</a:t>
            </a:r>
            <a:endParaRPr lang="en-NG" sz="1050" b="0" u="none" strike="noStrike">
              <a:solidFill>
                <a:srgbClr val="000000"/>
              </a:solidFill>
              <a:effectLst/>
              <a:uFillTx/>
              <a:latin typeface="Arial"/>
            </a:endParaRPr>
          </a:p>
        </p:txBody>
      </p:sp>
      <p:sp>
        <p:nvSpPr>
          <p:cNvPr id="362" name="Shape 33"/>
          <p:cNvSpPr/>
          <p:nvPr/>
        </p:nvSpPr>
        <p:spPr>
          <a:xfrm>
            <a:off x="567000" y="5010840"/>
            <a:ext cx="11054880" cy="310680"/>
          </a:xfrm>
          <a:prstGeom prst="roundRect">
            <a:avLst>
              <a:gd name="adj" fmla="val 11765"/>
            </a:avLst>
          </a:prstGeom>
          <a:solidFill>
            <a:srgbClr val="FFFFFF"/>
          </a:solidFill>
          <a:ln w="6350">
            <a:solidFill>
              <a:srgbClr val="D8DAE5"/>
            </a:solidFill>
            <a:round/>
          </a:ln>
        </p:spPr>
        <p:style>
          <a:lnRef idx="0"/>
          <a:fillRef idx="0"/>
          <a:effectRef idx="0"/>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363" name="Text 34"/>
          <p:cNvSpPr/>
          <p:nvPr/>
        </p:nvSpPr>
        <p:spPr>
          <a:xfrm>
            <a:off x="731520" y="5010840"/>
            <a:ext cx="2331360" cy="310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050" b="1" u="none" strike="noStrike">
                <a:solidFill>
                  <a:srgbClr val="240C54"/>
                </a:solidFill>
                <a:effectLst/>
                <a:uFillTx/>
                <a:latin typeface="Calibri"/>
                <a:ea typeface="Calibri"/>
              </a:rPr>
              <a:t>Save or unsave a title</a:t>
            </a:r>
            <a:endParaRPr lang="en-NG" sz="1050" b="0" u="none" strike="noStrike">
              <a:solidFill>
                <a:srgbClr val="000000"/>
              </a:solidFill>
              <a:effectLst/>
              <a:uFillTx/>
              <a:latin typeface="Arial"/>
            </a:endParaRPr>
          </a:p>
        </p:txBody>
      </p:sp>
      <p:sp>
        <p:nvSpPr>
          <p:cNvPr id="364" name="Text 35"/>
          <p:cNvSpPr/>
          <p:nvPr/>
        </p:nvSpPr>
        <p:spPr>
          <a:xfrm>
            <a:off x="3127320" y="5010840"/>
            <a:ext cx="1691280" cy="310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050" b="1" u="none" strike="noStrike">
                <a:solidFill>
                  <a:srgbClr val="1E7A46"/>
                </a:solidFill>
                <a:effectLst/>
                <a:uFillTx/>
                <a:latin typeface="Calibri"/>
                <a:ea typeface="Calibri"/>
              </a:rPr>
              <a:t>Yes</a:t>
            </a:r>
            <a:endParaRPr lang="en-NG" sz="1050" b="0" u="none" strike="noStrike">
              <a:solidFill>
                <a:srgbClr val="000000"/>
              </a:solidFill>
              <a:effectLst/>
              <a:uFillTx/>
              <a:latin typeface="Arial"/>
            </a:endParaRPr>
          </a:p>
        </p:txBody>
      </p:sp>
      <p:sp>
        <p:nvSpPr>
          <p:cNvPr id="365" name="Text 36"/>
          <p:cNvSpPr/>
          <p:nvPr/>
        </p:nvSpPr>
        <p:spPr>
          <a:xfrm>
            <a:off x="4883040" y="5010840"/>
            <a:ext cx="6537600" cy="310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050" b="0" u="none" strike="noStrike">
                <a:solidFill>
                  <a:srgbClr val="1A1A2E"/>
                </a:solidFill>
                <a:effectLst/>
                <a:uFillTx/>
                <a:latin typeface="Calibri"/>
                <a:ea typeface="Calibri"/>
              </a:rPr>
              <a:t>A second tap means what the first meant. One row either way.</a:t>
            </a:r>
            <a:endParaRPr lang="en-NG" sz="1050" b="0" u="none" strike="noStrike">
              <a:solidFill>
                <a:srgbClr val="000000"/>
              </a:solidFill>
              <a:effectLst/>
              <a:uFillTx/>
              <a:latin typeface="Arial"/>
            </a:endParaRPr>
          </a:p>
        </p:txBody>
      </p:sp>
      <p:sp>
        <p:nvSpPr>
          <p:cNvPr id="366" name="Shape 37"/>
          <p:cNvSpPr/>
          <p:nvPr/>
        </p:nvSpPr>
        <p:spPr>
          <a:xfrm>
            <a:off x="567000" y="5376600"/>
            <a:ext cx="11054880" cy="310680"/>
          </a:xfrm>
          <a:prstGeom prst="roundRect">
            <a:avLst>
              <a:gd name="adj" fmla="val 11765"/>
            </a:avLst>
          </a:prstGeom>
          <a:solidFill>
            <a:srgbClr val="F4F5F9"/>
          </a:solidFill>
          <a:ln w="6350">
            <a:solidFill>
              <a:srgbClr val="D8DAE5"/>
            </a:solidFill>
            <a:round/>
          </a:ln>
        </p:spPr>
        <p:style>
          <a:lnRef idx="0"/>
          <a:fillRef idx="0"/>
          <a:effectRef idx="0"/>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367" name="Text 38"/>
          <p:cNvSpPr/>
          <p:nvPr/>
        </p:nvSpPr>
        <p:spPr>
          <a:xfrm>
            <a:off x="731520" y="5376600"/>
            <a:ext cx="2331360" cy="310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050" b="1" u="none" strike="noStrike">
                <a:solidFill>
                  <a:srgbClr val="240C54"/>
                </a:solidFill>
                <a:effectLst/>
                <a:uFillTx/>
                <a:latin typeface="Calibri"/>
                <a:ea typeface="Calibri"/>
              </a:rPr>
              <a:t>Send a notification</a:t>
            </a:r>
            <a:endParaRPr lang="en-NG" sz="1050" b="0" u="none" strike="noStrike">
              <a:solidFill>
                <a:srgbClr val="000000"/>
              </a:solidFill>
              <a:effectLst/>
              <a:uFillTx/>
              <a:latin typeface="Arial"/>
            </a:endParaRPr>
          </a:p>
        </p:txBody>
      </p:sp>
      <p:sp>
        <p:nvSpPr>
          <p:cNvPr id="368" name="Text 39"/>
          <p:cNvSpPr/>
          <p:nvPr/>
        </p:nvSpPr>
        <p:spPr>
          <a:xfrm>
            <a:off x="3127320" y="5376600"/>
            <a:ext cx="1691280" cy="310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050" b="1" u="none" strike="noStrike">
                <a:solidFill>
                  <a:srgbClr val="1E7A46"/>
                </a:solidFill>
                <a:effectLst/>
                <a:uFillTx/>
                <a:latin typeface="Calibri"/>
                <a:ea typeface="Calibri"/>
              </a:rPr>
              <a:t>Yes</a:t>
            </a:r>
            <a:endParaRPr lang="en-NG" sz="1050" b="0" u="none" strike="noStrike">
              <a:solidFill>
                <a:srgbClr val="000000"/>
              </a:solidFill>
              <a:effectLst/>
              <a:uFillTx/>
              <a:latin typeface="Arial"/>
            </a:endParaRPr>
          </a:p>
        </p:txBody>
      </p:sp>
      <p:sp>
        <p:nvSpPr>
          <p:cNvPr id="369" name="Text 40"/>
          <p:cNvSpPr/>
          <p:nvPr/>
        </p:nvSpPr>
        <p:spPr>
          <a:xfrm>
            <a:off x="4883040" y="5376600"/>
            <a:ext cx="6537600" cy="310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050" b="0" u="none" strike="noStrike">
                <a:solidFill>
                  <a:srgbClr val="1A1A2E"/>
                </a:solidFill>
                <a:effectLst/>
                <a:uFillTx/>
                <a:latin typeface="Calibri"/>
                <a:ea typeface="Calibri"/>
              </a:rPr>
              <a:t>The worker re-reads the database, so a stale intention is superseded.</a:t>
            </a:r>
            <a:endParaRPr lang="en-NG" sz="1050" b="0" u="none" strike="noStrike">
              <a:solidFill>
                <a:srgbClr val="000000"/>
              </a:solidFill>
              <a:effectLst/>
              <a:uFillTx/>
              <a:latin typeface="Arial"/>
            </a:endParaRPr>
          </a:p>
        </p:txBody>
      </p:sp>
      <p:sp>
        <p:nvSpPr>
          <p:cNvPr id="370" name="Shape 41"/>
          <p:cNvSpPr/>
          <p:nvPr/>
        </p:nvSpPr>
        <p:spPr>
          <a:xfrm>
            <a:off x="567000" y="5742360"/>
            <a:ext cx="11054880" cy="310680"/>
          </a:xfrm>
          <a:prstGeom prst="roundRect">
            <a:avLst>
              <a:gd name="adj" fmla="val 11765"/>
            </a:avLst>
          </a:prstGeom>
          <a:solidFill>
            <a:srgbClr val="FFFFFF"/>
          </a:solidFill>
          <a:ln w="6350">
            <a:solidFill>
              <a:srgbClr val="D8DAE5"/>
            </a:solidFill>
            <a:round/>
          </a:ln>
        </p:spPr>
        <p:style>
          <a:lnRef idx="0"/>
          <a:fillRef idx="0"/>
          <a:effectRef idx="0"/>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371" name="Text 42"/>
          <p:cNvSpPr/>
          <p:nvPr/>
        </p:nvSpPr>
        <p:spPr>
          <a:xfrm>
            <a:off x="731520" y="5742360"/>
            <a:ext cx="2331360" cy="310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050" b="1" u="none" strike="noStrike">
                <a:solidFill>
                  <a:srgbClr val="240C54"/>
                </a:solidFill>
                <a:effectLst/>
                <a:uFillTx/>
                <a:latin typeface="Calibri"/>
                <a:ea typeface="Calibri"/>
              </a:rPr>
              <a:t>Apply a migration</a:t>
            </a:r>
            <a:endParaRPr lang="en-NG" sz="1050" b="0" u="none" strike="noStrike">
              <a:solidFill>
                <a:srgbClr val="000000"/>
              </a:solidFill>
              <a:effectLst/>
              <a:uFillTx/>
              <a:latin typeface="Arial"/>
            </a:endParaRPr>
          </a:p>
        </p:txBody>
      </p:sp>
      <p:sp>
        <p:nvSpPr>
          <p:cNvPr id="372" name="Text 43"/>
          <p:cNvSpPr/>
          <p:nvPr/>
        </p:nvSpPr>
        <p:spPr>
          <a:xfrm>
            <a:off x="3127320" y="5742360"/>
            <a:ext cx="1691280" cy="310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050" b="1" u="none" strike="noStrike">
                <a:solidFill>
                  <a:srgbClr val="1E7A46"/>
                </a:solidFill>
                <a:effectLst/>
                <a:uFillTx/>
                <a:latin typeface="Calibri"/>
                <a:ea typeface="Calibri"/>
              </a:rPr>
              <a:t>Yes</a:t>
            </a:r>
            <a:endParaRPr lang="en-NG" sz="1050" b="0" u="none" strike="noStrike">
              <a:solidFill>
                <a:srgbClr val="000000"/>
              </a:solidFill>
              <a:effectLst/>
              <a:uFillTx/>
              <a:latin typeface="Arial"/>
            </a:endParaRPr>
          </a:p>
        </p:txBody>
      </p:sp>
      <p:sp>
        <p:nvSpPr>
          <p:cNvPr id="373" name="Text 44"/>
          <p:cNvSpPr/>
          <p:nvPr/>
        </p:nvSpPr>
        <p:spPr>
          <a:xfrm>
            <a:off x="4883040" y="5742360"/>
            <a:ext cx="6537600" cy="310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050" b="0" u="none" strike="noStrike">
                <a:solidFill>
                  <a:srgbClr val="1A1A2E"/>
                </a:solidFill>
                <a:effectLst/>
                <a:uFillTx/>
                <a:latin typeface="Calibri"/>
                <a:ea typeface="Calibri"/>
              </a:rPr>
              <a:t>Recorded once, and CI refuses a commit that edits an applied one.</a:t>
            </a:r>
            <a:endParaRPr lang="en-NG" sz="1050" b="0" u="none" strike="noStrike">
              <a:solidFill>
                <a:srgbClr val="000000"/>
              </a:solidFill>
              <a:effectLst/>
              <a:uFillTx/>
              <a:latin typeface="Arial"/>
            </a:endParaRPr>
          </a:p>
        </p:txBody>
      </p:sp>
      <p:sp>
        <p:nvSpPr>
          <p:cNvPr id="374" name="Text 45"/>
          <p:cNvSpPr/>
          <p:nvPr/>
        </p:nvSpPr>
        <p:spPr>
          <a:xfrm>
            <a:off x="567000" y="6163200"/>
            <a:ext cx="11054880" cy="2372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000" b="0" i="1" u="none" strike="noStrike">
                <a:solidFill>
                  <a:srgbClr val="5B5B6B"/>
                </a:solidFill>
                <a:effectLst/>
                <a:uFillTx/>
                <a:latin typeface="Calibri"/>
                <a:ea typeface="Calibri"/>
              </a:rPr>
              <a:t>Every figure and every row above was exercised against the production database before this slide was written.</a:t>
            </a:r>
            <a:endParaRPr lang="en-NG"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5" name="Text 0"/>
          <p:cNvSpPr/>
          <p:nvPr/>
        </p:nvSpPr>
        <p:spPr>
          <a:xfrm>
            <a:off x="567000" y="384120"/>
            <a:ext cx="8229240" cy="2372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100" b="1" u="none" spc="221" strike="noStrike">
                <a:solidFill>
                  <a:srgbClr val="E4B454"/>
                </a:solidFill>
                <a:effectLst/>
                <a:uFillTx/>
                <a:latin typeface="Calibri"/>
                <a:ea typeface="Calibri"/>
              </a:rPr>
              <a:t>SECURITY</a:t>
            </a:r>
            <a:endParaRPr lang="en-NG" sz="1100" b="0" u="none" strike="noStrike">
              <a:solidFill>
                <a:srgbClr val="000000"/>
              </a:solidFill>
              <a:effectLst/>
              <a:uFillTx/>
              <a:latin typeface="Arial"/>
            </a:endParaRPr>
          </a:p>
        </p:txBody>
      </p:sp>
      <p:sp>
        <p:nvSpPr>
          <p:cNvPr id="376" name="Text 1"/>
          <p:cNvSpPr/>
          <p:nvPr/>
        </p:nvSpPr>
        <p:spPr>
          <a:xfrm>
            <a:off x="567000" y="640080"/>
            <a:ext cx="9692280" cy="5666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3000" b="1" u="none" strike="noStrike">
                <a:solidFill>
                  <a:srgbClr val="240C54"/>
                </a:solidFill>
                <a:effectLst/>
                <a:uFillTx/>
                <a:latin typeface="Cambria"/>
                <a:ea typeface="Cambria"/>
              </a:rPr>
              <a:t>Security decisions we can defend</a:t>
            </a:r>
            <a:endParaRPr lang="en-NG" sz="3000" b="0" u="none" strike="noStrike">
              <a:solidFill>
                <a:srgbClr val="000000"/>
              </a:solidFill>
              <a:effectLst/>
              <a:uFillTx/>
              <a:latin typeface="Arial"/>
            </a:endParaRPr>
          </a:p>
        </p:txBody>
      </p:sp>
      <p:pic>
        <p:nvPicPr>
          <p:cNvPr id="377" name="Image 0"/>
          <p:cNvPicPr/>
          <p:nvPr/>
        </p:nvPicPr>
        <p:blipFill>
          <a:blip r:embed="rId1"/>
          <a:stretch/>
        </p:blipFill>
        <p:spPr>
          <a:xfrm>
            <a:off x="11149200" y="365760"/>
            <a:ext cx="475200" cy="465840"/>
          </a:xfrm>
          <a:prstGeom prst="rect">
            <a:avLst/>
          </a:prstGeom>
          <a:noFill/>
          <a:ln w="0">
            <a:noFill/>
          </a:ln>
        </p:spPr>
      </p:pic>
      <p:sp>
        <p:nvSpPr>
          <p:cNvPr id="378" name="Text 2"/>
          <p:cNvSpPr/>
          <p:nvPr/>
        </p:nvSpPr>
        <p:spPr>
          <a:xfrm>
            <a:off x="11149200" y="6382440"/>
            <a:ext cx="475200" cy="219240"/>
          </a:xfrm>
          <a:prstGeom prst="rect">
            <a:avLst/>
          </a:prstGeom>
          <a:noFill/>
          <a:ln w="0">
            <a:noFill/>
          </a:ln>
        </p:spPr>
        <p:style>
          <a:lnRef idx="0"/>
          <a:fillRef idx="0"/>
          <a:effectRef idx="0"/>
          <a:fontRef idx="minor"/>
        </p:style>
        <p:txBody>
          <a:bodyPr lIns="0" tIns="0" rIns="0" bIns="0" anchor="ctr">
            <a:noAutofit/>
          </a:bodyPr>
          <a:p>
            <a:pPr algn="r">
              <a:lnSpc>
                <a:spcPct val="100000"/>
              </a:lnSpc>
              <a:tabLst>
                <a:tab pos="0" algn="l"/>
              </a:tabLst>
            </a:pPr>
            <a:r>
              <a:rPr lang="en-NG" sz="1000" b="0" u="none" strike="noStrike">
                <a:solidFill>
                  <a:srgbClr val="5B5B6B"/>
                </a:solidFill>
                <a:effectLst/>
                <a:uFillTx/>
                <a:latin typeface="Calibri"/>
                <a:ea typeface="Calibri"/>
              </a:rPr>
              <a:t>12</a:t>
            </a:r>
            <a:endParaRPr lang="en-NG" sz="1000" b="0" u="none" strike="noStrike">
              <a:solidFill>
                <a:srgbClr val="000000"/>
              </a:solidFill>
              <a:effectLst/>
              <a:uFillTx/>
              <a:latin typeface="Arial"/>
            </a:endParaRPr>
          </a:p>
        </p:txBody>
      </p:sp>
      <p:sp>
        <p:nvSpPr>
          <p:cNvPr id="379" name="Shape 3"/>
          <p:cNvSpPr/>
          <p:nvPr/>
        </p:nvSpPr>
        <p:spPr>
          <a:xfrm>
            <a:off x="567000" y="1334880"/>
            <a:ext cx="5412960" cy="1298160"/>
          </a:xfrm>
          <a:prstGeom prst="roundRect">
            <a:avLst>
              <a:gd name="adj" fmla="val 4930"/>
            </a:avLst>
          </a:prstGeom>
          <a:solidFill>
            <a:srgbClr val="F4F5F9"/>
          </a:solidFill>
          <a:ln w="9525">
            <a:solidFill>
              <a:srgbClr val="D8DAE5"/>
            </a:solidFill>
            <a:round/>
          </a:ln>
          <a:effectLst>
            <a:outerShdw algn="bl" blurRad="127080" dir="5400000" dist="25560" kx="0" ky="0" rotWithShape="0" sx="100000" sy="100000">
              <a:srgbClr val="9098B0">
                <a:alpha val="22000"/>
              </a:srgbClr>
            </a:outerShdw>
          </a:effectLst>
        </p:spPr>
        <p:style>
          <a:lnRef idx="0"/>
          <a:fillRef idx="0"/>
          <a:effectRef idx="0"/>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380" name="Shape 4"/>
          <p:cNvSpPr/>
          <p:nvPr/>
        </p:nvSpPr>
        <p:spPr>
          <a:xfrm>
            <a:off x="768240" y="1517760"/>
            <a:ext cx="310680" cy="310680"/>
          </a:xfrm>
          <a:prstGeom prst="ellipse">
            <a:avLst/>
          </a:prstGeom>
          <a:solidFill>
            <a:srgbClr val="240C54"/>
          </a:solidFill>
          <a:ln w="12700">
            <a:solidFill>
              <a:srgbClr val="240C54"/>
            </a:solidFill>
            <a:round/>
          </a:ln>
        </p:spPr>
        <p:style>
          <a:lnRef idx="0"/>
          <a:fillRef idx="0"/>
          <a:effectRef idx="0"/>
          <a:fontRef idx="minor"/>
        </p:style>
        <p:txBody>
          <a:bodyPr lIns="90000" tIns="45000" rIns="90000" bIns="45000" anchor="t">
            <a:noAutofit/>
          </a:bodyPr>
          <a:p>
            <a:pPr/>
            <a:endParaRPr lang="en-NG" sz="1800" b="0" u="none" strike="noStrike">
              <a:solidFill>
                <a:srgbClr val="FFFFFF"/>
              </a:solidFill>
              <a:effectLst/>
              <a:uFillTx/>
              <a:latin typeface="Arial"/>
            </a:endParaRPr>
          </a:p>
        </p:txBody>
      </p:sp>
      <p:sp>
        <p:nvSpPr>
          <p:cNvPr id="381" name="Text 5"/>
          <p:cNvSpPr/>
          <p:nvPr/>
        </p:nvSpPr>
        <p:spPr>
          <a:xfrm>
            <a:off x="768240" y="1517760"/>
            <a:ext cx="310680" cy="31068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NG" sz="1300" b="1" u="none" strike="noStrike">
                <a:solidFill>
                  <a:srgbClr val="E4B454"/>
                </a:solidFill>
                <a:effectLst/>
                <a:uFillTx/>
                <a:latin typeface="Calibri"/>
                <a:ea typeface="Calibri"/>
              </a:rPr>
              <a:t>1</a:t>
            </a:r>
            <a:endParaRPr lang="en-NG" sz="1300" b="0" u="none" strike="noStrike">
              <a:solidFill>
                <a:srgbClr val="000000"/>
              </a:solidFill>
              <a:effectLst/>
              <a:uFillTx/>
              <a:latin typeface="Arial"/>
            </a:endParaRPr>
          </a:p>
        </p:txBody>
      </p:sp>
      <p:sp>
        <p:nvSpPr>
          <p:cNvPr id="382" name="Text 6"/>
          <p:cNvSpPr/>
          <p:nvPr/>
        </p:nvSpPr>
        <p:spPr>
          <a:xfrm>
            <a:off x="1170360" y="1508760"/>
            <a:ext cx="4590000" cy="328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350" b="1" u="none" strike="noStrike">
                <a:solidFill>
                  <a:srgbClr val="240C54"/>
                </a:solidFill>
                <a:effectLst/>
                <a:uFillTx/>
                <a:latin typeface="Calibri"/>
                <a:ea typeface="Calibri"/>
              </a:rPr>
              <a:t>Argon2id password hashing</a:t>
            </a:r>
            <a:endParaRPr lang="en-NG" sz="1350" b="0" u="none" strike="noStrike">
              <a:solidFill>
                <a:srgbClr val="000000"/>
              </a:solidFill>
              <a:effectLst/>
              <a:uFillTx/>
              <a:latin typeface="Arial"/>
            </a:endParaRPr>
          </a:p>
        </p:txBody>
      </p:sp>
      <p:sp>
        <p:nvSpPr>
          <p:cNvPr id="383" name="Text 7"/>
          <p:cNvSpPr/>
          <p:nvPr/>
        </p:nvSpPr>
        <p:spPr>
          <a:xfrm>
            <a:off x="786240" y="1901880"/>
            <a:ext cx="4974120" cy="585000"/>
          </a:xfrm>
          <a:prstGeom prst="rect">
            <a:avLst/>
          </a:prstGeom>
          <a:noFill/>
          <a:ln w="0">
            <a:noFill/>
          </a:ln>
        </p:spPr>
        <p:style>
          <a:lnRef idx="0"/>
          <a:fillRef idx="0"/>
          <a:effectRef idx="0"/>
          <a:fontRef idx="minor"/>
        </p:style>
        <p:txBody>
          <a:bodyPr lIns="0" tIns="0" rIns="0" bIns="0" anchor="t">
            <a:noAutofit/>
          </a:bodyPr>
          <a:p>
            <a:pPr>
              <a:lnSpc>
                <a:spcPts val="1551"/>
              </a:lnSpc>
              <a:tabLst>
                <a:tab pos="0" algn="l"/>
              </a:tabLst>
            </a:pPr>
            <a:r>
              <a:rPr lang="en-NG" sz="1150" b="0" u="none" strike="noStrike">
                <a:solidFill>
                  <a:srgbClr val="1A1A2E"/>
                </a:solidFill>
                <a:effectLst/>
                <a:uFillTx/>
                <a:latin typeface="Calibri"/>
                <a:ea typeface="Calibri"/>
              </a:rPr>
              <a:t>Memory-hard at 64 MB with a fresh salt per password. Chosen over bcrypt because a GPU cannot parallelise it cheaply.</a:t>
            </a:r>
            <a:endParaRPr lang="en-NG" sz="1150" b="0" u="none" strike="noStrike">
              <a:solidFill>
                <a:srgbClr val="000000"/>
              </a:solidFill>
              <a:effectLst/>
              <a:uFillTx/>
              <a:latin typeface="Arial"/>
            </a:endParaRPr>
          </a:p>
        </p:txBody>
      </p:sp>
      <p:sp>
        <p:nvSpPr>
          <p:cNvPr id="384" name="Shape 8"/>
          <p:cNvSpPr/>
          <p:nvPr/>
        </p:nvSpPr>
        <p:spPr>
          <a:xfrm>
            <a:off x="6199560" y="1334880"/>
            <a:ext cx="5412960" cy="1298160"/>
          </a:xfrm>
          <a:prstGeom prst="roundRect">
            <a:avLst>
              <a:gd name="adj" fmla="val 4930"/>
            </a:avLst>
          </a:prstGeom>
          <a:solidFill>
            <a:srgbClr val="F4F5F9"/>
          </a:solidFill>
          <a:ln w="9525">
            <a:solidFill>
              <a:srgbClr val="D8DAE5"/>
            </a:solidFill>
            <a:round/>
          </a:ln>
          <a:effectLst>
            <a:outerShdw algn="bl" blurRad="127080" dir="5400000" dist="25560" kx="0" ky="0" rotWithShape="0" sx="100000" sy="100000">
              <a:srgbClr val="9098B0">
                <a:alpha val="22000"/>
              </a:srgbClr>
            </a:outerShdw>
          </a:effectLst>
        </p:spPr>
        <p:style>
          <a:lnRef idx="0"/>
          <a:fillRef idx="0"/>
          <a:effectRef idx="0"/>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385" name="Shape 9"/>
          <p:cNvSpPr/>
          <p:nvPr/>
        </p:nvSpPr>
        <p:spPr>
          <a:xfrm>
            <a:off x="6400800" y="1517760"/>
            <a:ext cx="310680" cy="310680"/>
          </a:xfrm>
          <a:prstGeom prst="ellipse">
            <a:avLst/>
          </a:prstGeom>
          <a:solidFill>
            <a:srgbClr val="240C54"/>
          </a:solidFill>
          <a:ln w="12700">
            <a:solidFill>
              <a:srgbClr val="240C54"/>
            </a:solidFill>
            <a:round/>
          </a:ln>
        </p:spPr>
        <p:style>
          <a:lnRef idx="0"/>
          <a:fillRef idx="0"/>
          <a:effectRef idx="0"/>
          <a:fontRef idx="minor"/>
        </p:style>
        <p:txBody>
          <a:bodyPr lIns="90000" tIns="45000" rIns="90000" bIns="45000" anchor="t">
            <a:noAutofit/>
          </a:bodyPr>
          <a:p>
            <a:pPr/>
            <a:endParaRPr lang="en-NG" sz="1800" b="0" u="none" strike="noStrike">
              <a:solidFill>
                <a:srgbClr val="FFFFFF"/>
              </a:solidFill>
              <a:effectLst/>
              <a:uFillTx/>
              <a:latin typeface="Arial"/>
            </a:endParaRPr>
          </a:p>
        </p:txBody>
      </p:sp>
      <p:sp>
        <p:nvSpPr>
          <p:cNvPr id="386" name="Text 10"/>
          <p:cNvSpPr/>
          <p:nvPr/>
        </p:nvSpPr>
        <p:spPr>
          <a:xfrm>
            <a:off x="6400800" y="1517760"/>
            <a:ext cx="310680" cy="31068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NG" sz="1300" b="1" u="none" strike="noStrike">
                <a:solidFill>
                  <a:srgbClr val="E4B454"/>
                </a:solidFill>
                <a:effectLst/>
                <a:uFillTx/>
                <a:latin typeface="Calibri"/>
                <a:ea typeface="Calibri"/>
              </a:rPr>
              <a:t>2</a:t>
            </a:r>
            <a:endParaRPr lang="en-NG" sz="1300" b="0" u="none" strike="noStrike">
              <a:solidFill>
                <a:srgbClr val="000000"/>
              </a:solidFill>
              <a:effectLst/>
              <a:uFillTx/>
              <a:latin typeface="Arial"/>
            </a:endParaRPr>
          </a:p>
        </p:txBody>
      </p:sp>
      <p:sp>
        <p:nvSpPr>
          <p:cNvPr id="387" name="Text 11"/>
          <p:cNvSpPr/>
          <p:nvPr/>
        </p:nvSpPr>
        <p:spPr>
          <a:xfrm>
            <a:off x="6803280" y="1508760"/>
            <a:ext cx="4590000" cy="328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350" b="1" u="none" strike="noStrike">
                <a:solidFill>
                  <a:srgbClr val="240C54"/>
                </a:solidFill>
                <a:effectLst/>
                <a:uFillTx/>
                <a:latin typeface="Calibri"/>
                <a:ea typeface="Calibri"/>
              </a:rPr>
              <a:t>Roles checked on the server</a:t>
            </a:r>
            <a:endParaRPr lang="en-NG" sz="1350" b="0" u="none" strike="noStrike">
              <a:solidFill>
                <a:srgbClr val="000000"/>
              </a:solidFill>
              <a:effectLst/>
              <a:uFillTx/>
              <a:latin typeface="Arial"/>
            </a:endParaRPr>
          </a:p>
        </p:txBody>
      </p:sp>
      <p:sp>
        <p:nvSpPr>
          <p:cNvPr id="388" name="Text 12"/>
          <p:cNvSpPr/>
          <p:nvPr/>
        </p:nvSpPr>
        <p:spPr>
          <a:xfrm>
            <a:off x="6419160" y="1901880"/>
            <a:ext cx="4974120" cy="585000"/>
          </a:xfrm>
          <a:prstGeom prst="rect">
            <a:avLst/>
          </a:prstGeom>
          <a:noFill/>
          <a:ln w="0">
            <a:noFill/>
          </a:ln>
        </p:spPr>
        <p:style>
          <a:lnRef idx="0"/>
          <a:fillRef idx="0"/>
          <a:effectRef idx="0"/>
          <a:fontRef idx="minor"/>
        </p:style>
        <p:txBody>
          <a:bodyPr lIns="0" tIns="0" rIns="0" bIns="0" anchor="t">
            <a:noAutofit/>
          </a:bodyPr>
          <a:p>
            <a:pPr>
              <a:lnSpc>
                <a:spcPts val="1551"/>
              </a:lnSpc>
              <a:tabLst>
                <a:tab pos="0" algn="l"/>
              </a:tabLst>
            </a:pPr>
            <a:r>
              <a:rPr lang="en-NG" sz="1150" b="0" u="none" strike="noStrike">
                <a:solidFill>
                  <a:srgbClr val="1A1A2E"/>
                </a:solidFill>
                <a:effectLst/>
                <a:uFillTx/>
                <a:latin typeface="Calibri"/>
                <a:ea typeface="Calibri"/>
              </a:rPr>
              <a:t>The browser hides buttons for convenience only. Every request re-checks the role, so a crafted request gains nothing.</a:t>
            </a:r>
            <a:endParaRPr lang="en-NG" sz="1150" b="0" u="none" strike="noStrike">
              <a:solidFill>
                <a:srgbClr val="000000"/>
              </a:solidFill>
              <a:effectLst/>
              <a:uFillTx/>
              <a:latin typeface="Arial"/>
            </a:endParaRPr>
          </a:p>
        </p:txBody>
      </p:sp>
      <p:sp>
        <p:nvSpPr>
          <p:cNvPr id="389" name="Shape 13"/>
          <p:cNvSpPr/>
          <p:nvPr/>
        </p:nvSpPr>
        <p:spPr>
          <a:xfrm>
            <a:off x="567000" y="2797920"/>
            <a:ext cx="5412960" cy="1298160"/>
          </a:xfrm>
          <a:prstGeom prst="roundRect">
            <a:avLst>
              <a:gd name="adj" fmla="val 4930"/>
            </a:avLst>
          </a:prstGeom>
          <a:solidFill>
            <a:srgbClr val="F4F5F9"/>
          </a:solidFill>
          <a:ln w="9525">
            <a:solidFill>
              <a:srgbClr val="D8DAE5"/>
            </a:solidFill>
            <a:round/>
          </a:ln>
          <a:effectLst>
            <a:outerShdw algn="bl" blurRad="127080" dir="5400000" dist="25560" kx="0" ky="0" rotWithShape="0" sx="100000" sy="100000">
              <a:srgbClr val="9098B0">
                <a:alpha val="22000"/>
              </a:srgbClr>
            </a:outerShdw>
          </a:effectLst>
        </p:spPr>
        <p:style>
          <a:lnRef idx="0"/>
          <a:fillRef idx="0"/>
          <a:effectRef idx="0"/>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390" name="Shape 14"/>
          <p:cNvSpPr/>
          <p:nvPr/>
        </p:nvSpPr>
        <p:spPr>
          <a:xfrm>
            <a:off x="768240" y="2980800"/>
            <a:ext cx="310680" cy="310680"/>
          </a:xfrm>
          <a:prstGeom prst="ellipse">
            <a:avLst/>
          </a:prstGeom>
          <a:solidFill>
            <a:srgbClr val="240C54"/>
          </a:solidFill>
          <a:ln w="12700">
            <a:solidFill>
              <a:srgbClr val="240C54"/>
            </a:solidFill>
            <a:round/>
          </a:ln>
        </p:spPr>
        <p:style>
          <a:lnRef idx="0"/>
          <a:fillRef idx="0"/>
          <a:effectRef idx="0"/>
          <a:fontRef idx="minor"/>
        </p:style>
        <p:txBody>
          <a:bodyPr lIns="90000" tIns="45000" rIns="90000" bIns="45000" anchor="t">
            <a:noAutofit/>
          </a:bodyPr>
          <a:p>
            <a:pPr/>
            <a:endParaRPr lang="en-NG" sz="1800" b="0" u="none" strike="noStrike">
              <a:solidFill>
                <a:srgbClr val="FFFFFF"/>
              </a:solidFill>
              <a:effectLst/>
              <a:uFillTx/>
              <a:latin typeface="Arial"/>
            </a:endParaRPr>
          </a:p>
        </p:txBody>
      </p:sp>
      <p:sp>
        <p:nvSpPr>
          <p:cNvPr id="391" name="Text 15"/>
          <p:cNvSpPr/>
          <p:nvPr/>
        </p:nvSpPr>
        <p:spPr>
          <a:xfrm>
            <a:off x="768240" y="2980800"/>
            <a:ext cx="310680" cy="31068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NG" sz="1300" b="1" u="none" strike="noStrike">
                <a:solidFill>
                  <a:srgbClr val="E4B454"/>
                </a:solidFill>
                <a:effectLst/>
                <a:uFillTx/>
                <a:latin typeface="Calibri"/>
                <a:ea typeface="Calibri"/>
              </a:rPr>
              <a:t>3</a:t>
            </a:r>
            <a:endParaRPr lang="en-NG" sz="1300" b="0" u="none" strike="noStrike">
              <a:solidFill>
                <a:srgbClr val="000000"/>
              </a:solidFill>
              <a:effectLst/>
              <a:uFillTx/>
              <a:latin typeface="Arial"/>
            </a:endParaRPr>
          </a:p>
        </p:txBody>
      </p:sp>
      <p:sp>
        <p:nvSpPr>
          <p:cNvPr id="392" name="Text 16"/>
          <p:cNvSpPr/>
          <p:nvPr/>
        </p:nvSpPr>
        <p:spPr>
          <a:xfrm>
            <a:off x="1170360" y="2971800"/>
            <a:ext cx="4590000" cy="328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350" b="1" u="none" strike="noStrike">
                <a:solidFill>
                  <a:srgbClr val="240C54"/>
                </a:solidFill>
                <a:effectLst/>
                <a:uFillTx/>
                <a:latin typeface="Calibri"/>
                <a:ea typeface="Calibri"/>
              </a:rPr>
              <a:t>Rate limiting on sign-in</a:t>
            </a:r>
            <a:endParaRPr lang="en-NG" sz="1350" b="0" u="none" strike="noStrike">
              <a:solidFill>
                <a:srgbClr val="000000"/>
              </a:solidFill>
              <a:effectLst/>
              <a:uFillTx/>
              <a:latin typeface="Arial"/>
            </a:endParaRPr>
          </a:p>
        </p:txBody>
      </p:sp>
      <p:sp>
        <p:nvSpPr>
          <p:cNvPr id="393" name="Text 17"/>
          <p:cNvSpPr/>
          <p:nvPr/>
        </p:nvSpPr>
        <p:spPr>
          <a:xfrm>
            <a:off x="786240" y="3364920"/>
            <a:ext cx="4974120" cy="585000"/>
          </a:xfrm>
          <a:prstGeom prst="rect">
            <a:avLst/>
          </a:prstGeom>
          <a:noFill/>
          <a:ln w="0">
            <a:noFill/>
          </a:ln>
        </p:spPr>
        <p:style>
          <a:lnRef idx="0"/>
          <a:fillRef idx="0"/>
          <a:effectRef idx="0"/>
          <a:fontRef idx="minor"/>
        </p:style>
        <p:txBody>
          <a:bodyPr lIns="0" tIns="0" rIns="0" bIns="0" anchor="t">
            <a:noAutofit/>
          </a:bodyPr>
          <a:p>
            <a:pPr>
              <a:lnSpc>
                <a:spcPts val="1551"/>
              </a:lnSpc>
              <a:tabLst>
                <a:tab pos="0" algn="l"/>
              </a:tabLst>
            </a:pPr>
            <a:r>
              <a:rPr lang="en-NG" sz="1150" b="0" u="none" strike="noStrike">
                <a:solidFill>
                  <a:srgbClr val="1A1A2E"/>
                </a:solidFill>
                <a:effectLst/>
                <a:uFillTx/>
                <a:latin typeface="Calibri"/>
                <a:ea typeface="Calibri"/>
              </a:rPr>
              <a:t>Five attempts per account per minute and 120 per IP. Per-account, so one attacker cannot lock a whole faculty out.</a:t>
            </a:r>
            <a:endParaRPr lang="en-NG" sz="1150" b="0" u="none" strike="noStrike">
              <a:solidFill>
                <a:srgbClr val="000000"/>
              </a:solidFill>
              <a:effectLst/>
              <a:uFillTx/>
              <a:latin typeface="Arial"/>
            </a:endParaRPr>
          </a:p>
        </p:txBody>
      </p:sp>
      <p:sp>
        <p:nvSpPr>
          <p:cNvPr id="394" name="Shape 18"/>
          <p:cNvSpPr/>
          <p:nvPr/>
        </p:nvSpPr>
        <p:spPr>
          <a:xfrm>
            <a:off x="6199560" y="2797920"/>
            <a:ext cx="5412960" cy="1298160"/>
          </a:xfrm>
          <a:prstGeom prst="roundRect">
            <a:avLst>
              <a:gd name="adj" fmla="val 4930"/>
            </a:avLst>
          </a:prstGeom>
          <a:solidFill>
            <a:srgbClr val="F4F5F9"/>
          </a:solidFill>
          <a:ln w="9525">
            <a:solidFill>
              <a:srgbClr val="D8DAE5"/>
            </a:solidFill>
            <a:round/>
          </a:ln>
          <a:effectLst>
            <a:outerShdw algn="bl" blurRad="127080" dir="5400000" dist="25560" kx="0" ky="0" rotWithShape="0" sx="100000" sy="100000">
              <a:srgbClr val="9098B0">
                <a:alpha val="22000"/>
              </a:srgbClr>
            </a:outerShdw>
          </a:effectLst>
        </p:spPr>
        <p:style>
          <a:lnRef idx="0"/>
          <a:fillRef idx="0"/>
          <a:effectRef idx="0"/>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395" name="Shape 19"/>
          <p:cNvSpPr/>
          <p:nvPr/>
        </p:nvSpPr>
        <p:spPr>
          <a:xfrm>
            <a:off x="6400800" y="2980800"/>
            <a:ext cx="310680" cy="310680"/>
          </a:xfrm>
          <a:prstGeom prst="ellipse">
            <a:avLst/>
          </a:prstGeom>
          <a:solidFill>
            <a:srgbClr val="240C54"/>
          </a:solidFill>
          <a:ln w="12700">
            <a:solidFill>
              <a:srgbClr val="240C54"/>
            </a:solidFill>
            <a:round/>
          </a:ln>
        </p:spPr>
        <p:style>
          <a:lnRef idx="0"/>
          <a:fillRef idx="0"/>
          <a:effectRef idx="0"/>
          <a:fontRef idx="minor"/>
        </p:style>
        <p:txBody>
          <a:bodyPr lIns="90000" tIns="45000" rIns="90000" bIns="45000" anchor="t">
            <a:noAutofit/>
          </a:bodyPr>
          <a:p>
            <a:pPr/>
            <a:endParaRPr lang="en-NG" sz="1800" b="0" u="none" strike="noStrike">
              <a:solidFill>
                <a:srgbClr val="FFFFFF"/>
              </a:solidFill>
              <a:effectLst/>
              <a:uFillTx/>
              <a:latin typeface="Arial"/>
            </a:endParaRPr>
          </a:p>
        </p:txBody>
      </p:sp>
      <p:sp>
        <p:nvSpPr>
          <p:cNvPr id="396" name="Text 20"/>
          <p:cNvSpPr/>
          <p:nvPr/>
        </p:nvSpPr>
        <p:spPr>
          <a:xfrm>
            <a:off x="6400800" y="2980800"/>
            <a:ext cx="310680" cy="31068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NG" sz="1300" b="1" u="none" strike="noStrike">
                <a:solidFill>
                  <a:srgbClr val="E4B454"/>
                </a:solidFill>
                <a:effectLst/>
                <a:uFillTx/>
                <a:latin typeface="Calibri"/>
                <a:ea typeface="Calibri"/>
              </a:rPr>
              <a:t>4</a:t>
            </a:r>
            <a:endParaRPr lang="en-NG" sz="1300" b="0" u="none" strike="noStrike">
              <a:solidFill>
                <a:srgbClr val="000000"/>
              </a:solidFill>
              <a:effectLst/>
              <a:uFillTx/>
              <a:latin typeface="Arial"/>
            </a:endParaRPr>
          </a:p>
        </p:txBody>
      </p:sp>
      <p:sp>
        <p:nvSpPr>
          <p:cNvPr id="397" name="Text 21"/>
          <p:cNvSpPr/>
          <p:nvPr/>
        </p:nvSpPr>
        <p:spPr>
          <a:xfrm>
            <a:off x="6803280" y="2971800"/>
            <a:ext cx="4590000" cy="328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350" b="1" u="none" strike="noStrike">
                <a:solidFill>
                  <a:srgbClr val="240C54"/>
                </a:solidFill>
                <a:effectLst/>
                <a:uFillTx/>
                <a:latin typeface="Calibri"/>
                <a:ea typeface="Calibri"/>
              </a:rPr>
              <a:t>Sessions that can be revoked</a:t>
            </a:r>
            <a:endParaRPr lang="en-NG" sz="1350" b="0" u="none" strike="noStrike">
              <a:solidFill>
                <a:srgbClr val="000000"/>
              </a:solidFill>
              <a:effectLst/>
              <a:uFillTx/>
              <a:latin typeface="Arial"/>
            </a:endParaRPr>
          </a:p>
        </p:txBody>
      </p:sp>
      <p:sp>
        <p:nvSpPr>
          <p:cNvPr id="398" name="Text 22"/>
          <p:cNvSpPr/>
          <p:nvPr/>
        </p:nvSpPr>
        <p:spPr>
          <a:xfrm>
            <a:off x="6419160" y="3364920"/>
            <a:ext cx="4974120" cy="585000"/>
          </a:xfrm>
          <a:prstGeom prst="rect">
            <a:avLst/>
          </a:prstGeom>
          <a:noFill/>
          <a:ln w="0">
            <a:noFill/>
          </a:ln>
        </p:spPr>
        <p:style>
          <a:lnRef idx="0"/>
          <a:fillRef idx="0"/>
          <a:effectRef idx="0"/>
          <a:fontRef idx="minor"/>
        </p:style>
        <p:txBody>
          <a:bodyPr lIns="0" tIns="0" rIns="0" bIns="0" anchor="t">
            <a:noAutofit/>
          </a:bodyPr>
          <a:p>
            <a:pPr>
              <a:lnSpc>
                <a:spcPts val="1551"/>
              </a:lnSpc>
              <a:tabLst>
                <a:tab pos="0" algn="l"/>
              </a:tabLst>
            </a:pPr>
            <a:r>
              <a:rPr lang="en-NG" sz="1150" b="0" u="none" strike="noStrike">
                <a:solidFill>
                  <a:srgbClr val="1A1A2E"/>
                </a:solidFill>
                <a:effectLst/>
                <a:uFillTx/>
                <a:latin typeface="Calibri"/>
                <a:ea typeface="Calibri"/>
              </a:rPr>
              <a:t>Refresh tokens are stored hashed and rotated on use. A password change voids every session issued before it.</a:t>
            </a:r>
            <a:endParaRPr lang="en-NG" sz="1150" b="0" u="none" strike="noStrike">
              <a:solidFill>
                <a:srgbClr val="000000"/>
              </a:solidFill>
              <a:effectLst/>
              <a:uFillTx/>
              <a:latin typeface="Arial"/>
            </a:endParaRPr>
          </a:p>
        </p:txBody>
      </p:sp>
      <p:sp>
        <p:nvSpPr>
          <p:cNvPr id="399" name="Shape 23"/>
          <p:cNvSpPr/>
          <p:nvPr/>
        </p:nvSpPr>
        <p:spPr>
          <a:xfrm>
            <a:off x="567000" y="4260960"/>
            <a:ext cx="5412960" cy="1298160"/>
          </a:xfrm>
          <a:prstGeom prst="roundRect">
            <a:avLst>
              <a:gd name="adj" fmla="val 4930"/>
            </a:avLst>
          </a:prstGeom>
          <a:solidFill>
            <a:srgbClr val="F4F5F9"/>
          </a:solidFill>
          <a:ln w="9525">
            <a:solidFill>
              <a:srgbClr val="D8DAE5"/>
            </a:solidFill>
            <a:round/>
          </a:ln>
          <a:effectLst>
            <a:outerShdw algn="bl" blurRad="127080" dir="5400000" dist="25560" kx="0" ky="0" rotWithShape="0" sx="100000" sy="100000">
              <a:srgbClr val="9098B0">
                <a:alpha val="22000"/>
              </a:srgbClr>
            </a:outerShdw>
          </a:effectLst>
        </p:spPr>
        <p:style>
          <a:lnRef idx="0"/>
          <a:fillRef idx="0"/>
          <a:effectRef idx="0"/>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400" name="Shape 24"/>
          <p:cNvSpPr/>
          <p:nvPr/>
        </p:nvSpPr>
        <p:spPr>
          <a:xfrm>
            <a:off x="768240" y="4443840"/>
            <a:ext cx="310680" cy="310680"/>
          </a:xfrm>
          <a:prstGeom prst="ellipse">
            <a:avLst/>
          </a:prstGeom>
          <a:solidFill>
            <a:srgbClr val="240C54"/>
          </a:solidFill>
          <a:ln w="12700">
            <a:solidFill>
              <a:srgbClr val="240C54"/>
            </a:solidFill>
            <a:round/>
          </a:ln>
        </p:spPr>
        <p:style>
          <a:lnRef idx="0"/>
          <a:fillRef idx="0"/>
          <a:effectRef idx="0"/>
          <a:fontRef idx="minor"/>
        </p:style>
        <p:txBody>
          <a:bodyPr lIns="90000" tIns="45000" rIns="90000" bIns="45000" anchor="t">
            <a:noAutofit/>
          </a:bodyPr>
          <a:p>
            <a:pPr/>
            <a:endParaRPr lang="en-NG" sz="1800" b="0" u="none" strike="noStrike">
              <a:solidFill>
                <a:srgbClr val="FFFFFF"/>
              </a:solidFill>
              <a:effectLst/>
              <a:uFillTx/>
              <a:latin typeface="Arial"/>
            </a:endParaRPr>
          </a:p>
        </p:txBody>
      </p:sp>
      <p:sp>
        <p:nvSpPr>
          <p:cNvPr id="401" name="Text 25"/>
          <p:cNvSpPr/>
          <p:nvPr/>
        </p:nvSpPr>
        <p:spPr>
          <a:xfrm>
            <a:off x="768240" y="4443840"/>
            <a:ext cx="310680" cy="31068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NG" sz="1300" b="1" u="none" strike="noStrike">
                <a:solidFill>
                  <a:srgbClr val="E4B454"/>
                </a:solidFill>
                <a:effectLst/>
                <a:uFillTx/>
                <a:latin typeface="Calibri"/>
                <a:ea typeface="Calibri"/>
              </a:rPr>
              <a:t>5</a:t>
            </a:r>
            <a:endParaRPr lang="en-NG" sz="1300" b="0" u="none" strike="noStrike">
              <a:solidFill>
                <a:srgbClr val="000000"/>
              </a:solidFill>
              <a:effectLst/>
              <a:uFillTx/>
              <a:latin typeface="Arial"/>
            </a:endParaRPr>
          </a:p>
        </p:txBody>
      </p:sp>
      <p:sp>
        <p:nvSpPr>
          <p:cNvPr id="402" name="Text 26"/>
          <p:cNvSpPr/>
          <p:nvPr/>
        </p:nvSpPr>
        <p:spPr>
          <a:xfrm>
            <a:off x="1170360" y="4434840"/>
            <a:ext cx="4590000" cy="328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350" b="1" u="none" strike="noStrike">
                <a:solidFill>
                  <a:srgbClr val="240C54"/>
                </a:solidFill>
                <a:effectLst/>
                <a:uFillTx/>
                <a:latin typeface="Calibri"/>
                <a:ea typeface="Calibri"/>
              </a:rPr>
              <a:t>Parameterised SQL throughout</a:t>
            </a:r>
            <a:endParaRPr lang="en-NG" sz="1350" b="0" u="none" strike="noStrike">
              <a:solidFill>
                <a:srgbClr val="000000"/>
              </a:solidFill>
              <a:effectLst/>
              <a:uFillTx/>
              <a:latin typeface="Arial"/>
            </a:endParaRPr>
          </a:p>
        </p:txBody>
      </p:sp>
      <p:sp>
        <p:nvSpPr>
          <p:cNvPr id="403" name="Text 27"/>
          <p:cNvSpPr/>
          <p:nvPr/>
        </p:nvSpPr>
        <p:spPr>
          <a:xfrm>
            <a:off x="786240" y="4827960"/>
            <a:ext cx="4974120" cy="585000"/>
          </a:xfrm>
          <a:prstGeom prst="rect">
            <a:avLst/>
          </a:prstGeom>
          <a:noFill/>
          <a:ln w="0">
            <a:noFill/>
          </a:ln>
        </p:spPr>
        <p:style>
          <a:lnRef idx="0"/>
          <a:fillRef idx="0"/>
          <a:effectRef idx="0"/>
          <a:fontRef idx="minor"/>
        </p:style>
        <p:txBody>
          <a:bodyPr lIns="0" tIns="0" rIns="0" bIns="0" anchor="t">
            <a:noAutofit/>
          </a:bodyPr>
          <a:p>
            <a:pPr>
              <a:lnSpc>
                <a:spcPts val="1551"/>
              </a:lnSpc>
              <a:tabLst>
                <a:tab pos="0" algn="l"/>
              </a:tabLst>
            </a:pPr>
            <a:r>
              <a:rPr lang="en-NG" sz="1150" b="0" u="none" strike="noStrike">
                <a:solidFill>
                  <a:srgbClr val="1A1A2E"/>
                </a:solidFill>
                <a:effectLst/>
                <a:uFillTx/>
                <a:latin typeface="Calibri"/>
                <a:ea typeface="Calibri"/>
              </a:rPr>
              <a:t>No query is built by joining strings, so a title containing a quote is data and never becomes syntax.</a:t>
            </a:r>
            <a:endParaRPr lang="en-NG" sz="1150" b="0" u="none" strike="noStrike">
              <a:solidFill>
                <a:srgbClr val="000000"/>
              </a:solidFill>
              <a:effectLst/>
              <a:uFillTx/>
              <a:latin typeface="Arial"/>
            </a:endParaRPr>
          </a:p>
        </p:txBody>
      </p:sp>
      <p:sp>
        <p:nvSpPr>
          <p:cNvPr id="404" name="Shape 28"/>
          <p:cNvSpPr/>
          <p:nvPr/>
        </p:nvSpPr>
        <p:spPr>
          <a:xfrm>
            <a:off x="6199560" y="4260960"/>
            <a:ext cx="5412960" cy="1298160"/>
          </a:xfrm>
          <a:prstGeom prst="roundRect">
            <a:avLst>
              <a:gd name="adj" fmla="val 4930"/>
            </a:avLst>
          </a:prstGeom>
          <a:solidFill>
            <a:srgbClr val="F4F5F9"/>
          </a:solidFill>
          <a:ln w="9525">
            <a:solidFill>
              <a:srgbClr val="D8DAE5"/>
            </a:solidFill>
            <a:round/>
          </a:ln>
          <a:effectLst>
            <a:outerShdw algn="bl" blurRad="127080" dir="5400000" dist="25560" kx="0" ky="0" rotWithShape="0" sx="100000" sy="100000">
              <a:srgbClr val="9098B0">
                <a:alpha val="22000"/>
              </a:srgbClr>
            </a:outerShdw>
          </a:effectLst>
        </p:spPr>
        <p:style>
          <a:lnRef idx="0"/>
          <a:fillRef idx="0"/>
          <a:effectRef idx="0"/>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405" name="Shape 29"/>
          <p:cNvSpPr/>
          <p:nvPr/>
        </p:nvSpPr>
        <p:spPr>
          <a:xfrm>
            <a:off x="6400800" y="4443840"/>
            <a:ext cx="310680" cy="310680"/>
          </a:xfrm>
          <a:prstGeom prst="ellipse">
            <a:avLst/>
          </a:prstGeom>
          <a:solidFill>
            <a:srgbClr val="240C54"/>
          </a:solidFill>
          <a:ln w="12700">
            <a:solidFill>
              <a:srgbClr val="240C54"/>
            </a:solidFill>
            <a:round/>
          </a:ln>
        </p:spPr>
        <p:style>
          <a:lnRef idx="0"/>
          <a:fillRef idx="0"/>
          <a:effectRef idx="0"/>
          <a:fontRef idx="minor"/>
        </p:style>
        <p:txBody>
          <a:bodyPr lIns="90000" tIns="45000" rIns="90000" bIns="45000" anchor="t">
            <a:noAutofit/>
          </a:bodyPr>
          <a:p>
            <a:pPr/>
            <a:endParaRPr lang="en-NG" sz="1800" b="0" u="none" strike="noStrike">
              <a:solidFill>
                <a:srgbClr val="FFFFFF"/>
              </a:solidFill>
              <a:effectLst/>
              <a:uFillTx/>
              <a:latin typeface="Arial"/>
            </a:endParaRPr>
          </a:p>
        </p:txBody>
      </p:sp>
      <p:sp>
        <p:nvSpPr>
          <p:cNvPr id="406" name="Text 30"/>
          <p:cNvSpPr/>
          <p:nvPr/>
        </p:nvSpPr>
        <p:spPr>
          <a:xfrm>
            <a:off x="6400800" y="4443840"/>
            <a:ext cx="310680" cy="31068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NG" sz="1300" b="1" u="none" strike="noStrike">
                <a:solidFill>
                  <a:srgbClr val="E4B454"/>
                </a:solidFill>
                <a:effectLst/>
                <a:uFillTx/>
                <a:latin typeface="Calibri"/>
                <a:ea typeface="Calibri"/>
              </a:rPr>
              <a:t>6</a:t>
            </a:r>
            <a:endParaRPr lang="en-NG" sz="1300" b="0" u="none" strike="noStrike">
              <a:solidFill>
                <a:srgbClr val="000000"/>
              </a:solidFill>
              <a:effectLst/>
              <a:uFillTx/>
              <a:latin typeface="Arial"/>
            </a:endParaRPr>
          </a:p>
        </p:txBody>
      </p:sp>
      <p:sp>
        <p:nvSpPr>
          <p:cNvPr id="407" name="Text 31"/>
          <p:cNvSpPr/>
          <p:nvPr/>
        </p:nvSpPr>
        <p:spPr>
          <a:xfrm>
            <a:off x="6803280" y="4434840"/>
            <a:ext cx="4590000" cy="328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350" b="1" u="none" strike="noStrike">
                <a:solidFill>
                  <a:srgbClr val="240C54"/>
                </a:solidFill>
                <a:effectLst/>
                <a:uFillTx/>
                <a:latin typeface="Calibri"/>
                <a:ea typeface="Calibri"/>
              </a:rPr>
              <a:t>Secrets never in the repository</a:t>
            </a:r>
            <a:endParaRPr lang="en-NG" sz="1350" b="0" u="none" strike="noStrike">
              <a:solidFill>
                <a:srgbClr val="000000"/>
              </a:solidFill>
              <a:effectLst/>
              <a:uFillTx/>
              <a:latin typeface="Arial"/>
            </a:endParaRPr>
          </a:p>
        </p:txBody>
      </p:sp>
      <p:sp>
        <p:nvSpPr>
          <p:cNvPr id="408" name="Text 32"/>
          <p:cNvSpPr/>
          <p:nvPr/>
        </p:nvSpPr>
        <p:spPr>
          <a:xfrm>
            <a:off x="6419160" y="4827960"/>
            <a:ext cx="4974120" cy="585000"/>
          </a:xfrm>
          <a:prstGeom prst="rect">
            <a:avLst/>
          </a:prstGeom>
          <a:noFill/>
          <a:ln w="0">
            <a:noFill/>
          </a:ln>
        </p:spPr>
        <p:style>
          <a:lnRef idx="0"/>
          <a:fillRef idx="0"/>
          <a:effectRef idx="0"/>
          <a:fontRef idx="minor"/>
        </p:style>
        <p:txBody>
          <a:bodyPr lIns="0" tIns="0" rIns="0" bIns="0" anchor="t">
            <a:noAutofit/>
          </a:bodyPr>
          <a:p>
            <a:pPr>
              <a:lnSpc>
                <a:spcPts val="1551"/>
              </a:lnSpc>
              <a:tabLst>
                <a:tab pos="0" algn="l"/>
              </a:tabLst>
            </a:pPr>
            <a:r>
              <a:rPr lang="en-NG" sz="1150" b="0" u="none" strike="noStrike">
                <a:solidFill>
                  <a:srgbClr val="1A1A2E"/>
                </a:solidFill>
                <a:effectLst/>
                <a:uFillTx/>
                <a:latin typeface="Calibri"/>
                <a:ea typeface="Calibri"/>
              </a:rPr>
              <a:t>Configuration comes from the environment. The repository has been checked, and holds no key.</a:t>
            </a:r>
            <a:endParaRPr lang="en-NG" sz="11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09" name="Text 0"/>
          <p:cNvSpPr/>
          <p:nvPr/>
        </p:nvSpPr>
        <p:spPr>
          <a:xfrm>
            <a:off x="567000" y="384120"/>
            <a:ext cx="8229240" cy="2372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100" b="1" u="none" spc="221" strike="noStrike">
                <a:solidFill>
                  <a:srgbClr val="E4B454"/>
                </a:solidFill>
                <a:effectLst/>
                <a:uFillTx/>
                <a:latin typeface="Calibri"/>
                <a:ea typeface="Calibri"/>
              </a:rPr>
              <a:t>TIME AND PERFORMANCE</a:t>
            </a:r>
            <a:endParaRPr lang="en-NG" sz="1100" b="0" u="none" strike="noStrike">
              <a:solidFill>
                <a:srgbClr val="000000"/>
              </a:solidFill>
              <a:effectLst/>
              <a:uFillTx/>
              <a:latin typeface="Arial"/>
            </a:endParaRPr>
          </a:p>
        </p:txBody>
      </p:sp>
      <p:sp>
        <p:nvSpPr>
          <p:cNvPr id="410" name="Text 1"/>
          <p:cNvSpPr/>
          <p:nvPr/>
        </p:nvSpPr>
        <p:spPr>
          <a:xfrm>
            <a:off x="567000" y="640080"/>
            <a:ext cx="9692280" cy="5666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3000" b="1" u="none" strike="noStrike">
                <a:solidFill>
                  <a:srgbClr val="240C54"/>
                </a:solidFill>
                <a:effectLst/>
                <a:uFillTx/>
                <a:latin typeface="Cambria"/>
                <a:ea typeface="Cambria"/>
              </a:rPr>
              <a:t>Two problems that only appear at scale</a:t>
            </a:r>
            <a:endParaRPr lang="en-NG" sz="3000" b="0" u="none" strike="noStrike">
              <a:solidFill>
                <a:srgbClr val="000000"/>
              </a:solidFill>
              <a:effectLst/>
              <a:uFillTx/>
              <a:latin typeface="Arial"/>
            </a:endParaRPr>
          </a:p>
        </p:txBody>
      </p:sp>
      <p:pic>
        <p:nvPicPr>
          <p:cNvPr id="411" name="Image 0"/>
          <p:cNvPicPr/>
          <p:nvPr/>
        </p:nvPicPr>
        <p:blipFill>
          <a:blip r:embed="rId1"/>
          <a:stretch/>
        </p:blipFill>
        <p:spPr>
          <a:xfrm>
            <a:off x="11149200" y="365760"/>
            <a:ext cx="475200" cy="465840"/>
          </a:xfrm>
          <a:prstGeom prst="rect">
            <a:avLst/>
          </a:prstGeom>
          <a:noFill/>
          <a:ln w="0">
            <a:noFill/>
          </a:ln>
        </p:spPr>
      </p:pic>
      <p:sp>
        <p:nvSpPr>
          <p:cNvPr id="412" name="Text 2"/>
          <p:cNvSpPr/>
          <p:nvPr/>
        </p:nvSpPr>
        <p:spPr>
          <a:xfrm>
            <a:off x="11149200" y="6382440"/>
            <a:ext cx="475200" cy="219240"/>
          </a:xfrm>
          <a:prstGeom prst="rect">
            <a:avLst/>
          </a:prstGeom>
          <a:noFill/>
          <a:ln w="0">
            <a:noFill/>
          </a:ln>
        </p:spPr>
        <p:style>
          <a:lnRef idx="0"/>
          <a:fillRef idx="0"/>
          <a:effectRef idx="0"/>
          <a:fontRef idx="minor"/>
        </p:style>
        <p:txBody>
          <a:bodyPr lIns="0" tIns="0" rIns="0" bIns="0" anchor="ctr">
            <a:noAutofit/>
          </a:bodyPr>
          <a:p>
            <a:pPr algn="r">
              <a:lnSpc>
                <a:spcPct val="100000"/>
              </a:lnSpc>
              <a:tabLst>
                <a:tab pos="0" algn="l"/>
              </a:tabLst>
            </a:pPr>
            <a:r>
              <a:rPr lang="en-NG" sz="1000" b="0" u="none" strike="noStrike">
                <a:solidFill>
                  <a:srgbClr val="5B5B6B"/>
                </a:solidFill>
                <a:effectLst/>
                <a:uFillTx/>
                <a:latin typeface="Calibri"/>
                <a:ea typeface="Calibri"/>
              </a:rPr>
              <a:t>13</a:t>
            </a:r>
            <a:endParaRPr lang="en-NG" sz="1000" b="0" u="none" strike="noStrike">
              <a:solidFill>
                <a:srgbClr val="000000"/>
              </a:solidFill>
              <a:effectLst/>
              <a:uFillTx/>
              <a:latin typeface="Arial"/>
            </a:endParaRPr>
          </a:p>
        </p:txBody>
      </p:sp>
      <p:sp>
        <p:nvSpPr>
          <p:cNvPr id="413" name="Shape 3"/>
          <p:cNvSpPr/>
          <p:nvPr/>
        </p:nvSpPr>
        <p:spPr>
          <a:xfrm>
            <a:off x="567000" y="1334880"/>
            <a:ext cx="5412960" cy="2048040"/>
          </a:xfrm>
          <a:prstGeom prst="roundRect">
            <a:avLst>
              <a:gd name="adj" fmla="val 3125"/>
            </a:avLst>
          </a:prstGeom>
          <a:solidFill>
            <a:srgbClr val="240C54"/>
          </a:solidFill>
          <a:ln w="9525">
            <a:solidFill>
              <a:srgbClr val="240C54"/>
            </a:solidFill>
            <a:round/>
          </a:ln>
          <a:effectLst>
            <a:outerShdw algn="bl" blurRad="127080" dir="5400000" dist="25560" kx="0" ky="0" rotWithShape="0" sx="100000" sy="100000">
              <a:srgbClr val="9098B0">
                <a:alpha val="22000"/>
              </a:srgbClr>
            </a:outerShdw>
          </a:effectLst>
        </p:spPr>
        <p:style>
          <a:lnRef idx="0"/>
          <a:fillRef idx="0"/>
          <a:effectRef idx="0"/>
          <a:fontRef idx="minor"/>
        </p:style>
        <p:txBody>
          <a:bodyPr lIns="90000" tIns="45000" rIns="90000" bIns="45000" anchor="t">
            <a:noAutofit/>
          </a:bodyPr>
          <a:p>
            <a:pPr/>
            <a:endParaRPr lang="en-NG" sz="1800" b="0" u="none" strike="noStrike">
              <a:solidFill>
                <a:srgbClr val="FFFFFF"/>
              </a:solidFill>
              <a:effectLst/>
              <a:uFillTx/>
              <a:latin typeface="Arial"/>
            </a:endParaRPr>
          </a:p>
        </p:txBody>
      </p:sp>
      <p:sp>
        <p:nvSpPr>
          <p:cNvPr id="414" name="Text 4"/>
          <p:cNvSpPr/>
          <p:nvPr/>
        </p:nvSpPr>
        <p:spPr>
          <a:xfrm>
            <a:off x="786240" y="1508760"/>
            <a:ext cx="4974120" cy="328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450" b="1" u="none" strike="noStrike">
                <a:solidFill>
                  <a:srgbClr val="E4B454"/>
                </a:solidFill>
                <a:effectLst/>
                <a:uFillTx/>
                <a:latin typeface="Calibri"/>
                <a:ea typeface="Calibri"/>
              </a:rPr>
              <a:t>Time: stored in UTC, shown in Lagos</a:t>
            </a:r>
            <a:endParaRPr lang="en-NG" sz="1450" b="0" u="none" strike="noStrike">
              <a:solidFill>
                <a:srgbClr val="000000"/>
              </a:solidFill>
              <a:effectLst/>
              <a:uFillTx/>
              <a:latin typeface="Arial"/>
            </a:endParaRPr>
          </a:p>
        </p:txBody>
      </p:sp>
      <p:sp>
        <p:nvSpPr>
          <p:cNvPr id="415" name="Text 5"/>
          <p:cNvSpPr/>
          <p:nvPr/>
        </p:nvSpPr>
        <p:spPr>
          <a:xfrm>
            <a:off x="786240" y="1901880"/>
            <a:ext cx="4974120" cy="1334520"/>
          </a:xfrm>
          <a:prstGeom prst="rect">
            <a:avLst/>
          </a:prstGeom>
          <a:noFill/>
          <a:ln w="0">
            <a:noFill/>
          </a:ln>
        </p:spPr>
        <p:style>
          <a:lnRef idx="0"/>
          <a:fillRef idx="0"/>
          <a:effectRef idx="0"/>
          <a:fontRef idx="minor"/>
        </p:style>
        <p:txBody>
          <a:bodyPr lIns="0" tIns="0" rIns="0" bIns="0" anchor="t">
            <a:noAutofit/>
          </a:bodyPr>
          <a:p>
            <a:pPr>
              <a:lnSpc>
                <a:spcPts val="1650"/>
              </a:lnSpc>
              <a:tabLst>
                <a:tab pos="0" algn="l"/>
              </a:tabLst>
            </a:pPr>
            <a:r>
              <a:rPr lang="en-NG" sz="1200" b="0" u="none" strike="noStrike">
                <a:solidFill>
                  <a:srgbClr val="E2DEF1"/>
                </a:solidFill>
                <a:effectLst/>
                <a:uFillTx/>
                <a:latin typeface="Calibri"/>
                <a:ea typeface="Calibri"/>
              </a:rPr>
              <a:t>Every instant is stored as TIMESTAMPTZ in UTC and rendered in Africa/Lagos for the reader. A due date is an instant, not a wall-clock reading, so it means the same thing whatever machine computes it.</a:t>
            </a:r>
            <a:endParaRPr lang="en-NG" sz="1200" b="0" u="none" strike="noStrike">
              <a:solidFill>
                <a:srgbClr val="000000"/>
              </a:solidFill>
              <a:effectLst/>
              <a:uFillTx/>
              <a:latin typeface="Arial"/>
            </a:endParaRPr>
          </a:p>
        </p:txBody>
      </p:sp>
      <p:sp>
        <p:nvSpPr>
          <p:cNvPr id="416" name="Shape 6"/>
          <p:cNvSpPr/>
          <p:nvPr/>
        </p:nvSpPr>
        <p:spPr>
          <a:xfrm>
            <a:off x="567000" y="3547800"/>
            <a:ext cx="5412960" cy="2322360"/>
          </a:xfrm>
          <a:prstGeom prst="roundRect">
            <a:avLst>
              <a:gd name="adj" fmla="val 2756"/>
            </a:avLst>
          </a:prstGeom>
          <a:solidFill>
            <a:srgbClr val="FBF4E4"/>
          </a:solidFill>
          <a:ln w="9525">
            <a:solidFill>
              <a:srgbClr val="E8D9AE"/>
            </a:solidFill>
            <a:round/>
          </a:ln>
          <a:effectLst>
            <a:outerShdw algn="bl" blurRad="127080" dir="5400000" dist="25560" kx="0" ky="0" rotWithShape="0" sx="100000" sy="100000">
              <a:srgbClr val="9098B0">
                <a:alpha val="22000"/>
              </a:srgbClr>
            </a:outerShdw>
          </a:effectLst>
        </p:spPr>
        <p:style>
          <a:lnRef idx="0"/>
          <a:fillRef idx="0"/>
          <a:effectRef idx="0"/>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417" name="Text 7"/>
          <p:cNvSpPr/>
          <p:nvPr/>
        </p:nvSpPr>
        <p:spPr>
          <a:xfrm>
            <a:off x="786240" y="3721680"/>
            <a:ext cx="4974120" cy="328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400" b="1" u="none" strike="noStrike">
                <a:solidFill>
                  <a:srgbClr val="240C54"/>
                </a:solidFill>
                <a:effectLst/>
                <a:uFillTx/>
                <a:latin typeface="Calibri"/>
                <a:ea typeface="Calibri"/>
              </a:rPr>
              <a:t>The trap this closed</a:t>
            </a:r>
            <a:endParaRPr lang="en-NG" sz="1400" b="0" u="none" strike="noStrike">
              <a:solidFill>
                <a:srgbClr val="000000"/>
              </a:solidFill>
              <a:effectLst/>
              <a:uFillTx/>
              <a:latin typeface="Arial"/>
            </a:endParaRPr>
          </a:p>
        </p:txBody>
      </p:sp>
      <p:sp>
        <p:nvSpPr>
          <p:cNvPr id="418" name="Text 8"/>
          <p:cNvSpPr/>
          <p:nvPr/>
        </p:nvSpPr>
        <p:spPr>
          <a:xfrm>
            <a:off x="786240" y="4114800"/>
            <a:ext cx="4974120" cy="1608840"/>
          </a:xfrm>
          <a:prstGeom prst="rect">
            <a:avLst/>
          </a:prstGeom>
          <a:noFill/>
          <a:ln w="0">
            <a:noFill/>
          </a:ln>
        </p:spPr>
        <p:style>
          <a:lnRef idx="0"/>
          <a:fillRef idx="0"/>
          <a:effectRef idx="0"/>
          <a:fontRef idx="minor"/>
        </p:style>
        <p:txBody>
          <a:bodyPr lIns="0" tIns="0" rIns="0" bIns="0" anchor="t">
            <a:noAutofit/>
          </a:bodyPr>
          <a:p>
            <a:pPr>
              <a:lnSpc>
                <a:spcPts val="1650"/>
              </a:lnSpc>
              <a:tabLst>
                <a:tab pos="0" algn="l"/>
              </a:tabLst>
            </a:pPr>
            <a:r>
              <a:rPr lang="en-NG" sz="1200" b="0" u="none" strike="noStrike">
                <a:solidFill>
                  <a:srgbClr val="1A1A2E"/>
                </a:solidFill>
                <a:effectLst/>
                <a:uFillTx/>
                <a:latin typeface="Calibri"/>
                <a:ea typeface="Calibri"/>
              </a:rPr>
              <a:t>Our container ships without timezone data. Loading Africa/Lagos failed silently and every displayed time fell back to UTC, one hour early. We compile the timezone database into the binary.</a:t>
            </a:r>
            <a:endParaRPr lang="en-NG" sz="1200" b="0" u="none" strike="noStrike">
              <a:solidFill>
                <a:srgbClr val="000000"/>
              </a:solidFill>
              <a:effectLst/>
              <a:uFillTx/>
              <a:latin typeface="Arial"/>
            </a:endParaRPr>
          </a:p>
        </p:txBody>
      </p:sp>
      <p:sp>
        <p:nvSpPr>
          <p:cNvPr id="419" name="Shape 9"/>
          <p:cNvSpPr/>
          <p:nvPr/>
        </p:nvSpPr>
        <p:spPr>
          <a:xfrm>
            <a:off x="6199560" y="1334880"/>
            <a:ext cx="5421960" cy="4534920"/>
          </a:xfrm>
          <a:prstGeom prst="roundRect">
            <a:avLst>
              <a:gd name="adj" fmla="val 1411"/>
            </a:avLst>
          </a:prstGeom>
          <a:solidFill>
            <a:srgbClr val="F4F5F9"/>
          </a:solidFill>
          <a:ln w="9525">
            <a:solidFill>
              <a:srgbClr val="D8DAE5"/>
            </a:solidFill>
            <a:round/>
          </a:ln>
          <a:effectLst>
            <a:outerShdw algn="bl" blurRad="127080" dir="5400000" dist="25560" kx="0" ky="0" rotWithShape="0" sx="100000" sy="100000">
              <a:srgbClr val="9098B0">
                <a:alpha val="22000"/>
              </a:srgbClr>
            </a:outerShdw>
          </a:effectLst>
        </p:spPr>
        <p:style>
          <a:lnRef idx="0"/>
          <a:fillRef idx="0"/>
          <a:effectRef idx="0"/>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420" name="Text 10"/>
          <p:cNvSpPr/>
          <p:nvPr/>
        </p:nvSpPr>
        <p:spPr>
          <a:xfrm>
            <a:off x="6419160" y="1508760"/>
            <a:ext cx="4983120" cy="328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450" b="1" u="none" strike="noStrike">
                <a:solidFill>
                  <a:srgbClr val="240C54"/>
                </a:solidFill>
                <a:effectLst/>
                <a:uFillTx/>
                <a:latin typeface="Calibri"/>
                <a:ea typeface="Calibri"/>
              </a:rPr>
              <a:t>Indexing, measured with EXPLAIN ANALYZE</a:t>
            </a:r>
            <a:endParaRPr lang="en-NG" sz="1450" b="0" u="none" strike="noStrike">
              <a:solidFill>
                <a:srgbClr val="000000"/>
              </a:solidFill>
              <a:effectLst/>
              <a:uFillTx/>
              <a:latin typeface="Arial"/>
            </a:endParaRPr>
          </a:p>
        </p:txBody>
      </p:sp>
      <p:sp>
        <p:nvSpPr>
          <p:cNvPr id="421" name="Text 11"/>
          <p:cNvSpPr/>
          <p:nvPr/>
        </p:nvSpPr>
        <p:spPr>
          <a:xfrm>
            <a:off x="6419160" y="1774080"/>
            <a:ext cx="4983120" cy="420120"/>
          </a:xfrm>
          <a:prstGeom prst="rect">
            <a:avLst/>
          </a:prstGeom>
          <a:noFill/>
          <a:ln w="0">
            <a:noFill/>
          </a:ln>
        </p:spPr>
        <p:style>
          <a:lnRef idx="0"/>
          <a:fillRef idx="0"/>
          <a:effectRef idx="0"/>
          <a:fontRef idx="minor"/>
        </p:style>
        <p:txBody>
          <a:bodyPr lIns="0" tIns="0" rIns="0" bIns="0" anchor="ctr">
            <a:noAutofit/>
          </a:bodyPr>
          <a:p>
            <a:pPr>
              <a:lnSpc>
                <a:spcPts val="1599"/>
              </a:lnSpc>
              <a:tabLst>
                <a:tab pos="0" algn="l"/>
              </a:tabLst>
            </a:pPr>
            <a:r>
              <a:rPr lang="en-NG" sz="1200" b="0" u="none" strike="noStrike">
                <a:solidFill>
                  <a:srgbClr val="5B5B6B"/>
                </a:solidFill>
                <a:effectLst/>
                <a:uFillTx/>
                <a:latin typeface="Calibri"/>
                <a:ea typeface="Calibri"/>
              </a:rPr>
              <a:t>Search performance was measured before and after, on real data, not guessed at.</a:t>
            </a:r>
            <a:endParaRPr lang="en-NG" sz="1200" b="0" u="none" strike="noStrike">
              <a:solidFill>
                <a:srgbClr val="000000"/>
              </a:solidFill>
              <a:effectLst/>
              <a:uFillTx/>
              <a:latin typeface="Arial"/>
            </a:endParaRPr>
          </a:p>
        </p:txBody>
      </p:sp>
      <p:sp>
        <p:nvSpPr>
          <p:cNvPr id="422" name="Text 12"/>
          <p:cNvSpPr/>
          <p:nvPr/>
        </p:nvSpPr>
        <p:spPr>
          <a:xfrm>
            <a:off x="6419160" y="2359080"/>
            <a:ext cx="4983120" cy="25560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300" b="1" u="none" strike="noStrike">
                <a:solidFill>
                  <a:srgbClr val="240C54"/>
                </a:solidFill>
                <a:effectLst/>
                <a:uFillTx/>
                <a:latin typeface="Calibri"/>
                <a:ea typeface="Calibri"/>
              </a:rPr>
              <a:t>Title search</a:t>
            </a:r>
            <a:endParaRPr lang="en-NG" sz="1300" b="0" u="none" strike="noStrike">
              <a:solidFill>
                <a:srgbClr val="000000"/>
              </a:solidFill>
              <a:effectLst/>
              <a:uFillTx/>
              <a:latin typeface="Arial"/>
            </a:endParaRPr>
          </a:p>
        </p:txBody>
      </p:sp>
      <p:sp>
        <p:nvSpPr>
          <p:cNvPr id="423" name="Shape 13"/>
          <p:cNvSpPr/>
          <p:nvPr/>
        </p:nvSpPr>
        <p:spPr>
          <a:xfrm>
            <a:off x="6419160" y="2688480"/>
            <a:ext cx="4983120" cy="365400"/>
          </a:xfrm>
          <a:prstGeom prst="roundRect">
            <a:avLst>
              <a:gd name="adj" fmla="val 12500"/>
            </a:avLst>
          </a:prstGeom>
          <a:solidFill>
            <a:srgbClr val="C6CBDD"/>
          </a:solidFill>
          <a:ln w="12700">
            <a:solidFill>
              <a:srgbClr val="C6CBDD"/>
            </a:solidFill>
            <a:round/>
          </a:ln>
        </p:spPr>
        <p:style>
          <a:lnRef idx="0"/>
          <a:fillRef idx="0"/>
          <a:effectRef idx="0"/>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424" name="Text 14"/>
          <p:cNvSpPr/>
          <p:nvPr/>
        </p:nvSpPr>
        <p:spPr>
          <a:xfrm>
            <a:off x="6528960" y="2688480"/>
            <a:ext cx="2194200" cy="36540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150" b="1" u="none" strike="noStrike">
                <a:solidFill>
                  <a:srgbClr val="2B3040"/>
                </a:solidFill>
                <a:effectLst/>
                <a:uFillTx/>
                <a:latin typeface="Calibri"/>
                <a:ea typeface="Calibri"/>
              </a:rPr>
              <a:t>51.5 ms before</a:t>
            </a:r>
            <a:endParaRPr lang="en-NG" sz="1150" b="0" u="none" strike="noStrike">
              <a:solidFill>
                <a:srgbClr val="000000"/>
              </a:solidFill>
              <a:effectLst/>
              <a:uFillTx/>
              <a:latin typeface="Arial"/>
            </a:endParaRPr>
          </a:p>
        </p:txBody>
      </p:sp>
      <p:sp>
        <p:nvSpPr>
          <p:cNvPr id="425" name="Shape 15"/>
          <p:cNvSpPr/>
          <p:nvPr/>
        </p:nvSpPr>
        <p:spPr>
          <a:xfrm>
            <a:off x="6419160" y="3127320"/>
            <a:ext cx="2118960" cy="365400"/>
          </a:xfrm>
          <a:prstGeom prst="roundRect">
            <a:avLst>
              <a:gd name="adj" fmla="val 12500"/>
            </a:avLst>
          </a:prstGeom>
          <a:solidFill>
            <a:srgbClr val="1E7A46"/>
          </a:solidFill>
          <a:ln w="12700">
            <a:solidFill>
              <a:srgbClr val="1E7A46"/>
            </a:solidFill>
            <a:round/>
          </a:ln>
        </p:spPr>
        <p:style>
          <a:lnRef idx="0"/>
          <a:fillRef idx="0"/>
          <a:effectRef idx="0"/>
          <a:fontRef idx="minor"/>
        </p:style>
        <p:txBody>
          <a:bodyPr lIns="90000" tIns="45000" rIns="90000" bIns="45000" anchor="t">
            <a:noAutofit/>
          </a:bodyPr>
          <a:p>
            <a:pPr/>
            <a:endParaRPr lang="en-NG" sz="1800" b="0" u="none" strike="noStrike">
              <a:solidFill>
                <a:srgbClr val="FFFFFF"/>
              </a:solidFill>
              <a:effectLst/>
              <a:uFillTx/>
              <a:latin typeface="Arial"/>
            </a:endParaRPr>
          </a:p>
        </p:txBody>
      </p:sp>
      <p:sp>
        <p:nvSpPr>
          <p:cNvPr id="426" name="Text 16"/>
          <p:cNvSpPr/>
          <p:nvPr/>
        </p:nvSpPr>
        <p:spPr>
          <a:xfrm>
            <a:off x="6528960" y="3127320"/>
            <a:ext cx="2194200" cy="36540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150" b="1" u="none" strike="noStrike">
                <a:solidFill>
                  <a:srgbClr val="FFFFFF"/>
                </a:solidFill>
                <a:effectLst/>
                <a:uFillTx/>
                <a:latin typeface="Calibri"/>
                <a:ea typeface="Calibri"/>
              </a:rPr>
              <a:t>21.9 ms after</a:t>
            </a:r>
            <a:endParaRPr lang="en-NG" sz="1150" b="0" u="none" strike="noStrike">
              <a:solidFill>
                <a:srgbClr val="000000"/>
              </a:solidFill>
              <a:effectLst/>
              <a:uFillTx/>
              <a:latin typeface="Arial"/>
            </a:endParaRPr>
          </a:p>
        </p:txBody>
      </p:sp>
      <p:sp>
        <p:nvSpPr>
          <p:cNvPr id="427" name="Text 17"/>
          <p:cNvSpPr/>
          <p:nvPr/>
        </p:nvSpPr>
        <p:spPr>
          <a:xfrm>
            <a:off x="6419160" y="3986640"/>
            <a:ext cx="4983120" cy="25560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300" b="1" u="none" strike="noStrike">
                <a:solidFill>
                  <a:srgbClr val="240C54"/>
                </a:solidFill>
                <a:effectLst/>
                <a:uFillTx/>
                <a:latin typeface="Calibri"/>
                <a:ea typeface="Calibri"/>
              </a:rPr>
              <a:t>Member lookup</a:t>
            </a:r>
            <a:endParaRPr lang="en-NG" sz="1300" b="0" u="none" strike="noStrike">
              <a:solidFill>
                <a:srgbClr val="000000"/>
              </a:solidFill>
              <a:effectLst/>
              <a:uFillTx/>
              <a:latin typeface="Arial"/>
            </a:endParaRPr>
          </a:p>
        </p:txBody>
      </p:sp>
      <p:sp>
        <p:nvSpPr>
          <p:cNvPr id="428" name="Shape 18"/>
          <p:cNvSpPr/>
          <p:nvPr/>
        </p:nvSpPr>
        <p:spPr>
          <a:xfrm>
            <a:off x="6419160" y="4316040"/>
            <a:ext cx="2176920" cy="365400"/>
          </a:xfrm>
          <a:prstGeom prst="roundRect">
            <a:avLst>
              <a:gd name="adj" fmla="val 12500"/>
            </a:avLst>
          </a:prstGeom>
          <a:solidFill>
            <a:srgbClr val="C6CBDD"/>
          </a:solidFill>
          <a:ln w="12700">
            <a:solidFill>
              <a:srgbClr val="C6CBDD"/>
            </a:solidFill>
            <a:round/>
          </a:ln>
        </p:spPr>
        <p:style>
          <a:lnRef idx="0"/>
          <a:fillRef idx="0"/>
          <a:effectRef idx="0"/>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429" name="Text 19"/>
          <p:cNvSpPr/>
          <p:nvPr/>
        </p:nvSpPr>
        <p:spPr>
          <a:xfrm>
            <a:off x="6528960" y="4316040"/>
            <a:ext cx="2194200" cy="36540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150" b="1" u="none" strike="noStrike">
                <a:solidFill>
                  <a:srgbClr val="2B3040"/>
                </a:solidFill>
                <a:effectLst/>
                <a:uFillTx/>
                <a:latin typeface="Calibri"/>
                <a:ea typeface="Calibri"/>
              </a:rPr>
              <a:t>22.5 ms before</a:t>
            </a:r>
            <a:endParaRPr lang="en-NG" sz="1150" b="0" u="none" strike="noStrike">
              <a:solidFill>
                <a:srgbClr val="000000"/>
              </a:solidFill>
              <a:effectLst/>
              <a:uFillTx/>
              <a:latin typeface="Arial"/>
            </a:endParaRPr>
          </a:p>
        </p:txBody>
      </p:sp>
      <p:sp>
        <p:nvSpPr>
          <p:cNvPr id="430" name="Shape 20"/>
          <p:cNvSpPr/>
          <p:nvPr/>
        </p:nvSpPr>
        <p:spPr>
          <a:xfrm>
            <a:off x="6419160" y="4754880"/>
            <a:ext cx="299520" cy="365400"/>
          </a:xfrm>
          <a:prstGeom prst="roundRect">
            <a:avLst>
              <a:gd name="adj" fmla="val 15241"/>
            </a:avLst>
          </a:prstGeom>
          <a:solidFill>
            <a:srgbClr val="1E7A46"/>
          </a:solidFill>
          <a:ln w="12700">
            <a:solidFill>
              <a:srgbClr val="1E7A46"/>
            </a:solidFill>
            <a:round/>
          </a:ln>
        </p:spPr>
        <p:style>
          <a:lnRef idx="0"/>
          <a:fillRef idx="0"/>
          <a:effectRef idx="0"/>
          <a:fontRef idx="minor"/>
        </p:style>
        <p:txBody>
          <a:bodyPr lIns="90000" tIns="45000" rIns="90000" bIns="45000" anchor="t">
            <a:noAutofit/>
          </a:bodyPr>
          <a:p>
            <a:pPr/>
            <a:endParaRPr lang="en-NG" sz="1800" b="0" u="none" strike="noStrike">
              <a:solidFill>
                <a:srgbClr val="FFFFFF"/>
              </a:solidFill>
              <a:effectLst/>
              <a:uFillTx/>
              <a:latin typeface="Arial"/>
            </a:endParaRPr>
          </a:p>
        </p:txBody>
      </p:sp>
      <p:sp>
        <p:nvSpPr>
          <p:cNvPr id="431" name="Text 21"/>
          <p:cNvSpPr/>
          <p:nvPr/>
        </p:nvSpPr>
        <p:spPr>
          <a:xfrm>
            <a:off x="6828840" y="4754880"/>
            <a:ext cx="2194200" cy="36540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150" b="1" u="none" strike="noStrike">
                <a:solidFill>
                  <a:srgbClr val="2B3040"/>
                </a:solidFill>
                <a:effectLst/>
                <a:uFillTx/>
                <a:latin typeface="Calibri"/>
                <a:ea typeface="Calibri"/>
              </a:rPr>
              <a:t>3.1 ms after</a:t>
            </a:r>
            <a:endParaRPr lang="en-NG" sz="1150" b="0" u="none" strike="noStrike">
              <a:solidFill>
                <a:srgbClr val="000000"/>
              </a:solidFill>
              <a:effectLst/>
              <a:uFillTx/>
              <a:latin typeface="Arial"/>
            </a:endParaRPr>
          </a:p>
        </p:txBody>
      </p:sp>
      <p:sp>
        <p:nvSpPr>
          <p:cNvPr id="432" name="Text 22"/>
          <p:cNvSpPr/>
          <p:nvPr/>
        </p:nvSpPr>
        <p:spPr>
          <a:xfrm>
            <a:off x="6419160" y="5266800"/>
            <a:ext cx="4983120" cy="456840"/>
          </a:xfrm>
          <a:prstGeom prst="rect">
            <a:avLst/>
          </a:prstGeom>
          <a:noFill/>
          <a:ln w="0">
            <a:noFill/>
          </a:ln>
        </p:spPr>
        <p:style>
          <a:lnRef idx="0"/>
          <a:fillRef idx="0"/>
          <a:effectRef idx="0"/>
          <a:fontRef idx="minor"/>
        </p:style>
        <p:txBody>
          <a:bodyPr lIns="0" tIns="0" rIns="0" bIns="0" anchor="ctr">
            <a:noAutofit/>
          </a:bodyPr>
          <a:p>
            <a:pPr>
              <a:lnSpc>
                <a:spcPts val="1400"/>
              </a:lnSpc>
              <a:tabLst>
                <a:tab pos="0" algn="l"/>
              </a:tabLst>
            </a:pPr>
            <a:r>
              <a:rPr lang="en-NG" sz="1100" b="0" u="none" strike="noStrike">
                <a:solidFill>
                  <a:srgbClr val="5B5B6B"/>
                </a:solidFill>
                <a:effectLst/>
                <a:uFillTx/>
                <a:latin typeface="Calibri"/>
                <a:ea typeface="Calibri"/>
              </a:rPr>
              <a:t>Trigram indexes for fuzzy title search; a partial index for open loans, which is the only slice ever queried.</a:t>
            </a:r>
            <a:endParaRPr lang="en-NG" sz="1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33" name="Text 0"/>
          <p:cNvSpPr/>
          <p:nvPr/>
        </p:nvSpPr>
        <p:spPr>
          <a:xfrm>
            <a:off x="567000" y="384120"/>
            <a:ext cx="8229240" cy="2372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100" b="1" u="none" spc="221" strike="noStrike">
                <a:solidFill>
                  <a:srgbClr val="E4B454"/>
                </a:solidFill>
                <a:effectLst/>
                <a:uFillTx/>
                <a:latin typeface="Calibri"/>
                <a:ea typeface="Calibri"/>
              </a:rPr>
              <a:t>THE SIMULATOR</a:t>
            </a:r>
            <a:endParaRPr lang="en-NG" sz="1100" b="0" u="none" strike="noStrike">
              <a:solidFill>
                <a:srgbClr val="000000"/>
              </a:solidFill>
              <a:effectLst/>
              <a:uFillTx/>
              <a:latin typeface="Arial"/>
            </a:endParaRPr>
          </a:p>
        </p:txBody>
      </p:sp>
      <p:sp>
        <p:nvSpPr>
          <p:cNvPr id="434" name="Text 1"/>
          <p:cNvSpPr/>
          <p:nvPr/>
        </p:nvSpPr>
        <p:spPr>
          <a:xfrm>
            <a:off x="567000" y="640080"/>
            <a:ext cx="9692280" cy="5666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3000" b="1" u="none" strike="noStrike">
                <a:solidFill>
                  <a:srgbClr val="240C54"/>
                </a:solidFill>
                <a:effectLst/>
                <a:uFillTx/>
                <a:latin typeface="Cambria"/>
                <a:ea typeface="Cambria"/>
              </a:rPr>
              <a:t>Proving the system works when nobody is watching</a:t>
            </a:r>
            <a:endParaRPr lang="en-NG" sz="3000" b="0" u="none" strike="noStrike">
              <a:solidFill>
                <a:srgbClr val="000000"/>
              </a:solidFill>
              <a:effectLst/>
              <a:uFillTx/>
              <a:latin typeface="Arial"/>
            </a:endParaRPr>
          </a:p>
        </p:txBody>
      </p:sp>
      <p:pic>
        <p:nvPicPr>
          <p:cNvPr id="435" name="Image 0"/>
          <p:cNvPicPr/>
          <p:nvPr/>
        </p:nvPicPr>
        <p:blipFill>
          <a:blip r:embed="rId1"/>
          <a:stretch/>
        </p:blipFill>
        <p:spPr>
          <a:xfrm>
            <a:off x="11149200" y="365760"/>
            <a:ext cx="475200" cy="465840"/>
          </a:xfrm>
          <a:prstGeom prst="rect">
            <a:avLst/>
          </a:prstGeom>
          <a:noFill/>
          <a:ln w="0">
            <a:noFill/>
          </a:ln>
        </p:spPr>
      </p:pic>
      <p:sp>
        <p:nvSpPr>
          <p:cNvPr id="436" name="Text 2"/>
          <p:cNvSpPr/>
          <p:nvPr/>
        </p:nvSpPr>
        <p:spPr>
          <a:xfrm>
            <a:off x="11149200" y="6382440"/>
            <a:ext cx="475200" cy="219240"/>
          </a:xfrm>
          <a:prstGeom prst="rect">
            <a:avLst/>
          </a:prstGeom>
          <a:noFill/>
          <a:ln w="0">
            <a:noFill/>
          </a:ln>
        </p:spPr>
        <p:style>
          <a:lnRef idx="0"/>
          <a:fillRef idx="0"/>
          <a:effectRef idx="0"/>
          <a:fontRef idx="minor"/>
        </p:style>
        <p:txBody>
          <a:bodyPr lIns="0" tIns="0" rIns="0" bIns="0" anchor="ctr">
            <a:noAutofit/>
          </a:bodyPr>
          <a:p>
            <a:pPr algn="r">
              <a:lnSpc>
                <a:spcPct val="100000"/>
              </a:lnSpc>
              <a:tabLst>
                <a:tab pos="0" algn="l"/>
              </a:tabLst>
            </a:pPr>
            <a:r>
              <a:rPr lang="en-NG" sz="1000" b="0" u="none" strike="noStrike">
                <a:solidFill>
                  <a:srgbClr val="5B5B6B"/>
                </a:solidFill>
                <a:effectLst/>
                <a:uFillTx/>
                <a:latin typeface="Calibri"/>
                <a:ea typeface="Calibri"/>
              </a:rPr>
              <a:t>14</a:t>
            </a:r>
            <a:endParaRPr lang="en-NG" sz="1000" b="0" u="none" strike="noStrike">
              <a:solidFill>
                <a:srgbClr val="000000"/>
              </a:solidFill>
              <a:effectLst/>
              <a:uFillTx/>
              <a:latin typeface="Arial"/>
            </a:endParaRPr>
          </a:p>
        </p:txBody>
      </p:sp>
      <p:sp>
        <p:nvSpPr>
          <p:cNvPr id="437" name="Text 3"/>
          <p:cNvSpPr/>
          <p:nvPr/>
        </p:nvSpPr>
        <p:spPr>
          <a:xfrm>
            <a:off x="567000" y="1334880"/>
            <a:ext cx="10058040" cy="493560"/>
          </a:xfrm>
          <a:prstGeom prst="rect">
            <a:avLst/>
          </a:prstGeom>
          <a:noFill/>
          <a:ln w="0">
            <a:noFill/>
          </a:ln>
        </p:spPr>
        <p:style>
          <a:lnRef idx="0"/>
          <a:fillRef idx="0"/>
          <a:effectRef idx="0"/>
          <a:fontRef idx="minor"/>
        </p:style>
        <p:txBody>
          <a:bodyPr lIns="0" tIns="0" rIns="0" bIns="0" anchor="ctr">
            <a:noAutofit/>
          </a:bodyPr>
          <a:p>
            <a:pPr>
              <a:lnSpc>
                <a:spcPts val="2001"/>
              </a:lnSpc>
              <a:tabLst>
                <a:tab pos="0" algn="l"/>
              </a:tabLst>
            </a:pPr>
            <a:r>
              <a:rPr lang="en-NG" sz="1400" b="0" u="none" strike="noStrike">
                <a:solidFill>
                  <a:srgbClr val="1A1A2E"/>
                </a:solidFill>
                <a:effectLst/>
                <a:uFillTx/>
                <a:latin typeface="Calibri"/>
                <a:ea typeface="Calibri"/>
              </a:rPr>
              <a:t>An empty database proves nothing. We built a simulator that behaves like a library day: members register, borrow, return late, and reserve titles that are out.</a:t>
            </a:r>
            <a:endParaRPr lang="en-NG" sz="1400" b="0" u="none" strike="noStrike">
              <a:solidFill>
                <a:srgbClr val="000000"/>
              </a:solidFill>
              <a:effectLst/>
              <a:uFillTx/>
              <a:latin typeface="Arial"/>
            </a:endParaRPr>
          </a:p>
        </p:txBody>
      </p:sp>
      <p:sp>
        <p:nvSpPr>
          <p:cNvPr id="438" name="Shape 4"/>
          <p:cNvSpPr/>
          <p:nvPr/>
        </p:nvSpPr>
        <p:spPr>
          <a:xfrm>
            <a:off x="567000" y="1956960"/>
            <a:ext cx="5412960" cy="1883160"/>
          </a:xfrm>
          <a:prstGeom prst="roundRect">
            <a:avLst>
              <a:gd name="adj" fmla="val 3398"/>
            </a:avLst>
          </a:prstGeom>
          <a:solidFill>
            <a:srgbClr val="F4F5F9"/>
          </a:solidFill>
          <a:ln w="9525">
            <a:solidFill>
              <a:srgbClr val="D8DAE5"/>
            </a:solidFill>
            <a:round/>
          </a:ln>
          <a:effectLst>
            <a:outerShdw algn="bl" blurRad="127080" dir="5400000" dist="25560" kx="0" ky="0" rotWithShape="0" sx="100000" sy="100000">
              <a:srgbClr val="9098B0">
                <a:alpha val="22000"/>
              </a:srgbClr>
            </a:outerShdw>
          </a:effectLst>
        </p:spPr>
        <p:style>
          <a:lnRef idx="0"/>
          <a:fillRef idx="0"/>
          <a:effectRef idx="0"/>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439" name="Text 5"/>
          <p:cNvSpPr/>
          <p:nvPr/>
        </p:nvSpPr>
        <p:spPr>
          <a:xfrm>
            <a:off x="786240" y="2130480"/>
            <a:ext cx="4974120" cy="328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450" b="1" u="none" strike="noStrike">
                <a:solidFill>
                  <a:srgbClr val="240C54"/>
                </a:solidFill>
                <a:effectLst/>
                <a:uFillTx/>
                <a:latin typeface="Calibri"/>
                <a:ea typeface="Calibri"/>
              </a:rPr>
              <a:t>What it is</a:t>
            </a:r>
            <a:endParaRPr lang="en-NG" sz="1450" b="0" u="none" strike="noStrike">
              <a:solidFill>
                <a:srgbClr val="000000"/>
              </a:solidFill>
              <a:effectLst/>
              <a:uFillTx/>
              <a:latin typeface="Arial"/>
            </a:endParaRPr>
          </a:p>
        </p:txBody>
      </p:sp>
      <p:sp>
        <p:nvSpPr>
          <p:cNvPr id="440" name="Text 6"/>
          <p:cNvSpPr/>
          <p:nvPr/>
        </p:nvSpPr>
        <p:spPr>
          <a:xfrm>
            <a:off x="786240" y="2523600"/>
            <a:ext cx="4974120" cy="1170000"/>
          </a:xfrm>
          <a:prstGeom prst="rect">
            <a:avLst/>
          </a:prstGeom>
          <a:noFill/>
          <a:ln w="0">
            <a:noFill/>
          </a:ln>
        </p:spPr>
        <p:style>
          <a:lnRef idx="0"/>
          <a:fillRef idx="0"/>
          <a:effectRef idx="0"/>
          <a:fontRef idx="minor"/>
        </p:style>
        <p:txBody>
          <a:bodyPr lIns="0" tIns="0" rIns="0" bIns="0" anchor="t">
            <a:noAutofit/>
          </a:bodyPr>
          <a:p>
            <a:pPr>
              <a:lnSpc>
                <a:spcPts val="1650"/>
              </a:lnSpc>
              <a:tabLst>
                <a:tab pos="0" algn="l"/>
              </a:tabLst>
            </a:pPr>
            <a:r>
              <a:rPr lang="en-NG" sz="1200" b="0" u="none" strike="noStrike">
                <a:solidFill>
                  <a:srgbClr val="1A1A2E"/>
                </a:solidFill>
                <a:effectLst/>
                <a:uFillTx/>
                <a:latin typeface="Calibri"/>
                <a:ea typeface="Calibri"/>
              </a:rPr>
              <a:t>A client that calls the public API exactly as a browser would. It has no special access, so anything it does, a student could do, which is what makes its results evidence.</a:t>
            </a:r>
            <a:endParaRPr lang="en-NG" sz="1200" b="0" u="none" strike="noStrike">
              <a:solidFill>
                <a:srgbClr val="000000"/>
              </a:solidFill>
              <a:effectLst/>
              <a:uFillTx/>
              <a:latin typeface="Arial"/>
            </a:endParaRPr>
          </a:p>
        </p:txBody>
      </p:sp>
      <p:sp>
        <p:nvSpPr>
          <p:cNvPr id="441" name="Shape 7"/>
          <p:cNvSpPr/>
          <p:nvPr/>
        </p:nvSpPr>
        <p:spPr>
          <a:xfrm>
            <a:off x="6199560" y="1956960"/>
            <a:ext cx="5421960" cy="1883160"/>
          </a:xfrm>
          <a:prstGeom prst="roundRect">
            <a:avLst>
              <a:gd name="adj" fmla="val 3398"/>
            </a:avLst>
          </a:prstGeom>
          <a:solidFill>
            <a:srgbClr val="FBF4E4"/>
          </a:solidFill>
          <a:ln w="9525">
            <a:solidFill>
              <a:srgbClr val="E8D9AE"/>
            </a:solidFill>
            <a:round/>
          </a:ln>
          <a:effectLst>
            <a:outerShdw algn="bl" blurRad="127080" dir="5400000" dist="25560" kx="0" ky="0" rotWithShape="0" sx="100000" sy="100000">
              <a:srgbClr val="9098B0">
                <a:alpha val="22000"/>
              </a:srgbClr>
            </a:outerShdw>
          </a:effectLst>
        </p:spPr>
        <p:style>
          <a:lnRef idx="0"/>
          <a:fillRef idx="0"/>
          <a:effectRef idx="0"/>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442" name="Text 8"/>
          <p:cNvSpPr/>
          <p:nvPr/>
        </p:nvSpPr>
        <p:spPr>
          <a:xfrm>
            <a:off x="6419160" y="2130480"/>
            <a:ext cx="4983120" cy="328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450" b="1" u="none" strike="noStrike">
                <a:solidFill>
                  <a:srgbClr val="240C54"/>
                </a:solidFill>
                <a:effectLst/>
                <a:uFillTx/>
                <a:latin typeface="Calibri"/>
                <a:ea typeface="Calibri"/>
              </a:rPr>
              <a:t>What it is not</a:t>
            </a:r>
            <a:endParaRPr lang="en-NG" sz="1450" b="0" u="none" strike="noStrike">
              <a:solidFill>
                <a:srgbClr val="000000"/>
              </a:solidFill>
              <a:effectLst/>
              <a:uFillTx/>
              <a:latin typeface="Arial"/>
            </a:endParaRPr>
          </a:p>
        </p:txBody>
      </p:sp>
      <p:sp>
        <p:nvSpPr>
          <p:cNvPr id="443" name="Text 9"/>
          <p:cNvSpPr/>
          <p:nvPr/>
        </p:nvSpPr>
        <p:spPr>
          <a:xfrm>
            <a:off x="6419160" y="2523600"/>
            <a:ext cx="4983120" cy="1170000"/>
          </a:xfrm>
          <a:prstGeom prst="rect">
            <a:avLst/>
          </a:prstGeom>
          <a:noFill/>
          <a:ln w="0">
            <a:noFill/>
          </a:ln>
        </p:spPr>
        <p:style>
          <a:lnRef idx="0"/>
          <a:fillRef idx="0"/>
          <a:effectRef idx="0"/>
          <a:fontRef idx="minor"/>
        </p:style>
        <p:txBody>
          <a:bodyPr lIns="0" tIns="0" rIns="0" bIns="0" anchor="t">
            <a:noAutofit/>
          </a:bodyPr>
          <a:p>
            <a:pPr>
              <a:lnSpc>
                <a:spcPts val="1650"/>
              </a:lnSpc>
              <a:tabLst>
                <a:tab pos="0" algn="l"/>
              </a:tabLst>
            </a:pPr>
            <a:r>
              <a:rPr lang="en-NG" sz="1200" b="0" u="none" strike="noStrike">
                <a:solidFill>
                  <a:srgbClr val="1A1A2E"/>
                </a:solidFill>
                <a:effectLst/>
                <a:uFillTx/>
                <a:latin typeface="Calibri"/>
                <a:ea typeface="Calibri"/>
              </a:rPr>
              <a:t>It is not a seeding script writing rows into the database. Every record it makes is flagged synthetic, and it refuses to touch a real borrower's loan.</a:t>
            </a:r>
            <a:endParaRPr lang="en-NG" sz="1200" b="0" u="none" strike="noStrike">
              <a:solidFill>
                <a:srgbClr val="000000"/>
              </a:solidFill>
              <a:effectLst/>
              <a:uFillTx/>
              <a:latin typeface="Arial"/>
            </a:endParaRPr>
          </a:p>
        </p:txBody>
      </p:sp>
      <p:sp>
        <p:nvSpPr>
          <p:cNvPr id="444" name="Shape 10"/>
          <p:cNvSpPr/>
          <p:nvPr/>
        </p:nvSpPr>
        <p:spPr>
          <a:xfrm>
            <a:off x="567000" y="4005000"/>
            <a:ext cx="11054880" cy="1590840"/>
          </a:xfrm>
          <a:prstGeom prst="roundRect">
            <a:avLst>
              <a:gd name="adj" fmla="val 4023"/>
            </a:avLst>
          </a:prstGeom>
          <a:solidFill>
            <a:srgbClr val="240C54"/>
          </a:solidFill>
          <a:ln w="9525">
            <a:solidFill>
              <a:srgbClr val="240C54"/>
            </a:solidFill>
            <a:round/>
          </a:ln>
          <a:effectLst>
            <a:outerShdw algn="bl" blurRad="127080" dir="5400000" dist="25560" kx="0" ky="0" rotWithShape="0" sx="100000" sy="100000">
              <a:srgbClr val="9098B0">
                <a:alpha val="22000"/>
              </a:srgbClr>
            </a:outerShdw>
          </a:effectLst>
        </p:spPr>
        <p:style>
          <a:lnRef idx="0"/>
          <a:fillRef idx="0"/>
          <a:effectRef idx="0"/>
          <a:fontRef idx="minor"/>
        </p:style>
        <p:txBody>
          <a:bodyPr lIns="90000" tIns="45000" rIns="90000" bIns="45000" anchor="t">
            <a:noAutofit/>
          </a:bodyPr>
          <a:p>
            <a:pPr/>
            <a:endParaRPr lang="en-NG" sz="1800" b="0" u="none" strike="noStrike">
              <a:solidFill>
                <a:srgbClr val="FFFFFF"/>
              </a:solidFill>
              <a:effectLst/>
              <a:uFillTx/>
              <a:latin typeface="Arial"/>
            </a:endParaRPr>
          </a:p>
        </p:txBody>
      </p:sp>
      <p:sp>
        <p:nvSpPr>
          <p:cNvPr id="445" name="Text 11"/>
          <p:cNvSpPr/>
          <p:nvPr/>
        </p:nvSpPr>
        <p:spPr>
          <a:xfrm>
            <a:off x="786240" y="4178880"/>
            <a:ext cx="10615680" cy="328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450" b="1" u="none" strike="noStrike">
                <a:solidFill>
                  <a:srgbClr val="E4B454"/>
                </a:solidFill>
                <a:effectLst/>
                <a:uFillTx/>
                <a:latin typeface="Calibri"/>
                <a:ea typeface="Calibri"/>
              </a:rPr>
              <a:t>Live in production now</a:t>
            </a:r>
            <a:endParaRPr lang="en-NG" sz="1450" b="0" u="none" strike="noStrike">
              <a:solidFill>
                <a:srgbClr val="000000"/>
              </a:solidFill>
              <a:effectLst/>
              <a:uFillTx/>
              <a:latin typeface="Arial"/>
            </a:endParaRPr>
          </a:p>
        </p:txBody>
      </p:sp>
      <p:sp>
        <p:nvSpPr>
          <p:cNvPr id="446" name="Text 12"/>
          <p:cNvSpPr/>
          <p:nvPr/>
        </p:nvSpPr>
        <p:spPr>
          <a:xfrm>
            <a:off x="841320" y="4572000"/>
            <a:ext cx="1645560" cy="47520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2700" b="1" u="none" strike="noStrike">
                <a:solidFill>
                  <a:srgbClr val="FFFFFF"/>
                </a:solidFill>
                <a:effectLst/>
                <a:uFillTx/>
                <a:latin typeface="Cambria"/>
                <a:ea typeface="Cambria"/>
              </a:rPr>
              <a:t>223</a:t>
            </a:r>
            <a:endParaRPr lang="en-NG" sz="2700" b="0" u="none" strike="noStrike">
              <a:solidFill>
                <a:srgbClr val="000000"/>
              </a:solidFill>
              <a:effectLst/>
              <a:uFillTx/>
              <a:latin typeface="Arial"/>
            </a:endParaRPr>
          </a:p>
        </p:txBody>
      </p:sp>
      <p:sp>
        <p:nvSpPr>
          <p:cNvPr id="447" name="Text 13"/>
          <p:cNvSpPr/>
          <p:nvPr/>
        </p:nvSpPr>
        <p:spPr>
          <a:xfrm>
            <a:off x="841320" y="5047560"/>
            <a:ext cx="1645560" cy="2372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150" b="0" u="none" strike="noStrike">
                <a:solidFill>
                  <a:srgbClr val="B9AEDD"/>
                </a:solidFill>
                <a:effectLst/>
                <a:uFillTx/>
                <a:latin typeface="Calibri"/>
                <a:ea typeface="Calibri"/>
              </a:rPr>
              <a:t>titles</a:t>
            </a:r>
            <a:endParaRPr lang="en-NG" sz="1150" b="0" u="none" strike="noStrike">
              <a:solidFill>
                <a:srgbClr val="000000"/>
              </a:solidFill>
              <a:effectLst/>
              <a:uFillTx/>
              <a:latin typeface="Arial"/>
            </a:endParaRPr>
          </a:p>
        </p:txBody>
      </p:sp>
      <p:sp>
        <p:nvSpPr>
          <p:cNvPr id="448" name="Text 14"/>
          <p:cNvSpPr/>
          <p:nvPr/>
        </p:nvSpPr>
        <p:spPr>
          <a:xfrm>
            <a:off x="2642760" y="4572000"/>
            <a:ext cx="1645560" cy="47520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2700" b="1" u="none" strike="noStrike">
                <a:solidFill>
                  <a:srgbClr val="FFFFFF"/>
                </a:solidFill>
                <a:effectLst/>
                <a:uFillTx/>
                <a:latin typeface="Cambria"/>
                <a:ea typeface="Cambria"/>
              </a:rPr>
              <a:t>892</a:t>
            </a:r>
            <a:endParaRPr lang="en-NG" sz="2700" b="0" u="none" strike="noStrike">
              <a:solidFill>
                <a:srgbClr val="000000"/>
              </a:solidFill>
              <a:effectLst/>
              <a:uFillTx/>
              <a:latin typeface="Arial"/>
            </a:endParaRPr>
          </a:p>
        </p:txBody>
      </p:sp>
      <p:sp>
        <p:nvSpPr>
          <p:cNvPr id="449" name="Text 15"/>
          <p:cNvSpPr/>
          <p:nvPr/>
        </p:nvSpPr>
        <p:spPr>
          <a:xfrm>
            <a:off x="2642760" y="5047560"/>
            <a:ext cx="1645560" cy="2372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150" b="0" u="none" strike="noStrike">
                <a:solidFill>
                  <a:srgbClr val="B9AEDD"/>
                </a:solidFill>
                <a:effectLst/>
                <a:uFillTx/>
                <a:latin typeface="Calibri"/>
                <a:ea typeface="Calibri"/>
              </a:rPr>
              <a:t>copies</a:t>
            </a:r>
            <a:endParaRPr lang="en-NG" sz="1150" b="0" u="none" strike="noStrike">
              <a:solidFill>
                <a:srgbClr val="000000"/>
              </a:solidFill>
              <a:effectLst/>
              <a:uFillTx/>
              <a:latin typeface="Arial"/>
            </a:endParaRPr>
          </a:p>
        </p:txBody>
      </p:sp>
      <p:sp>
        <p:nvSpPr>
          <p:cNvPr id="450" name="Text 16"/>
          <p:cNvSpPr/>
          <p:nvPr/>
        </p:nvSpPr>
        <p:spPr>
          <a:xfrm>
            <a:off x="4443840" y="4572000"/>
            <a:ext cx="1645560" cy="47520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2700" b="1" u="none" strike="noStrike">
                <a:solidFill>
                  <a:srgbClr val="FFFFFF"/>
                </a:solidFill>
                <a:effectLst/>
                <a:uFillTx/>
                <a:latin typeface="Cambria"/>
                <a:ea typeface="Cambria"/>
              </a:rPr>
              <a:t>99</a:t>
            </a:r>
            <a:endParaRPr lang="en-NG" sz="2700" b="0" u="none" strike="noStrike">
              <a:solidFill>
                <a:srgbClr val="000000"/>
              </a:solidFill>
              <a:effectLst/>
              <a:uFillTx/>
              <a:latin typeface="Arial"/>
            </a:endParaRPr>
          </a:p>
        </p:txBody>
      </p:sp>
      <p:sp>
        <p:nvSpPr>
          <p:cNvPr id="451" name="Text 17"/>
          <p:cNvSpPr/>
          <p:nvPr/>
        </p:nvSpPr>
        <p:spPr>
          <a:xfrm>
            <a:off x="4443840" y="5047560"/>
            <a:ext cx="1645560" cy="2372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150" b="0" u="none" strike="noStrike">
                <a:solidFill>
                  <a:srgbClr val="B9AEDD"/>
                </a:solidFill>
                <a:effectLst/>
                <a:uFillTx/>
                <a:latin typeface="Calibri"/>
                <a:ea typeface="Calibri"/>
              </a:rPr>
              <a:t>members</a:t>
            </a:r>
            <a:endParaRPr lang="en-NG" sz="1150" b="0" u="none" strike="noStrike">
              <a:solidFill>
                <a:srgbClr val="000000"/>
              </a:solidFill>
              <a:effectLst/>
              <a:uFillTx/>
              <a:latin typeface="Arial"/>
            </a:endParaRPr>
          </a:p>
        </p:txBody>
      </p:sp>
      <p:sp>
        <p:nvSpPr>
          <p:cNvPr id="452" name="Text 18"/>
          <p:cNvSpPr/>
          <p:nvPr/>
        </p:nvSpPr>
        <p:spPr>
          <a:xfrm>
            <a:off x="6245280" y="4572000"/>
            <a:ext cx="1645560" cy="47520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2700" b="1" u="none" strike="noStrike">
                <a:solidFill>
                  <a:srgbClr val="FFFFFF"/>
                </a:solidFill>
                <a:effectLst/>
                <a:uFillTx/>
                <a:latin typeface="Cambria"/>
                <a:ea typeface="Cambria"/>
              </a:rPr>
              <a:t>86</a:t>
            </a:r>
            <a:endParaRPr lang="en-NG" sz="2700" b="0" u="none" strike="noStrike">
              <a:solidFill>
                <a:srgbClr val="000000"/>
              </a:solidFill>
              <a:effectLst/>
              <a:uFillTx/>
              <a:latin typeface="Arial"/>
            </a:endParaRPr>
          </a:p>
        </p:txBody>
      </p:sp>
      <p:sp>
        <p:nvSpPr>
          <p:cNvPr id="453" name="Text 19"/>
          <p:cNvSpPr/>
          <p:nvPr/>
        </p:nvSpPr>
        <p:spPr>
          <a:xfrm>
            <a:off x="6245280" y="5047560"/>
            <a:ext cx="1645560" cy="2372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150" b="0" u="none" strike="noStrike">
                <a:solidFill>
                  <a:srgbClr val="B9AEDD"/>
                </a:solidFill>
                <a:effectLst/>
                <a:uFillTx/>
                <a:latin typeface="Calibri"/>
                <a:ea typeface="Calibri"/>
              </a:rPr>
              <a:t>loans</a:t>
            </a:r>
            <a:endParaRPr lang="en-NG" sz="1150" b="0" u="none" strike="noStrike">
              <a:solidFill>
                <a:srgbClr val="000000"/>
              </a:solidFill>
              <a:effectLst/>
              <a:uFillTx/>
              <a:latin typeface="Arial"/>
            </a:endParaRPr>
          </a:p>
        </p:txBody>
      </p:sp>
      <p:sp>
        <p:nvSpPr>
          <p:cNvPr id="454" name="Text 20"/>
          <p:cNvSpPr/>
          <p:nvPr/>
        </p:nvSpPr>
        <p:spPr>
          <a:xfrm>
            <a:off x="8046720" y="4572000"/>
            <a:ext cx="1645560" cy="47520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2700" b="1" u="none" strike="noStrike">
                <a:solidFill>
                  <a:srgbClr val="FFFFFF"/>
                </a:solidFill>
                <a:effectLst/>
                <a:uFillTx/>
                <a:latin typeface="Cambria"/>
                <a:ea typeface="Cambria"/>
              </a:rPr>
              <a:t>252</a:t>
            </a:r>
            <a:endParaRPr lang="en-NG" sz="2700" b="0" u="none" strike="noStrike">
              <a:solidFill>
                <a:srgbClr val="000000"/>
              </a:solidFill>
              <a:effectLst/>
              <a:uFillTx/>
              <a:latin typeface="Arial"/>
            </a:endParaRPr>
          </a:p>
        </p:txBody>
      </p:sp>
      <p:sp>
        <p:nvSpPr>
          <p:cNvPr id="455" name="Text 21"/>
          <p:cNvSpPr/>
          <p:nvPr/>
        </p:nvSpPr>
        <p:spPr>
          <a:xfrm>
            <a:off x="8046720" y="5047560"/>
            <a:ext cx="1645560" cy="2372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150" b="0" u="none" strike="noStrike">
                <a:solidFill>
                  <a:srgbClr val="B9AEDD"/>
                </a:solidFill>
                <a:effectLst/>
                <a:uFillTx/>
                <a:latin typeface="Calibri"/>
                <a:ea typeface="Calibri"/>
              </a:rPr>
              <a:t>authors</a:t>
            </a:r>
            <a:endParaRPr lang="en-NG" sz="1150" b="0" u="none" strike="noStrike">
              <a:solidFill>
                <a:srgbClr val="000000"/>
              </a:solidFill>
              <a:effectLst/>
              <a:uFillTx/>
              <a:latin typeface="Arial"/>
            </a:endParaRPr>
          </a:p>
        </p:txBody>
      </p:sp>
      <p:sp>
        <p:nvSpPr>
          <p:cNvPr id="456" name="Text 22"/>
          <p:cNvSpPr/>
          <p:nvPr/>
        </p:nvSpPr>
        <p:spPr>
          <a:xfrm>
            <a:off x="9848160" y="4572000"/>
            <a:ext cx="1645560" cy="47520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2700" b="1" u="none" strike="noStrike">
                <a:solidFill>
                  <a:srgbClr val="FFFFFF"/>
                </a:solidFill>
                <a:effectLst/>
                <a:uFillTx/>
                <a:latin typeface="Cambria"/>
                <a:ea typeface="Cambria"/>
              </a:rPr>
              <a:t>332</a:t>
            </a:r>
            <a:endParaRPr lang="en-NG" sz="2700" b="0" u="none" strike="noStrike">
              <a:solidFill>
                <a:srgbClr val="000000"/>
              </a:solidFill>
              <a:effectLst/>
              <a:uFillTx/>
              <a:latin typeface="Arial"/>
            </a:endParaRPr>
          </a:p>
        </p:txBody>
      </p:sp>
      <p:sp>
        <p:nvSpPr>
          <p:cNvPr id="457" name="Text 23"/>
          <p:cNvSpPr/>
          <p:nvPr/>
        </p:nvSpPr>
        <p:spPr>
          <a:xfrm>
            <a:off x="9848160" y="5047560"/>
            <a:ext cx="1645560" cy="2372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150" b="0" u="none" strike="noStrike">
                <a:solidFill>
                  <a:srgbClr val="B9AEDD"/>
                </a:solidFill>
                <a:effectLst/>
                <a:uFillTx/>
                <a:latin typeface="Calibri"/>
                <a:ea typeface="Calibri"/>
              </a:rPr>
              <a:t>subjects</a:t>
            </a:r>
            <a:endParaRPr lang="en-NG" sz="11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8" name="Text 0"/>
          <p:cNvSpPr/>
          <p:nvPr/>
        </p:nvSpPr>
        <p:spPr>
          <a:xfrm>
            <a:off x="567000" y="384120"/>
            <a:ext cx="8229240" cy="2372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100" b="1" u="none" spc="221" strike="noStrike">
                <a:solidFill>
                  <a:srgbClr val="E4B454"/>
                </a:solidFill>
                <a:effectLst/>
                <a:uFillTx/>
                <a:latin typeface="Calibri"/>
                <a:ea typeface="Calibri"/>
              </a:rPr>
              <a:t>VERSION CONTROL AND DELIVERY</a:t>
            </a:r>
            <a:endParaRPr lang="en-NG" sz="1100" b="0" u="none" strike="noStrike">
              <a:solidFill>
                <a:srgbClr val="000000"/>
              </a:solidFill>
              <a:effectLst/>
              <a:uFillTx/>
              <a:latin typeface="Arial"/>
            </a:endParaRPr>
          </a:p>
        </p:txBody>
      </p:sp>
      <p:sp>
        <p:nvSpPr>
          <p:cNvPr id="459" name="Text 1"/>
          <p:cNvSpPr/>
          <p:nvPr/>
        </p:nvSpPr>
        <p:spPr>
          <a:xfrm>
            <a:off x="567000" y="640080"/>
            <a:ext cx="9692280" cy="5666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3000" b="1" u="none" strike="noStrike">
                <a:solidFill>
                  <a:srgbClr val="240C54"/>
                </a:solidFill>
                <a:effectLst/>
                <a:uFillTx/>
                <a:latin typeface="Cambria"/>
                <a:ea typeface="Cambria"/>
              </a:rPr>
              <a:t>Nothing reaches production by hand</a:t>
            </a:r>
            <a:endParaRPr lang="en-NG" sz="3000" b="0" u="none" strike="noStrike">
              <a:solidFill>
                <a:srgbClr val="000000"/>
              </a:solidFill>
              <a:effectLst/>
              <a:uFillTx/>
              <a:latin typeface="Arial"/>
            </a:endParaRPr>
          </a:p>
        </p:txBody>
      </p:sp>
      <p:pic>
        <p:nvPicPr>
          <p:cNvPr id="460" name="Image 0"/>
          <p:cNvPicPr/>
          <p:nvPr/>
        </p:nvPicPr>
        <p:blipFill>
          <a:blip r:embed="rId1"/>
          <a:stretch/>
        </p:blipFill>
        <p:spPr>
          <a:xfrm>
            <a:off x="11149200" y="365760"/>
            <a:ext cx="475200" cy="465840"/>
          </a:xfrm>
          <a:prstGeom prst="rect">
            <a:avLst/>
          </a:prstGeom>
          <a:noFill/>
          <a:ln w="0">
            <a:noFill/>
          </a:ln>
        </p:spPr>
      </p:pic>
      <p:sp>
        <p:nvSpPr>
          <p:cNvPr id="461" name="Text 2"/>
          <p:cNvSpPr/>
          <p:nvPr/>
        </p:nvSpPr>
        <p:spPr>
          <a:xfrm>
            <a:off x="11149200" y="6382440"/>
            <a:ext cx="475200" cy="219240"/>
          </a:xfrm>
          <a:prstGeom prst="rect">
            <a:avLst/>
          </a:prstGeom>
          <a:noFill/>
          <a:ln w="0">
            <a:noFill/>
          </a:ln>
        </p:spPr>
        <p:style>
          <a:lnRef idx="0"/>
          <a:fillRef idx="0"/>
          <a:effectRef idx="0"/>
          <a:fontRef idx="minor"/>
        </p:style>
        <p:txBody>
          <a:bodyPr lIns="0" tIns="0" rIns="0" bIns="0" anchor="ctr">
            <a:noAutofit/>
          </a:bodyPr>
          <a:p>
            <a:pPr algn="r">
              <a:lnSpc>
                <a:spcPct val="100000"/>
              </a:lnSpc>
              <a:tabLst>
                <a:tab pos="0" algn="l"/>
              </a:tabLst>
            </a:pPr>
            <a:r>
              <a:rPr lang="en-NG" sz="1000" b="0" u="none" strike="noStrike">
                <a:solidFill>
                  <a:srgbClr val="5B5B6B"/>
                </a:solidFill>
                <a:effectLst/>
                <a:uFillTx/>
                <a:latin typeface="Calibri"/>
                <a:ea typeface="Calibri"/>
              </a:rPr>
              <a:t>15</a:t>
            </a:r>
            <a:endParaRPr lang="en-NG" sz="1000" b="0" u="none" strike="noStrike">
              <a:solidFill>
                <a:srgbClr val="000000"/>
              </a:solidFill>
              <a:effectLst/>
              <a:uFillTx/>
              <a:latin typeface="Arial"/>
            </a:endParaRPr>
          </a:p>
        </p:txBody>
      </p:sp>
      <p:sp>
        <p:nvSpPr>
          <p:cNvPr id="462" name="Text 3"/>
          <p:cNvSpPr/>
          <p:nvPr/>
        </p:nvSpPr>
        <p:spPr>
          <a:xfrm>
            <a:off x="567000" y="1334880"/>
            <a:ext cx="10058040" cy="475200"/>
          </a:xfrm>
          <a:prstGeom prst="rect">
            <a:avLst/>
          </a:prstGeom>
          <a:noFill/>
          <a:ln w="0">
            <a:noFill/>
          </a:ln>
        </p:spPr>
        <p:style>
          <a:lnRef idx="0"/>
          <a:fillRef idx="0"/>
          <a:effectRef idx="0"/>
          <a:fontRef idx="minor"/>
        </p:style>
        <p:txBody>
          <a:bodyPr lIns="0" tIns="0" rIns="0" bIns="0" anchor="ctr">
            <a:noAutofit/>
          </a:bodyPr>
          <a:p>
            <a:pPr>
              <a:lnSpc>
                <a:spcPts val="2001"/>
              </a:lnSpc>
              <a:tabLst>
                <a:tab pos="0" algn="l"/>
              </a:tabLst>
            </a:pPr>
            <a:r>
              <a:rPr lang="en-NG" sz="1400" b="0" u="none" strike="noStrike">
                <a:solidFill>
                  <a:srgbClr val="1A1A2E"/>
                </a:solidFill>
                <a:effectLst/>
                <a:uFillTx/>
                <a:latin typeface="Calibri"/>
                <a:ea typeface="Calibri"/>
              </a:rPr>
              <a:t>Work is tracked in Git on GitHub. Every push runs the same pipeline, and a failure at any stage stops the deployment.</a:t>
            </a:r>
            <a:endParaRPr lang="en-NG" sz="1400" b="0" u="none" strike="noStrike">
              <a:solidFill>
                <a:srgbClr val="000000"/>
              </a:solidFill>
              <a:effectLst/>
              <a:uFillTx/>
              <a:latin typeface="Arial"/>
            </a:endParaRPr>
          </a:p>
        </p:txBody>
      </p:sp>
      <p:sp>
        <p:nvSpPr>
          <p:cNvPr id="463" name="Shape 4"/>
          <p:cNvSpPr/>
          <p:nvPr/>
        </p:nvSpPr>
        <p:spPr>
          <a:xfrm>
            <a:off x="567000" y="2011680"/>
            <a:ext cx="1627200" cy="1481040"/>
          </a:xfrm>
          <a:prstGeom prst="roundRect">
            <a:avLst>
              <a:gd name="adj" fmla="val 4321"/>
            </a:avLst>
          </a:prstGeom>
          <a:solidFill>
            <a:srgbClr val="240C54"/>
          </a:solidFill>
          <a:ln w="12700">
            <a:solidFill>
              <a:srgbClr val="240C54"/>
            </a:solidFill>
            <a:round/>
          </a:ln>
          <a:effectLst>
            <a:outerShdw algn="bl" blurRad="127080" dir="5400000" dist="25560" kx="0" ky="0" rotWithShape="0" sx="100000" sy="100000">
              <a:srgbClr val="9098B0">
                <a:alpha val="22000"/>
              </a:srgbClr>
            </a:outerShdw>
          </a:effectLst>
        </p:spPr>
        <p:style>
          <a:lnRef idx="0"/>
          <a:fillRef idx="0"/>
          <a:effectRef idx="0"/>
          <a:fontRef idx="minor"/>
        </p:style>
        <p:txBody>
          <a:bodyPr lIns="90000" tIns="45000" rIns="90000" bIns="45000" anchor="t">
            <a:noAutofit/>
          </a:bodyPr>
          <a:p>
            <a:pPr/>
            <a:endParaRPr lang="en-NG" sz="1800" b="0" u="none" strike="noStrike">
              <a:solidFill>
                <a:srgbClr val="FFFFFF"/>
              </a:solidFill>
              <a:effectLst/>
              <a:uFillTx/>
              <a:latin typeface="Arial"/>
            </a:endParaRPr>
          </a:p>
        </p:txBody>
      </p:sp>
      <p:sp>
        <p:nvSpPr>
          <p:cNvPr id="464" name="Text 5"/>
          <p:cNvSpPr/>
          <p:nvPr/>
        </p:nvSpPr>
        <p:spPr>
          <a:xfrm>
            <a:off x="694800" y="2176200"/>
            <a:ext cx="1371240" cy="29232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NG" sz="1400" b="1" u="none" strike="noStrike">
                <a:solidFill>
                  <a:srgbClr val="E4B454"/>
                </a:solidFill>
                <a:effectLst/>
                <a:uFillTx/>
                <a:latin typeface="Calibri"/>
                <a:ea typeface="Calibri"/>
              </a:rPr>
              <a:t>Test</a:t>
            </a:r>
            <a:endParaRPr lang="en-NG" sz="1400" b="0" u="none" strike="noStrike">
              <a:solidFill>
                <a:srgbClr val="000000"/>
              </a:solidFill>
              <a:effectLst/>
              <a:uFillTx/>
              <a:latin typeface="Arial"/>
            </a:endParaRPr>
          </a:p>
        </p:txBody>
      </p:sp>
      <p:sp>
        <p:nvSpPr>
          <p:cNvPr id="465" name="Text 6"/>
          <p:cNvSpPr/>
          <p:nvPr/>
        </p:nvSpPr>
        <p:spPr>
          <a:xfrm>
            <a:off x="658440" y="2505600"/>
            <a:ext cx="1444320" cy="840960"/>
          </a:xfrm>
          <a:prstGeom prst="rect">
            <a:avLst/>
          </a:prstGeom>
          <a:noFill/>
          <a:ln w="0">
            <a:noFill/>
          </a:ln>
        </p:spPr>
        <p:style>
          <a:lnRef idx="0"/>
          <a:fillRef idx="0"/>
          <a:effectRef idx="0"/>
          <a:fontRef idx="minor"/>
        </p:style>
        <p:txBody>
          <a:bodyPr lIns="0" tIns="0" rIns="0" bIns="0" anchor="ctr">
            <a:noAutofit/>
          </a:bodyPr>
          <a:p>
            <a:pPr algn="ctr">
              <a:lnSpc>
                <a:spcPts val="1451"/>
              </a:lnSpc>
              <a:tabLst>
                <a:tab pos="0" algn="l"/>
              </a:tabLst>
            </a:pPr>
            <a:r>
              <a:rPr lang="en-NG" sz="1100" b="0" u="none" strike="noStrike">
                <a:solidFill>
                  <a:srgbClr val="DAD5EC"/>
                </a:solidFill>
                <a:effectLst/>
                <a:uFillTx/>
                <a:latin typeface="Calibri"/>
                <a:ea typeface="Calibri"/>
              </a:rPr>
              <a:t>101 tests</a:t>
            </a:r>
            <a:endParaRPr lang="en-NG" sz="1100" b="0" u="none" strike="noStrike">
              <a:solidFill>
                <a:srgbClr val="000000"/>
              </a:solidFill>
              <a:effectLst/>
              <a:uFillTx/>
              <a:latin typeface="Arial"/>
            </a:endParaRPr>
          </a:p>
          <a:p>
            <a:pPr algn="ctr">
              <a:lnSpc>
                <a:spcPts val="1451"/>
              </a:lnSpc>
              <a:tabLst>
                <a:tab pos="0" algn="l"/>
              </a:tabLst>
            </a:pPr>
            <a:r>
              <a:rPr lang="en-NG" sz="1100" b="0" u="none" strike="noStrike">
                <a:solidFill>
                  <a:srgbClr val="DAD5EC"/>
                </a:solidFill>
                <a:effectLst/>
                <a:uFillTx/>
                <a:latin typeface="Calibri"/>
                <a:ea typeface="Calibri"/>
              </a:rPr>
              <a:t>across 4 levels</a:t>
            </a:r>
            <a:endParaRPr lang="en-NG" sz="1100" b="0" u="none" strike="noStrike">
              <a:solidFill>
                <a:srgbClr val="000000"/>
              </a:solidFill>
              <a:effectLst/>
              <a:uFillTx/>
              <a:latin typeface="Arial"/>
            </a:endParaRPr>
          </a:p>
        </p:txBody>
      </p:sp>
      <p:sp>
        <p:nvSpPr>
          <p:cNvPr id="466" name="Shape 7"/>
          <p:cNvSpPr/>
          <p:nvPr/>
        </p:nvSpPr>
        <p:spPr>
          <a:xfrm>
            <a:off x="2240280" y="2679120"/>
            <a:ext cx="155160" cy="155160"/>
          </a:xfrm>
          <a:prstGeom prst="chevron">
            <a:avLst>
              <a:gd name="adj" fmla="val 50000"/>
            </a:avLst>
          </a:prstGeom>
          <a:solidFill>
            <a:srgbClr val="D8DAE5"/>
          </a:solidFill>
          <a:ln w="12700">
            <a:solidFill>
              <a:srgbClr val="D8DAE5"/>
            </a:solidFill>
            <a:round/>
          </a:ln>
        </p:spPr>
        <p:style>
          <a:lnRef idx="0"/>
          <a:fillRef idx="0"/>
          <a:effectRef idx="0"/>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467" name="Shape 8"/>
          <p:cNvSpPr/>
          <p:nvPr/>
        </p:nvSpPr>
        <p:spPr>
          <a:xfrm>
            <a:off x="2441520" y="2011680"/>
            <a:ext cx="1627200" cy="1481040"/>
          </a:xfrm>
          <a:prstGeom prst="roundRect">
            <a:avLst>
              <a:gd name="adj" fmla="val 4321"/>
            </a:avLst>
          </a:prstGeom>
          <a:solidFill>
            <a:srgbClr val="240C54"/>
          </a:solidFill>
          <a:ln w="12700">
            <a:solidFill>
              <a:srgbClr val="240C54"/>
            </a:solidFill>
            <a:round/>
          </a:ln>
          <a:effectLst>
            <a:outerShdw algn="bl" blurRad="127080" dir="5400000" dist="25560" kx="0" ky="0" rotWithShape="0" sx="100000" sy="100000">
              <a:srgbClr val="9098B0">
                <a:alpha val="22000"/>
              </a:srgbClr>
            </a:outerShdw>
          </a:effectLst>
        </p:spPr>
        <p:style>
          <a:lnRef idx="0"/>
          <a:fillRef idx="0"/>
          <a:effectRef idx="0"/>
          <a:fontRef idx="minor"/>
        </p:style>
        <p:txBody>
          <a:bodyPr lIns="90000" tIns="45000" rIns="90000" bIns="45000" anchor="t">
            <a:noAutofit/>
          </a:bodyPr>
          <a:p>
            <a:pPr/>
            <a:endParaRPr lang="en-NG" sz="1800" b="0" u="none" strike="noStrike">
              <a:solidFill>
                <a:srgbClr val="FFFFFF"/>
              </a:solidFill>
              <a:effectLst/>
              <a:uFillTx/>
              <a:latin typeface="Arial"/>
            </a:endParaRPr>
          </a:p>
        </p:txBody>
      </p:sp>
      <p:sp>
        <p:nvSpPr>
          <p:cNvPr id="468" name="Text 9"/>
          <p:cNvSpPr/>
          <p:nvPr/>
        </p:nvSpPr>
        <p:spPr>
          <a:xfrm>
            <a:off x="2569320" y="2176200"/>
            <a:ext cx="1371240" cy="29232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NG" sz="1400" b="1" u="none" strike="noStrike">
                <a:solidFill>
                  <a:srgbClr val="E4B454"/>
                </a:solidFill>
                <a:effectLst/>
                <a:uFillTx/>
                <a:latin typeface="Calibri"/>
                <a:ea typeface="Calibri"/>
              </a:rPr>
              <a:t>Scan</a:t>
            </a:r>
            <a:endParaRPr lang="en-NG" sz="1400" b="0" u="none" strike="noStrike">
              <a:solidFill>
                <a:srgbClr val="000000"/>
              </a:solidFill>
              <a:effectLst/>
              <a:uFillTx/>
              <a:latin typeface="Arial"/>
            </a:endParaRPr>
          </a:p>
        </p:txBody>
      </p:sp>
      <p:sp>
        <p:nvSpPr>
          <p:cNvPr id="469" name="Text 10"/>
          <p:cNvSpPr/>
          <p:nvPr/>
        </p:nvSpPr>
        <p:spPr>
          <a:xfrm>
            <a:off x="2532960" y="2505600"/>
            <a:ext cx="1444320" cy="840960"/>
          </a:xfrm>
          <a:prstGeom prst="rect">
            <a:avLst/>
          </a:prstGeom>
          <a:noFill/>
          <a:ln w="0">
            <a:noFill/>
          </a:ln>
        </p:spPr>
        <p:style>
          <a:lnRef idx="0"/>
          <a:fillRef idx="0"/>
          <a:effectRef idx="0"/>
          <a:fontRef idx="minor"/>
        </p:style>
        <p:txBody>
          <a:bodyPr lIns="0" tIns="0" rIns="0" bIns="0" anchor="ctr">
            <a:noAutofit/>
          </a:bodyPr>
          <a:p>
            <a:pPr algn="ctr">
              <a:lnSpc>
                <a:spcPts val="1451"/>
              </a:lnSpc>
              <a:tabLst>
                <a:tab pos="0" algn="l"/>
              </a:tabLst>
            </a:pPr>
            <a:r>
              <a:rPr lang="en-NG" sz="1100" b="0" u="none" strike="noStrike">
                <a:solidFill>
                  <a:srgbClr val="DAD5EC"/>
                </a:solidFill>
                <a:effectLst/>
                <a:uFillTx/>
                <a:latin typeface="Calibri"/>
                <a:ea typeface="Calibri"/>
              </a:rPr>
              <a:t>Dependency</a:t>
            </a:r>
            <a:endParaRPr lang="en-NG" sz="1100" b="0" u="none" strike="noStrike">
              <a:solidFill>
                <a:srgbClr val="000000"/>
              </a:solidFill>
              <a:effectLst/>
              <a:uFillTx/>
              <a:latin typeface="Arial"/>
            </a:endParaRPr>
          </a:p>
          <a:p>
            <a:pPr algn="ctr">
              <a:lnSpc>
                <a:spcPts val="1451"/>
              </a:lnSpc>
              <a:tabLst>
                <a:tab pos="0" algn="l"/>
              </a:tabLst>
            </a:pPr>
            <a:r>
              <a:rPr lang="en-NG" sz="1100" b="0" u="none" strike="noStrike">
                <a:solidFill>
                  <a:srgbClr val="DAD5EC"/>
                </a:solidFill>
                <a:effectLst/>
                <a:uFillTx/>
                <a:latin typeface="Calibri"/>
                <a:ea typeface="Calibri"/>
              </a:rPr>
              <a:t>vulnerabilities</a:t>
            </a:r>
            <a:endParaRPr lang="en-NG" sz="1100" b="0" u="none" strike="noStrike">
              <a:solidFill>
                <a:srgbClr val="000000"/>
              </a:solidFill>
              <a:effectLst/>
              <a:uFillTx/>
              <a:latin typeface="Arial"/>
            </a:endParaRPr>
          </a:p>
        </p:txBody>
      </p:sp>
      <p:sp>
        <p:nvSpPr>
          <p:cNvPr id="470" name="Shape 11"/>
          <p:cNvSpPr/>
          <p:nvPr/>
        </p:nvSpPr>
        <p:spPr>
          <a:xfrm>
            <a:off x="4114800" y="2679120"/>
            <a:ext cx="155160" cy="155160"/>
          </a:xfrm>
          <a:prstGeom prst="chevron">
            <a:avLst>
              <a:gd name="adj" fmla="val 50000"/>
            </a:avLst>
          </a:prstGeom>
          <a:solidFill>
            <a:srgbClr val="D8DAE5"/>
          </a:solidFill>
          <a:ln w="12700">
            <a:solidFill>
              <a:srgbClr val="D8DAE5"/>
            </a:solidFill>
            <a:round/>
          </a:ln>
        </p:spPr>
        <p:style>
          <a:lnRef idx="0"/>
          <a:fillRef idx="0"/>
          <a:effectRef idx="0"/>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471" name="Shape 12"/>
          <p:cNvSpPr/>
          <p:nvPr/>
        </p:nvSpPr>
        <p:spPr>
          <a:xfrm>
            <a:off x="4316040" y="2011680"/>
            <a:ext cx="1627200" cy="1481040"/>
          </a:xfrm>
          <a:prstGeom prst="roundRect">
            <a:avLst>
              <a:gd name="adj" fmla="val 4321"/>
            </a:avLst>
          </a:prstGeom>
          <a:solidFill>
            <a:srgbClr val="240C54"/>
          </a:solidFill>
          <a:ln w="12700">
            <a:solidFill>
              <a:srgbClr val="240C54"/>
            </a:solidFill>
            <a:round/>
          </a:ln>
          <a:effectLst>
            <a:outerShdw algn="bl" blurRad="127080" dir="5400000" dist="25560" kx="0" ky="0" rotWithShape="0" sx="100000" sy="100000">
              <a:srgbClr val="9098B0">
                <a:alpha val="22000"/>
              </a:srgbClr>
            </a:outerShdw>
          </a:effectLst>
        </p:spPr>
        <p:style>
          <a:lnRef idx="0"/>
          <a:fillRef idx="0"/>
          <a:effectRef idx="0"/>
          <a:fontRef idx="minor"/>
        </p:style>
        <p:txBody>
          <a:bodyPr lIns="90000" tIns="45000" rIns="90000" bIns="45000" anchor="t">
            <a:noAutofit/>
          </a:bodyPr>
          <a:p>
            <a:pPr/>
            <a:endParaRPr lang="en-NG" sz="1800" b="0" u="none" strike="noStrike">
              <a:solidFill>
                <a:srgbClr val="FFFFFF"/>
              </a:solidFill>
              <a:effectLst/>
              <a:uFillTx/>
              <a:latin typeface="Arial"/>
            </a:endParaRPr>
          </a:p>
        </p:txBody>
      </p:sp>
      <p:sp>
        <p:nvSpPr>
          <p:cNvPr id="472" name="Text 13"/>
          <p:cNvSpPr/>
          <p:nvPr/>
        </p:nvSpPr>
        <p:spPr>
          <a:xfrm>
            <a:off x="4443840" y="2176200"/>
            <a:ext cx="1371240" cy="29232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NG" sz="1400" b="1" u="none" strike="noStrike">
                <a:solidFill>
                  <a:srgbClr val="E4B454"/>
                </a:solidFill>
                <a:effectLst/>
                <a:uFillTx/>
                <a:latin typeface="Calibri"/>
                <a:ea typeface="Calibri"/>
              </a:rPr>
              <a:t>Migrate</a:t>
            </a:r>
            <a:endParaRPr lang="en-NG" sz="1400" b="0" u="none" strike="noStrike">
              <a:solidFill>
                <a:srgbClr val="000000"/>
              </a:solidFill>
              <a:effectLst/>
              <a:uFillTx/>
              <a:latin typeface="Arial"/>
            </a:endParaRPr>
          </a:p>
        </p:txBody>
      </p:sp>
      <p:sp>
        <p:nvSpPr>
          <p:cNvPr id="473" name="Text 14"/>
          <p:cNvSpPr/>
          <p:nvPr/>
        </p:nvSpPr>
        <p:spPr>
          <a:xfrm>
            <a:off x="4407480" y="2505600"/>
            <a:ext cx="1444320" cy="840960"/>
          </a:xfrm>
          <a:prstGeom prst="rect">
            <a:avLst/>
          </a:prstGeom>
          <a:noFill/>
          <a:ln w="0">
            <a:noFill/>
          </a:ln>
        </p:spPr>
        <p:style>
          <a:lnRef idx="0"/>
          <a:fillRef idx="0"/>
          <a:effectRef idx="0"/>
          <a:fontRef idx="minor"/>
        </p:style>
        <p:txBody>
          <a:bodyPr lIns="0" tIns="0" rIns="0" bIns="0" anchor="ctr">
            <a:noAutofit/>
          </a:bodyPr>
          <a:p>
            <a:pPr algn="ctr">
              <a:lnSpc>
                <a:spcPts val="1451"/>
              </a:lnSpc>
              <a:tabLst>
                <a:tab pos="0" algn="l"/>
              </a:tabLst>
            </a:pPr>
            <a:r>
              <a:rPr lang="en-NG" sz="1100" b="0" u="none" strike="noStrike">
                <a:solidFill>
                  <a:srgbClr val="DAD5EC"/>
                </a:solidFill>
                <a:effectLst/>
                <a:uFillTx/>
                <a:latin typeface="Calibri"/>
                <a:ea typeface="Calibri"/>
              </a:rPr>
              <a:t>Applied files</a:t>
            </a:r>
            <a:endParaRPr lang="en-NG" sz="1100" b="0" u="none" strike="noStrike">
              <a:solidFill>
                <a:srgbClr val="000000"/>
              </a:solidFill>
              <a:effectLst/>
              <a:uFillTx/>
              <a:latin typeface="Arial"/>
            </a:endParaRPr>
          </a:p>
          <a:p>
            <a:pPr algn="ctr">
              <a:lnSpc>
                <a:spcPts val="1451"/>
              </a:lnSpc>
              <a:tabLst>
                <a:tab pos="0" algn="l"/>
              </a:tabLst>
            </a:pPr>
            <a:r>
              <a:rPr lang="en-NG" sz="1100" b="0" u="none" strike="noStrike">
                <a:solidFill>
                  <a:srgbClr val="DAD5EC"/>
                </a:solidFill>
                <a:effectLst/>
                <a:uFillTx/>
                <a:latin typeface="Calibri"/>
                <a:ea typeface="Calibri"/>
              </a:rPr>
              <a:t>cannot change</a:t>
            </a:r>
            <a:endParaRPr lang="en-NG" sz="1100" b="0" u="none" strike="noStrike">
              <a:solidFill>
                <a:srgbClr val="000000"/>
              </a:solidFill>
              <a:effectLst/>
              <a:uFillTx/>
              <a:latin typeface="Arial"/>
            </a:endParaRPr>
          </a:p>
        </p:txBody>
      </p:sp>
      <p:sp>
        <p:nvSpPr>
          <p:cNvPr id="474" name="Shape 15"/>
          <p:cNvSpPr/>
          <p:nvPr/>
        </p:nvSpPr>
        <p:spPr>
          <a:xfrm>
            <a:off x="5989320" y="2679120"/>
            <a:ext cx="155160" cy="155160"/>
          </a:xfrm>
          <a:prstGeom prst="chevron">
            <a:avLst>
              <a:gd name="adj" fmla="val 50000"/>
            </a:avLst>
          </a:prstGeom>
          <a:solidFill>
            <a:srgbClr val="D8DAE5"/>
          </a:solidFill>
          <a:ln w="12700">
            <a:solidFill>
              <a:srgbClr val="D8DAE5"/>
            </a:solidFill>
            <a:round/>
          </a:ln>
        </p:spPr>
        <p:style>
          <a:lnRef idx="0"/>
          <a:fillRef idx="0"/>
          <a:effectRef idx="0"/>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475" name="Shape 16"/>
          <p:cNvSpPr/>
          <p:nvPr/>
        </p:nvSpPr>
        <p:spPr>
          <a:xfrm>
            <a:off x="6190560" y="2011680"/>
            <a:ext cx="1627200" cy="1481040"/>
          </a:xfrm>
          <a:prstGeom prst="roundRect">
            <a:avLst>
              <a:gd name="adj" fmla="val 4321"/>
            </a:avLst>
          </a:prstGeom>
          <a:solidFill>
            <a:srgbClr val="240C54"/>
          </a:solidFill>
          <a:ln w="12700">
            <a:solidFill>
              <a:srgbClr val="240C54"/>
            </a:solidFill>
            <a:round/>
          </a:ln>
          <a:effectLst>
            <a:outerShdw algn="bl" blurRad="127080" dir="5400000" dist="25560" kx="0" ky="0" rotWithShape="0" sx="100000" sy="100000">
              <a:srgbClr val="9098B0">
                <a:alpha val="22000"/>
              </a:srgbClr>
            </a:outerShdw>
          </a:effectLst>
        </p:spPr>
        <p:style>
          <a:lnRef idx="0"/>
          <a:fillRef idx="0"/>
          <a:effectRef idx="0"/>
          <a:fontRef idx="minor"/>
        </p:style>
        <p:txBody>
          <a:bodyPr lIns="90000" tIns="45000" rIns="90000" bIns="45000" anchor="t">
            <a:noAutofit/>
          </a:bodyPr>
          <a:p>
            <a:pPr/>
            <a:endParaRPr lang="en-NG" sz="1800" b="0" u="none" strike="noStrike">
              <a:solidFill>
                <a:srgbClr val="FFFFFF"/>
              </a:solidFill>
              <a:effectLst/>
              <a:uFillTx/>
              <a:latin typeface="Arial"/>
            </a:endParaRPr>
          </a:p>
        </p:txBody>
      </p:sp>
      <p:sp>
        <p:nvSpPr>
          <p:cNvPr id="476" name="Text 17"/>
          <p:cNvSpPr/>
          <p:nvPr/>
        </p:nvSpPr>
        <p:spPr>
          <a:xfrm>
            <a:off x="6318360" y="2176200"/>
            <a:ext cx="1371240" cy="29232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NG" sz="1400" b="1" u="none" strike="noStrike">
                <a:solidFill>
                  <a:srgbClr val="E4B454"/>
                </a:solidFill>
                <a:effectLst/>
                <a:uFillTx/>
                <a:latin typeface="Calibri"/>
                <a:ea typeface="Calibri"/>
              </a:rPr>
              <a:t>Build</a:t>
            </a:r>
            <a:endParaRPr lang="en-NG" sz="1400" b="0" u="none" strike="noStrike">
              <a:solidFill>
                <a:srgbClr val="000000"/>
              </a:solidFill>
              <a:effectLst/>
              <a:uFillTx/>
              <a:latin typeface="Arial"/>
            </a:endParaRPr>
          </a:p>
        </p:txBody>
      </p:sp>
      <p:sp>
        <p:nvSpPr>
          <p:cNvPr id="477" name="Text 18"/>
          <p:cNvSpPr/>
          <p:nvPr/>
        </p:nvSpPr>
        <p:spPr>
          <a:xfrm>
            <a:off x="6282000" y="2505600"/>
            <a:ext cx="1444320" cy="840960"/>
          </a:xfrm>
          <a:prstGeom prst="rect">
            <a:avLst/>
          </a:prstGeom>
          <a:noFill/>
          <a:ln w="0">
            <a:noFill/>
          </a:ln>
        </p:spPr>
        <p:style>
          <a:lnRef idx="0"/>
          <a:fillRef idx="0"/>
          <a:effectRef idx="0"/>
          <a:fontRef idx="minor"/>
        </p:style>
        <p:txBody>
          <a:bodyPr lIns="0" tIns="0" rIns="0" bIns="0" anchor="ctr">
            <a:noAutofit/>
          </a:bodyPr>
          <a:p>
            <a:pPr algn="ctr">
              <a:lnSpc>
                <a:spcPts val="1451"/>
              </a:lnSpc>
              <a:tabLst>
                <a:tab pos="0" algn="l"/>
              </a:tabLst>
            </a:pPr>
            <a:r>
              <a:rPr lang="en-NG" sz="1100" b="0" u="none" strike="noStrike">
                <a:solidFill>
                  <a:srgbClr val="DAD5EC"/>
                </a:solidFill>
                <a:effectLst/>
                <a:uFillTx/>
                <a:latin typeface="Calibri"/>
                <a:ea typeface="Calibri"/>
              </a:rPr>
              <a:t>Docker image,</a:t>
            </a:r>
            <a:endParaRPr lang="en-NG" sz="1100" b="0" u="none" strike="noStrike">
              <a:solidFill>
                <a:srgbClr val="000000"/>
              </a:solidFill>
              <a:effectLst/>
              <a:uFillTx/>
              <a:latin typeface="Arial"/>
            </a:endParaRPr>
          </a:p>
          <a:p>
            <a:pPr algn="ctr">
              <a:lnSpc>
                <a:spcPts val="1451"/>
              </a:lnSpc>
              <a:tabLst>
                <a:tab pos="0" algn="l"/>
              </a:tabLst>
            </a:pPr>
            <a:r>
              <a:rPr lang="en-NG" sz="1100" b="0" u="none" strike="noStrike">
                <a:solidFill>
                  <a:srgbClr val="DAD5EC"/>
                </a:solidFill>
                <a:effectLst/>
                <a:uFillTx/>
                <a:latin typeface="Calibri"/>
                <a:ea typeface="Calibri"/>
              </a:rPr>
              <a:t>15.5 MB</a:t>
            </a:r>
            <a:endParaRPr lang="en-NG" sz="1100" b="0" u="none" strike="noStrike">
              <a:solidFill>
                <a:srgbClr val="000000"/>
              </a:solidFill>
              <a:effectLst/>
              <a:uFillTx/>
              <a:latin typeface="Arial"/>
            </a:endParaRPr>
          </a:p>
        </p:txBody>
      </p:sp>
      <p:sp>
        <p:nvSpPr>
          <p:cNvPr id="478" name="Shape 19"/>
          <p:cNvSpPr/>
          <p:nvPr/>
        </p:nvSpPr>
        <p:spPr>
          <a:xfrm>
            <a:off x="7863840" y="2679120"/>
            <a:ext cx="155160" cy="155160"/>
          </a:xfrm>
          <a:prstGeom prst="chevron">
            <a:avLst>
              <a:gd name="adj" fmla="val 50000"/>
            </a:avLst>
          </a:prstGeom>
          <a:solidFill>
            <a:srgbClr val="D8DAE5"/>
          </a:solidFill>
          <a:ln w="12700">
            <a:solidFill>
              <a:srgbClr val="D8DAE5"/>
            </a:solidFill>
            <a:round/>
          </a:ln>
        </p:spPr>
        <p:style>
          <a:lnRef idx="0"/>
          <a:fillRef idx="0"/>
          <a:effectRef idx="0"/>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479" name="Shape 20"/>
          <p:cNvSpPr/>
          <p:nvPr/>
        </p:nvSpPr>
        <p:spPr>
          <a:xfrm>
            <a:off x="8065080" y="2011680"/>
            <a:ext cx="1627200" cy="1481040"/>
          </a:xfrm>
          <a:prstGeom prst="roundRect">
            <a:avLst>
              <a:gd name="adj" fmla="val 4321"/>
            </a:avLst>
          </a:prstGeom>
          <a:solidFill>
            <a:srgbClr val="240C54"/>
          </a:solidFill>
          <a:ln w="12700">
            <a:solidFill>
              <a:srgbClr val="240C54"/>
            </a:solidFill>
            <a:round/>
          </a:ln>
          <a:effectLst>
            <a:outerShdw algn="bl" blurRad="127080" dir="5400000" dist="25560" kx="0" ky="0" rotWithShape="0" sx="100000" sy="100000">
              <a:srgbClr val="9098B0">
                <a:alpha val="22000"/>
              </a:srgbClr>
            </a:outerShdw>
          </a:effectLst>
        </p:spPr>
        <p:style>
          <a:lnRef idx="0"/>
          <a:fillRef idx="0"/>
          <a:effectRef idx="0"/>
          <a:fontRef idx="minor"/>
        </p:style>
        <p:txBody>
          <a:bodyPr lIns="90000" tIns="45000" rIns="90000" bIns="45000" anchor="t">
            <a:noAutofit/>
          </a:bodyPr>
          <a:p>
            <a:pPr/>
            <a:endParaRPr lang="en-NG" sz="1800" b="0" u="none" strike="noStrike">
              <a:solidFill>
                <a:srgbClr val="FFFFFF"/>
              </a:solidFill>
              <a:effectLst/>
              <a:uFillTx/>
              <a:latin typeface="Arial"/>
            </a:endParaRPr>
          </a:p>
        </p:txBody>
      </p:sp>
      <p:sp>
        <p:nvSpPr>
          <p:cNvPr id="480" name="Text 21"/>
          <p:cNvSpPr/>
          <p:nvPr/>
        </p:nvSpPr>
        <p:spPr>
          <a:xfrm>
            <a:off x="8192880" y="2176200"/>
            <a:ext cx="1371240" cy="29232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NG" sz="1400" b="1" u="none" strike="noStrike">
                <a:solidFill>
                  <a:srgbClr val="E4B454"/>
                </a:solidFill>
                <a:effectLst/>
                <a:uFillTx/>
                <a:latin typeface="Calibri"/>
                <a:ea typeface="Calibri"/>
              </a:rPr>
              <a:t>Deploy</a:t>
            </a:r>
            <a:endParaRPr lang="en-NG" sz="1400" b="0" u="none" strike="noStrike">
              <a:solidFill>
                <a:srgbClr val="000000"/>
              </a:solidFill>
              <a:effectLst/>
              <a:uFillTx/>
              <a:latin typeface="Arial"/>
            </a:endParaRPr>
          </a:p>
        </p:txBody>
      </p:sp>
      <p:sp>
        <p:nvSpPr>
          <p:cNvPr id="481" name="Text 22"/>
          <p:cNvSpPr/>
          <p:nvPr/>
        </p:nvSpPr>
        <p:spPr>
          <a:xfrm>
            <a:off x="8156520" y="2505600"/>
            <a:ext cx="1444320" cy="840960"/>
          </a:xfrm>
          <a:prstGeom prst="rect">
            <a:avLst/>
          </a:prstGeom>
          <a:noFill/>
          <a:ln w="0">
            <a:noFill/>
          </a:ln>
        </p:spPr>
        <p:style>
          <a:lnRef idx="0"/>
          <a:fillRef idx="0"/>
          <a:effectRef idx="0"/>
          <a:fontRef idx="minor"/>
        </p:style>
        <p:txBody>
          <a:bodyPr lIns="0" tIns="0" rIns="0" bIns="0" anchor="ctr">
            <a:noAutofit/>
          </a:bodyPr>
          <a:p>
            <a:pPr algn="ctr">
              <a:lnSpc>
                <a:spcPts val="1451"/>
              </a:lnSpc>
              <a:tabLst>
                <a:tab pos="0" algn="l"/>
              </a:tabLst>
            </a:pPr>
            <a:r>
              <a:rPr lang="en-NG" sz="1100" b="0" u="none" strike="noStrike">
                <a:solidFill>
                  <a:srgbClr val="DAD5EC"/>
                </a:solidFill>
                <a:effectLst/>
                <a:uFillTx/>
                <a:latin typeface="Calibri"/>
                <a:ea typeface="Calibri"/>
              </a:rPr>
              <a:t>Render, only</a:t>
            </a:r>
            <a:endParaRPr lang="en-NG" sz="1100" b="0" u="none" strike="noStrike">
              <a:solidFill>
                <a:srgbClr val="000000"/>
              </a:solidFill>
              <a:effectLst/>
              <a:uFillTx/>
              <a:latin typeface="Arial"/>
            </a:endParaRPr>
          </a:p>
          <a:p>
            <a:pPr algn="ctr">
              <a:lnSpc>
                <a:spcPts val="1451"/>
              </a:lnSpc>
              <a:tabLst>
                <a:tab pos="0" algn="l"/>
              </a:tabLst>
            </a:pPr>
            <a:r>
              <a:rPr lang="en-NG" sz="1100" b="0" u="none" strike="noStrike">
                <a:solidFill>
                  <a:srgbClr val="DAD5EC"/>
                </a:solidFill>
                <a:effectLst/>
                <a:uFillTx/>
                <a:latin typeface="Calibri"/>
                <a:ea typeface="Calibri"/>
              </a:rPr>
              <a:t>if all passed</a:t>
            </a:r>
            <a:endParaRPr lang="en-NG" sz="1100" b="0" u="none" strike="noStrike">
              <a:solidFill>
                <a:srgbClr val="000000"/>
              </a:solidFill>
              <a:effectLst/>
              <a:uFillTx/>
              <a:latin typeface="Arial"/>
            </a:endParaRPr>
          </a:p>
        </p:txBody>
      </p:sp>
      <p:sp>
        <p:nvSpPr>
          <p:cNvPr id="482" name="Shape 23"/>
          <p:cNvSpPr/>
          <p:nvPr/>
        </p:nvSpPr>
        <p:spPr>
          <a:xfrm>
            <a:off x="9738360" y="2679120"/>
            <a:ext cx="155160" cy="155160"/>
          </a:xfrm>
          <a:prstGeom prst="chevron">
            <a:avLst>
              <a:gd name="adj" fmla="val 50000"/>
            </a:avLst>
          </a:prstGeom>
          <a:solidFill>
            <a:srgbClr val="D8DAE5"/>
          </a:solidFill>
          <a:ln w="12700">
            <a:solidFill>
              <a:srgbClr val="D8DAE5"/>
            </a:solidFill>
            <a:round/>
          </a:ln>
        </p:spPr>
        <p:style>
          <a:lnRef idx="0"/>
          <a:fillRef idx="0"/>
          <a:effectRef idx="0"/>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483" name="Shape 24"/>
          <p:cNvSpPr/>
          <p:nvPr/>
        </p:nvSpPr>
        <p:spPr>
          <a:xfrm>
            <a:off x="9939600" y="2011680"/>
            <a:ext cx="1627200" cy="1481040"/>
          </a:xfrm>
          <a:prstGeom prst="roundRect">
            <a:avLst>
              <a:gd name="adj" fmla="val 4321"/>
            </a:avLst>
          </a:prstGeom>
          <a:solidFill>
            <a:srgbClr val="1E7A46"/>
          </a:solidFill>
          <a:ln w="12700">
            <a:solidFill>
              <a:srgbClr val="1E7A46"/>
            </a:solidFill>
            <a:round/>
          </a:ln>
          <a:effectLst>
            <a:outerShdw algn="bl" blurRad="127080" dir="5400000" dist="25560" kx="0" ky="0" rotWithShape="0" sx="100000" sy="100000">
              <a:srgbClr val="9098B0">
                <a:alpha val="22000"/>
              </a:srgbClr>
            </a:outerShdw>
          </a:effectLst>
        </p:spPr>
        <p:style>
          <a:lnRef idx="0"/>
          <a:fillRef idx="0"/>
          <a:effectRef idx="0"/>
          <a:fontRef idx="minor"/>
        </p:style>
        <p:txBody>
          <a:bodyPr lIns="90000" tIns="45000" rIns="90000" bIns="45000" anchor="t">
            <a:noAutofit/>
          </a:bodyPr>
          <a:p>
            <a:pPr/>
            <a:endParaRPr lang="en-NG" sz="1800" b="0" u="none" strike="noStrike">
              <a:solidFill>
                <a:srgbClr val="FFFFFF"/>
              </a:solidFill>
              <a:effectLst/>
              <a:uFillTx/>
              <a:latin typeface="Arial"/>
            </a:endParaRPr>
          </a:p>
        </p:txBody>
      </p:sp>
      <p:sp>
        <p:nvSpPr>
          <p:cNvPr id="484" name="Text 25"/>
          <p:cNvSpPr/>
          <p:nvPr/>
        </p:nvSpPr>
        <p:spPr>
          <a:xfrm>
            <a:off x="10067400" y="2176200"/>
            <a:ext cx="1371240" cy="29232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NG" sz="1400" b="1" u="none" strike="noStrike">
                <a:solidFill>
                  <a:srgbClr val="E4B454"/>
                </a:solidFill>
                <a:effectLst/>
                <a:uFillTx/>
                <a:latin typeface="Calibri"/>
                <a:ea typeface="Calibri"/>
              </a:rPr>
              <a:t>Smoke</a:t>
            </a:r>
            <a:endParaRPr lang="en-NG" sz="1400" b="0" u="none" strike="noStrike">
              <a:solidFill>
                <a:srgbClr val="000000"/>
              </a:solidFill>
              <a:effectLst/>
              <a:uFillTx/>
              <a:latin typeface="Arial"/>
            </a:endParaRPr>
          </a:p>
        </p:txBody>
      </p:sp>
      <p:sp>
        <p:nvSpPr>
          <p:cNvPr id="485" name="Text 26"/>
          <p:cNvSpPr/>
          <p:nvPr/>
        </p:nvSpPr>
        <p:spPr>
          <a:xfrm>
            <a:off x="10031040" y="2505600"/>
            <a:ext cx="1444320" cy="840960"/>
          </a:xfrm>
          <a:prstGeom prst="rect">
            <a:avLst/>
          </a:prstGeom>
          <a:noFill/>
          <a:ln w="0">
            <a:noFill/>
          </a:ln>
        </p:spPr>
        <p:style>
          <a:lnRef idx="0"/>
          <a:fillRef idx="0"/>
          <a:effectRef idx="0"/>
          <a:fontRef idx="minor"/>
        </p:style>
        <p:txBody>
          <a:bodyPr lIns="0" tIns="0" rIns="0" bIns="0" anchor="ctr">
            <a:noAutofit/>
          </a:bodyPr>
          <a:p>
            <a:pPr algn="ctr">
              <a:lnSpc>
                <a:spcPts val="1451"/>
              </a:lnSpc>
              <a:tabLst>
                <a:tab pos="0" algn="l"/>
              </a:tabLst>
            </a:pPr>
            <a:r>
              <a:rPr lang="en-NG" sz="1100" b="0" u="none" strike="noStrike">
                <a:solidFill>
                  <a:srgbClr val="DAD5EC"/>
                </a:solidFill>
                <a:effectLst/>
                <a:uFillTx/>
                <a:latin typeface="Calibri"/>
                <a:ea typeface="Calibri"/>
              </a:rPr>
              <a:t>Health, docs</a:t>
            </a:r>
            <a:endParaRPr lang="en-NG" sz="1100" b="0" u="none" strike="noStrike">
              <a:solidFill>
                <a:srgbClr val="000000"/>
              </a:solidFill>
              <a:effectLst/>
              <a:uFillTx/>
              <a:latin typeface="Arial"/>
            </a:endParaRPr>
          </a:p>
          <a:p>
            <a:pPr algn="ctr">
              <a:lnSpc>
                <a:spcPts val="1451"/>
              </a:lnSpc>
              <a:tabLst>
                <a:tab pos="0" algn="l"/>
              </a:tabLst>
            </a:pPr>
            <a:r>
              <a:rPr lang="en-NG" sz="1100" b="0" u="none" strike="noStrike">
                <a:solidFill>
                  <a:srgbClr val="DAD5EC"/>
                </a:solidFill>
                <a:effectLst/>
                <a:uFillTx/>
                <a:latin typeface="Calibri"/>
                <a:ea typeface="Calibri"/>
              </a:rPr>
              <a:t>and CORS live</a:t>
            </a:r>
            <a:endParaRPr lang="en-NG" sz="1100" b="0" u="none" strike="noStrike">
              <a:solidFill>
                <a:srgbClr val="000000"/>
              </a:solidFill>
              <a:effectLst/>
              <a:uFillTx/>
              <a:latin typeface="Arial"/>
            </a:endParaRPr>
          </a:p>
        </p:txBody>
      </p:sp>
      <p:sp>
        <p:nvSpPr>
          <p:cNvPr id="486" name="Shape 27"/>
          <p:cNvSpPr/>
          <p:nvPr/>
        </p:nvSpPr>
        <p:spPr>
          <a:xfrm>
            <a:off x="567000" y="3785760"/>
            <a:ext cx="3565800" cy="1810080"/>
          </a:xfrm>
          <a:prstGeom prst="roundRect">
            <a:avLst>
              <a:gd name="adj" fmla="val 3535"/>
            </a:avLst>
          </a:prstGeom>
          <a:solidFill>
            <a:srgbClr val="F4F5F9"/>
          </a:solidFill>
          <a:ln w="9525">
            <a:solidFill>
              <a:srgbClr val="D8DAE5"/>
            </a:solidFill>
            <a:round/>
          </a:ln>
          <a:effectLst>
            <a:outerShdw algn="bl" blurRad="127080" dir="5400000" dist="25560" kx="0" ky="0" rotWithShape="0" sx="100000" sy="100000">
              <a:srgbClr val="9098B0">
                <a:alpha val="22000"/>
              </a:srgbClr>
            </a:outerShdw>
          </a:effectLst>
        </p:spPr>
        <p:style>
          <a:lnRef idx="0"/>
          <a:fillRef idx="0"/>
          <a:effectRef idx="0"/>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487" name="Text 28"/>
          <p:cNvSpPr/>
          <p:nvPr/>
        </p:nvSpPr>
        <p:spPr>
          <a:xfrm>
            <a:off x="786240" y="3959280"/>
            <a:ext cx="3126960" cy="328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400" b="1" u="none" strike="noStrike">
                <a:solidFill>
                  <a:srgbClr val="240C54"/>
                </a:solidFill>
                <a:effectLst/>
                <a:uFillTx/>
                <a:latin typeface="Calibri"/>
                <a:ea typeface="Calibri"/>
              </a:rPr>
              <a:t>Git discipline</a:t>
            </a:r>
            <a:endParaRPr lang="en-NG" sz="1400" b="0" u="none" strike="noStrike">
              <a:solidFill>
                <a:srgbClr val="000000"/>
              </a:solidFill>
              <a:effectLst/>
              <a:uFillTx/>
              <a:latin typeface="Arial"/>
            </a:endParaRPr>
          </a:p>
        </p:txBody>
      </p:sp>
      <p:sp>
        <p:nvSpPr>
          <p:cNvPr id="488" name="Text 29"/>
          <p:cNvSpPr/>
          <p:nvPr/>
        </p:nvSpPr>
        <p:spPr>
          <a:xfrm>
            <a:off x="786240" y="4352400"/>
            <a:ext cx="3126960" cy="1096920"/>
          </a:xfrm>
          <a:prstGeom prst="rect">
            <a:avLst/>
          </a:prstGeom>
          <a:noFill/>
          <a:ln w="0">
            <a:noFill/>
          </a:ln>
        </p:spPr>
        <p:style>
          <a:lnRef idx="0"/>
          <a:fillRef idx="0"/>
          <a:effectRef idx="0"/>
          <a:fontRef idx="minor"/>
        </p:style>
        <p:txBody>
          <a:bodyPr lIns="0" tIns="0" rIns="0" bIns="0" anchor="t">
            <a:noAutofit/>
          </a:bodyPr>
          <a:p>
            <a:pPr>
              <a:lnSpc>
                <a:spcPts val="1650"/>
              </a:lnSpc>
              <a:tabLst>
                <a:tab pos="0" algn="l"/>
              </a:tabLst>
            </a:pPr>
            <a:r>
              <a:rPr lang="en-NG" sz="1200" b="0" u="none" strike="noStrike">
                <a:solidFill>
                  <a:srgbClr val="1A1A2E"/>
                </a:solidFill>
                <a:effectLst/>
                <a:uFillTx/>
                <a:latin typeface="Calibri"/>
                <a:ea typeface="Calibri"/>
              </a:rPr>
              <a:t>33 commits, each one message describing why the change was made, not what the diff shows.</a:t>
            </a:r>
            <a:endParaRPr lang="en-NG" sz="1200" b="0" u="none" strike="noStrike">
              <a:solidFill>
                <a:srgbClr val="000000"/>
              </a:solidFill>
              <a:effectLst/>
              <a:uFillTx/>
              <a:latin typeface="Arial"/>
            </a:endParaRPr>
          </a:p>
        </p:txBody>
      </p:sp>
      <p:sp>
        <p:nvSpPr>
          <p:cNvPr id="489" name="Shape 30"/>
          <p:cNvSpPr/>
          <p:nvPr/>
        </p:nvSpPr>
        <p:spPr>
          <a:xfrm>
            <a:off x="4316040" y="3785760"/>
            <a:ext cx="3565800" cy="1810080"/>
          </a:xfrm>
          <a:prstGeom prst="roundRect">
            <a:avLst>
              <a:gd name="adj" fmla="val 3535"/>
            </a:avLst>
          </a:prstGeom>
          <a:solidFill>
            <a:srgbClr val="F4F5F9"/>
          </a:solidFill>
          <a:ln w="9525">
            <a:solidFill>
              <a:srgbClr val="D8DAE5"/>
            </a:solidFill>
            <a:round/>
          </a:ln>
          <a:effectLst>
            <a:outerShdw algn="bl" blurRad="127080" dir="5400000" dist="25560" kx="0" ky="0" rotWithShape="0" sx="100000" sy="100000">
              <a:srgbClr val="9098B0">
                <a:alpha val="22000"/>
              </a:srgbClr>
            </a:outerShdw>
          </a:effectLst>
        </p:spPr>
        <p:style>
          <a:lnRef idx="0"/>
          <a:fillRef idx="0"/>
          <a:effectRef idx="0"/>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490" name="Text 31"/>
          <p:cNvSpPr/>
          <p:nvPr/>
        </p:nvSpPr>
        <p:spPr>
          <a:xfrm>
            <a:off x="4535280" y="3959280"/>
            <a:ext cx="3126960" cy="328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400" b="1" u="none" strike="noStrike">
                <a:solidFill>
                  <a:srgbClr val="240C54"/>
                </a:solidFill>
                <a:effectLst/>
                <a:uFillTx/>
                <a:latin typeface="Calibri"/>
                <a:ea typeface="Calibri"/>
              </a:rPr>
              <a:t>Migrations are immutable</a:t>
            </a:r>
            <a:endParaRPr lang="en-NG" sz="1400" b="0" u="none" strike="noStrike">
              <a:solidFill>
                <a:srgbClr val="000000"/>
              </a:solidFill>
              <a:effectLst/>
              <a:uFillTx/>
              <a:latin typeface="Arial"/>
            </a:endParaRPr>
          </a:p>
        </p:txBody>
      </p:sp>
      <p:sp>
        <p:nvSpPr>
          <p:cNvPr id="491" name="Text 32"/>
          <p:cNvSpPr/>
          <p:nvPr/>
        </p:nvSpPr>
        <p:spPr>
          <a:xfrm>
            <a:off x="4535280" y="4352400"/>
            <a:ext cx="3126960" cy="1096920"/>
          </a:xfrm>
          <a:prstGeom prst="rect">
            <a:avLst/>
          </a:prstGeom>
          <a:noFill/>
          <a:ln w="0">
            <a:noFill/>
          </a:ln>
        </p:spPr>
        <p:style>
          <a:lnRef idx="0"/>
          <a:fillRef idx="0"/>
          <a:effectRef idx="0"/>
          <a:fontRef idx="minor"/>
        </p:style>
        <p:txBody>
          <a:bodyPr lIns="0" tIns="0" rIns="0" bIns="0" anchor="t">
            <a:noAutofit/>
          </a:bodyPr>
          <a:p>
            <a:pPr>
              <a:lnSpc>
                <a:spcPts val="1650"/>
              </a:lnSpc>
              <a:tabLst>
                <a:tab pos="0" algn="l"/>
              </a:tabLst>
            </a:pPr>
            <a:r>
              <a:rPr lang="en-NG" sz="1200" b="0" u="none" strike="noStrike">
                <a:solidFill>
                  <a:srgbClr val="1A1A2E"/>
                </a:solidFill>
                <a:effectLst/>
                <a:uFillTx/>
                <a:latin typeface="Calibri"/>
                <a:ea typeface="Calibri"/>
              </a:rPr>
              <a:t>The pipeline refuses a commit that edits an already-applied migration, because production has already run it.</a:t>
            </a:r>
            <a:endParaRPr lang="en-NG" sz="1200" b="0" u="none" strike="noStrike">
              <a:solidFill>
                <a:srgbClr val="000000"/>
              </a:solidFill>
              <a:effectLst/>
              <a:uFillTx/>
              <a:latin typeface="Arial"/>
            </a:endParaRPr>
          </a:p>
        </p:txBody>
      </p:sp>
      <p:sp>
        <p:nvSpPr>
          <p:cNvPr id="492" name="Shape 33"/>
          <p:cNvSpPr/>
          <p:nvPr/>
        </p:nvSpPr>
        <p:spPr>
          <a:xfrm>
            <a:off x="8065080" y="3785760"/>
            <a:ext cx="3556800" cy="1810080"/>
          </a:xfrm>
          <a:prstGeom prst="roundRect">
            <a:avLst>
              <a:gd name="adj" fmla="val 3535"/>
            </a:avLst>
          </a:prstGeom>
          <a:solidFill>
            <a:srgbClr val="FBF4E4"/>
          </a:solidFill>
          <a:ln w="9525">
            <a:solidFill>
              <a:srgbClr val="E8D9AE"/>
            </a:solidFill>
            <a:round/>
          </a:ln>
          <a:effectLst>
            <a:outerShdw algn="bl" blurRad="127080" dir="5400000" dist="25560" kx="0" ky="0" rotWithShape="0" sx="100000" sy="100000">
              <a:srgbClr val="9098B0">
                <a:alpha val="22000"/>
              </a:srgbClr>
            </a:outerShdw>
          </a:effectLst>
        </p:spPr>
        <p:style>
          <a:lnRef idx="0"/>
          <a:fillRef idx="0"/>
          <a:effectRef idx="0"/>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493" name="Text 34"/>
          <p:cNvSpPr/>
          <p:nvPr/>
        </p:nvSpPr>
        <p:spPr>
          <a:xfrm>
            <a:off x="8284320" y="3959280"/>
            <a:ext cx="3117600" cy="328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400" b="1" u="none" strike="noStrike">
                <a:solidFill>
                  <a:srgbClr val="240C54"/>
                </a:solidFill>
                <a:effectLst/>
                <a:uFillTx/>
                <a:latin typeface="Calibri"/>
                <a:ea typeface="Calibri"/>
              </a:rPr>
              <a:t>Why smoke tests</a:t>
            </a:r>
            <a:endParaRPr lang="en-NG" sz="1400" b="0" u="none" strike="noStrike">
              <a:solidFill>
                <a:srgbClr val="000000"/>
              </a:solidFill>
              <a:effectLst/>
              <a:uFillTx/>
              <a:latin typeface="Arial"/>
            </a:endParaRPr>
          </a:p>
        </p:txBody>
      </p:sp>
      <p:sp>
        <p:nvSpPr>
          <p:cNvPr id="494" name="Text 35"/>
          <p:cNvSpPr/>
          <p:nvPr/>
        </p:nvSpPr>
        <p:spPr>
          <a:xfrm>
            <a:off x="8284320" y="4352400"/>
            <a:ext cx="3117600" cy="1096920"/>
          </a:xfrm>
          <a:prstGeom prst="rect">
            <a:avLst/>
          </a:prstGeom>
          <a:noFill/>
          <a:ln w="0">
            <a:noFill/>
          </a:ln>
        </p:spPr>
        <p:style>
          <a:lnRef idx="0"/>
          <a:fillRef idx="0"/>
          <a:effectRef idx="0"/>
          <a:fontRef idx="minor"/>
        </p:style>
        <p:txBody>
          <a:bodyPr lIns="0" tIns="0" rIns="0" bIns="0" anchor="t">
            <a:noAutofit/>
          </a:bodyPr>
          <a:p>
            <a:pPr>
              <a:lnSpc>
                <a:spcPts val="1650"/>
              </a:lnSpc>
              <a:tabLst>
                <a:tab pos="0" algn="l"/>
              </a:tabLst>
            </a:pPr>
            <a:r>
              <a:rPr lang="en-NG" sz="1200" b="0" u="none" strike="noStrike">
                <a:solidFill>
                  <a:srgbClr val="1A1A2E"/>
                </a:solidFill>
                <a:effectLst/>
                <a:uFillTx/>
                <a:latin typeface="Calibri"/>
                <a:ea typeface="Calibri"/>
              </a:rPr>
              <a:t>A green test suite proves the code compiled. Only a request to the live URL proves the system is actually serving.</a:t>
            </a:r>
            <a:endParaRPr lang="en-NG"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95" name="Text 0"/>
          <p:cNvSpPr/>
          <p:nvPr/>
        </p:nvSpPr>
        <p:spPr>
          <a:xfrm>
            <a:off x="567000" y="384120"/>
            <a:ext cx="8229240" cy="2372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100" b="1" u="none" spc="221" strike="noStrike">
                <a:solidFill>
                  <a:srgbClr val="E4B454"/>
                </a:solidFill>
                <a:effectLst/>
                <a:uFillTx/>
                <a:latin typeface="Calibri"/>
                <a:ea typeface="Calibri"/>
              </a:rPr>
              <a:t>DEPLOYMENT</a:t>
            </a:r>
            <a:endParaRPr lang="en-NG" sz="1100" b="0" u="none" strike="noStrike">
              <a:solidFill>
                <a:srgbClr val="000000"/>
              </a:solidFill>
              <a:effectLst/>
              <a:uFillTx/>
              <a:latin typeface="Arial"/>
            </a:endParaRPr>
          </a:p>
        </p:txBody>
      </p:sp>
      <p:sp>
        <p:nvSpPr>
          <p:cNvPr id="496" name="Text 1"/>
          <p:cNvSpPr/>
          <p:nvPr/>
        </p:nvSpPr>
        <p:spPr>
          <a:xfrm>
            <a:off x="567000" y="640080"/>
            <a:ext cx="9692280" cy="5666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3000" b="1" u="none" strike="noStrike">
                <a:solidFill>
                  <a:srgbClr val="240C54"/>
                </a:solidFill>
                <a:effectLst/>
                <a:uFillTx/>
                <a:latin typeface="Cambria"/>
                <a:ea typeface="Cambria"/>
              </a:rPr>
              <a:t>Live, on a custom domain, with documentation</a:t>
            </a:r>
            <a:endParaRPr lang="en-NG" sz="3000" b="0" u="none" strike="noStrike">
              <a:solidFill>
                <a:srgbClr val="000000"/>
              </a:solidFill>
              <a:effectLst/>
              <a:uFillTx/>
              <a:latin typeface="Arial"/>
            </a:endParaRPr>
          </a:p>
        </p:txBody>
      </p:sp>
      <p:pic>
        <p:nvPicPr>
          <p:cNvPr id="497" name="Image 0"/>
          <p:cNvPicPr/>
          <p:nvPr/>
        </p:nvPicPr>
        <p:blipFill>
          <a:blip r:embed="rId1"/>
          <a:stretch/>
        </p:blipFill>
        <p:spPr>
          <a:xfrm>
            <a:off x="11149200" y="365760"/>
            <a:ext cx="475200" cy="465840"/>
          </a:xfrm>
          <a:prstGeom prst="rect">
            <a:avLst/>
          </a:prstGeom>
          <a:noFill/>
          <a:ln w="0">
            <a:noFill/>
          </a:ln>
        </p:spPr>
      </p:pic>
      <p:sp>
        <p:nvSpPr>
          <p:cNvPr id="498" name="Text 2"/>
          <p:cNvSpPr/>
          <p:nvPr/>
        </p:nvSpPr>
        <p:spPr>
          <a:xfrm>
            <a:off x="11149200" y="6382440"/>
            <a:ext cx="475200" cy="219240"/>
          </a:xfrm>
          <a:prstGeom prst="rect">
            <a:avLst/>
          </a:prstGeom>
          <a:noFill/>
          <a:ln w="0">
            <a:noFill/>
          </a:ln>
        </p:spPr>
        <p:style>
          <a:lnRef idx="0"/>
          <a:fillRef idx="0"/>
          <a:effectRef idx="0"/>
          <a:fontRef idx="minor"/>
        </p:style>
        <p:txBody>
          <a:bodyPr lIns="0" tIns="0" rIns="0" bIns="0" anchor="ctr">
            <a:noAutofit/>
          </a:bodyPr>
          <a:p>
            <a:pPr algn="r">
              <a:lnSpc>
                <a:spcPct val="100000"/>
              </a:lnSpc>
              <a:tabLst>
                <a:tab pos="0" algn="l"/>
              </a:tabLst>
            </a:pPr>
            <a:r>
              <a:rPr lang="en-NG" sz="1000" b="0" u="none" strike="noStrike">
                <a:solidFill>
                  <a:srgbClr val="5B5B6B"/>
                </a:solidFill>
                <a:effectLst/>
                <a:uFillTx/>
                <a:latin typeface="Calibri"/>
                <a:ea typeface="Calibri"/>
              </a:rPr>
              <a:t>16</a:t>
            </a:r>
            <a:endParaRPr lang="en-NG" sz="1000" b="0" u="none" strike="noStrike">
              <a:solidFill>
                <a:srgbClr val="000000"/>
              </a:solidFill>
              <a:effectLst/>
              <a:uFillTx/>
              <a:latin typeface="Arial"/>
            </a:endParaRPr>
          </a:p>
        </p:txBody>
      </p:sp>
      <p:sp>
        <p:nvSpPr>
          <p:cNvPr id="499" name="Shape 3"/>
          <p:cNvSpPr/>
          <p:nvPr/>
        </p:nvSpPr>
        <p:spPr>
          <a:xfrm>
            <a:off x="567000" y="1316880"/>
            <a:ext cx="5806080" cy="2212560"/>
          </a:xfrm>
          <a:prstGeom prst="roundRect">
            <a:avLst>
              <a:gd name="adj" fmla="val 2893"/>
            </a:avLst>
          </a:prstGeom>
          <a:solidFill>
            <a:srgbClr val="240C54"/>
          </a:solidFill>
          <a:ln w="9525">
            <a:solidFill>
              <a:srgbClr val="240C54"/>
            </a:solidFill>
            <a:round/>
          </a:ln>
          <a:effectLst>
            <a:outerShdw algn="bl" blurRad="127080" dir="5400000" dist="25560" kx="0" ky="0" rotWithShape="0" sx="100000" sy="100000">
              <a:srgbClr val="9098B0">
                <a:alpha val="22000"/>
              </a:srgbClr>
            </a:outerShdw>
          </a:effectLst>
        </p:spPr>
        <p:style>
          <a:lnRef idx="0"/>
          <a:fillRef idx="0"/>
          <a:effectRef idx="0"/>
          <a:fontRef idx="minor"/>
        </p:style>
        <p:txBody>
          <a:bodyPr lIns="90000" tIns="45000" rIns="90000" bIns="45000" anchor="t">
            <a:noAutofit/>
          </a:bodyPr>
          <a:p>
            <a:pPr/>
            <a:endParaRPr lang="en-NG" sz="1800" b="0" u="none" strike="noStrike">
              <a:solidFill>
                <a:srgbClr val="FFFFFF"/>
              </a:solidFill>
              <a:effectLst/>
              <a:uFillTx/>
              <a:latin typeface="Arial"/>
            </a:endParaRPr>
          </a:p>
        </p:txBody>
      </p:sp>
      <p:sp>
        <p:nvSpPr>
          <p:cNvPr id="500" name="Text 4"/>
          <p:cNvSpPr/>
          <p:nvPr/>
        </p:nvSpPr>
        <p:spPr>
          <a:xfrm>
            <a:off x="786240" y="1490400"/>
            <a:ext cx="5367240" cy="328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500" b="1" u="none" strike="noStrike">
                <a:solidFill>
                  <a:srgbClr val="E4B454"/>
                </a:solidFill>
                <a:effectLst/>
                <a:uFillTx/>
                <a:latin typeface="Calibri"/>
                <a:ea typeface="Calibri"/>
              </a:rPr>
              <a:t>Addresses</a:t>
            </a:r>
            <a:endParaRPr lang="en-NG" sz="1500" b="0" u="none" strike="noStrike">
              <a:solidFill>
                <a:srgbClr val="000000"/>
              </a:solidFill>
              <a:effectLst/>
              <a:uFillTx/>
              <a:latin typeface="Arial"/>
            </a:endParaRPr>
          </a:p>
        </p:txBody>
      </p:sp>
      <p:sp>
        <p:nvSpPr>
          <p:cNvPr id="501" name="Text 5"/>
          <p:cNvSpPr/>
          <p:nvPr/>
        </p:nvSpPr>
        <p:spPr>
          <a:xfrm>
            <a:off x="804600" y="1847160"/>
            <a:ext cx="1481040" cy="310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150" b="0" u="none" strike="noStrike">
                <a:solidFill>
                  <a:srgbClr val="A99CD6"/>
                </a:solidFill>
                <a:effectLst/>
                <a:uFillTx/>
                <a:latin typeface="Calibri"/>
                <a:ea typeface="Calibri"/>
              </a:rPr>
              <a:t>API</a:t>
            </a:r>
            <a:endParaRPr lang="en-NG" sz="1150" b="0" u="none" strike="noStrike">
              <a:solidFill>
                <a:srgbClr val="000000"/>
              </a:solidFill>
              <a:effectLst/>
              <a:uFillTx/>
              <a:latin typeface="Arial"/>
            </a:endParaRPr>
          </a:p>
        </p:txBody>
      </p:sp>
      <p:sp>
        <p:nvSpPr>
          <p:cNvPr id="502" name="Text 6"/>
          <p:cNvSpPr/>
          <p:nvPr/>
        </p:nvSpPr>
        <p:spPr>
          <a:xfrm>
            <a:off x="2322720" y="1847160"/>
            <a:ext cx="3931560" cy="310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150" b="1" u="none" strike="noStrike">
                <a:solidFill>
                  <a:srgbClr val="FFFFFF"/>
                </a:solidFill>
                <a:effectLst/>
                <a:uFillTx/>
                <a:latin typeface="Courier New"/>
                <a:ea typeface="Courier New"/>
              </a:rPr>
              <a:t>api.library.appmd.dev</a:t>
            </a:r>
            <a:endParaRPr lang="en-NG" sz="1150" b="0" u="none" strike="noStrike">
              <a:solidFill>
                <a:srgbClr val="000000"/>
              </a:solidFill>
              <a:effectLst/>
              <a:uFillTx/>
              <a:latin typeface="Arial"/>
            </a:endParaRPr>
          </a:p>
        </p:txBody>
      </p:sp>
      <p:sp>
        <p:nvSpPr>
          <p:cNvPr id="503" name="Text 7"/>
          <p:cNvSpPr/>
          <p:nvPr/>
        </p:nvSpPr>
        <p:spPr>
          <a:xfrm>
            <a:off x="804600" y="2267640"/>
            <a:ext cx="1481040" cy="310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150" b="0" u="none" strike="noStrike">
                <a:solidFill>
                  <a:srgbClr val="A99CD6"/>
                </a:solidFill>
                <a:effectLst/>
                <a:uFillTx/>
                <a:latin typeface="Calibri"/>
                <a:ea typeface="Calibri"/>
              </a:rPr>
              <a:t>Swagger docs</a:t>
            </a:r>
            <a:endParaRPr lang="en-NG" sz="1150" b="0" u="none" strike="noStrike">
              <a:solidFill>
                <a:srgbClr val="000000"/>
              </a:solidFill>
              <a:effectLst/>
              <a:uFillTx/>
              <a:latin typeface="Arial"/>
            </a:endParaRPr>
          </a:p>
        </p:txBody>
      </p:sp>
      <p:sp>
        <p:nvSpPr>
          <p:cNvPr id="504" name="Text 8"/>
          <p:cNvSpPr/>
          <p:nvPr/>
        </p:nvSpPr>
        <p:spPr>
          <a:xfrm>
            <a:off x="2322720" y="2267640"/>
            <a:ext cx="3931560" cy="310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150" b="1" u="none" strike="noStrike">
                <a:solidFill>
                  <a:srgbClr val="FFFFFF"/>
                </a:solidFill>
                <a:effectLst/>
                <a:uFillTx/>
                <a:latin typeface="Courier New"/>
                <a:ea typeface="Courier New"/>
              </a:rPr>
              <a:t>api.library.appmd.dev/docs</a:t>
            </a:r>
            <a:endParaRPr lang="en-NG" sz="1150" b="0" u="none" strike="noStrike">
              <a:solidFill>
                <a:srgbClr val="000000"/>
              </a:solidFill>
              <a:effectLst/>
              <a:uFillTx/>
              <a:latin typeface="Arial"/>
            </a:endParaRPr>
          </a:p>
        </p:txBody>
      </p:sp>
      <p:sp>
        <p:nvSpPr>
          <p:cNvPr id="505" name="Text 9"/>
          <p:cNvSpPr/>
          <p:nvPr/>
        </p:nvSpPr>
        <p:spPr>
          <a:xfrm>
            <a:off x="804600" y="2688480"/>
            <a:ext cx="1481040" cy="310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150" b="0" u="none" strike="noStrike">
                <a:solidFill>
                  <a:srgbClr val="A99CD6"/>
                </a:solidFill>
                <a:effectLst/>
                <a:uFillTx/>
                <a:latin typeface="Calibri"/>
                <a:ea typeface="Calibri"/>
              </a:rPr>
              <a:t>OpenAPI spec</a:t>
            </a:r>
            <a:endParaRPr lang="en-NG" sz="1150" b="0" u="none" strike="noStrike">
              <a:solidFill>
                <a:srgbClr val="000000"/>
              </a:solidFill>
              <a:effectLst/>
              <a:uFillTx/>
              <a:latin typeface="Arial"/>
            </a:endParaRPr>
          </a:p>
        </p:txBody>
      </p:sp>
      <p:sp>
        <p:nvSpPr>
          <p:cNvPr id="506" name="Text 10"/>
          <p:cNvSpPr/>
          <p:nvPr/>
        </p:nvSpPr>
        <p:spPr>
          <a:xfrm>
            <a:off x="2322720" y="2688480"/>
            <a:ext cx="3931560" cy="310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150" b="1" u="none" strike="noStrike">
                <a:solidFill>
                  <a:srgbClr val="FFFFFF"/>
                </a:solidFill>
                <a:effectLst/>
                <a:uFillTx/>
                <a:latin typeface="Courier New"/>
                <a:ea typeface="Courier New"/>
              </a:rPr>
              <a:t>api.library.appmd.dev/openapi.yaml</a:t>
            </a:r>
            <a:endParaRPr lang="en-NG" sz="1150" b="0" u="none" strike="noStrike">
              <a:solidFill>
                <a:srgbClr val="000000"/>
              </a:solidFill>
              <a:effectLst/>
              <a:uFillTx/>
              <a:latin typeface="Arial"/>
            </a:endParaRPr>
          </a:p>
        </p:txBody>
      </p:sp>
      <p:sp>
        <p:nvSpPr>
          <p:cNvPr id="507" name="Text 11"/>
          <p:cNvSpPr/>
          <p:nvPr/>
        </p:nvSpPr>
        <p:spPr>
          <a:xfrm>
            <a:off x="804600" y="3108960"/>
            <a:ext cx="1481040" cy="310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150" b="0" u="none" strike="noStrike">
                <a:solidFill>
                  <a:srgbClr val="A99CD6"/>
                </a:solidFill>
                <a:effectLst/>
                <a:uFillTx/>
                <a:latin typeface="Calibri"/>
                <a:ea typeface="Calibri"/>
              </a:rPr>
              <a:t>Front end</a:t>
            </a:r>
            <a:endParaRPr lang="en-NG" sz="1150" b="0" u="none" strike="noStrike">
              <a:solidFill>
                <a:srgbClr val="000000"/>
              </a:solidFill>
              <a:effectLst/>
              <a:uFillTx/>
              <a:latin typeface="Arial"/>
            </a:endParaRPr>
          </a:p>
        </p:txBody>
      </p:sp>
      <p:sp>
        <p:nvSpPr>
          <p:cNvPr id="508" name="Text 12"/>
          <p:cNvSpPr/>
          <p:nvPr/>
        </p:nvSpPr>
        <p:spPr>
          <a:xfrm>
            <a:off x="2322720" y="3108960"/>
            <a:ext cx="3931560" cy="310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150" b="1" u="none" strike="noStrike">
                <a:solidFill>
                  <a:srgbClr val="FFFFFF"/>
                </a:solidFill>
                <a:effectLst/>
                <a:uFillTx/>
                <a:latin typeface="Courier New"/>
                <a:ea typeface="Courier New"/>
              </a:rPr>
              <a:t>library.appmd.dev</a:t>
            </a:r>
            <a:endParaRPr lang="en-NG" sz="1150" b="0" u="none" strike="noStrike">
              <a:solidFill>
                <a:srgbClr val="000000"/>
              </a:solidFill>
              <a:effectLst/>
              <a:uFillTx/>
              <a:latin typeface="Arial"/>
            </a:endParaRPr>
          </a:p>
        </p:txBody>
      </p:sp>
      <p:sp>
        <p:nvSpPr>
          <p:cNvPr id="509" name="Shape 13"/>
          <p:cNvSpPr/>
          <p:nvPr/>
        </p:nvSpPr>
        <p:spPr>
          <a:xfrm>
            <a:off x="6656760" y="1316880"/>
            <a:ext cx="4967640" cy="2212560"/>
          </a:xfrm>
          <a:prstGeom prst="roundRect">
            <a:avLst>
              <a:gd name="adj" fmla="val 2893"/>
            </a:avLst>
          </a:prstGeom>
          <a:solidFill>
            <a:srgbClr val="F4F5F9"/>
          </a:solidFill>
          <a:ln w="9525">
            <a:solidFill>
              <a:srgbClr val="D8DAE5"/>
            </a:solidFill>
            <a:round/>
          </a:ln>
          <a:effectLst>
            <a:outerShdw algn="bl" blurRad="127080" dir="5400000" dist="25560" kx="0" ky="0" rotWithShape="0" sx="100000" sy="100000">
              <a:srgbClr val="9098B0">
                <a:alpha val="22000"/>
              </a:srgbClr>
            </a:outerShdw>
          </a:effectLst>
        </p:spPr>
        <p:style>
          <a:lnRef idx="0"/>
          <a:fillRef idx="0"/>
          <a:effectRef idx="0"/>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510" name="Text 14"/>
          <p:cNvSpPr/>
          <p:nvPr/>
        </p:nvSpPr>
        <p:spPr>
          <a:xfrm>
            <a:off x="6876360" y="1490400"/>
            <a:ext cx="4528800" cy="328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500" b="1" u="none" strike="noStrike">
                <a:solidFill>
                  <a:srgbClr val="240C54"/>
                </a:solidFill>
                <a:effectLst/>
                <a:uFillTx/>
                <a:latin typeface="Calibri"/>
                <a:ea typeface="Calibri"/>
              </a:rPr>
              <a:t>Where the data lives</a:t>
            </a:r>
            <a:endParaRPr lang="en-NG" sz="1500" b="0" u="none" strike="noStrike">
              <a:solidFill>
                <a:srgbClr val="000000"/>
              </a:solidFill>
              <a:effectLst/>
              <a:uFillTx/>
              <a:latin typeface="Arial"/>
            </a:endParaRPr>
          </a:p>
        </p:txBody>
      </p:sp>
      <p:sp>
        <p:nvSpPr>
          <p:cNvPr id="511" name="Text 15"/>
          <p:cNvSpPr/>
          <p:nvPr/>
        </p:nvSpPr>
        <p:spPr>
          <a:xfrm>
            <a:off x="6876360" y="1847160"/>
            <a:ext cx="1517400" cy="310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150" b="0" u="none" strike="noStrike">
                <a:solidFill>
                  <a:srgbClr val="5B5B6B"/>
                </a:solidFill>
                <a:effectLst/>
                <a:uFillTx/>
                <a:latin typeface="Calibri"/>
                <a:ea typeface="Calibri"/>
              </a:rPr>
              <a:t>Application</a:t>
            </a:r>
            <a:endParaRPr lang="en-NG" sz="1150" b="0" u="none" strike="noStrike">
              <a:solidFill>
                <a:srgbClr val="000000"/>
              </a:solidFill>
              <a:effectLst/>
              <a:uFillTx/>
              <a:latin typeface="Arial"/>
            </a:endParaRPr>
          </a:p>
        </p:txBody>
      </p:sp>
      <p:sp>
        <p:nvSpPr>
          <p:cNvPr id="512" name="Text 16"/>
          <p:cNvSpPr/>
          <p:nvPr/>
        </p:nvSpPr>
        <p:spPr>
          <a:xfrm>
            <a:off x="8430840" y="1847160"/>
            <a:ext cx="3017160" cy="310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150" b="1" u="none" strike="noStrike">
                <a:solidFill>
                  <a:srgbClr val="1A1A2E"/>
                </a:solidFill>
                <a:effectLst/>
                <a:uFillTx/>
                <a:latin typeface="Calibri"/>
                <a:ea typeface="Calibri"/>
              </a:rPr>
              <a:t>Render, Ohio (US East)</a:t>
            </a:r>
            <a:endParaRPr lang="en-NG" sz="1150" b="0" u="none" strike="noStrike">
              <a:solidFill>
                <a:srgbClr val="000000"/>
              </a:solidFill>
              <a:effectLst/>
              <a:uFillTx/>
              <a:latin typeface="Arial"/>
            </a:endParaRPr>
          </a:p>
        </p:txBody>
      </p:sp>
      <p:sp>
        <p:nvSpPr>
          <p:cNvPr id="513" name="Text 17"/>
          <p:cNvSpPr/>
          <p:nvPr/>
        </p:nvSpPr>
        <p:spPr>
          <a:xfrm>
            <a:off x="6876360" y="2267640"/>
            <a:ext cx="1517400" cy="310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150" b="0" u="none" strike="noStrike">
                <a:solidFill>
                  <a:srgbClr val="5B5B6B"/>
                </a:solidFill>
                <a:effectLst/>
                <a:uFillTx/>
                <a:latin typeface="Calibri"/>
                <a:ea typeface="Calibri"/>
              </a:rPr>
              <a:t>Database</a:t>
            </a:r>
            <a:endParaRPr lang="en-NG" sz="1150" b="0" u="none" strike="noStrike">
              <a:solidFill>
                <a:srgbClr val="000000"/>
              </a:solidFill>
              <a:effectLst/>
              <a:uFillTx/>
              <a:latin typeface="Arial"/>
            </a:endParaRPr>
          </a:p>
        </p:txBody>
      </p:sp>
      <p:sp>
        <p:nvSpPr>
          <p:cNvPr id="514" name="Text 18"/>
          <p:cNvSpPr/>
          <p:nvPr/>
        </p:nvSpPr>
        <p:spPr>
          <a:xfrm>
            <a:off x="8430840" y="2267640"/>
            <a:ext cx="3017160" cy="310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150" b="1" u="none" strike="noStrike">
                <a:solidFill>
                  <a:srgbClr val="1A1A2E"/>
                </a:solidFill>
                <a:effectLst/>
                <a:uFillTx/>
                <a:latin typeface="Calibri"/>
                <a:ea typeface="Calibri"/>
              </a:rPr>
              <a:t>Neon Postgres, us-east-1</a:t>
            </a:r>
            <a:endParaRPr lang="en-NG" sz="1150" b="0" u="none" strike="noStrike">
              <a:solidFill>
                <a:srgbClr val="000000"/>
              </a:solidFill>
              <a:effectLst/>
              <a:uFillTx/>
              <a:latin typeface="Arial"/>
            </a:endParaRPr>
          </a:p>
        </p:txBody>
      </p:sp>
      <p:sp>
        <p:nvSpPr>
          <p:cNvPr id="515" name="Text 19"/>
          <p:cNvSpPr/>
          <p:nvPr/>
        </p:nvSpPr>
        <p:spPr>
          <a:xfrm>
            <a:off x="6876360" y="2688480"/>
            <a:ext cx="1517400" cy="310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150" b="0" u="none" strike="noStrike">
                <a:solidFill>
                  <a:srgbClr val="5B5B6B"/>
                </a:solidFill>
                <a:effectLst/>
                <a:uFillTx/>
                <a:latin typeface="Calibri"/>
                <a:ea typeface="Calibri"/>
              </a:rPr>
              <a:t>Cache</a:t>
            </a:r>
            <a:endParaRPr lang="en-NG" sz="1150" b="0" u="none" strike="noStrike">
              <a:solidFill>
                <a:srgbClr val="000000"/>
              </a:solidFill>
              <a:effectLst/>
              <a:uFillTx/>
              <a:latin typeface="Arial"/>
            </a:endParaRPr>
          </a:p>
        </p:txBody>
      </p:sp>
      <p:sp>
        <p:nvSpPr>
          <p:cNvPr id="516" name="Text 20"/>
          <p:cNvSpPr/>
          <p:nvPr/>
        </p:nvSpPr>
        <p:spPr>
          <a:xfrm>
            <a:off x="8430840" y="2688480"/>
            <a:ext cx="3017160" cy="310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150" b="1" u="none" strike="noStrike">
                <a:solidFill>
                  <a:srgbClr val="1A1A2E"/>
                </a:solidFill>
                <a:effectLst/>
                <a:uFillTx/>
                <a:latin typeface="Calibri"/>
                <a:ea typeface="Calibri"/>
              </a:rPr>
              <a:t>Upstash Redis, us-east-1</a:t>
            </a:r>
            <a:endParaRPr lang="en-NG" sz="1150" b="0" u="none" strike="noStrike">
              <a:solidFill>
                <a:srgbClr val="000000"/>
              </a:solidFill>
              <a:effectLst/>
              <a:uFillTx/>
              <a:latin typeface="Arial"/>
            </a:endParaRPr>
          </a:p>
        </p:txBody>
      </p:sp>
      <p:sp>
        <p:nvSpPr>
          <p:cNvPr id="517" name="Text 21"/>
          <p:cNvSpPr/>
          <p:nvPr/>
        </p:nvSpPr>
        <p:spPr>
          <a:xfrm>
            <a:off x="6876360" y="3108960"/>
            <a:ext cx="1517400" cy="310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150" b="0" u="none" strike="noStrike">
                <a:solidFill>
                  <a:srgbClr val="5B5B6B"/>
                </a:solidFill>
                <a:effectLst/>
                <a:uFillTx/>
                <a:latin typeface="Calibri"/>
                <a:ea typeface="Calibri"/>
              </a:rPr>
              <a:t>DNS and TLS</a:t>
            </a:r>
            <a:endParaRPr lang="en-NG" sz="1150" b="0" u="none" strike="noStrike">
              <a:solidFill>
                <a:srgbClr val="000000"/>
              </a:solidFill>
              <a:effectLst/>
              <a:uFillTx/>
              <a:latin typeface="Arial"/>
            </a:endParaRPr>
          </a:p>
        </p:txBody>
      </p:sp>
      <p:sp>
        <p:nvSpPr>
          <p:cNvPr id="518" name="Text 22"/>
          <p:cNvSpPr/>
          <p:nvPr/>
        </p:nvSpPr>
        <p:spPr>
          <a:xfrm>
            <a:off x="8430840" y="3108960"/>
            <a:ext cx="3017160" cy="310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150" b="1" u="none" strike="noStrike">
                <a:solidFill>
                  <a:srgbClr val="1A1A2E"/>
                </a:solidFill>
                <a:effectLst/>
                <a:uFillTx/>
                <a:latin typeface="Calibri"/>
                <a:ea typeface="Calibri"/>
              </a:rPr>
              <a:t>Cloudflare, global edge</a:t>
            </a:r>
            <a:endParaRPr lang="en-NG" sz="1150" b="0" u="none" strike="noStrike">
              <a:solidFill>
                <a:srgbClr val="000000"/>
              </a:solidFill>
              <a:effectLst/>
              <a:uFillTx/>
              <a:latin typeface="Arial"/>
            </a:endParaRPr>
          </a:p>
        </p:txBody>
      </p:sp>
      <p:sp>
        <p:nvSpPr>
          <p:cNvPr id="519" name="Shape 23"/>
          <p:cNvSpPr/>
          <p:nvPr/>
        </p:nvSpPr>
        <p:spPr>
          <a:xfrm>
            <a:off x="567000" y="3694320"/>
            <a:ext cx="3565800" cy="1901520"/>
          </a:xfrm>
          <a:prstGeom prst="roundRect">
            <a:avLst>
              <a:gd name="adj" fmla="val 3365"/>
            </a:avLst>
          </a:prstGeom>
          <a:solidFill>
            <a:srgbClr val="F4F5F9"/>
          </a:solidFill>
          <a:ln w="9525">
            <a:solidFill>
              <a:srgbClr val="D8DAE5"/>
            </a:solidFill>
            <a:round/>
          </a:ln>
          <a:effectLst>
            <a:outerShdw algn="bl" blurRad="127080" dir="5400000" dist="25560" kx="0" ky="0" rotWithShape="0" sx="100000" sy="100000">
              <a:srgbClr val="9098B0">
                <a:alpha val="22000"/>
              </a:srgbClr>
            </a:outerShdw>
          </a:effectLst>
        </p:spPr>
        <p:style>
          <a:lnRef idx="0"/>
          <a:fillRef idx="0"/>
          <a:effectRef idx="0"/>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520" name="Text 24"/>
          <p:cNvSpPr/>
          <p:nvPr/>
        </p:nvSpPr>
        <p:spPr>
          <a:xfrm>
            <a:off x="786240" y="3867840"/>
            <a:ext cx="3126960" cy="328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400" b="1" u="none" strike="noStrike">
                <a:solidFill>
                  <a:srgbClr val="240C54"/>
                </a:solidFill>
                <a:effectLst/>
                <a:uFillTx/>
                <a:latin typeface="Calibri"/>
                <a:ea typeface="Calibri"/>
              </a:rPr>
              <a:t>Documented API</a:t>
            </a:r>
            <a:endParaRPr lang="en-NG" sz="1400" b="0" u="none" strike="noStrike">
              <a:solidFill>
                <a:srgbClr val="000000"/>
              </a:solidFill>
              <a:effectLst/>
              <a:uFillTx/>
              <a:latin typeface="Arial"/>
            </a:endParaRPr>
          </a:p>
        </p:txBody>
      </p:sp>
      <p:sp>
        <p:nvSpPr>
          <p:cNvPr id="521" name="Text 25"/>
          <p:cNvSpPr/>
          <p:nvPr/>
        </p:nvSpPr>
        <p:spPr>
          <a:xfrm>
            <a:off x="786240" y="4260960"/>
            <a:ext cx="3126960" cy="1188360"/>
          </a:xfrm>
          <a:prstGeom prst="rect">
            <a:avLst/>
          </a:prstGeom>
          <a:noFill/>
          <a:ln w="0">
            <a:noFill/>
          </a:ln>
        </p:spPr>
        <p:style>
          <a:lnRef idx="0"/>
          <a:fillRef idx="0"/>
          <a:effectRef idx="0"/>
          <a:fontRef idx="minor"/>
        </p:style>
        <p:txBody>
          <a:bodyPr lIns="0" tIns="0" rIns="0" bIns="0" anchor="t">
            <a:noAutofit/>
          </a:bodyPr>
          <a:p>
            <a:pPr>
              <a:lnSpc>
                <a:spcPts val="1650"/>
              </a:lnSpc>
              <a:tabLst>
                <a:tab pos="0" algn="l"/>
              </a:tabLst>
            </a:pPr>
            <a:r>
              <a:rPr lang="en-NG" sz="1200" b="0" u="none" strike="noStrike">
                <a:solidFill>
                  <a:srgbClr val="1A1A2E"/>
                </a:solidFill>
                <a:effectLst/>
                <a:uFillTx/>
                <a:latin typeface="Calibri"/>
                <a:ea typeface="Calibri"/>
              </a:rPr>
              <a:t>The OpenAPI file is compiled into the binary, so the documentation cannot drift away from the server that serves it.</a:t>
            </a:r>
            <a:endParaRPr lang="en-NG" sz="1200" b="0" u="none" strike="noStrike">
              <a:solidFill>
                <a:srgbClr val="000000"/>
              </a:solidFill>
              <a:effectLst/>
              <a:uFillTx/>
              <a:latin typeface="Arial"/>
            </a:endParaRPr>
          </a:p>
        </p:txBody>
      </p:sp>
      <p:sp>
        <p:nvSpPr>
          <p:cNvPr id="522" name="Shape 26"/>
          <p:cNvSpPr/>
          <p:nvPr/>
        </p:nvSpPr>
        <p:spPr>
          <a:xfrm>
            <a:off x="4316040" y="3694320"/>
            <a:ext cx="3565800" cy="1901520"/>
          </a:xfrm>
          <a:prstGeom prst="roundRect">
            <a:avLst>
              <a:gd name="adj" fmla="val 3365"/>
            </a:avLst>
          </a:prstGeom>
          <a:solidFill>
            <a:srgbClr val="F4F5F9"/>
          </a:solidFill>
          <a:ln w="9525">
            <a:solidFill>
              <a:srgbClr val="D8DAE5"/>
            </a:solidFill>
            <a:round/>
          </a:ln>
          <a:effectLst>
            <a:outerShdw algn="bl" blurRad="127080" dir="5400000" dist="25560" kx="0" ky="0" rotWithShape="0" sx="100000" sy="100000">
              <a:srgbClr val="9098B0">
                <a:alpha val="22000"/>
              </a:srgbClr>
            </a:outerShdw>
          </a:effectLst>
        </p:spPr>
        <p:style>
          <a:lnRef idx="0"/>
          <a:fillRef idx="0"/>
          <a:effectRef idx="0"/>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523" name="Text 27"/>
          <p:cNvSpPr/>
          <p:nvPr/>
        </p:nvSpPr>
        <p:spPr>
          <a:xfrm>
            <a:off x="4535280" y="3867840"/>
            <a:ext cx="3126960" cy="328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400" b="1" u="none" strike="noStrike">
                <a:solidFill>
                  <a:srgbClr val="240C54"/>
                </a:solidFill>
                <a:effectLst/>
                <a:uFillTx/>
                <a:latin typeface="Calibri"/>
                <a:ea typeface="Calibri"/>
              </a:rPr>
              <a:t>Encrypted in transit</a:t>
            </a:r>
            <a:endParaRPr lang="en-NG" sz="1400" b="0" u="none" strike="noStrike">
              <a:solidFill>
                <a:srgbClr val="000000"/>
              </a:solidFill>
              <a:effectLst/>
              <a:uFillTx/>
              <a:latin typeface="Arial"/>
            </a:endParaRPr>
          </a:p>
        </p:txBody>
      </p:sp>
      <p:sp>
        <p:nvSpPr>
          <p:cNvPr id="524" name="Text 28"/>
          <p:cNvSpPr/>
          <p:nvPr/>
        </p:nvSpPr>
        <p:spPr>
          <a:xfrm>
            <a:off x="4535280" y="4260960"/>
            <a:ext cx="3126960" cy="1188360"/>
          </a:xfrm>
          <a:prstGeom prst="rect">
            <a:avLst/>
          </a:prstGeom>
          <a:noFill/>
          <a:ln w="0">
            <a:noFill/>
          </a:ln>
        </p:spPr>
        <p:style>
          <a:lnRef idx="0"/>
          <a:fillRef idx="0"/>
          <a:effectRef idx="0"/>
          <a:fontRef idx="minor"/>
        </p:style>
        <p:txBody>
          <a:bodyPr lIns="0" tIns="0" rIns="0" bIns="0" anchor="t">
            <a:noAutofit/>
          </a:bodyPr>
          <a:p>
            <a:pPr>
              <a:lnSpc>
                <a:spcPts val="1650"/>
              </a:lnSpc>
              <a:tabLst>
                <a:tab pos="0" algn="l"/>
              </a:tabLst>
            </a:pPr>
            <a:r>
              <a:rPr lang="en-NG" sz="1200" b="0" u="none" strike="noStrike">
                <a:solidFill>
                  <a:srgbClr val="1A1A2E"/>
                </a:solidFill>
                <a:effectLst/>
                <a:uFillTx/>
                <a:latin typeface="Calibri"/>
                <a:ea typeface="Calibri"/>
              </a:rPr>
              <a:t>TLS certificate issued by Google Trust Services and valid to December 2026. Plain HTTP is redirected, never served.</a:t>
            </a:r>
            <a:endParaRPr lang="en-NG" sz="1200" b="0" u="none" strike="noStrike">
              <a:solidFill>
                <a:srgbClr val="000000"/>
              </a:solidFill>
              <a:effectLst/>
              <a:uFillTx/>
              <a:latin typeface="Arial"/>
            </a:endParaRPr>
          </a:p>
        </p:txBody>
      </p:sp>
      <p:sp>
        <p:nvSpPr>
          <p:cNvPr id="525" name="Shape 29"/>
          <p:cNvSpPr/>
          <p:nvPr/>
        </p:nvSpPr>
        <p:spPr>
          <a:xfrm>
            <a:off x="8065080" y="3694320"/>
            <a:ext cx="3556800" cy="1901520"/>
          </a:xfrm>
          <a:prstGeom prst="roundRect">
            <a:avLst>
              <a:gd name="adj" fmla="val 3365"/>
            </a:avLst>
          </a:prstGeom>
          <a:solidFill>
            <a:srgbClr val="FBF4E4"/>
          </a:solidFill>
          <a:ln w="9525">
            <a:solidFill>
              <a:srgbClr val="E8D9AE"/>
            </a:solidFill>
            <a:round/>
          </a:ln>
          <a:effectLst>
            <a:outerShdw algn="bl" blurRad="127080" dir="5400000" dist="25560" kx="0" ky="0" rotWithShape="0" sx="100000" sy="100000">
              <a:srgbClr val="9098B0">
                <a:alpha val="22000"/>
              </a:srgbClr>
            </a:outerShdw>
          </a:effectLst>
        </p:spPr>
        <p:style>
          <a:lnRef idx="0"/>
          <a:fillRef idx="0"/>
          <a:effectRef idx="0"/>
          <a:fontRef idx="minor"/>
        </p:style>
        <p:txBody>
          <a:bodyPr lIns="90000" tIns="45000" rIns="90000" bIns="45000" anchor="t">
            <a:noAutofit/>
          </a:bodyPr>
          <a:p>
            <a:pPr/>
            <a:endParaRPr lang="en-NG" sz="1800" b="0" u="none" strike="noStrike">
              <a:solidFill>
                <a:srgbClr val="000000"/>
              </a:solidFill>
              <a:effectLst/>
              <a:uFillTx/>
              <a:latin typeface="Arial"/>
            </a:endParaRPr>
          </a:p>
        </p:txBody>
      </p:sp>
      <p:sp>
        <p:nvSpPr>
          <p:cNvPr id="526" name="Text 30"/>
          <p:cNvSpPr/>
          <p:nvPr/>
        </p:nvSpPr>
        <p:spPr>
          <a:xfrm>
            <a:off x="8284320" y="3867840"/>
            <a:ext cx="3117600" cy="328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400" b="1" u="none" strike="noStrike">
                <a:solidFill>
                  <a:srgbClr val="240C54"/>
                </a:solidFill>
                <a:effectLst/>
                <a:uFillTx/>
                <a:latin typeface="Calibri"/>
                <a:ea typeface="Calibri"/>
              </a:rPr>
              <a:t>Known limit</a:t>
            </a:r>
            <a:endParaRPr lang="en-NG" sz="1400" b="0" u="none" strike="noStrike">
              <a:solidFill>
                <a:srgbClr val="000000"/>
              </a:solidFill>
              <a:effectLst/>
              <a:uFillTx/>
              <a:latin typeface="Arial"/>
            </a:endParaRPr>
          </a:p>
        </p:txBody>
      </p:sp>
      <p:sp>
        <p:nvSpPr>
          <p:cNvPr id="527" name="Text 31"/>
          <p:cNvSpPr/>
          <p:nvPr/>
        </p:nvSpPr>
        <p:spPr>
          <a:xfrm>
            <a:off x="8284320" y="4260960"/>
            <a:ext cx="3117600" cy="1188360"/>
          </a:xfrm>
          <a:prstGeom prst="rect">
            <a:avLst/>
          </a:prstGeom>
          <a:noFill/>
          <a:ln w="0">
            <a:noFill/>
          </a:ln>
        </p:spPr>
        <p:style>
          <a:lnRef idx="0"/>
          <a:fillRef idx="0"/>
          <a:effectRef idx="0"/>
          <a:fontRef idx="minor"/>
        </p:style>
        <p:txBody>
          <a:bodyPr lIns="0" tIns="0" rIns="0" bIns="0" anchor="t">
            <a:noAutofit/>
          </a:bodyPr>
          <a:p>
            <a:pPr>
              <a:lnSpc>
                <a:spcPts val="1650"/>
              </a:lnSpc>
              <a:tabLst>
                <a:tab pos="0" algn="l"/>
              </a:tabLst>
            </a:pPr>
            <a:r>
              <a:rPr lang="en-NG" sz="1200" b="0" u="none" strike="noStrike">
                <a:solidFill>
                  <a:srgbClr val="1A1A2E"/>
                </a:solidFill>
                <a:effectLst/>
                <a:uFillTx/>
                <a:latin typeface="Calibri"/>
                <a:ea typeface="Calibri"/>
              </a:rPr>
              <a:t>The free tier sleeps when idle, so the first request after a quiet period takes a few seconds. A scheduled ping keeps it warm.</a:t>
            </a:r>
            <a:endParaRPr lang="en-NG"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7073A"/>
        </a:solidFill>
      </p:bgPr>
    </p:bg>
    <p:spTree>
      <p:nvGrpSpPr>
        <p:cNvPr id="1" name=""/>
        <p:cNvGrpSpPr/>
        <p:nvPr/>
      </p:nvGrpSpPr>
      <p:grpSpPr>
        <a:xfrm>
          <a:off x="0" y="0"/>
          <a:ext cx="0" cy="0"/>
          <a:chOff x="0" y="0"/>
          <a:chExt cx="0" cy="0"/>
        </a:xfrm>
      </p:grpSpPr>
      <p:sp>
        <p:nvSpPr>
          <p:cNvPr id="528" name="Text 0"/>
          <p:cNvSpPr/>
          <p:nvPr/>
        </p:nvSpPr>
        <p:spPr>
          <a:xfrm>
            <a:off x="567000" y="475560"/>
            <a:ext cx="8229240" cy="25560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100" b="1" u="none" spc="221" strike="noStrike">
                <a:solidFill>
                  <a:srgbClr val="E4B454"/>
                </a:solidFill>
                <a:effectLst/>
                <a:uFillTx/>
                <a:latin typeface="Calibri"/>
                <a:ea typeface="Calibri"/>
              </a:rPr>
              <a:t>TESTING AND DEFECTS</a:t>
            </a:r>
            <a:endParaRPr lang="en-NG" sz="1100" b="0" u="none" strike="noStrike">
              <a:solidFill>
                <a:srgbClr val="FFFFFF"/>
              </a:solidFill>
              <a:effectLst/>
              <a:uFillTx/>
              <a:latin typeface="Arial"/>
            </a:endParaRPr>
          </a:p>
        </p:txBody>
      </p:sp>
      <p:sp>
        <p:nvSpPr>
          <p:cNvPr id="529" name="Text 1"/>
          <p:cNvSpPr/>
          <p:nvPr/>
        </p:nvSpPr>
        <p:spPr>
          <a:xfrm>
            <a:off x="567000" y="768240"/>
            <a:ext cx="10058040" cy="5482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3000" b="1" u="none" strike="noStrike">
                <a:solidFill>
                  <a:srgbClr val="FFFFFF"/>
                </a:solidFill>
                <a:effectLst/>
                <a:uFillTx/>
                <a:latin typeface="Cambria"/>
                <a:ea typeface="Cambria"/>
              </a:rPr>
              <a:t>Twenty-seven defects found. Twenty-seven closed.</a:t>
            </a:r>
            <a:endParaRPr lang="en-NG" sz="3000" b="0" u="none" strike="noStrike">
              <a:solidFill>
                <a:srgbClr val="FFFFFF"/>
              </a:solidFill>
              <a:effectLst/>
              <a:uFillTx/>
              <a:latin typeface="Arial"/>
            </a:endParaRPr>
          </a:p>
        </p:txBody>
      </p:sp>
      <p:pic>
        <p:nvPicPr>
          <p:cNvPr id="530" name="Image 0"/>
          <p:cNvPicPr/>
          <p:nvPr/>
        </p:nvPicPr>
        <p:blipFill>
          <a:blip r:embed="rId1"/>
          <a:stretch/>
        </p:blipFill>
        <p:spPr>
          <a:xfrm>
            <a:off x="11149200" y="457200"/>
            <a:ext cx="475200" cy="465840"/>
          </a:xfrm>
          <a:prstGeom prst="rect">
            <a:avLst/>
          </a:prstGeom>
          <a:noFill/>
          <a:ln w="0">
            <a:noFill/>
          </a:ln>
        </p:spPr>
      </p:pic>
      <p:sp>
        <p:nvSpPr>
          <p:cNvPr id="531" name="Text 2"/>
          <p:cNvSpPr/>
          <p:nvPr/>
        </p:nvSpPr>
        <p:spPr>
          <a:xfrm>
            <a:off x="567000" y="1463040"/>
            <a:ext cx="10058040" cy="328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400" b="0" u="none" strike="noStrike">
                <a:solidFill>
                  <a:srgbClr val="BFB6E0"/>
                </a:solidFill>
                <a:effectLst/>
                <a:uFillTx/>
                <a:latin typeface="Calibri"/>
                <a:ea typeface="Calibri"/>
              </a:rPr>
              <a:t>No single technique found more than half of them. That is the finding we would defend hardest.</a:t>
            </a:r>
            <a:endParaRPr lang="en-NG" sz="1400" b="0" u="none" strike="noStrike">
              <a:solidFill>
                <a:srgbClr val="FFFFFF"/>
              </a:solidFill>
              <a:effectLst/>
              <a:uFillTx/>
              <a:latin typeface="Arial"/>
            </a:endParaRPr>
          </a:p>
        </p:txBody>
      </p:sp>
      <p:sp>
        <p:nvSpPr>
          <p:cNvPr id="532" name="Shape 3"/>
          <p:cNvSpPr/>
          <p:nvPr/>
        </p:nvSpPr>
        <p:spPr>
          <a:xfrm>
            <a:off x="567000" y="2011680"/>
            <a:ext cx="1700280" cy="1279800"/>
          </a:xfrm>
          <a:prstGeom prst="roundRect">
            <a:avLst>
              <a:gd name="adj" fmla="val 5000"/>
            </a:avLst>
          </a:prstGeom>
          <a:solidFill>
            <a:srgbClr val="271055"/>
          </a:solidFill>
          <a:ln w="12700">
            <a:solidFill>
              <a:srgbClr val="3E2A72"/>
            </a:solidFill>
            <a:round/>
          </a:ln>
        </p:spPr>
        <p:style>
          <a:lnRef idx="0"/>
          <a:fillRef idx="0"/>
          <a:effectRef idx="0"/>
          <a:fontRef idx="minor"/>
        </p:style>
        <p:txBody>
          <a:bodyPr lIns="90000" tIns="45000" rIns="90000" bIns="45000" anchor="t">
            <a:noAutofit/>
          </a:bodyPr>
          <a:p>
            <a:pPr/>
            <a:endParaRPr lang="en-NG" sz="1800" b="0" u="none" strike="noStrike">
              <a:solidFill>
                <a:srgbClr val="FFFFFF"/>
              </a:solidFill>
              <a:effectLst/>
              <a:uFillTx/>
              <a:latin typeface="Arial"/>
            </a:endParaRPr>
          </a:p>
        </p:txBody>
      </p:sp>
      <p:sp>
        <p:nvSpPr>
          <p:cNvPr id="533" name="Text 4"/>
          <p:cNvSpPr/>
          <p:nvPr/>
        </p:nvSpPr>
        <p:spPr>
          <a:xfrm>
            <a:off x="676800" y="2157840"/>
            <a:ext cx="1481040" cy="49356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NG" sz="2600" b="1" u="none" strike="noStrike">
                <a:solidFill>
                  <a:srgbClr val="E4B454"/>
                </a:solidFill>
                <a:effectLst/>
                <a:uFillTx/>
                <a:latin typeface="Cambria"/>
                <a:ea typeface="Cambria"/>
              </a:rPr>
              <a:t>12</a:t>
            </a:r>
            <a:endParaRPr lang="en-NG" sz="2600" b="0" u="none" strike="noStrike">
              <a:solidFill>
                <a:srgbClr val="FFFFFF"/>
              </a:solidFill>
              <a:effectLst/>
              <a:uFillTx/>
              <a:latin typeface="Arial"/>
            </a:endParaRPr>
          </a:p>
        </p:txBody>
      </p:sp>
      <p:sp>
        <p:nvSpPr>
          <p:cNvPr id="534" name="Text 5"/>
          <p:cNvSpPr/>
          <p:nvPr/>
        </p:nvSpPr>
        <p:spPr>
          <a:xfrm>
            <a:off x="640080" y="2670120"/>
            <a:ext cx="1554120" cy="493560"/>
          </a:xfrm>
          <a:prstGeom prst="rect">
            <a:avLst/>
          </a:prstGeom>
          <a:noFill/>
          <a:ln w="0">
            <a:noFill/>
          </a:ln>
        </p:spPr>
        <p:style>
          <a:lnRef idx="0"/>
          <a:fillRef idx="0"/>
          <a:effectRef idx="0"/>
          <a:fontRef idx="minor"/>
        </p:style>
        <p:txBody>
          <a:bodyPr lIns="0" tIns="0" rIns="0" bIns="0" anchor="ctr">
            <a:noAutofit/>
          </a:bodyPr>
          <a:p>
            <a:pPr algn="ctr">
              <a:lnSpc>
                <a:spcPts val="1400"/>
              </a:lnSpc>
              <a:tabLst>
                <a:tab pos="0" algn="l"/>
              </a:tabLst>
            </a:pPr>
            <a:r>
              <a:rPr lang="en-NG" sz="1100" b="0" u="none" strike="noStrike">
                <a:solidFill>
                  <a:srgbClr val="CFC7EA"/>
                </a:solidFill>
                <a:effectLst/>
                <a:uFillTx/>
                <a:latin typeface="Calibri"/>
                <a:ea typeface="Calibri"/>
              </a:rPr>
              <a:t>adversarial audit</a:t>
            </a:r>
            <a:endParaRPr lang="en-NG" sz="1100" b="0" u="none" strike="noStrike">
              <a:solidFill>
                <a:srgbClr val="FFFFFF"/>
              </a:solidFill>
              <a:effectLst/>
              <a:uFillTx/>
              <a:latin typeface="Arial"/>
            </a:endParaRPr>
          </a:p>
        </p:txBody>
      </p:sp>
      <p:sp>
        <p:nvSpPr>
          <p:cNvPr id="535" name="Shape 6"/>
          <p:cNvSpPr/>
          <p:nvPr/>
        </p:nvSpPr>
        <p:spPr>
          <a:xfrm>
            <a:off x="2441520" y="2011680"/>
            <a:ext cx="1700280" cy="1279800"/>
          </a:xfrm>
          <a:prstGeom prst="roundRect">
            <a:avLst>
              <a:gd name="adj" fmla="val 5000"/>
            </a:avLst>
          </a:prstGeom>
          <a:solidFill>
            <a:srgbClr val="271055"/>
          </a:solidFill>
          <a:ln w="12700">
            <a:solidFill>
              <a:srgbClr val="3E2A72"/>
            </a:solidFill>
            <a:round/>
          </a:ln>
        </p:spPr>
        <p:style>
          <a:lnRef idx="0"/>
          <a:fillRef idx="0"/>
          <a:effectRef idx="0"/>
          <a:fontRef idx="minor"/>
        </p:style>
        <p:txBody>
          <a:bodyPr lIns="90000" tIns="45000" rIns="90000" bIns="45000" anchor="t">
            <a:noAutofit/>
          </a:bodyPr>
          <a:p>
            <a:pPr/>
            <a:endParaRPr lang="en-NG" sz="1800" b="0" u="none" strike="noStrike">
              <a:solidFill>
                <a:srgbClr val="FFFFFF"/>
              </a:solidFill>
              <a:effectLst/>
              <a:uFillTx/>
              <a:latin typeface="Arial"/>
            </a:endParaRPr>
          </a:p>
        </p:txBody>
      </p:sp>
      <p:sp>
        <p:nvSpPr>
          <p:cNvPr id="536" name="Text 7"/>
          <p:cNvSpPr/>
          <p:nvPr/>
        </p:nvSpPr>
        <p:spPr>
          <a:xfrm>
            <a:off x="2551320" y="2157840"/>
            <a:ext cx="1481040" cy="49356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NG" sz="2600" b="1" u="none" strike="noStrike">
                <a:solidFill>
                  <a:srgbClr val="E4B454"/>
                </a:solidFill>
                <a:effectLst/>
                <a:uFillTx/>
                <a:latin typeface="Cambria"/>
                <a:ea typeface="Cambria"/>
              </a:rPr>
              <a:t>7</a:t>
            </a:r>
            <a:endParaRPr lang="en-NG" sz="2600" b="0" u="none" strike="noStrike">
              <a:solidFill>
                <a:srgbClr val="FFFFFF"/>
              </a:solidFill>
              <a:effectLst/>
              <a:uFillTx/>
              <a:latin typeface="Arial"/>
            </a:endParaRPr>
          </a:p>
        </p:txBody>
      </p:sp>
      <p:sp>
        <p:nvSpPr>
          <p:cNvPr id="537" name="Text 8"/>
          <p:cNvSpPr/>
          <p:nvPr/>
        </p:nvSpPr>
        <p:spPr>
          <a:xfrm>
            <a:off x="2514600" y="2670120"/>
            <a:ext cx="1554120" cy="493560"/>
          </a:xfrm>
          <a:prstGeom prst="rect">
            <a:avLst/>
          </a:prstGeom>
          <a:noFill/>
          <a:ln w="0">
            <a:noFill/>
          </a:ln>
        </p:spPr>
        <p:style>
          <a:lnRef idx="0"/>
          <a:fillRef idx="0"/>
          <a:effectRef idx="0"/>
          <a:fontRef idx="minor"/>
        </p:style>
        <p:txBody>
          <a:bodyPr lIns="0" tIns="0" rIns="0" bIns="0" anchor="ctr">
            <a:noAutofit/>
          </a:bodyPr>
          <a:p>
            <a:pPr algn="ctr">
              <a:lnSpc>
                <a:spcPts val="1400"/>
              </a:lnSpc>
              <a:tabLst>
                <a:tab pos="0" algn="l"/>
              </a:tabLst>
            </a:pPr>
            <a:r>
              <a:rPr lang="en-NG" sz="1100" b="0" u="none" strike="noStrike">
                <a:solidFill>
                  <a:srgbClr val="CFC7EA"/>
                </a:solidFill>
                <a:effectLst/>
                <a:uFillTx/>
                <a:latin typeface="Calibri"/>
                <a:ea typeface="Calibri"/>
              </a:rPr>
              <a:t>checklist review</a:t>
            </a:r>
            <a:endParaRPr lang="en-NG" sz="1100" b="0" u="none" strike="noStrike">
              <a:solidFill>
                <a:srgbClr val="FFFFFF"/>
              </a:solidFill>
              <a:effectLst/>
              <a:uFillTx/>
              <a:latin typeface="Arial"/>
            </a:endParaRPr>
          </a:p>
        </p:txBody>
      </p:sp>
      <p:sp>
        <p:nvSpPr>
          <p:cNvPr id="538" name="Shape 9"/>
          <p:cNvSpPr/>
          <p:nvPr/>
        </p:nvSpPr>
        <p:spPr>
          <a:xfrm>
            <a:off x="4316040" y="2011680"/>
            <a:ext cx="1700280" cy="1279800"/>
          </a:xfrm>
          <a:prstGeom prst="roundRect">
            <a:avLst>
              <a:gd name="adj" fmla="val 5000"/>
            </a:avLst>
          </a:prstGeom>
          <a:solidFill>
            <a:srgbClr val="271055"/>
          </a:solidFill>
          <a:ln w="12700">
            <a:solidFill>
              <a:srgbClr val="3E2A72"/>
            </a:solidFill>
            <a:round/>
          </a:ln>
        </p:spPr>
        <p:style>
          <a:lnRef idx="0"/>
          <a:fillRef idx="0"/>
          <a:effectRef idx="0"/>
          <a:fontRef idx="minor"/>
        </p:style>
        <p:txBody>
          <a:bodyPr lIns="90000" tIns="45000" rIns="90000" bIns="45000" anchor="t">
            <a:noAutofit/>
          </a:bodyPr>
          <a:p>
            <a:pPr/>
            <a:endParaRPr lang="en-NG" sz="1800" b="0" u="none" strike="noStrike">
              <a:solidFill>
                <a:srgbClr val="FFFFFF"/>
              </a:solidFill>
              <a:effectLst/>
              <a:uFillTx/>
              <a:latin typeface="Arial"/>
            </a:endParaRPr>
          </a:p>
        </p:txBody>
      </p:sp>
      <p:sp>
        <p:nvSpPr>
          <p:cNvPr id="539" name="Text 10"/>
          <p:cNvSpPr/>
          <p:nvPr/>
        </p:nvSpPr>
        <p:spPr>
          <a:xfrm>
            <a:off x="4425840" y="2157840"/>
            <a:ext cx="1481040" cy="49356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NG" sz="2600" b="1" u="none" strike="noStrike">
                <a:solidFill>
                  <a:srgbClr val="E4B454"/>
                </a:solidFill>
                <a:effectLst/>
                <a:uFillTx/>
                <a:latin typeface="Cambria"/>
                <a:ea typeface="Cambria"/>
              </a:rPr>
              <a:t>3</a:t>
            </a:r>
            <a:endParaRPr lang="en-NG" sz="2600" b="0" u="none" strike="noStrike">
              <a:solidFill>
                <a:srgbClr val="FFFFFF"/>
              </a:solidFill>
              <a:effectLst/>
              <a:uFillTx/>
              <a:latin typeface="Arial"/>
            </a:endParaRPr>
          </a:p>
        </p:txBody>
      </p:sp>
      <p:sp>
        <p:nvSpPr>
          <p:cNvPr id="540" name="Text 11"/>
          <p:cNvSpPr/>
          <p:nvPr/>
        </p:nvSpPr>
        <p:spPr>
          <a:xfrm>
            <a:off x="4389120" y="2670120"/>
            <a:ext cx="1554120" cy="493560"/>
          </a:xfrm>
          <a:prstGeom prst="rect">
            <a:avLst/>
          </a:prstGeom>
          <a:noFill/>
          <a:ln w="0">
            <a:noFill/>
          </a:ln>
        </p:spPr>
        <p:style>
          <a:lnRef idx="0"/>
          <a:fillRef idx="0"/>
          <a:effectRef idx="0"/>
          <a:fontRef idx="minor"/>
        </p:style>
        <p:txBody>
          <a:bodyPr lIns="0" tIns="0" rIns="0" bIns="0" anchor="ctr">
            <a:noAutofit/>
          </a:bodyPr>
          <a:p>
            <a:pPr algn="ctr">
              <a:lnSpc>
                <a:spcPts val="1400"/>
              </a:lnSpc>
              <a:tabLst>
                <a:tab pos="0" algn="l"/>
              </a:tabLst>
            </a:pPr>
            <a:r>
              <a:rPr lang="en-NG" sz="1100" b="0" u="none" strike="noStrike">
                <a:solidFill>
                  <a:srgbClr val="CFC7EA"/>
                </a:solidFill>
                <a:effectLst/>
                <a:uFillTx/>
                <a:latin typeface="Calibri"/>
                <a:ea typeface="Calibri"/>
              </a:rPr>
              <a:t>first real database run</a:t>
            </a:r>
            <a:endParaRPr lang="en-NG" sz="1100" b="0" u="none" strike="noStrike">
              <a:solidFill>
                <a:srgbClr val="FFFFFF"/>
              </a:solidFill>
              <a:effectLst/>
              <a:uFillTx/>
              <a:latin typeface="Arial"/>
            </a:endParaRPr>
          </a:p>
        </p:txBody>
      </p:sp>
      <p:sp>
        <p:nvSpPr>
          <p:cNvPr id="541" name="Shape 12"/>
          <p:cNvSpPr/>
          <p:nvPr/>
        </p:nvSpPr>
        <p:spPr>
          <a:xfrm>
            <a:off x="6190560" y="2011680"/>
            <a:ext cx="1700280" cy="1279800"/>
          </a:xfrm>
          <a:prstGeom prst="roundRect">
            <a:avLst>
              <a:gd name="adj" fmla="val 5000"/>
            </a:avLst>
          </a:prstGeom>
          <a:solidFill>
            <a:srgbClr val="271055"/>
          </a:solidFill>
          <a:ln w="12700">
            <a:solidFill>
              <a:srgbClr val="3E2A72"/>
            </a:solidFill>
            <a:round/>
          </a:ln>
        </p:spPr>
        <p:style>
          <a:lnRef idx="0"/>
          <a:fillRef idx="0"/>
          <a:effectRef idx="0"/>
          <a:fontRef idx="minor"/>
        </p:style>
        <p:txBody>
          <a:bodyPr lIns="90000" tIns="45000" rIns="90000" bIns="45000" anchor="t">
            <a:noAutofit/>
          </a:bodyPr>
          <a:p>
            <a:pPr/>
            <a:endParaRPr lang="en-NG" sz="1800" b="0" u="none" strike="noStrike">
              <a:solidFill>
                <a:srgbClr val="FFFFFF"/>
              </a:solidFill>
              <a:effectLst/>
              <a:uFillTx/>
              <a:latin typeface="Arial"/>
            </a:endParaRPr>
          </a:p>
        </p:txBody>
      </p:sp>
      <p:sp>
        <p:nvSpPr>
          <p:cNvPr id="542" name="Text 13"/>
          <p:cNvSpPr/>
          <p:nvPr/>
        </p:nvSpPr>
        <p:spPr>
          <a:xfrm>
            <a:off x="6300360" y="2157840"/>
            <a:ext cx="1481040" cy="49356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NG" sz="2600" b="1" u="none" strike="noStrike">
                <a:solidFill>
                  <a:srgbClr val="E4B454"/>
                </a:solidFill>
                <a:effectLst/>
                <a:uFillTx/>
                <a:latin typeface="Cambria"/>
                <a:ea typeface="Cambria"/>
              </a:rPr>
              <a:t>2</a:t>
            </a:r>
            <a:endParaRPr lang="en-NG" sz="2600" b="0" u="none" strike="noStrike">
              <a:solidFill>
                <a:srgbClr val="FFFFFF"/>
              </a:solidFill>
              <a:effectLst/>
              <a:uFillTx/>
              <a:latin typeface="Arial"/>
            </a:endParaRPr>
          </a:p>
        </p:txBody>
      </p:sp>
      <p:sp>
        <p:nvSpPr>
          <p:cNvPr id="543" name="Text 14"/>
          <p:cNvSpPr/>
          <p:nvPr/>
        </p:nvSpPr>
        <p:spPr>
          <a:xfrm>
            <a:off x="6263640" y="2670120"/>
            <a:ext cx="1554120" cy="493560"/>
          </a:xfrm>
          <a:prstGeom prst="rect">
            <a:avLst/>
          </a:prstGeom>
          <a:noFill/>
          <a:ln w="0">
            <a:noFill/>
          </a:ln>
        </p:spPr>
        <p:style>
          <a:lnRef idx="0"/>
          <a:fillRef idx="0"/>
          <a:effectRef idx="0"/>
          <a:fontRef idx="minor"/>
        </p:style>
        <p:txBody>
          <a:bodyPr lIns="0" tIns="0" rIns="0" bIns="0" anchor="ctr">
            <a:noAutofit/>
          </a:bodyPr>
          <a:p>
            <a:pPr algn="ctr">
              <a:lnSpc>
                <a:spcPts val="1400"/>
              </a:lnSpc>
              <a:tabLst>
                <a:tab pos="0" algn="l"/>
              </a:tabLst>
            </a:pPr>
            <a:r>
              <a:rPr lang="en-NG" sz="1100" b="0" u="none" strike="noStrike">
                <a:solidFill>
                  <a:srgbClr val="CFC7EA"/>
                </a:solidFill>
                <a:effectLst/>
                <a:uFillTx/>
                <a:latin typeface="Calibri"/>
                <a:ea typeface="Calibri"/>
              </a:rPr>
              <a:t>EXPLAIN ANALYZE</a:t>
            </a:r>
            <a:endParaRPr lang="en-NG" sz="1100" b="0" u="none" strike="noStrike">
              <a:solidFill>
                <a:srgbClr val="FFFFFF"/>
              </a:solidFill>
              <a:effectLst/>
              <a:uFillTx/>
              <a:latin typeface="Arial"/>
            </a:endParaRPr>
          </a:p>
        </p:txBody>
      </p:sp>
      <p:sp>
        <p:nvSpPr>
          <p:cNvPr id="544" name="Shape 15"/>
          <p:cNvSpPr/>
          <p:nvPr/>
        </p:nvSpPr>
        <p:spPr>
          <a:xfrm>
            <a:off x="8065080" y="2011680"/>
            <a:ext cx="1700280" cy="1279800"/>
          </a:xfrm>
          <a:prstGeom prst="roundRect">
            <a:avLst>
              <a:gd name="adj" fmla="val 5000"/>
            </a:avLst>
          </a:prstGeom>
          <a:solidFill>
            <a:srgbClr val="271055"/>
          </a:solidFill>
          <a:ln w="12700">
            <a:solidFill>
              <a:srgbClr val="3E2A72"/>
            </a:solidFill>
            <a:round/>
          </a:ln>
        </p:spPr>
        <p:style>
          <a:lnRef idx="0"/>
          <a:fillRef idx="0"/>
          <a:effectRef idx="0"/>
          <a:fontRef idx="minor"/>
        </p:style>
        <p:txBody>
          <a:bodyPr lIns="90000" tIns="45000" rIns="90000" bIns="45000" anchor="t">
            <a:noAutofit/>
          </a:bodyPr>
          <a:p>
            <a:pPr/>
            <a:endParaRPr lang="en-NG" sz="1800" b="0" u="none" strike="noStrike">
              <a:solidFill>
                <a:srgbClr val="FFFFFF"/>
              </a:solidFill>
              <a:effectLst/>
              <a:uFillTx/>
              <a:latin typeface="Arial"/>
            </a:endParaRPr>
          </a:p>
        </p:txBody>
      </p:sp>
      <p:sp>
        <p:nvSpPr>
          <p:cNvPr id="545" name="Text 16"/>
          <p:cNvSpPr/>
          <p:nvPr/>
        </p:nvSpPr>
        <p:spPr>
          <a:xfrm>
            <a:off x="8174880" y="2157840"/>
            <a:ext cx="1481040" cy="49356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NG" sz="2600" b="1" u="none" strike="noStrike">
                <a:solidFill>
                  <a:srgbClr val="E4B454"/>
                </a:solidFill>
                <a:effectLst/>
                <a:uFillTx/>
                <a:latin typeface="Cambria"/>
                <a:ea typeface="Cambria"/>
              </a:rPr>
              <a:t>2</a:t>
            </a:r>
            <a:endParaRPr lang="en-NG" sz="2600" b="0" u="none" strike="noStrike">
              <a:solidFill>
                <a:srgbClr val="FFFFFF"/>
              </a:solidFill>
              <a:effectLst/>
              <a:uFillTx/>
              <a:latin typeface="Arial"/>
            </a:endParaRPr>
          </a:p>
        </p:txBody>
      </p:sp>
      <p:sp>
        <p:nvSpPr>
          <p:cNvPr id="546" name="Text 17"/>
          <p:cNvSpPr/>
          <p:nvPr/>
        </p:nvSpPr>
        <p:spPr>
          <a:xfrm>
            <a:off x="8138160" y="2670120"/>
            <a:ext cx="1554120" cy="493560"/>
          </a:xfrm>
          <a:prstGeom prst="rect">
            <a:avLst/>
          </a:prstGeom>
          <a:noFill/>
          <a:ln w="0">
            <a:noFill/>
          </a:ln>
        </p:spPr>
        <p:style>
          <a:lnRef idx="0"/>
          <a:fillRef idx="0"/>
          <a:effectRef idx="0"/>
          <a:fontRef idx="minor"/>
        </p:style>
        <p:txBody>
          <a:bodyPr lIns="0" tIns="0" rIns="0" bIns="0" anchor="ctr">
            <a:noAutofit/>
          </a:bodyPr>
          <a:p>
            <a:pPr algn="ctr">
              <a:lnSpc>
                <a:spcPts val="1400"/>
              </a:lnSpc>
              <a:tabLst>
                <a:tab pos="0" algn="l"/>
              </a:tabLst>
            </a:pPr>
            <a:r>
              <a:rPr lang="en-NG" sz="1100" b="0" u="none" strike="noStrike">
                <a:solidFill>
                  <a:srgbClr val="CFC7EA"/>
                </a:solidFill>
                <a:effectLst/>
                <a:uFillTx/>
                <a:latin typeface="Calibri"/>
                <a:ea typeface="Calibri"/>
              </a:rPr>
              <a:t>concurrency test</a:t>
            </a:r>
            <a:endParaRPr lang="en-NG" sz="1100" b="0" u="none" strike="noStrike">
              <a:solidFill>
                <a:srgbClr val="FFFFFF"/>
              </a:solidFill>
              <a:effectLst/>
              <a:uFillTx/>
              <a:latin typeface="Arial"/>
            </a:endParaRPr>
          </a:p>
        </p:txBody>
      </p:sp>
      <p:sp>
        <p:nvSpPr>
          <p:cNvPr id="547" name="Shape 18"/>
          <p:cNvSpPr/>
          <p:nvPr/>
        </p:nvSpPr>
        <p:spPr>
          <a:xfrm>
            <a:off x="9939600" y="2011680"/>
            <a:ext cx="1700280" cy="1279800"/>
          </a:xfrm>
          <a:prstGeom prst="roundRect">
            <a:avLst>
              <a:gd name="adj" fmla="val 5000"/>
            </a:avLst>
          </a:prstGeom>
          <a:solidFill>
            <a:srgbClr val="271055"/>
          </a:solidFill>
          <a:ln w="12700">
            <a:solidFill>
              <a:srgbClr val="3E2A72"/>
            </a:solidFill>
            <a:round/>
          </a:ln>
        </p:spPr>
        <p:style>
          <a:lnRef idx="0"/>
          <a:fillRef idx="0"/>
          <a:effectRef idx="0"/>
          <a:fontRef idx="minor"/>
        </p:style>
        <p:txBody>
          <a:bodyPr lIns="90000" tIns="45000" rIns="90000" bIns="45000" anchor="t">
            <a:noAutofit/>
          </a:bodyPr>
          <a:p>
            <a:pPr/>
            <a:endParaRPr lang="en-NG" sz="1800" b="0" u="none" strike="noStrike">
              <a:solidFill>
                <a:srgbClr val="FFFFFF"/>
              </a:solidFill>
              <a:effectLst/>
              <a:uFillTx/>
              <a:latin typeface="Arial"/>
            </a:endParaRPr>
          </a:p>
        </p:txBody>
      </p:sp>
      <p:sp>
        <p:nvSpPr>
          <p:cNvPr id="548" name="Text 19"/>
          <p:cNvSpPr/>
          <p:nvPr/>
        </p:nvSpPr>
        <p:spPr>
          <a:xfrm>
            <a:off x="10049400" y="2157840"/>
            <a:ext cx="1481040" cy="49356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NG" sz="2600" b="1" u="none" strike="noStrike">
                <a:solidFill>
                  <a:srgbClr val="E4B454"/>
                </a:solidFill>
                <a:effectLst/>
                <a:uFillTx/>
                <a:latin typeface="Cambria"/>
                <a:ea typeface="Cambria"/>
              </a:rPr>
              <a:t>1</a:t>
            </a:r>
            <a:endParaRPr lang="en-NG" sz="2600" b="0" u="none" strike="noStrike">
              <a:solidFill>
                <a:srgbClr val="FFFFFF"/>
              </a:solidFill>
              <a:effectLst/>
              <a:uFillTx/>
              <a:latin typeface="Arial"/>
            </a:endParaRPr>
          </a:p>
        </p:txBody>
      </p:sp>
      <p:sp>
        <p:nvSpPr>
          <p:cNvPr id="549" name="Text 20"/>
          <p:cNvSpPr/>
          <p:nvPr/>
        </p:nvSpPr>
        <p:spPr>
          <a:xfrm>
            <a:off x="10012680" y="2670120"/>
            <a:ext cx="1554120" cy="493560"/>
          </a:xfrm>
          <a:prstGeom prst="rect">
            <a:avLst/>
          </a:prstGeom>
          <a:noFill/>
          <a:ln w="0">
            <a:noFill/>
          </a:ln>
        </p:spPr>
        <p:style>
          <a:lnRef idx="0"/>
          <a:fillRef idx="0"/>
          <a:effectRef idx="0"/>
          <a:fontRef idx="minor"/>
        </p:style>
        <p:txBody>
          <a:bodyPr lIns="0" tIns="0" rIns="0" bIns="0" anchor="ctr">
            <a:noAutofit/>
          </a:bodyPr>
          <a:p>
            <a:pPr algn="ctr">
              <a:lnSpc>
                <a:spcPts val="1400"/>
              </a:lnSpc>
              <a:tabLst>
                <a:tab pos="0" algn="l"/>
              </a:tabLst>
            </a:pPr>
            <a:r>
              <a:rPr lang="en-NG" sz="1100" b="0" u="none" strike="noStrike">
                <a:solidFill>
                  <a:srgbClr val="CFC7EA"/>
                </a:solidFill>
                <a:effectLst/>
                <a:uFillTx/>
                <a:latin typeface="Calibri"/>
                <a:ea typeface="Calibri"/>
              </a:rPr>
              <a:t>unit test</a:t>
            </a:r>
            <a:endParaRPr lang="en-NG" sz="1100" b="0" u="none" strike="noStrike">
              <a:solidFill>
                <a:srgbClr val="FFFFFF"/>
              </a:solidFill>
              <a:effectLst/>
              <a:uFillTx/>
              <a:latin typeface="Arial"/>
            </a:endParaRPr>
          </a:p>
        </p:txBody>
      </p:sp>
      <p:sp>
        <p:nvSpPr>
          <p:cNvPr id="550" name="Text 21"/>
          <p:cNvSpPr/>
          <p:nvPr/>
        </p:nvSpPr>
        <p:spPr>
          <a:xfrm>
            <a:off x="567000" y="3657600"/>
            <a:ext cx="3456000" cy="292320"/>
          </a:xfrm>
          <a:prstGeom prst="rect">
            <a:avLst/>
          </a:prstGeom>
          <a:noFill/>
          <a:ln w="0">
            <a:noFill/>
          </a:ln>
        </p:spPr>
        <p:style>
          <a:lnRef idx="0"/>
          <a:fillRef idx="0"/>
          <a:effectRef idx="0"/>
          <a:fontRef idx="minor"/>
        </p:style>
        <p:txBody>
          <a:bodyPr lIns="0" tIns="0" rIns="0" bIns="0" anchor="t">
            <a:noAutofit/>
          </a:bodyPr>
          <a:p>
            <a:pPr>
              <a:lnSpc>
                <a:spcPct val="100000"/>
              </a:lnSpc>
              <a:tabLst>
                <a:tab pos="0" algn="l"/>
              </a:tabLst>
            </a:pPr>
            <a:r>
              <a:rPr lang="en-NG" sz="1500" b="1" u="none" strike="noStrike">
                <a:solidFill>
                  <a:srgbClr val="E4B454"/>
                </a:solidFill>
                <a:effectLst/>
                <a:uFillTx/>
                <a:latin typeface="Calibri"/>
                <a:ea typeface="Calibri"/>
              </a:rPr>
              <a:t>Four levels of testing</a:t>
            </a:r>
            <a:endParaRPr lang="en-NG" sz="1500" b="0" u="none" strike="noStrike">
              <a:solidFill>
                <a:srgbClr val="FFFFFF"/>
              </a:solidFill>
              <a:effectLst/>
              <a:uFillTx/>
              <a:latin typeface="Arial"/>
            </a:endParaRPr>
          </a:p>
        </p:txBody>
      </p:sp>
      <p:sp>
        <p:nvSpPr>
          <p:cNvPr id="551" name="Text 22"/>
          <p:cNvSpPr/>
          <p:nvPr/>
        </p:nvSpPr>
        <p:spPr>
          <a:xfrm>
            <a:off x="567000" y="4023360"/>
            <a:ext cx="3456000" cy="1316520"/>
          </a:xfrm>
          <a:prstGeom prst="rect">
            <a:avLst/>
          </a:prstGeom>
          <a:noFill/>
          <a:ln w="0">
            <a:noFill/>
          </a:ln>
        </p:spPr>
        <p:style>
          <a:lnRef idx="0"/>
          <a:fillRef idx="0"/>
          <a:effectRef idx="0"/>
          <a:fontRef idx="minor"/>
        </p:style>
        <p:txBody>
          <a:bodyPr lIns="0" tIns="0" rIns="0" bIns="0" anchor="t">
            <a:noAutofit/>
          </a:bodyPr>
          <a:p>
            <a:pPr>
              <a:lnSpc>
                <a:spcPts val="1701"/>
              </a:lnSpc>
              <a:tabLst>
                <a:tab pos="0" algn="l"/>
              </a:tabLst>
            </a:pPr>
            <a:r>
              <a:rPr lang="en-NG" sz="1200" b="0" u="none" strike="noStrike">
                <a:solidFill>
                  <a:srgbClr val="E0DBF2"/>
                </a:solidFill>
                <a:effectLst/>
                <a:uFillTx/>
                <a:latin typeface="Calibri"/>
                <a:ea typeface="Calibri"/>
              </a:rPr>
              <a:t>Unit tests for the library's rules, integration tests against a real Postgres, contract tests against the OpenAPI file, and system tests against the deployed URL.</a:t>
            </a:r>
            <a:endParaRPr lang="en-NG" sz="1200" b="0" u="none" strike="noStrike">
              <a:solidFill>
                <a:srgbClr val="FFFFFF"/>
              </a:solidFill>
              <a:effectLst/>
              <a:uFillTx/>
              <a:latin typeface="Arial"/>
            </a:endParaRPr>
          </a:p>
        </p:txBody>
      </p:sp>
      <p:sp>
        <p:nvSpPr>
          <p:cNvPr id="552" name="Text 23"/>
          <p:cNvSpPr/>
          <p:nvPr/>
        </p:nvSpPr>
        <p:spPr>
          <a:xfrm>
            <a:off x="4306680" y="3657600"/>
            <a:ext cx="3456000" cy="292320"/>
          </a:xfrm>
          <a:prstGeom prst="rect">
            <a:avLst/>
          </a:prstGeom>
          <a:noFill/>
          <a:ln w="0">
            <a:noFill/>
          </a:ln>
        </p:spPr>
        <p:style>
          <a:lnRef idx="0"/>
          <a:fillRef idx="0"/>
          <a:effectRef idx="0"/>
          <a:fontRef idx="minor"/>
        </p:style>
        <p:txBody>
          <a:bodyPr lIns="0" tIns="0" rIns="0" bIns="0" anchor="t">
            <a:noAutofit/>
          </a:bodyPr>
          <a:p>
            <a:pPr>
              <a:lnSpc>
                <a:spcPct val="100000"/>
              </a:lnSpc>
              <a:tabLst>
                <a:tab pos="0" algn="l"/>
              </a:tabLst>
            </a:pPr>
            <a:r>
              <a:rPr lang="en-NG" sz="1500" b="1" u="none" strike="noStrike">
                <a:solidFill>
                  <a:srgbClr val="E4B454"/>
                </a:solidFill>
                <a:effectLst/>
                <a:uFillTx/>
                <a:latin typeface="Calibri"/>
                <a:ea typeface="Calibri"/>
              </a:rPr>
              <a:t>Coverage where it counts</a:t>
            </a:r>
            <a:endParaRPr lang="en-NG" sz="1500" b="0" u="none" strike="noStrike">
              <a:solidFill>
                <a:srgbClr val="FFFFFF"/>
              </a:solidFill>
              <a:effectLst/>
              <a:uFillTx/>
              <a:latin typeface="Arial"/>
            </a:endParaRPr>
          </a:p>
        </p:txBody>
      </p:sp>
      <p:sp>
        <p:nvSpPr>
          <p:cNvPr id="553" name="Text 24"/>
          <p:cNvSpPr/>
          <p:nvPr/>
        </p:nvSpPr>
        <p:spPr>
          <a:xfrm>
            <a:off x="4306680" y="4023360"/>
            <a:ext cx="3456000" cy="1316520"/>
          </a:xfrm>
          <a:prstGeom prst="rect">
            <a:avLst/>
          </a:prstGeom>
          <a:noFill/>
          <a:ln w="0">
            <a:noFill/>
          </a:ln>
        </p:spPr>
        <p:style>
          <a:lnRef idx="0"/>
          <a:fillRef idx="0"/>
          <a:effectRef idx="0"/>
          <a:fontRef idx="minor"/>
        </p:style>
        <p:txBody>
          <a:bodyPr lIns="0" tIns="0" rIns="0" bIns="0" anchor="t">
            <a:noAutofit/>
          </a:bodyPr>
          <a:p>
            <a:pPr>
              <a:lnSpc>
                <a:spcPts val="1701"/>
              </a:lnSpc>
              <a:tabLst>
                <a:tab pos="0" algn="l"/>
              </a:tabLst>
            </a:pPr>
            <a:r>
              <a:rPr lang="en-NG" sz="1200" b="0" u="none" strike="noStrike">
                <a:solidFill>
                  <a:srgbClr val="E0DBF2"/>
                </a:solidFill>
                <a:effectLst/>
                <a:uFillTx/>
                <a:latin typeface="Calibri"/>
                <a:ea typeface="Calibri"/>
              </a:rPr>
              <a:t>94.7% on the domain package, which holds the borrowing rules. 83.6% on authentication. Coverage is highest where a mistake would be most expensive.</a:t>
            </a:r>
            <a:endParaRPr lang="en-NG" sz="1200" b="0" u="none" strike="noStrike">
              <a:solidFill>
                <a:srgbClr val="FFFFFF"/>
              </a:solidFill>
              <a:effectLst/>
              <a:uFillTx/>
              <a:latin typeface="Arial"/>
            </a:endParaRPr>
          </a:p>
        </p:txBody>
      </p:sp>
      <p:sp>
        <p:nvSpPr>
          <p:cNvPr id="554" name="Text 25"/>
          <p:cNvSpPr/>
          <p:nvPr/>
        </p:nvSpPr>
        <p:spPr>
          <a:xfrm>
            <a:off x="8046720" y="3657600"/>
            <a:ext cx="3456000" cy="292320"/>
          </a:xfrm>
          <a:prstGeom prst="rect">
            <a:avLst/>
          </a:prstGeom>
          <a:noFill/>
          <a:ln w="0">
            <a:noFill/>
          </a:ln>
        </p:spPr>
        <p:style>
          <a:lnRef idx="0"/>
          <a:fillRef idx="0"/>
          <a:effectRef idx="0"/>
          <a:fontRef idx="minor"/>
        </p:style>
        <p:txBody>
          <a:bodyPr lIns="0" tIns="0" rIns="0" bIns="0" anchor="t">
            <a:noAutofit/>
          </a:bodyPr>
          <a:p>
            <a:pPr>
              <a:lnSpc>
                <a:spcPct val="100000"/>
              </a:lnSpc>
              <a:tabLst>
                <a:tab pos="0" algn="l"/>
              </a:tabLst>
            </a:pPr>
            <a:r>
              <a:rPr lang="en-NG" sz="1500" b="1" u="none" strike="noStrike">
                <a:solidFill>
                  <a:srgbClr val="E4B454"/>
                </a:solidFill>
                <a:effectLst/>
                <a:uFillTx/>
                <a:latin typeface="Calibri"/>
                <a:ea typeface="Calibri"/>
              </a:rPr>
              <a:t>The lesson</a:t>
            </a:r>
            <a:endParaRPr lang="en-NG" sz="1500" b="0" u="none" strike="noStrike">
              <a:solidFill>
                <a:srgbClr val="FFFFFF"/>
              </a:solidFill>
              <a:effectLst/>
              <a:uFillTx/>
              <a:latin typeface="Arial"/>
            </a:endParaRPr>
          </a:p>
        </p:txBody>
      </p:sp>
      <p:sp>
        <p:nvSpPr>
          <p:cNvPr id="555" name="Text 26"/>
          <p:cNvSpPr/>
          <p:nvPr/>
        </p:nvSpPr>
        <p:spPr>
          <a:xfrm>
            <a:off x="8046720" y="4023360"/>
            <a:ext cx="3456000" cy="1316520"/>
          </a:xfrm>
          <a:prstGeom prst="rect">
            <a:avLst/>
          </a:prstGeom>
          <a:noFill/>
          <a:ln w="0">
            <a:noFill/>
          </a:ln>
        </p:spPr>
        <p:style>
          <a:lnRef idx="0"/>
          <a:fillRef idx="0"/>
          <a:effectRef idx="0"/>
          <a:fontRef idx="minor"/>
        </p:style>
        <p:txBody>
          <a:bodyPr lIns="0" tIns="0" rIns="0" bIns="0" anchor="t">
            <a:noAutofit/>
          </a:bodyPr>
          <a:p>
            <a:pPr>
              <a:lnSpc>
                <a:spcPts val="1701"/>
              </a:lnSpc>
              <a:tabLst>
                <a:tab pos="0" algn="l"/>
              </a:tabLst>
            </a:pPr>
            <a:r>
              <a:rPr lang="en-NG" sz="1200" b="0" u="none" strike="noStrike">
                <a:solidFill>
                  <a:srgbClr val="E0DBF2"/>
                </a:solidFill>
                <a:effectLst/>
                <a:uFillTx/>
                <a:latin typeface="Calibri"/>
                <a:ea typeface="Calibri"/>
              </a:rPr>
              <a:t>Our worst defects passed their own tests. A fake database cannot execute SQL, so a test written against one can confirm a rule the real system never enforces.</a:t>
            </a:r>
            <a:endParaRPr lang="en-NG" sz="1200" b="0" u="none" strike="noStrike">
              <a:solidFill>
                <a:srgbClr val="FFFFFF"/>
              </a:solidFill>
              <a:effectLst/>
              <a:uFillTx/>
              <a:latin typeface="Arial"/>
            </a:endParaRPr>
          </a:p>
        </p:txBody>
      </p:sp>
      <p:sp>
        <p:nvSpPr>
          <p:cNvPr id="556" name="Text 27"/>
          <p:cNvSpPr/>
          <p:nvPr/>
        </p:nvSpPr>
        <p:spPr>
          <a:xfrm>
            <a:off x="567000" y="5797440"/>
            <a:ext cx="8686440" cy="2739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150" b="0" u="none" strike="noStrike">
                <a:solidFill>
                  <a:srgbClr val="8B80B8"/>
                </a:solidFill>
                <a:effectLst/>
                <a:uFillTx/>
                <a:latin typeface="Calibri"/>
                <a:ea typeface="Calibri"/>
              </a:rPr>
              <a:t>Group 4  ·  SEN 106 / SEN 216  ·  Obafemi Awolowo University, Ile-Ife</a:t>
            </a:r>
            <a:endParaRPr lang="en-NG" sz="1150" b="0" u="none" strike="noStrike">
              <a:solidFill>
                <a:srgbClr val="FFFFFF"/>
              </a:solidFill>
              <a:effectLst/>
              <a:uFillTx/>
              <a:latin typeface="Arial"/>
            </a:endParaRPr>
          </a:p>
        </p:txBody>
      </p:sp>
      <p:sp>
        <p:nvSpPr>
          <p:cNvPr id="557" name="Text 28"/>
          <p:cNvSpPr/>
          <p:nvPr/>
        </p:nvSpPr>
        <p:spPr>
          <a:xfrm>
            <a:off x="11149200" y="5797440"/>
            <a:ext cx="475200" cy="273960"/>
          </a:xfrm>
          <a:prstGeom prst="rect">
            <a:avLst/>
          </a:prstGeom>
          <a:noFill/>
          <a:ln w="0">
            <a:noFill/>
          </a:ln>
        </p:spPr>
        <p:style>
          <a:lnRef idx="0"/>
          <a:fillRef idx="0"/>
          <a:effectRef idx="0"/>
          <a:fontRef idx="minor"/>
        </p:style>
        <p:txBody>
          <a:bodyPr lIns="0" tIns="0" rIns="0" bIns="0" anchor="ctr">
            <a:noAutofit/>
          </a:bodyPr>
          <a:p>
            <a:pPr algn="r">
              <a:lnSpc>
                <a:spcPct val="100000"/>
              </a:lnSpc>
              <a:tabLst>
                <a:tab pos="0" algn="l"/>
              </a:tabLst>
            </a:pPr>
            <a:r>
              <a:rPr lang="en-NG" sz="1000" b="0" u="none" strike="noStrike">
                <a:solidFill>
                  <a:srgbClr val="8B80B8"/>
                </a:solidFill>
                <a:effectLst/>
                <a:uFillTx/>
                <a:latin typeface="Calibri"/>
                <a:ea typeface="Calibri"/>
              </a:rPr>
              <a:t>17</a:t>
            </a:r>
            <a:endParaRPr lang="en-NG"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40C54"/>
        </a:solidFill>
      </p:bgPr>
    </p:bg>
    <p:spTree>
      <p:nvGrpSpPr>
        <p:cNvPr id="1" name=""/>
        <p:cNvGrpSpPr/>
        <p:nvPr/>
      </p:nvGrpSpPr>
      <p:grpSpPr>
        <a:xfrm>
          <a:off x="0" y="0"/>
          <a:ext cx="0" cy="0"/>
          <a:chOff x="0" y="0"/>
          <a:chExt cx="0" cy="0"/>
        </a:xfrm>
      </p:grpSpPr>
      <p:sp>
        <p:nvSpPr>
          <p:cNvPr id="558" name="Shape 0"/>
          <p:cNvSpPr/>
          <p:nvPr/>
        </p:nvSpPr>
        <p:spPr>
          <a:xfrm>
            <a:off x="-1097280" y="-274320"/>
            <a:ext cx="6217560" cy="6217560"/>
          </a:xfrm>
          <a:prstGeom prst="ellipse">
            <a:avLst/>
          </a:prstGeom>
          <a:solidFill>
            <a:srgbClr val="2E1668"/>
          </a:solidFill>
          <a:ln w="12700">
            <a:solidFill>
              <a:srgbClr val="2E1668"/>
            </a:solidFill>
            <a:round/>
          </a:ln>
        </p:spPr>
        <p:style>
          <a:lnRef idx="0"/>
          <a:fillRef idx="0"/>
          <a:effectRef idx="0"/>
          <a:fontRef idx="minor"/>
        </p:style>
        <p:txBody>
          <a:bodyPr lIns="90000" tIns="45000" rIns="90000" bIns="45000" anchor="t">
            <a:noAutofit/>
          </a:bodyPr>
          <a:p>
            <a:pPr/>
            <a:endParaRPr lang="en-NG" sz="1800" b="0" u="none" strike="noStrike">
              <a:solidFill>
                <a:srgbClr val="FFFFFF"/>
              </a:solidFill>
              <a:effectLst/>
              <a:uFillTx/>
              <a:latin typeface="Arial"/>
            </a:endParaRPr>
          </a:p>
        </p:txBody>
      </p:sp>
      <p:sp>
        <p:nvSpPr>
          <p:cNvPr id="559" name="Shape 1"/>
          <p:cNvSpPr/>
          <p:nvPr/>
        </p:nvSpPr>
        <p:spPr>
          <a:xfrm>
            <a:off x="5669280" y="2468880"/>
            <a:ext cx="4937400" cy="4937400"/>
          </a:xfrm>
          <a:prstGeom prst="ellipse">
            <a:avLst/>
          </a:prstGeom>
          <a:solidFill>
            <a:srgbClr val="2E1668"/>
          </a:solidFill>
          <a:ln w="12700">
            <a:solidFill>
              <a:srgbClr val="2E1668"/>
            </a:solidFill>
            <a:round/>
          </a:ln>
        </p:spPr>
        <p:style>
          <a:lnRef idx="0"/>
          <a:fillRef idx="0"/>
          <a:effectRef idx="0"/>
          <a:fontRef idx="minor"/>
        </p:style>
        <p:txBody>
          <a:bodyPr lIns="90000" tIns="45000" rIns="90000" bIns="45000" anchor="t">
            <a:noAutofit/>
          </a:bodyPr>
          <a:p>
            <a:pPr/>
            <a:endParaRPr lang="en-NG" sz="1800" b="0" u="none" strike="noStrike">
              <a:solidFill>
                <a:srgbClr val="FFFFFF"/>
              </a:solidFill>
              <a:effectLst/>
              <a:uFillTx/>
              <a:latin typeface="Arial"/>
            </a:endParaRPr>
          </a:p>
        </p:txBody>
      </p:sp>
      <p:sp>
        <p:nvSpPr>
          <p:cNvPr id="560" name="Text 2"/>
          <p:cNvSpPr/>
          <p:nvPr/>
        </p:nvSpPr>
        <p:spPr>
          <a:xfrm>
            <a:off x="567000" y="530280"/>
            <a:ext cx="6949080" cy="8593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4400" b="1" u="none" strike="noStrike">
                <a:solidFill>
                  <a:srgbClr val="FFFFFF"/>
                </a:solidFill>
                <a:effectLst/>
                <a:uFillTx/>
                <a:latin typeface="Cambria"/>
                <a:ea typeface="Cambria"/>
              </a:rPr>
              <a:t>Thank you</a:t>
            </a:r>
            <a:endParaRPr lang="en-NG" sz="4400" b="0" u="none" strike="noStrike">
              <a:solidFill>
                <a:srgbClr val="FFFFFF"/>
              </a:solidFill>
              <a:effectLst/>
              <a:uFillTx/>
              <a:latin typeface="Arial"/>
            </a:endParaRPr>
          </a:p>
        </p:txBody>
      </p:sp>
      <p:sp>
        <p:nvSpPr>
          <p:cNvPr id="561" name="Text 3"/>
          <p:cNvSpPr/>
          <p:nvPr/>
        </p:nvSpPr>
        <p:spPr>
          <a:xfrm>
            <a:off x="567000" y="1426320"/>
            <a:ext cx="7863480" cy="3286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400" b="0" u="none" strike="noStrike">
                <a:solidFill>
                  <a:srgbClr val="C2B8E6"/>
                </a:solidFill>
                <a:effectLst/>
                <a:uFillTx/>
                <a:latin typeface="Calibri"/>
                <a:ea typeface="Calibri"/>
              </a:rPr>
              <a:t>We are happy to take questions, and to show any part of it running.</a:t>
            </a:r>
            <a:endParaRPr lang="en-NG" sz="1400" b="0" u="none" strike="noStrike">
              <a:solidFill>
                <a:srgbClr val="FFFFFF"/>
              </a:solidFill>
              <a:effectLst/>
              <a:uFillTx/>
              <a:latin typeface="Arial"/>
            </a:endParaRPr>
          </a:p>
        </p:txBody>
      </p:sp>
      <p:sp>
        <p:nvSpPr>
          <p:cNvPr id="562" name="Text 4"/>
          <p:cNvSpPr/>
          <p:nvPr/>
        </p:nvSpPr>
        <p:spPr>
          <a:xfrm rot="21420000">
            <a:off x="649080" y="1850400"/>
            <a:ext cx="2688120" cy="456840"/>
          </a:xfrm>
          <a:prstGeom prst="rect">
            <a:avLst/>
          </a:prstGeom>
          <a:noFill/>
          <a:ln w="0">
            <a:noFill/>
          </a:ln>
        </p:spPr>
        <p:style>
          <a:lnRef idx="0"/>
          <a:fillRef idx="0"/>
          <a:effectRef idx="0"/>
          <a:fontRef idx="minor"/>
        </p:style>
        <p:txBody>
          <a:bodyPr lIns="0" tIns="0" rIns="0" bIns="0" anchor="ctr">
            <a:noAutofit/>
          </a:bodyPr>
          <a:p>
            <a:pPr>
              <a:lnSpc>
                <a:spcPts val="1151"/>
              </a:lnSpc>
              <a:tabLst>
                <a:tab pos="0" algn="l"/>
              </a:tabLst>
            </a:pPr>
            <a:r>
              <a:rPr lang="en-NG" sz="1000" b="1" u="none" strike="noStrike">
                <a:solidFill>
                  <a:srgbClr val="FFFFFF"/>
                </a:solidFill>
                <a:effectLst/>
                <a:uFillTx/>
                <a:latin typeface="Calibri"/>
                <a:ea typeface="Calibri"/>
              </a:rPr>
              <a:t>Ibrahim Aliyah Oiza</a:t>
            </a:r>
            <a:endParaRPr lang="en-NG" sz="1000" b="0" u="none" strike="noStrike">
              <a:solidFill>
                <a:srgbClr val="FFFFFF"/>
              </a:solidFill>
              <a:effectLst/>
              <a:uFillTx/>
              <a:latin typeface="Arial"/>
            </a:endParaRPr>
          </a:p>
          <a:p>
            <a:pPr>
              <a:lnSpc>
                <a:spcPts val="1151"/>
              </a:lnSpc>
              <a:tabLst>
                <a:tab pos="0" algn="l"/>
              </a:tabLst>
            </a:pPr>
            <a:r>
              <a:rPr lang="en-NG" sz="800" b="0" u="none" strike="noStrike">
                <a:solidFill>
                  <a:srgbClr val="9184C4"/>
                </a:solidFill>
                <a:effectLst/>
                <a:uFillTx/>
                <a:latin typeface="Calibri"/>
                <a:ea typeface="Calibri"/>
              </a:rPr>
              <a:t>SEN/2025/076</a:t>
            </a:r>
            <a:endParaRPr lang="en-NG" sz="800" b="0" u="none" strike="noStrike">
              <a:solidFill>
                <a:srgbClr val="FFFFFF"/>
              </a:solidFill>
              <a:effectLst/>
              <a:uFillTx/>
              <a:latin typeface="Arial"/>
            </a:endParaRPr>
          </a:p>
        </p:txBody>
      </p:sp>
      <p:sp>
        <p:nvSpPr>
          <p:cNvPr id="563" name="Text 5"/>
          <p:cNvSpPr/>
          <p:nvPr/>
        </p:nvSpPr>
        <p:spPr>
          <a:xfrm rot="120000">
            <a:off x="3315240" y="1894320"/>
            <a:ext cx="2688120" cy="456840"/>
          </a:xfrm>
          <a:prstGeom prst="rect">
            <a:avLst/>
          </a:prstGeom>
          <a:noFill/>
          <a:ln w="0">
            <a:noFill/>
          </a:ln>
        </p:spPr>
        <p:style>
          <a:lnRef idx="0"/>
          <a:fillRef idx="0"/>
          <a:effectRef idx="0"/>
          <a:fontRef idx="minor"/>
        </p:style>
        <p:txBody>
          <a:bodyPr lIns="0" tIns="0" rIns="0" bIns="0" anchor="ctr">
            <a:noAutofit/>
          </a:bodyPr>
          <a:p>
            <a:pPr>
              <a:lnSpc>
                <a:spcPts val="1151"/>
              </a:lnSpc>
              <a:tabLst>
                <a:tab pos="0" algn="l"/>
              </a:tabLst>
            </a:pPr>
            <a:r>
              <a:rPr lang="en-NG" sz="1000" b="1" u="none" strike="noStrike">
                <a:solidFill>
                  <a:srgbClr val="E4B454"/>
                </a:solidFill>
                <a:effectLst/>
                <a:uFillTx/>
                <a:latin typeface="Calibri"/>
                <a:ea typeface="Calibri"/>
              </a:rPr>
              <a:t>Olawale Ibrahim Eniola</a:t>
            </a:r>
            <a:endParaRPr lang="en-NG" sz="1000" b="0" u="none" strike="noStrike">
              <a:solidFill>
                <a:srgbClr val="FFFFFF"/>
              </a:solidFill>
              <a:effectLst/>
              <a:uFillTx/>
              <a:latin typeface="Arial"/>
            </a:endParaRPr>
          </a:p>
          <a:p>
            <a:pPr>
              <a:lnSpc>
                <a:spcPts val="1151"/>
              </a:lnSpc>
              <a:tabLst>
                <a:tab pos="0" algn="l"/>
              </a:tabLst>
            </a:pPr>
            <a:r>
              <a:rPr lang="en-NG" sz="800" b="0" u="none" strike="noStrike">
                <a:solidFill>
                  <a:srgbClr val="9184C4"/>
                </a:solidFill>
                <a:effectLst/>
                <a:uFillTx/>
                <a:latin typeface="Calibri"/>
                <a:ea typeface="Calibri"/>
              </a:rPr>
              <a:t>SEN/2025/109</a:t>
            </a:r>
            <a:endParaRPr lang="en-NG" sz="800" b="0" u="none" strike="noStrike">
              <a:solidFill>
                <a:srgbClr val="FFFFFF"/>
              </a:solidFill>
              <a:effectLst/>
              <a:uFillTx/>
              <a:latin typeface="Arial"/>
            </a:endParaRPr>
          </a:p>
        </p:txBody>
      </p:sp>
      <p:sp>
        <p:nvSpPr>
          <p:cNvPr id="564" name="Text 6"/>
          <p:cNvSpPr/>
          <p:nvPr/>
        </p:nvSpPr>
        <p:spPr>
          <a:xfrm rot="21540000">
            <a:off x="6278040" y="1938240"/>
            <a:ext cx="2688120" cy="456840"/>
          </a:xfrm>
          <a:prstGeom prst="rect">
            <a:avLst/>
          </a:prstGeom>
          <a:noFill/>
          <a:ln w="0">
            <a:noFill/>
          </a:ln>
        </p:spPr>
        <p:style>
          <a:lnRef idx="0"/>
          <a:fillRef idx="0"/>
          <a:effectRef idx="0"/>
          <a:fontRef idx="minor"/>
        </p:style>
        <p:txBody>
          <a:bodyPr lIns="0" tIns="0" rIns="0" bIns="0" anchor="ctr">
            <a:noAutofit/>
          </a:bodyPr>
          <a:p>
            <a:pPr>
              <a:lnSpc>
                <a:spcPts val="1151"/>
              </a:lnSpc>
              <a:tabLst>
                <a:tab pos="0" algn="l"/>
              </a:tabLst>
            </a:pPr>
            <a:r>
              <a:rPr lang="en-NG" sz="1000" b="1" u="none" strike="noStrike">
                <a:solidFill>
                  <a:srgbClr val="CFC4EE"/>
                </a:solidFill>
                <a:effectLst/>
                <a:uFillTx/>
                <a:latin typeface="Calibri"/>
                <a:ea typeface="Calibri"/>
              </a:rPr>
              <a:t>Fagbemiro Ibukunoluwa Ayodeji</a:t>
            </a:r>
            <a:endParaRPr lang="en-NG" sz="1000" b="0" u="none" strike="noStrike">
              <a:solidFill>
                <a:srgbClr val="FFFFFF"/>
              </a:solidFill>
              <a:effectLst/>
              <a:uFillTx/>
              <a:latin typeface="Arial"/>
            </a:endParaRPr>
          </a:p>
          <a:p>
            <a:pPr>
              <a:lnSpc>
                <a:spcPts val="1151"/>
              </a:lnSpc>
              <a:tabLst>
                <a:tab pos="0" algn="l"/>
              </a:tabLst>
            </a:pPr>
            <a:r>
              <a:rPr lang="en-NG" sz="800" b="0" u="none" strike="noStrike">
                <a:solidFill>
                  <a:srgbClr val="9184C4"/>
                </a:solidFill>
                <a:effectLst/>
                <a:uFillTx/>
                <a:latin typeface="Calibri"/>
                <a:ea typeface="Calibri"/>
              </a:rPr>
              <a:t>SEN/2025/071</a:t>
            </a:r>
            <a:endParaRPr lang="en-NG" sz="800" b="0" u="none" strike="noStrike">
              <a:solidFill>
                <a:srgbClr val="FFFFFF"/>
              </a:solidFill>
              <a:effectLst/>
              <a:uFillTx/>
              <a:latin typeface="Arial"/>
            </a:endParaRPr>
          </a:p>
        </p:txBody>
      </p:sp>
      <p:sp>
        <p:nvSpPr>
          <p:cNvPr id="565" name="Text 7"/>
          <p:cNvSpPr/>
          <p:nvPr/>
        </p:nvSpPr>
        <p:spPr>
          <a:xfrm rot="180000">
            <a:off x="468000" y="2331360"/>
            <a:ext cx="2688120" cy="456840"/>
          </a:xfrm>
          <a:prstGeom prst="rect">
            <a:avLst/>
          </a:prstGeom>
          <a:noFill/>
          <a:ln w="0">
            <a:noFill/>
          </a:ln>
        </p:spPr>
        <p:style>
          <a:lnRef idx="0"/>
          <a:fillRef idx="0"/>
          <a:effectRef idx="0"/>
          <a:fontRef idx="minor"/>
        </p:style>
        <p:txBody>
          <a:bodyPr lIns="0" tIns="0" rIns="0" bIns="0" anchor="ctr">
            <a:noAutofit/>
          </a:bodyPr>
          <a:p>
            <a:pPr>
              <a:lnSpc>
                <a:spcPts val="1151"/>
              </a:lnSpc>
              <a:tabLst>
                <a:tab pos="0" algn="l"/>
              </a:tabLst>
            </a:pPr>
            <a:r>
              <a:rPr lang="en-NG" sz="1000" b="1" u="none" strike="noStrike">
                <a:solidFill>
                  <a:srgbClr val="FFFFFF"/>
                </a:solidFill>
                <a:effectLst/>
                <a:uFillTx/>
                <a:latin typeface="Calibri"/>
                <a:ea typeface="Calibri"/>
              </a:rPr>
              <a:t>Ige Tobiloluwa Ayodeji</a:t>
            </a:r>
            <a:endParaRPr lang="en-NG" sz="1000" b="0" u="none" strike="noStrike">
              <a:solidFill>
                <a:srgbClr val="FFFFFF"/>
              </a:solidFill>
              <a:effectLst/>
              <a:uFillTx/>
              <a:latin typeface="Arial"/>
            </a:endParaRPr>
          </a:p>
          <a:p>
            <a:pPr>
              <a:lnSpc>
                <a:spcPts val="1151"/>
              </a:lnSpc>
              <a:tabLst>
                <a:tab pos="0" algn="l"/>
              </a:tabLst>
            </a:pPr>
            <a:r>
              <a:rPr lang="en-NG" sz="800" b="0" u="none" strike="noStrike">
                <a:solidFill>
                  <a:srgbClr val="9184C4"/>
                </a:solidFill>
                <a:effectLst/>
                <a:uFillTx/>
                <a:latin typeface="Calibri"/>
                <a:ea typeface="Calibri"/>
              </a:rPr>
              <a:t>SEN/2025/079</a:t>
            </a:r>
            <a:endParaRPr lang="en-NG" sz="800" b="0" u="none" strike="noStrike">
              <a:solidFill>
                <a:srgbClr val="FFFFFF"/>
              </a:solidFill>
              <a:effectLst/>
              <a:uFillTx/>
              <a:latin typeface="Arial"/>
            </a:endParaRPr>
          </a:p>
        </p:txBody>
      </p:sp>
      <p:sp>
        <p:nvSpPr>
          <p:cNvPr id="566" name="Text 8"/>
          <p:cNvSpPr/>
          <p:nvPr/>
        </p:nvSpPr>
        <p:spPr>
          <a:xfrm rot="21480000">
            <a:off x="3405960" y="2393640"/>
            <a:ext cx="2688120" cy="456840"/>
          </a:xfrm>
          <a:prstGeom prst="rect">
            <a:avLst/>
          </a:prstGeom>
          <a:noFill/>
          <a:ln w="0">
            <a:noFill/>
          </a:ln>
        </p:spPr>
        <p:style>
          <a:lnRef idx="0"/>
          <a:fillRef idx="0"/>
          <a:effectRef idx="0"/>
          <a:fontRef idx="minor"/>
        </p:style>
        <p:txBody>
          <a:bodyPr lIns="0" tIns="0" rIns="0" bIns="0" anchor="ctr">
            <a:noAutofit/>
          </a:bodyPr>
          <a:p>
            <a:pPr>
              <a:lnSpc>
                <a:spcPts val="1151"/>
              </a:lnSpc>
              <a:tabLst>
                <a:tab pos="0" algn="l"/>
              </a:tabLst>
            </a:pPr>
            <a:r>
              <a:rPr lang="en-NG" sz="1000" b="1" u="none" strike="noStrike">
                <a:solidFill>
                  <a:srgbClr val="E4B454"/>
                </a:solidFill>
                <a:effectLst/>
                <a:uFillTx/>
                <a:latin typeface="Calibri"/>
                <a:ea typeface="Calibri"/>
              </a:rPr>
              <a:t>Adebayo Malik Ayobami</a:t>
            </a:r>
            <a:endParaRPr lang="en-NG" sz="1000" b="0" u="none" strike="noStrike">
              <a:solidFill>
                <a:srgbClr val="FFFFFF"/>
              </a:solidFill>
              <a:effectLst/>
              <a:uFillTx/>
              <a:latin typeface="Arial"/>
            </a:endParaRPr>
          </a:p>
          <a:p>
            <a:pPr>
              <a:lnSpc>
                <a:spcPts val="1151"/>
              </a:lnSpc>
              <a:tabLst>
                <a:tab pos="0" algn="l"/>
              </a:tabLst>
            </a:pPr>
            <a:r>
              <a:rPr lang="en-NG" sz="800" b="0" u="none" strike="noStrike">
                <a:solidFill>
                  <a:srgbClr val="9184C4"/>
                </a:solidFill>
                <a:effectLst/>
                <a:uFillTx/>
                <a:latin typeface="Calibri"/>
                <a:ea typeface="Calibri"/>
              </a:rPr>
              <a:t>SEN/2025/008</a:t>
            </a:r>
            <a:endParaRPr lang="en-NG" sz="800" b="0" u="none" strike="noStrike">
              <a:solidFill>
                <a:srgbClr val="FFFFFF"/>
              </a:solidFill>
              <a:effectLst/>
              <a:uFillTx/>
              <a:latin typeface="Arial"/>
            </a:endParaRPr>
          </a:p>
        </p:txBody>
      </p:sp>
      <p:sp>
        <p:nvSpPr>
          <p:cNvPr id="567" name="Text 9"/>
          <p:cNvSpPr/>
          <p:nvPr/>
        </p:nvSpPr>
        <p:spPr>
          <a:xfrm rot="60000">
            <a:off x="6138360" y="2350080"/>
            <a:ext cx="2688120" cy="456840"/>
          </a:xfrm>
          <a:prstGeom prst="rect">
            <a:avLst/>
          </a:prstGeom>
          <a:noFill/>
          <a:ln w="0">
            <a:noFill/>
          </a:ln>
        </p:spPr>
        <p:style>
          <a:lnRef idx="0"/>
          <a:fillRef idx="0"/>
          <a:effectRef idx="0"/>
          <a:fontRef idx="minor"/>
        </p:style>
        <p:txBody>
          <a:bodyPr lIns="0" tIns="0" rIns="0" bIns="0" anchor="ctr">
            <a:noAutofit/>
          </a:bodyPr>
          <a:p>
            <a:pPr>
              <a:lnSpc>
                <a:spcPts val="1151"/>
              </a:lnSpc>
              <a:tabLst>
                <a:tab pos="0" algn="l"/>
              </a:tabLst>
            </a:pPr>
            <a:r>
              <a:rPr lang="en-NG" sz="1000" b="1" u="none" strike="noStrike">
                <a:solidFill>
                  <a:srgbClr val="B9AADF"/>
                </a:solidFill>
                <a:effectLst/>
                <a:uFillTx/>
                <a:latin typeface="Calibri"/>
                <a:ea typeface="Calibri"/>
              </a:rPr>
              <a:t>Akinwunmi David Temidayo</a:t>
            </a:r>
            <a:endParaRPr lang="en-NG" sz="1000" b="0" u="none" strike="noStrike">
              <a:solidFill>
                <a:srgbClr val="FFFFFF"/>
              </a:solidFill>
              <a:effectLst/>
              <a:uFillTx/>
              <a:latin typeface="Arial"/>
            </a:endParaRPr>
          </a:p>
          <a:p>
            <a:pPr>
              <a:lnSpc>
                <a:spcPts val="1151"/>
              </a:lnSpc>
              <a:tabLst>
                <a:tab pos="0" algn="l"/>
              </a:tabLst>
            </a:pPr>
            <a:r>
              <a:rPr lang="en-NG" sz="800" b="0" u="none" strike="noStrike">
                <a:solidFill>
                  <a:srgbClr val="9184C4"/>
                </a:solidFill>
                <a:effectLst/>
                <a:uFillTx/>
                <a:latin typeface="Calibri"/>
                <a:ea typeface="Calibri"/>
              </a:rPr>
              <a:t>SEN/2025/042</a:t>
            </a:r>
            <a:endParaRPr lang="en-NG" sz="800" b="0" u="none" strike="noStrike">
              <a:solidFill>
                <a:srgbClr val="FFFFFF"/>
              </a:solidFill>
              <a:effectLst/>
              <a:uFillTx/>
              <a:latin typeface="Arial"/>
            </a:endParaRPr>
          </a:p>
        </p:txBody>
      </p:sp>
      <p:sp>
        <p:nvSpPr>
          <p:cNvPr id="568" name="Text 10"/>
          <p:cNvSpPr/>
          <p:nvPr/>
        </p:nvSpPr>
        <p:spPr>
          <a:xfrm rot="120000">
            <a:off x="665640" y="2892960"/>
            <a:ext cx="2688120" cy="456840"/>
          </a:xfrm>
          <a:prstGeom prst="rect">
            <a:avLst/>
          </a:prstGeom>
          <a:noFill/>
          <a:ln w="0">
            <a:noFill/>
          </a:ln>
        </p:spPr>
        <p:style>
          <a:lnRef idx="0"/>
          <a:fillRef idx="0"/>
          <a:effectRef idx="0"/>
          <a:fontRef idx="minor"/>
        </p:style>
        <p:txBody>
          <a:bodyPr lIns="0" tIns="0" rIns="0" bIns="0" anchor="ctr">
            <a:noAutofit/>
          </a:bodyPr>
          <a:p>
            <a:pPr>
              <a:lnSpc>
                <a:spcPts val="1151"/>
              </a:lnSpc>
              <a:tabLst>
                <a:tab pos="0" algn="l"/>
              </a:tabLst>
            </a:pPr>
            <a:r>
              <a:rPr lang="en-NG" sz="1000" b="1" u="none" strike="noStrike">
                <a:solidFill>
                  <a:srgbClr val="FFFFFF"/>
                </a:solidFill>
                <a:effectLst/>
                <a:uFillTx/>
                <a:latin typeface="Calibri"/>
                <a:ea typeface="Calibri"/>
              </a:rPr>
              <a:t>Ojewole Darasimi Johnson</a:t>
            </a:r>
            <a:endParaRPr lang="en-NG" sz="1000" b="0" u="none" strike="noStrike">
              <a:solidFill>
                <a:srgbClr val="FFFFFF"/>
              </a:solidFill>
              <a:effectLst/>
              <a:uFillTx/>
              <a:latin typeface="Arial"/>
            </a:endParaRPr>
          </a:p>
          <a:p>
            <a:pPr>
              <a:lnSpc>
                <a:spcPts val="1151"/>
              </a:lnSpc>
              <a:tabLst>
                <a:tab pos="0" algn="l"/>
              </a:tabLst>
            </a:pPr>
            <a:r>
              <a:rPr lang="en-NG" sz="800" b="0" u="none" strike="noStrike">
                <a:solidFill>
                  <a:srgbClr val="9184C4"/>
                </a:solidFill>
                <a:effectLst/>
                <a:uFillTx/>
                <a:latin typeface="Calibri"/>
                <a:ea typeface="Calibri"/>
              </a:rPr>
              <a:t>SEN/2025/098</a:t>
            </a:r>
            <a:endParaRPr lang="en-NG" sz="800" b="0" u="none" strike="noStrike">
              <a:solidFill>
                <a:srgbClr val="FFFFFF"/>
              </a:solidFill>
              <a:effectLst/>
              <a:uFillTx/>
              <a:latin typeface="Arial"/>
            </a:endParaRPr>
          </a:p>
        </p:txBody>
      </p:sp>
      <p:sp>
        <p:nvSpPr>
          <p:cNvPr id="569" name="Text 11"/>
          <p:cNvSpPr/>
          <p:nvPr/>
        </p:nvSpPr>
        <p:spPr>
          <a:xfrm rot="21420000">
            <a:off x="3290760" y="2805120"/>
            <a:ext cx="2688120" cy="456840"/>
          </a:xfrm>
          <a:prstGeom prst="rect">
            <a:avLst/>
          </a:prstGeom>
          <a:noFill/>
          <a:ln w="0">
            <a:noFill/>
          </a:ln>
        </p:spPr>
        <p:style>
          <a:lnRef idx="0"/>
          <a:fillRef idx="0"/>
          <a:effectRef idx="0"/>
          <a:fontRef idx="minor"/>
        </p:style>
        <p:txBody>
          <a:bodyPr lIns="0" tIns="0" rIns="0" bIns="0" anchor="ctr">
            <a:noAutofit/>
          </a:bodyPr>
          <a:p>
            <a:pPr>
              <a:lnSpc>
                <a:spcPts val="1151"/>
              </a:lnSpc>
              <a:tabLst>
                <a:tab pos="0" algn="l"/>
              </a:tabLst>
            </a:pPr>
            <a:r>
              <a:rPr lang="en-NG" sz="1000" b="1" u="none" strike="noStrike">
                <a:solidFill>
                  <a:srgbClr val="E4B454"/>
                </a:solidFill>
                <a:effectLst/>
                <a:uFillTx/>
                <a:latin typeface="Calibri"/>
                <a:ea typeface="Calibri"/>
              </a:rPr>
              <a:t>Abdul Raheem Abdul Raheem Olawale</a:t>
            </a:r>
            <a:endParaRPr lang="en-NG" sz="1000" b="0" u="none" strike="noStrike">
              <a:solidFill>
                <a:srgbClr val="FFFFFF"/>
              </a:solidFill>
              <a:effectLst/>
              <a:uFillTx/>
              <a:latin typeface="Arial"/>
            </a:endParaRPr>
          </a:p>
          <a:p>
            <a:pPr>
              <a:lnSpc>
                <a:spcPts val="1151"/>
              </a:lnSpc>
              <a:tabLst>
                <a:tab pos="0" algn="l"/>
              </a:tabLst>
            </a:pPr>
            <a:r>
              <a:rPr lang="en-NG" sz="800" b="0" u="none" strike="noStrike">
                <a:solidFill>
                  <a:srgbClr val="9184C4"/>
                </a:solidFill>
                <a:effectLst/>
                <a:uFillTx/>
                <a:latin typeface="Calibri"/>
                <a:ea typeface="Calibri"/>
              </a:rPr>
              <a:t>SEN/2025/003</a:t>
            </a:r>
            <a:endParaRPr lang="en-NG" sz="800" b="0" u="none" strike="noStrike">
              <a:solidFill>
                <a:srgbClr val="FFFFFF"/>
              </a:solidFill>
              <a:effectLst/>
              <a:uFillTx/>
              <a:latin typeface="Arial"/>
            </a:endParaRPr>
          </a:p>
        </p:txBody>
      </p:sp>
      <p:sp>
        <p:nvSpPr>
          <p:cNvPr id="570" name="Text 12"/>
          <p:cNvSpPr/>
          <p:nvPr/>
        </p:nvSpPr>
        <p:spPr>
          <a:xfrm rot="60000">
            <a:off x="6187680" y="2860200"/>
            <a:ext cx="2688120" cy="456840"/>
          </a:xfrm>
          <a:prstGeom prst="rect">
            <a:avLst/>
          </a:prstGeom>
          <a:noFill/>
          <a:ln w="0">
            <a:noFill/>
          </a:ln>
        </p:spPr>
        <p:style>
          <a:lnRef idx="0"/>
          <a:fillRef idx="0"/>
          <a:effectRef idx="0"/>
          <a:fontRef idx="minor"/>
        </p:style>
        <p:txBody>
          <a:bodyPr lIns="0" tIns="0" rIns="0" bIns="0" anchor="ctr">
            <a:noAutofit/>
          </a:bodyPr>
          <a:p>
            <a:pPr>
              <a:lnSpc>
                <a:spcPts val="1151"/>
              </a:lnSpc>
              <a:tabLst>
                <a:tab pos="0" algn="l"/>
              </a:tabLst>
            </a:pPr>
            <a:r>
              <a:rPr lang="en-NG" sz="1000" b="1" u="none" strike="noStrike">
                <a:solidFill>
                  <a:srgbClr val="CFC4EE"/>
                </a:solidFill>
                <a:effectLst/>
                <a:uFillTx/>
                <a:latin typeface="Calibri"/>
                <a:ea typeface="Calibri"/>
              </a:rPr>
              <a:t>Oresajo Oluwaferanmi Idunnuoluwa</a:t>
            </a:r>
            <a:endParaRPr lang="en-NG" sz="1000" b="0" u="none" strike="noStrike">
              <a:solidFill>
                <a:srgbClr val="FFFFFF"/>
              </a:solidFill>
              <a:effectLst/>
              <a:uFillTx/>
              <a:latin typeface="Arial"/>
            </a:endParaRPr>
          </a:p>
          <a:p>
            <a:pPr>
              <a:lnSpc>
                <a:spcPts val="1151"/>
              </a:lnSpc>
              <a:tabLst>
                <a:tab pos="0" algn="l"/>
              </a:tabLst>
            </a:pPr>
            <a:r>
              <a:rPr lang="en-NG" sz="800" b="0" u="none" strike="noStrike">
                <a:solidFill>
                  <a:srgbClr val="9184C4"/>
                </a:solidFill>
                <a:effectLst/>
                <a:uFillTx/>
                <a:latin typeface="Calibri"/>
                <a:ea typeface="Calibri"/>
              </a:rPr>
              <a:t>SEN/2025/120</a:t>
            </a:r>
            <a:endParaRPr lang="en-NG" sz="800" b="0" u="none" strike="noStrike">
              <a:solidFill>
                <a:srgbClr val="FFFFFF"/>
              </a:solidFill>
              <a:effectLst/>
              <a:uFillTx/>
              <a:latin typeface="Arial"/>
            </a:endParaRPr>
          </a:p>
        </p:txBody>
      </p:sp>
      <p:sp>
        <p:nvSpPr>
          <p:cNvPr id="571" name="Text 13"/>
          <p:cNvSpPr/>
          <p:nvPr/>
        </p:nvSpPr>
        <p:spPr>
          <a:xfrm rot="21480000">
            <a:off x="690120" y="3370320"/>
            <a:ext cx="2688120" cy="456840"/>
          </a:xfrm>
          <a:prstGeom prst="rect">
            <a:avLst/>
          </a:prstGeom>
          <a:noFill/>
          <a:ln w="0">
            <a:noFill/>
          </a:ln>
        </p:spPr>
        <p:style>
          <a:lnRef idx="0"/>
          <a:fillRef idx="0"/>
          <a:effectRef idx="0"/>
          <a:fontRef idx="minor"/>
        </p:style>
        <p:txBody>
          <a:bodyPr lIns="0" tIns="0" rIns="0" bIns="0" anchor="ctr">
            <a:noAutofit/>
          </a:bodyPr>
          <a:p>
            <a:pPr>
              <a:lnSpc>
                <a:spcPts val="1151"/>
              </a:lnSpc>
              <a:tabLst>
                <a:tab pos="0" algn="l"/>
              </a:tabLst>
            </a:pPr>
            <a:r>
              <a:rPr lang="en-NG" sz="1000" b="1" u="none" strike="noStrike">
                <a:solidFill>
                  <a:srgbClr val="FFFFFF"/>
                </a:solidFill>
                <a:effectLst/>
                <a:uFillTx/>
                <a:latin typeface="Calibri"/>
                <a:ea typeface="Calibri"/>
              </a:rPr>
              <a:t>Bello OluwaseounTimofe Emmanuel</a:t>
            </a:r>
            <a:endParaRPr lang="en-NG" sz="1000" b="0" u="none" strike="noStrike">
              <a:solidFill>
                <a:srgbClr val="FFFFFF"/>
              </a:solidFill>
              <a:effectLst/>
              <a:uFillTx/>
              <a:latin typeface="Arial"/>
            </a:endParaRPr>
          </a:p>
          <a:p>
            <a:pPr>
              <a:lnSpc>
                <a:spcPts val="1151"/>
              </a:lnSpc>
              <a:tabLst>
                <a:tab pos="0" algn="l"/>
              </a:tabLst>
            </a:pPr>
            <a:r>
              <a:rPr lang="en-NG" sz="800" b="0" u="none" strike="noStrike">
                <a:solidFill>
                  <a:srgbClr val="9184C4"/>
                </a:solidFill>
                <a:effectLst/>
                <a:uFillTx/>
                <a:latin typeface="Calibri"/>
                <a:ea typeface="Calibri"/>
              </a:rPr>
              <a:t>SEN/2025/145</a:t>
            </a:r>
            <a:endParaRPr lang="en-NG" sz="800" b="0" u="none" strike="noStrike">
              <a:solidFill>
                <a:srgbClr val="FFFFFF"/>
              </a:solidFill>
              <a:effectLst/>
              <a:uFillTx/>
              <a:latin typeface="Arial"/>
            </a:endParaRPr>
          </a:p>
        </p:txBody>
      </p:sp>
      <p:sp>
        <p:nvSpPr>
          <p:cNvPr id="572" name="Text 14"/>
          <p:cNvSpPr/>
          <p:nvPr/>
        </p:nvSpPr>
        <p:spPr>
          <a:xfrm rot="180000">
            <a:off x="3282480" y="3311640"/>
            <a:ext cx="2688120" cy="456840"/>
          </a:xfrm>
          <a:prstGeom prst="rect">
            <a:avLst/>
          </a:prstGeom>
          <a:noFill/>
          <a:ln w="0">
            <a:noFill/>
          </a:ln>
        </p:spPr>
        <p:style>
          <a:lnRef idx="0"/>
          <a:fillRef idx="0"/>
          <a:effectRef idx="0"/>
          <a:fontRef idx="minor"/>
        </p:style>
        <p:txBody>
          <a:bodyPr lIns="0" tIns="0" rIns="0" bIns="0" anchor="ctr">
            <a:noAutofit/>
          </a:bodyPr>
          <a:p>
            <a:pPr>
              <a:lnSpc>
                <a:spcPts val="1151"/>
              </a:lnSpc>
              <a:tabLst>
                <a:tab pos="0" algn="l"/>
              </a:tabLst>
            </a:pPr>
            <a:r>
              <a:rPr lang="en-NG" sz="1000" b="1" u="none" strike="noStrike">
                <a:solidFill>
                  <a:srgbClr val="E4B454"/>
                </a:solidFill>
                <a:effectLst/>
                <a:uFillTx/>
                <a:latin typeface="Calibri"/>
                <a:ea typeface="Calibri"/>
              </a:rPr>
              <a:t>Onigbinde Goodluck Jesse</a:t>
            </a:r>
            <a:endParaRPr lang="en-NG" sz="1000" b="0" u="none" strike="noStrike">
              <a:solidFill>
                <a:srgbClr val="FFFFFF"/>
              </a:solidFill>
              <a:effectLst/>
              <a:uFillTx/>
              <a:latin typeface="Arial"/>
            </a:endParaRPr>
          </a:p>
          <a:p>
            <a:pPr>
              <a:lnSpc>
                <a:spcPts val="1151"/>
              </a:lnSpc>
              <a:tabLst>
                <a:tab pos="0" algn="l"/>
              </a:tabLst>
            </a:pPr>
            <a:r>
              <a:rPr lang="en-NG" sz="800" b="0" u="none" strike="noStrike">
                <a:solidFill>
                  <a:srgbClr val="9184C4"/>
                </a:solidFill>
                <a:effectLst/>
                <a:uFillTx/>
                <a:latin typeface="Calibri"/>
                <a:ea typeface="Calibri"/>
              </a:rPr>
              <a:t>SEN/2025/116</a:t>
            </a:r>
            <a:endParaRPr lang="en-NG" sz="800" b="0" u="none" strike="noStrike">
              <a:solidFill>
                <a:srgbClr val="FFFFFF"/>
              </a:solidFill>
              <a:effectLst/>
              <a:uFillTx/>
              <a:latin typeface="Arial"/>
            </a:endParaRPr>
          </a:p>
        </p:txBody>
      </p:sp>
      <p:sp>
        <p:nvSpPr>
          <p:cNvPr id="573" name="Text 15"/>
          <p:cNvSpPr/>
          <p:nvPr/>
        </p:nvSpPr>
        <p:spPr>
          <a:xfrm rot="21540000">
            <a:off x="6220440" y="3384720"/>
            <a:ext cx="2688120" cy="456840"/>
          </a:xfrm>
          <a:prstGeom prst="rect">
            <a:avLst/>
          </a:prstGeom>
          <a:noFill/>
          <a:ln w="0">
            <a:noFill/>
          </a:ln>
        </p:spPr>
        <p:style>
          <a:lnRef idx="0"/>
          <a:fillRef idx="0"/>
          <a:effectRef idx="0"/>
          <a:fontRef idx="minor"/>
        </p:style>
        <p:txBody>
          <a:bodyPr lIns="0" tIns="0" rIns="0" bIns="0" anchor="ctr">
            <a:noAutofit/>
          </a:bodyPr>
          <a:p>
            <a:pPr>
              <a:lnSpc>
                <a:spcPts val="1151"/>
              </a:lnSpc>
              <a:tabLst>
                <a:tab pos="0" algn="l"/>
              </a:tabLst>
            </a:pPr>
            <a:r>
              <a:rPr lang="en-NG" sz="1000" b="1" u="none" strike="noStrike">
                <a:solidFill>
                  <a:srgbClr val="B9AADF"/>
                </a:solidFill>
                <a:effectLst/>
                <a:uFillTx/>
                <a:latin typeface="Calibri"/>
                <a:ea typeface="Calibri"/>
              </a:rPr>
              <a:t>Ejeh Chibuikem Philemon</a:t>
            </a:r>
            <a:endParaRPr lang="en-NG" sz="1000" b="0" u="none" strike="noStrike">
              <a:solidFill>
                <a:srgbClr val="FFFFFF"/>
              </a:solidFill>
              <a:effectLst/>
              <a:uFillTx/>
              <a:latin typeface="Arial"/>
            </a:endParaRPr>
          </a:p>
          <a:p>
            <a:pPr>
              <a:lnSpc>
                <a:spcPts val="1151"/>
              </a:lnSpc>
              <a:tabLst>
                <a:tab pos="0" algn="l"/>
              </a:tabLst>
            </a:pPr>
            <a:r>
              <a:rPr lang="en-NG" sz="800" b="0" u="none" strike="noStrike">
                <a:solidFill>
                  <a:srgbClr val="9184C4"/>
                </a:solidFill>
                <a:effectLst/>
                <a:uFillTx/>
                <a:latin typeface="Calibri"/>
                <a:ea typeface="Calibri"/>
              </a:rPr>
              <a:t>SEN/2025/066</a:t>
            </a:r>
            <a:endParaRPr lang="en-NG" sz="800" b="0" u="none" strike="noStrike">
              <a:solidFill>
                <a:srgbClr val="FFFFFF"/>
              </a:solidFill>
              <a:effectLst/>
              <a:uFillTx/>
              <a:latin typeface="Arial"/>
            </a:endParaRPr>
          </a:p>
        </p:txBody>
      </p:sp>
      <p:sp>
        <p:nvSpPr>
          <p:cNvPr id="574" name="Text 16"/>
          <p:cNvSpPr/>
          <p:nvPr/>
        </p:nvSpPr>
        <p:spPr>
          <a:xfrm rot="120000">
            <a:off x="525600" y="3807360"/>
            <a:ext cx="2688120" cy="456840"/>
          </a:xfrm>
          <a:prstGeom prst="rect">
            <a:avLst/>
          </a:prstGeom>
          <a:noFill/>
          <a:ln w="0">
            <a:noFill/>
          </a:ln>
        </p:spPr>
        <p:style>
          <a:lnRef idx="0"/>
          <a:fillRef idx="0"/>
          <a:effectRef idx="0"/>
          <a:fontRef idx="minor"/>
        </p:style>
        <p:txBody>
          <a:bodyPr lIns="0" tIns="0" rIns="0" bIns="0" anchor="ctr">
            <a:noAutofit/>
          </a:bodyPr>
          <a:p>
            <a:pPr>
              <a:lnSpc>
                <a:spcPts val="1151"/>
              </a:lnSpc>
              <a:tabLst>
                <a:tab pos="0" algn="l"/>
              </a:tabLst>
            </a:pPr>
            <a:r>
              <a:rPr lang="en-NG" sz="1000" b="1" u="none" strike="noStrike">
                <a:solidFill>
                  <a:srgbClr val="FFFFFF"/>
                </a:solidFill>
                <a:effectLst/>
                <a:uFillTx/>
                <a:latin typeface="Calibri"/>
                <a:ea typeface="Calibri"/>
              </a:rPr>
              <a:t>Adeneye Adebisi Crystal</a:t>
            </a:r>
            <a:endParaRPr lang="en-NG" sz="1000" b="0" u="none" strike="noStrike">
              <a:solidFill>
                <a:srgbClr val="FFFFFF"/>
              </a:solidFill>
              <a:effectLst/>
              <a:uFillTx/>
              <a:latin typeface="Arial"/>
            </a:endParaRPr>
          </a:p>
          <a:p>
            <a:pPr>
              <a:lnSpc>
                <a:spcPts val="1151"/>
              </a:lnSpc>
              <a:tabLst>
                <a:tab pos="0" algn="l"/>
              </a:tabLst>
            </a:pPr>
            <a:r>
              <a:rPr lang="en-NG" sz="800" b="0" u="none" strike="noStrike">
                <a:solidFill>
                  <a:srgbClr val="9184C4"/>
                </a:solidFill>
                <a:effectLst/>
                <a:uFillTx/>
                <a:latin typeface="Calibri"/>
                <a:ea typeface="Calibri"/>
              </a:rPr>
              <a:t>SEN/2025/017</a:t>
            </a:r>
            <a:endParaRPr lang="en-NG" sz="800" b="0" u="none" strike="noStrike">
              <a:solidFill>
                <a:srgbClr val="FFFFFF"/>
              </a:solidFill>
              <a:effectLst/>
              <a:uFillTx/>
              <a:latin typeface="Arial"/>
            </a:endParaRPr>
          </a:p>
        </p:txBody>
      </p:sp>
      <p:sp>
        <p:nvSpPr>
          <p:cNvPr id="575" name="Text 17"/>
          <p:cNvSpPr/>
          <p:nvPr/>
        </p:nvSpPr>
        <p:spPr>
          <a:xfrm rot="21480000">
            <a:off x="3455280" y="3844080"/>
            <a:ext cx="2688120" cy="456840"/>
          </a:xfrm>
          <a:prstGeom prst="rect">
            <a:avLst/>
          </a:prstGeom>
          <a:noFill/>
          <a:ln w="0">
            <a:noFill/>
          </a:ln>
        </p:spPr>
        <p:style>
          <a:lnRef idx="0"/>
          <a:fillRef idx="0"/>
          <a:effectRef idx="0"/>
          <a:fontRef idx="minor"/>
        </p:style>
        <p:txBody>
          <a:bodyPr lIns="0" tIns="0" rIns="0" bIns="0" anchor="ctr">
            <a:noAutofit/>
          </a:bodyPr>
          <a:p>
            <a:pPr>
              <a:lnSpc>
                <a:spcPts val="1151"/>
              </a:lnSpc>
              <a:tabLst>
                <a:tab pos="0" algn="l"/>
              </a:tabLst>
            </a:pPr>
            <a:r>
              <a:rPr lang="en-NG" sz="1000" b="1" u="none" strike="noStrike">
                <a:solidFill>
                  <a:srgbClr val="E4B454"/>
                </a:solidFill>
                <a:effectLst/>
                <a:uFillTx/>
                <a:latin typeface="Calibri"/>
                <a:ea typeface="Calibri"/>
              </a:rPr>
              <a:t>Adegbola Paul Temitope</a:t>
            </a:r>
            <a:endParaRPr lang="en-NG" sz="1000" b="0" u="none" strike="noStrike">
              <a:solidFill>
                <a:srgbClr val="FFFFFF"/>
              </a:solidFill>
              <a:effectLst/>
              <a:uFillTx/>
              <a:latin typeface="Arial"/>
            </a:endParaRPr>
          </a:p>
          <a:p>
            <a:pPr>
              <a:lnSpc>
                <a:spcPts val="1151"/>
              </a:lnSpc>
              <a:tabLst>
                <a:tab pos="0" algn="l"/>
              </a:tabLst>
            </a:pPr>
            <a:r>
              <a:rPr lang="en-NG" sz="800" b="0" u="none" strike="noStrike">
                <a:solidFill>
                  <a:srgbClr val="9184C4"/>
                </a:solidFill>
                <a:effectLst/>
                <a:uFillTx/>
                <a:latin typeface="Calibri"/>
                <a:ea typeface="Calibri"/>
              </a:rPr>
              <a:t>CSCS/2025/022</a:t>
            </a:r>
            <a:endParaRPr lang="en-NG" sz="800" b="0" u="none" strike="noStrike">
              <a:solidFill>
                <a:srgbClr val="FFFFFF"/>
              </a:solidFill>
              <a:effectLst/>
              <a:uFillTx/>
              <a:latin typeface="Arial"/>
            </a:endParaRPr>
          </a:p>
        </p:txBody>
      </p:sp>
      <p:sp>
        <p:nvSpPr>
          <p:cNvPr id="576" name="Text 18"/>
          <p:cNvSpPr/>
          <p:nvPr/>
        </p:nvSpPr>
        <p:spPr>
          <a:xfrm rot="60000">
            <a:off x="6055920" y="3781800"/>
            <a:ext cx="2688120" cy="456840"/>
          </a:xfrm>
          <a:prstGeom prst="rect">
            <a:avLst/>
          </a:prstGeom>
          <a:noFill/>
          <a:ln w="0">
            <a:noFill/>
          </a:ln>
        </p:spPr>
        <p:style>
          <a:lnRef idx="0"/>
          <a:fillRef idx="0"/>
          <a:effectRef idx="0"/>
          <a:fontRef idx="minor"/>
        </p:style>
        <p:txBody>
          <a:bodyPr lIns="0" tIns="0" rIns="0" bIns="0" anchor="ctr">
            <a:noAutofit/>
          </a:bodyPr>
          <a:p>
            <a:pPr>
              <a:lnSpc>
                <a:spcPts val="1151"/>
              </a:lnSpc>
              <a:tabLst>
                <a:tab pos="0" algn="l"/>
              </a:tabLst>
            </a:pPr>
            <a:r>
              <a:rPr lang="en-NG" sz="1000" b="1" u="none" strike="noStrike">
                <a:solidFill>
                  <a:srgbClr val="CFC4EE"/>
                </a:solidFill>
                <a:effectLst/>
                <a:uFillTx/>
                <a:latin typeface="Calibri"/>
                <a:ea typeface="Calibri"/>
              </a:rPr>
              <a:t>Oti Chiagoziem Evans</a:t>
            </a:r>
            <a:endParaRPr lang="en-NG" sz="1000" b="0" u="none" strike="noStrike">
              <a:solidFill>
                <a:srgbClr val="FFFFFF"/>
              </a:solidFill>
              <a:effectLst/>
              <a:uFillTx/>
              <a:latin typeface="Arial"/>
            </a:endParaRPr>
          </a:p>
          <a:p>
            <a:pPr>
              <a:lnSpc>
                <a:spcPts val="1151"/>
              </a:lnSpc>
              <a:tabLst>
                <a:tab pos="0" algn="l"/>
              </a:tabLst>
            </a:pPr>
            <a:r>
              <a:rPr lang="en-NG" sz="800" b="0" u="none" strike="noStrike">
                <a:solidFill>
                  <a:srgbClr val="9184C4"/>
                </a:solidFill>
                <a:effectLst/>
                <a:uFillTx/>
                <a:latin typeface="Calibri"/>
                <a:ea typeface="Calibri"/>
              </a:rPr>
              <a:t>SEN/2025/123</a:t>
            </a:r>
            <a:endParaRPr lang="en-NG" sz="800" b="0" u="none" strike="noStrike">
              <a:solidFill>
                <a:srgbClr val="FFFFFF"/>
              </a:solidFill>
              <a:effectLst/>
              <a:uFillTx/>
              <a:latin typeface="Arial"/>
            </a:endParaRPr>
          </a:p>
        </p:txBody>
      </p:sp>
      <p:sp>
        <p:nvSpPr>
          <p:cNvPr id="577" name="Text 19"/>
          <p:cNvSpPr/>
          <p:nvPr/>
        </p:nvSpPr>
        <p:spPr>
          <a:xfrm rot="180000">
            <a:off x="583200" y="4343040"/>
            <a:ext cx="2688120" cy="456840"/>
          </a:xfrm>
          <a:prstGeom prst="rect">
            <a:avLst/>
          </a:prstGeom>
          <a:noFill/>
          <a:ln w="0">
            <a:noFill/>
          </a:ln>
        </p:spPr>
        <p:style>
          <a:lnRef idx="0"/>
          <a:fillRef idx="0"/>
          <a:effectRef idx="0"/>
          <a:fontRef idx="minor"/>
        </p:style>
        <p:txBody>
          <a:bodyPr lIns="0" tIns="0" rIns="0" bIns="0" anchor="ctr">
            <a:noAutofit/>
          </a:bodyPr>
          <a:p>
            <a:pPr>
              <a:lnSpc>
                <a:spcPts val="1151"/>
              </a:lnSpc>
              <a:tabLst>
                <a:tab pos="0" algn="l"/>
              </a:tabLst>
            </a:pPr>
            <a:r>
              <a:rPr lang="en-NG" sz="1000" b="1" u="none" strike="noStrike">
                <a:solidFill>
                  <a:srgbClr val="FFFFFF"/>
                </a:solidFill>
                <a:effectLst/>
                <a:uFillTx/>
                <a:latin typeface="Calibri"/>
                <a:ea typeface="Calibri"/>
              </a:rPr>
              <a:t>Elusanmi Ayomide David</a:t>
            </a:r>
            <a:endParaRPr lang="en-NG" sz="1000" b="0" u="none" strike="noStrike">
              <a:solidFill>
                <a:srgbClr val="FFFFFF"/>
              </a:solidFill>
              <a:effectLst/>
              <a:uFillTx/>
              <a:latin typeface="Arial"/>
            </a:endParaRPr>
          </a:p>
          <a:p>
            <a:pPr>
              <a:lnSpc>
                <a:spcPts val="1151"/>
              </a:lnSpc>
              <a:tabLst>
                <a:tab pos="0" algn="l"/>
              </a:tabLst>
            </a:pPr>
            <a:r>
              <a:rPr lang="en-NG" sz="800" b="0" u="none" strike="noStrike">
                <a:solidFill>
                  <a:srgbClr val="9184C4"/>
                </a:solidFill>
                <a:effectLst/>
                <a:uFillTx/>
                <a:latin typeface="Calibri"/>
                <a:ea typeface="Calibri"/>
              </a:rPr>
              <a:t>SEN/2025/068</a:t>
            </a:r>
            <a:endParaRPr lang="en-NG" sz="800" b="0" u="none" strike="noStrike">
              <a:solidFill>
                <a:srgbClr val="FFFFFF"/>
              </a:solidFill>
              <a:effectLst/>
              <a:uFillTx/>
              <a:latin typeface="Arial"/>
            </a:endParaRPr>
          </a:p>
        </p:txBody>
      </p:sp>
      <p:sp>
        <p:nvSpPr>
          <p:cNvPr id="578" name="Text 20"/>
          <p:cNvSpPr/>
          <p:nvPr/>
        </p:nvSpPr>
        <p:spPr>
          <a:xfrm rot="21540000">
            <a:off x="3438720" y="4284720"/>
            <a:ext cx="2688120" cy="456840"/>
          </a:xfrm>
          <a:prstGeom prst="rect">
            <a:avLst/>
          </a:prstGeom>
          <a:noFill/>
          <a:ln w="0">
            <a:noFill/>
          </a:ln>
        </p:spPr>
        <p:style>
          <a:lnRef idx="0"/>
          <a:fillRef idx="0"/>
          <a:effectRef idx="0"/>
          <a:fontRef idx="minor"/>
        </p:style>
        <p:txBody>
          <a:bodyPr lIns="0" tIns="0" rIns="0" bIns="0" anchor="ctr">
            <a:noAutofit/>
          </a:bodyPr>
          <a:p>
            <a:pPr>
              <a:lnSpc>
                <a:spcPts val="1151"/>
              </a:lnSpc>
              <a:tabLst>
                <a:tab pos="0" algn="l"/>
              </a:tabLst>
            </a:pPr>
            <a:r>
              <a:rPr lang="en-NG" sz="1000" b="1" u="none" strike="noStrike">
                <a:solidFill>
                  <a:srgbClr val="E4B454"/>
                </a:solidFill>
                <a:effectLst/>
                <a:uFillTx/>
                <a:latin typeface="Calibri"/>
                <a:ea typeface="Calibri"/>
              </a:rPr>
              <a:t>Mogaji Toyosi Ebenezer</a:t>
            </a:r>
            <a:endParaRPr lang="en-NG" sz="1000" b="0" u="none" strike="noStrike">
              <a:solidFill>
                <a:srgbClr val="FFFFFF"/>
              </a:solidFill>
              <a:effectLst/>
              <a:uFillTx/>
              <a:latin typeface="Arial"/>
            </a:endParaRPr>
          </a:p>
          <a:p>
            <a:pPr>
              <a:lnSpc>
                <a:spcPts val="1151"/>
              </a:lnSpc>
              <a:tabLst>
                <a:tab pos="0" algn="l"/>
              </a:tabLst>
            </a:pPr>
            <a:r>
              <a:rPr lang="en-NG" sz="800" b="0" u="none" strike="noStrike">
                <a:solidFill>
                  <a:srgbClr val="9184C4"/>
                </a:solidFill>
                <a:effectLst/>
                <a:uFillTx/>
                <a:latin typeface="Calibri"/>
                <a:ea typeface="Calibri"/>
              </a:rPr>
              <a:t>SEN/2025/089</a:t>
            </a:r>
            <a:endParaRPr lang="en-NG" sz="800" b="0" u="none" strike="noStrike">
              <a:solidFill>
                <a:srgbClr val="FFFFFF"/>
              </a:solidFill>
              <a:effectLst/>
              <a:uFillTx/>
              <a:latin typeface="Arial"/>
            </a:endParaRPr>
          </a:p>
        </p:txBody>
      </p:sp>
      <p:sp>
        <p:nvSpPr>
          <p:cNvPr id="579" name="Text 21"/>
          <p:cNvSpPr/>
          <p:nvPr/>
        </p:nvSpPr>
        <p:spPr>
          <a:xfrm rot="120000">
            <a:off x="6105240" y="4357800"/>
            <a:ext cx="2688120" cy="456840"/>
          </a:xfrm>
          <a:prstGeom prst="rect">
            <a:avLst/>
          </a:prstGeom>
          <a:noFill/>
          <a:ln w="0">
            <a:noFill/>
          </a:ln>
        </p:spPr>
        <p:style>
          <a:lnRef idx="0"/>
          <a:fillRef idx="0"/>
          <a:effectRef idx="0"/>
          <a:fontRef idx="minor"/>
        </p:style>
        <p:txBody>
          <a:bodyPr lIns="0" tIns="0" rIns="0" bIns="0" anchor="ctr">
            <a:noAutofit/>
          </a:bodyPr>
          <a:p>
            <a:pPr>
              <a:lnSpc>
                <a:spcPts val="1151"/>
              </a:lnSpc>
              <a:tabLst>
                <a:tab pos="0" algn="l"/>
              </a:tabLst>
            </a:pPr>
            <a:r>
              <a:rPr lang="en-NG" sz="1000" b="1" u="none" strike="noStrike">
                <a:solidFill>
                  <a:srgbClr val="B9AADF"/>
                </a:solidFill>
                <a:effectLst/>
                <a:uFillTx/>
                <a:latin typeface="Calibri"/>
                <a:ea typeface="Calibri"/>
              </a:rPr>
              <a:t>Amure Oluwatobiloba David</a:t>
            </a:r>
            <a:endParaRPr lang="en-NG" sz="1000" b="0" u="none" strike="noStrike">
              <a:solidFill>
                <a:srgbClr val="FFFFFF"/>
              </a:solidFill>
              <a:effectLst/>
              <a:uFillTx/>
              <a:latin typeface="Arial"/>
            </a:endParaRPr>
          </a:p>
          <a:p>
            <a:pPr>
              <a:lnSpc>
                <a:spcPts val="1151"/>
              </a:lnSpc>
              <a:tabLst>
                <a:tab pos="0" algn="l"/>
              </a:tabLst>
            </a:pPr>
            <a:r>
              <a:rPr lang="en-NG" sz="800" b="0" u="none" strike="noStrike">
                <a:solidFill>
                  <a:srgbClr val="9184C4"/>
                </a:solidFill>
                <a:effectLst/>
                <a:uFillTx/>
                <a:latin typeface="Calibri"/>
                <a:ea typeface="Calibri"/>
              </a:rPr>
              <a:t>SEN/2025/045</a:t>
            </a:r>
            <a:endParaRPr lang="en-NG" sz="800" b="0" u="none" strike="noStrike">
              <a:solidFill>
                <a:srgbClr val="FFFFFF"/>
              </a:solidFill>
              <a:effectLst/>
              <a:uFillTx/>
              <a:latin typeface="Arial"/>
            </a:endParaRPr>
          </a:p>
        </p:txBody>
      </p:sp>
      <p:sp>
        <p:nvSpPr>
          <p:cNvPr id="580" name="Text 22"/>
          <p:cNvSpPr/>
          <p:nvPr/>
        </p:nvSpPr>
        <p:spPr>
          <a:xfrm rot="21420000">
            <a:off x="673920" y="4747320"/>
            <a:ext cx="2688120" cy="456840"/>
          </a:xfrm>
          <a:prstGeom prst="rect">
            <a:avLst/>
          </a:prstGeom>
          <a:noFill/>
          <a:ln w="0">
            <a:noFill/>
          </a:ln>
        </p:spPr>
        <p:style>
          <a:lnRef idx="0"/>
          <a:fillRef idx="0"/>
          <a:effectRef idx="0"/>
          <a:fontRef idx="minor"/>
        </p:style>
        <p:txBody>
          <a:bodyPr lIns="0" tIns="0" rIns="0" bIns="0" anchor="ctr">
            <a:noAutofit/>
          </a:bodyPr>
          <a:p>
            <a:pPr>
              <a:lnSpc>
                <a:spcPts val="1151"/>
              </a:lnSpc>
              <a:tabLst>
                <a:tab pos="0" algn="l"/>
              </a:tabLst>
            </a:pPr>
            <a:r>
              <a:rPr lang="en-NG" sz="1000" b="1" u="none" strike="noStrike">
                <a:solidFill>
                  <a:srgbClr val="FFFFFF"/>
                </a:solidFill>
                <a:effectLst/>
                <a:uFillTx/>
                <a:latin typeface="Calibri"/>
                <a:ea typeface="Calibri"/>
              </a:rPr>
              <a:t>Ayodeji Oluwakorede Ifeoluwa</a:t>
            </a:r>
            <a:endParaRPr lang="en-NG" sz="1000" b="0" u="none" strike="noStrike">
              <a:solidFill>
                <a:srgbClr val="FFFFFF"/>
              </a:solidFill>
              <a:effectLst/>
              <a:uFillTx/>
              <a:latin typeface="Arial"/>
            </a:endParaRPr>
          </a:p>
          <a:p>
            <a:pPr>
              <a:lnSpc>
                <a:spcPts val="1151"/>
              </a:lnSpc>
              <a:tabLst>
                <a:tab pos="0" algn="l"/>
              </a:tabLst>
            </a:pPr>
            <a:r>
              <a:rPr lang="en-NG" sz="800" b="0" u="none" strike="noStrike">
                <a:solidFill>
                  <a:srgbClr val="9184C4"/>
                </a:solidFill>
                <a:effectLst/>
                <a:uFillTx/>
                <a:latin typeface="Calibri"/>
                <a:ea typeface="Calibri"/>
              </a:rPr>
              <a:t>SEN/2025/054</a:t>
            </a:r>
            <a:endParaRPr lang="en-NG" sz="800" b="0" u="none" strike="noStrike">
              <a:solidFill>
                <a:srgbClr val="FFFFFF"/>
              </a:solidFill>
              <a:effectLst/>
              <a:uFillTx/>
              <a:latin typeface="Arial"/>
            </a:endParaRPr>
          </a:p>
        </p:txBody>
      </p:sp>
      <p:sp>
        <p:nvSpPr>
          <p:cNvPr id="581" name="Text 23"/>
          <p:cNvSpPr/>
          <p:nvPr/>
        </p:nvSpPr>
        <p:spPr>
          <a:xfrm rot="60000">
            <a:off x="3331800" y="4809600"/>
            <a:ext cx="2688120" cy="456840"/>
          </a:xfrm>
          <a:prstGeom prst="rect">
            <a:avLst/>
          </a:prstGeom>
          <a:noFill/>
          <a:ln w="0">
            <a:noFill/>
          </a:ln>
        </p:spPr>
        <p:style>
          <a:lnRef idx="0"/>
          <a:fillRef idx="0"/>
          <a:effectRef idx="0"/>
          <a:fontRef idx="minor"/>
        </p:style>
        <p:txBody>
          <a:bodyPr lIns="0" tIns="0" rIns="0" bIns="0" anchor="ctr">
            <a:noAutofit/>
          </a:bodyPr>
          <a:p>
            <a:pPr>
              <a:lnSpc>
                <a:spcPts val="1151"/>
              </a:lnSpc>
              <a:tabLst>
                <a:tab pos="0" algn="l"/>
              </a:tabLst>
            </a:pPr>
            <a:r>
              <a:rPr lang="en-NG" sz="1000" b="1" u="none" strike="noStrike">
                <a:solidFill>
                  <a:srgbClr val="E4B454"/>
                </a:solidFill>
                <a:effectLst/>
                <a:uFillTx/>
                <a:latin typeface="Calibri"/>
                <a:ea typeface="Calibri"/>
              </a:rPr>
              <a:t>Alabi Flavour Olatomiwa</a:t>
            </a:r>
            <a:endParaRPr lang="en-NG" sz="1000" b="0" u="none" strike="noStrike">
              <a:solidFill>
                <a:srgbClr val="FFFFFF"/>
              </a:solidFill>
              <a:effectLst/>
              <a:uFillTx/>
              <a:latin typeface="Arial"/>
            </a:endParaRPr>
          </a:p>
          <a:p>
            <a:pPr>
              <a:lnSpc>
                <a:spcPts val="1151"/>
              </a:lnSpc>
              <a:tabLst>
                <a:tab pos="0" algn="l"/>
              </a:tabLst>
            </a:pPr>
            <a:r>
              <a:rPr lang="en-NG" sz="800" b="0" u="none" strike="noStrike">
                <a:solidFill>
                  <a:srgbClr val="9184C4"/>
                </a:solidFill>
                <a:effectLst/>
                <a:uFillTx/>
                <a:latin typeface="Calibri"/>
                <a:ea typeface="Calibri"/>
              </a:rPr>
              <a:t>SEN/2026/043</a:t>
            </a:r>
            <a:endParaRPr lang="en-NG" sz="800" b="0" u="none" strike="noStrike">
              <a:solidFill>
                <a:srgbClr val="FFFFFF"/>
              </a:solidFill>
              <a:effectLst/>
              <a:uFillTx/>
              <a:latin typeface="Arial"/>
            </a:endParaRPr>
          </a:p>
        </p:txBody>
      </p:sp>
      <p:sp>
        <p:nvSpPr>
          <p:cNvPr id="582" name="Text 24"/>
          <p:cNvSpPr/>
          <p:nvPr/>
        </p:nvSpPr>
        <p:spPr>
          <a:xfrm rot="21480000">
            <a:off x="6212160" y="4780440"/>
            <a:ext cx="2688120" cy="456840"/>
          </a:xfrm>
          <a:prstGeom prst="rect">
            <a:avLst/>
          </a:prstGeom>
          <a:noFill/>
          <a:ln w="0">
            <a:noFill/>
          </a:ln>
        </p:spPr>
        <p:style>
          <a:lnRef idx="0"/>
          <a:fillRef idx="0"/>
          <a:effectRef idx="0"/>
          <a:fontRef idx="minor"/>
        </p:style>
        <p:txBody>
          <a:bodyPr lIns="0" tIns="0" rIns="0" bIns="0" anchor="ctr">
            <a:noAutofit/>
          </a:bodyPr>
          <a:p>
            <a:pPr>
              <a:lnSpc>
                <a:spcPts val="1151"/>
              </a:lnSpc>
              <a:tabLst>
                <a:tab pos="0" algn="l"/>
              </a:tabLst>
            </a:pPr>
            <a:r>
              <a:rPr lang="en-NG" sz="1000" b="1" u="none" strike="noStrike">
                <a:solidFill>
                  <a:srgbClr val="CFC4EE"/>
                </a:solidFill>
                <a:effectLst/>
                <a:uFillTx/>
                <a:latin typeface="Calibri"/>
                <a:ea typeface="Calibri"/>
              </a:rPr>
              <a:t>Asante William Jesutofunmi</a:t>
            </a:r>
            <a:endParaRPr lang="en-NG" sz="1000" b="0" u="none" strike="noStrike">
              <a:solidFill>
                <a:srgbClr val="FFFFFF"/>
              </a:solidFill>
              <a:effectLst/>
              <a:uFillTx/>
              <a:latin typeface="Arial"/>
            </a:endParaRPr>
          </a:p>
          <a:p>
            <a:pPr>
              <a:lnSpc>
                <a:spcPts val="1151"/>
              </a:lnSpc>
              <a:tabLst>
                <a:tab pos="0" algn="l"/>
              </a:tabLst>
            </a:pPr>
            <a:r>
              <a:rPr lang="en-NG" sz="800" b="0" u="none" strike="noStrike">
                <a:solidFill>
                  <a:srgbClr val="9184C4"/>
                </a:solidFill>
                <a:effectLst/>
                <a:uFillTx/>
                <a:latin typeface="Calibri"/>
                <a:ea typeface="Calibri"/>
              </a:rPr>
              <a:t>SEN/2025/047</a:t>
            </a:r>
            <a:endParaRPr lang="en-NG" sz="800" b="0" u="none" strike="noStrike">
              <a:solidFill>
                <a:srgbClr val="FFFFFF"/>
              </a:solidFill>
              <a:effectLst/>
              <a:uFillTx/>
              <a:latin typeface="Arial"/>
            </a:endParaRPr>
          </a:p>
        </p:txBody>
      </p:sp>
      <p:sp>
        <p:nvSpPr>
          <p:cNvPr id="583" name="Text 25"/>
          <p:cNvSpPr/>
          <p:nvPr/>
        </p:nvSpPr>
        <p:spPr>
          <a:xfrm rot="120000">
            <a:off x="476280" y="5319720"/>
            <a:ext cx="2688120" cy="456840"/>
          </a:xfrm>
          <a:prstGeom prst="rect">
            <a:avLst/>
          </a:prstGeom>
          <a:noFill/>
          <a:ln w="0">
            <a:noFill/>
          </a:ln>
        </p:spPr>
        <p:style>
          <a:lnRef idx="0"/>
          <a:fillRef idx="0"/>
          <a:effectRef idx="0"/>
          <a:fontRef idx="minor"/>
        </p:style>
        <p:txBody>
          <a:bodyPr lIns="0" tIns="0" rIns="0" bIns="0" anchor="ctr">
            <a:noAutofit/>
          </a:bodyPr>
          <a:p>
            <a:pPr>
              <a:lnSpc>
                <a:spcPts val="1151"/>
              </a:lnSpc>
              <a:tabLst>
                <a:tab pos="0" algn="l"/>
              </a:tabLst>
            </a:pPr>
            <a:r>
              <a:rPr lang="en-NG" sz="1000" b="1" u="none" strike="noStrike">
                <a:solidFill>
                  <a:srgbClr val="FFFFFF"/>
                </a:solidFill>
                <a:effectLst/>
                <a:uFillTx/>
                <a:latin typeface="Calibri"/>
                <a:ea typeface="Calibri"/>
              </a:rPr>
              <a:t>ADEBAYO Honour Oluwafadeyemi</a:t>
            </a:r>
            <a:endParaRPr lang="en-NG" sz="1000" b="0" u="none" strike="noStrike">
              <a:solidFill>
                <a:srgbClr val="FFFFFF"/>
              </a:solidFill>
              <a:effectLst/>
              <a:uFillTx/>
              <a:latin typeface="Arial"/>
            </a:endParaRPr>
          </a:p>
          <a:p>
            <a:pPr>
              <a:lnSpc>
                <a:spcPts val="1151"/>
              </a:lnSpc>
              <a:tabLst>
                <a:tab pos="0" algn="l"/>
              </a:tabLst>
            </a:pPr>
            <a:r>
              <a:rPr lang="en-NG" sz="800" b="0" u="none" strike="noStrike">
                <a:solidFill>
                  <a:srgbClr val="9184C4"/>
                </a:solidFill>
                <a:effectLst/>
                <a:uFillTx/>
                <a:latin typeface="Calibri"/>
                <a:ea typeface="Calibri"/>
              </a:rPr>
              <a:t>SEN/2025/007</a:t>
            </a:r>
            <a:endParaRPr lang="en-NG" sz="800" b="0" u="none" strike="noStrike">
              <a:solidFill>
                <a:srgbClr val="FFFFFF"/>
              </a:solidFill>
              <a:effectLst/>
              <a:uFillTx/>
              <a:latin typeface="Arial"/>
            </a:endParaRPr>
          </a:p>
        </p:txBody>
      </p:sp>
      <p:sp>
        <p:nvSpPr>
          <p:cNvPr id="584" name="Shape 26"/>
          <p:cNvSpPr/>
          <p:nvPr/>
        </p:nvSpPr>
        <p:spPr>
          <a:xfrm>
            <a:off x="9107280" y="2084760"/>
            <a:ext cx="2395440" cy="2852640"/>
          </a:xfrm>
          <a:prstGeom prst="roundRect">
            <a:avLst>
              <a:gd name="adj" fmla="val 3435"/>
            </a:avLst>
          </a:prstGeom>
          <a:solidFill>
            <a:srgbClr val="FFFFFF"/>
          </a:solidFill>
          <a:ln w="12700">
            <a:solidFill>
              <a:srgbClr val="FFFFFF"/>
            </a:solidFill>
            <a:round/>
          </a:ln>
          <a:effectLst>
            <a:outerShdw algn="bl" blurRad="127080" dir="5400000" dist="25560" kx="0" ky="0" rotWithShape="0" sx="100000" sy="100000">
              <a:srgbClr val="9098B0">
                <a:alpha val="22000"/>
              </a:srgbClr>
            </a:outerShdw>
          </a:effectLst>
        </p:spPr>
        <p:style>
          <a:lnRef idx="0"/>
          <a:fillRef idx="0"/>
          <a:effectRef idx="0"/>
          <a:fontRef idx="minor"/>
        </p:style>
        <p:txBody>
          <a:bodyPr lIns="90000" tIns="45000" rIns="90000" bIns="45000" anchor="t">
            <a:noAutofit/>
          </a:bodyPr>
          <a:p>
            <a:pPr/>
            <a:endParaRPr lang="en-NG" sz="1800" b="0" u="none" strike="noStrike">
              <a:solidFill>
                <a:srgbClr val="000000"/>
              </a:solidFill>
              <a:effectLst/>
              <a:uFillTx/>
              <a:latin typeface="Arial"/>
            </a:endParaRPr>
          </a:p>
        </p:txBody>
      </p:sp>
      <p:pic>
        <p:nvPicPr>
          <p:cNvPr id="585" name="Image 0"/>
          <p:cNvPicPr/>
          <p:nvPr/>
        </p:nvPicPr>
        <p:blipFill>
          <a:blip r:embed="rId1"/>
          <a:stretch/>
        </p:blipFill>
        <p:spPr>
          <a:xfrm>
            <a:off x="9345240" y="2304360"/>
            <a:ext cx="1919880" cy="1919880"/>
          </a:xfrm>
          <a:prstGeom prst="rect">
            <a:avLst/>
          </a:prstGeom>
          <a:noFill/>
          <a:ln w="0">
            <a:noFill/>
          </a:ln>
        </p:spPr>
      </p:pic>
      <p:sp>
        <p:nvSpPr>
          <p:cNvPr id="586" name="Text 27"/>
          <p:cNvSpPr/>
          <p:nvPr/>
        </p:nvSpPr>
        <p:spPr>
          <a:xfrm>
            <a:off x="9180720" y="4297680"/>
            <a:ext cx="2248920" cy="21924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NG" sz="1100" b="1" u="none" strike="noStrike">
                <a:solidFill>
                  <a:srgbClr val="240C54"/>
                </a:solidFill>
                <a:effectLst/>
                <a:uFillTx/>
                <a:latin typeface="Calibri"/>
                <a:ea typeface="Calibri"/>
              </a:rPr>
              <a:t>Scan to open the library</a:t>
            </a:r>
            <a:endParaRPr lang="en-NG" sz="1100" b="0" u="none" strike="noStrike">
              <a:solidFill>
                <a:srgbClr val="FFFFFF"/>
              </a:solidFill>
              <a:effectLst/>
              <a:uFillTx/>
              <a:latin typeface="Arial"/>
            </a:endParaRPr>
          </a:p>
        </p:txBody>
      </p:sp>
      <p:sp>
        <p:nvSpPr>
          <p:cNvPr id="587" name="Text 28"/>
          <p:cNvSpPr/>
          <p:nvPr/>
        </p:nvSpPr>
        <p:spPr>
          <a:xfrm>
            <a:off x="9180720" y="4535280"/>
            <a:ext cx="2248920" cy="21924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NG" sz="1000" b="0" u="none" strike="noStrike">
                <a:solidFill>
                  <a:srgbClr val="1D4ED8"/>
                </a:solidFill>
                <a:effectLst/>
                <a:uFillTx/>
                <a:latin typeface="Courier New"/>
                <a:ea typeface="Courier New"/>
              </a:rPr>
              <a:t>library.appmd.dev</a:t>
            </a:r>
            <a:endParaRPr lang="en-NG" sz="1000" b="0" u="none" strike="noStrike">
              <a:solidFill>
                <a:srgbClr val="FFFFFF"/>
              </a:solidFill>
              <a:effectLst/>
              <a:uFillTx/>
              <a:latin typeface="Arial"/>
            </a:endParaRPr>
          </a:p>
        </p:txBody>
      </p:sp>
      <p:pic>
        <p:nvPicPr>
          <p:cNvPr id="588" name="Image 1"/>
          <p:cNvPicPr/>
          <p:nvPr/>
        </p:nvPicPr>
        <p:blipFill>
          <a:blip r:embed="rId2"/>
          <a:stretch/>
        </p:blipFill>
        <p:spPr>
          <a:xfrm>
            <a:off x="567000" y="6071760"/>
            <a:ext cx="475200" cy="465840"/>
          </a:xfrm>
          <a:prstGeom prst="rect">
            <a:avLst/>
          </a:prstGeom>
          <a:noFill/>
          <a:ln w="0">
            <a:noFill/>
          </a:ln>
        </p:spPr>
      </p:pic>
      <p:sp>
        <p:nvSpPr>
          <p:cNvPr id="589" name="Text 29"/>
          <p:cNvSpPr/>
          <p:nvPr/>
        </p:nvSpPr>
        <p:spPr>
          <a:xfrm>
            <a:off x="1225440" y="6163200"/>
            <a:ext cx="6583320" cy="27396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NG" sz="1150" b="0" u="none" strike="noStrike">
                <a:solidFill>
                  <a:srgbClr val="9184C4"/>
                </a:solidFill>
                <a:effectLst/>
                <a:uFillTx/>
                <a:latin typeface="Calibri"/>
                <a:ea typeface="Calibri"/>
              </a:rPr>
              <a:t>SEN 106 / SEN 216  ·  Obafemi Awolowo University, Ile-Ife</a:t>
            </a:r>
            <a:endParaRPr lang="en-NG" sz="1150" b="0" u="none" strike="noStrike">
              <a:solidFill>
                <a:srgbClr val="FFFFFF"/>
              </a:solidFill>
              <a:effectLst/>
              <a:uFillTx/>
              <a:latin typeface="Arial"/>
            </a:endParaRPr>
          </a:p>
        </p:txBody>
      </p:sp>
      <p:sp>
        <p:nvSpPr>
          <p:cNvPr id="590" name="Text 30"/>
          <p:cNvSpPr/>
          <p:nvPr/>
        </p:nvSpPr>
        <p:spPr>
          <a:xfrm>
            <a:off x="7680960" y="6163200"/>
            <a:ext cx="3931560" cy="273960"/>
          </a:xfrm>
          <a:prstGeom prst="rect">
            <a:avLst/>
          </a:prstGeom>
          <a:noFill/>
          <a:ln w="0">
            <a:noFill/>
          </a:ln>
        </p:spPr>
        <p:style>
          <a:lnRef idx="0"/>
          <a:fillRef idx="0"/>
          <a:effectRef idx="0"/>
          <a:fontRef idx="minor"/>
        </p:style>
        <p:txBody>
          <a:bodyPr lIns="0" tIns="0" rIns="0" bIns="0" anchor="ctr">
            <a:noAutofit/>
          </a:bodyPr>
          <a:p>
            <a:pPr algn="r">
              <a:lnSpc>
                <a:spcPct val="100000"/>
              </a:lnSpc>
              <a:tabLst>
                <a:tab pos="0" algn="l"/>
              </a:tabLst>
            </a:pPr>
            <a:r>
              <a:rPr lang="en-NG" sz="1100" b="0" u="none" strike="noStrike">
                <a:solidFill>
                  <a:srgbClr val="E4B454"/>
                </a:solidFill>
                <a:effectLst/>
                <a:uFillTx/>
                <a:latin typeface="Courier New"/>
                <a:ea typeface="Courier New"/>
              </a:rPr>
              <a:t>api.library.appmd.dev/docs</a:t>
            </a:r>
            <a:endParaRPr lang="en-NG" sz="11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itchFamily="0" charset="1"/>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itchFamily="0" charset="1"/>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l="0" t="0" r="0" b="0"/>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l="0" t="0" r="0" b="0"/>
        </a:gradFill>
      </a:fillStyleLst>
      <a:lnStyleLst>
        <a:ln w="6350">
          <a:prstDash val="solid"/>
        </a:ln>
        <a:ln w="12700">
          <a:prstDash val="solid"/>
        </a:ln>
        <a:ln w="19050">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3</TotalTime>
  <Application>LibreOffice/26.8.0.3$MacOSX_AARCH64 LibreOffice_project/bce0998afefdbc355585ca324285661a2170ba77</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2026-09-07T11:49:07Z</dcterms:created>
  <dc:creator>Walnut Exporter</dc:creator>
  <dc:description/>
  <dc:language>en-NG</dc:language>
  <cp:lastModifiedBy/>
  <dcterms:modified xsi:type="dcterms:W3CDTF">2026-09-07T12:54:20Z</dcterms:modified>
  <cp:revision>1</cp:revision>
  <dc:subject/>
  <dc:title>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Converted Presentation</vt:lpwstr>
  </property>
</Properties>
</file>